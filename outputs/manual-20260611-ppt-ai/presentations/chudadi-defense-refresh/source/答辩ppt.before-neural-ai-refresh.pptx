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9" r:id="rId4"/>
    <p:sldId id="265" r:id="rId5"/>
    <p:sldId id="373" r:id="rId6"/>
    <p:sldId id="272" r:id="rId7"/>
    <p:sldId id="376" r:id="rId8"/>
    <p:sldId id="266" r:id="rId9"/>
    <p:sldId id="375" r:id="rId10"/>
    <p:sldId id="273" r:id="rId11"/>
    <p:sldId id="377" r:id="rId12"/>
    <p:sldId id="282" r:id="rId13"/>
    <p:sldId id="378" r:id="rId14"/>
    <p:sldId id="286" r:id="rId15"/>
    <p:sldId id="380" r:id="rId16"/>
    <p:sldId id="293" r:id="rId17"/>
    <p:sldId id="294" r:id="rId18"/>
    <p:sldId id="295" r:id="rId19"/>
    <p:sldId id="290" r:id="rId20"/>
    <p:sldId id="291" r:id="rId21"/>
    <p:sldId id="381" r:id="rId22"/>
    <p:sldId id="299" r:id="rId23"/>
    <p:sldId id="300" r:id="rId24"/>
    <p:sldId id="301" r:id="rId25"/>
    <p:sldId id="307" r:id="rId26"/>
    <p:sldId id="315" r:id="rId27"/>
    <p:sldId id="317" r:id="rId28"/>
    <p:sldId id="391" r:id="rId29"/>
    <p:sldId id="318" r:id="rId30"/>
    <p:sldId id="384" r:id="rId31"/>
    <p:sldId id="383" r:id="rId32"/>
    <p:sldId id="385" r:id="rId33"/>
    <p:sldId id="386" r:id="rId34"/>
    <p:sldId id="323" r:id="rId35"/>
    <p:sldId id="387" r:id="rId36"/>
    <p:sldId id="389" r:id="rId37"/>
    <p:sldId id="390" r:id="rId38"/>
    <p:sldId id="328" r:id="rId39"/>
    <p:sldId id="329" r:id="rId40"/>
    <p:sldId id="392" r:id="rId41"/>
    <p:sldId id="338" r:id="rId42"/>
    <p:sldId id="339" r:id="rId43"/>
    <p:sldId id="351" r:id="rId44"/>
    <p:sldId id="352" r:id="rId45"/>
    <p:sldId id="355" r:id="rId46"/>
    <p:sldId id="356" r:id="rId47"/>
    <p:sldId id="362" r:id="rId4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35"/>
  </p:normalViewPr>
  <p:slideViewPr>
    <p:cSldViewPr snapToGrid="0">
      <p:cViewPr>
        <p:scale>
          <a:sx n="117" d="100"/>
          <a:sy n="117" d="100"/>
        </p:scale>
        <p:origin x="28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E5F92-9F26-4C16-BE37-03ADBFD0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051A4-571F-DA72-680D-1F86AFD99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50C47-6872-B4A1-72FB-179A3FAC8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C66FD-7BF5-E24F-F826-C6FA53E145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9406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012D-4A64-619E-EDA8-92CDF2C3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474BA-5AD3-0C46-DD4A-54D31797E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FD892-17D8-5532-8DE2-0F48F31BB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2A9D2-99A1-7D6D-332B-2CB3748212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8147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011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DED8-C7FE-DCE6-6B75-84CFA793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2CCA8-552E-6F83-2597-16439253A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68DEF-E7BE-EFF7-2FB3-047CA74D1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EC7FA-DF0A-3786-61F3-47FC6632576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690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6E8C0-2092-8460-F513-774E2949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99698-445F-3180-8A90-4AD9DB3A9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C5000-9A6C-24DC-771D-4734DAFF9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8675-54C4-0D0A-9D06-EE08CF372C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2075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BB3B-1D5A-3306-0471-B712E8B7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5F9B3-B965-7A93-6AB0-23794D64C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4C502-6DF0-C6EE-ABFB-C2A9AFBC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2A9A6-1940-D25A-E28B-8D3C84000D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5574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83CE-BA7E-BC98-6B94-3E04B760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E6962-A726-6FF0-0E70-9896F9488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0129A-759D-ED51-937A-F27FE83D8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EA2C9-70C4-80C0-756B-4999F6E5C9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2161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9C8A-425B-3586-B303-5007DC5C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F0F27-DD9E-23E9-3CDF-121722DDC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4135D-5027-61A4-3ACF-3EDC3E720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36A9F-2BA9-358F-4459-545277CD42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158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1B54-ED9B-296D-64AF-9403922B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961F3-CF61-1C0D-07A7-136DDBBD6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C1E1B-736F-23BB-1CF6-CF39014BC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5CC01-6D7C-F80D-7D35-2ED866C8C2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61837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761776E-896D-48CC-A377-C8460BA42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5CEA9B2-5CD4-43C8-B7A6-F04D19B0AA9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10875" cy="4762500"/>
          </a:xfrm>
          <a:prstGeom prst="roundRect">
            <a:avLst>
              <a:gd name="adj" fmla="val 3600"/>
            </a:avLst>
          </a:prstGeom>
          <a:solidFill>
            <a:srgbClr val="123F34"/>
          </a:solidFill>
          <a:ln w="9525">
            <a:solidFill>
              <a:srgbClr val="2E6B5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3273D-EDC9-4F90-A02A-C7AE42E6DE9D}"/>
              </a:ext>
            </a:extLst>
          </p:cNvPr>
          <p:cNvSpPr>
            <a:spLocks noGrp="1"/>
          </p:cNvSpPr>
          <p:nvPr/>
        </p:nvSpPr>
        <p:spPr>
          <a:xfrm>
            <a:off x="971550" y="11049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8669" lnSpcReduction="10000"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软件综合开发实训答辩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F84F92-53EC-4972-8845-1A7CC1944D99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8A21F6-29B6-4576-8BB9-CC572CD09CD7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成员标签">
            <a:extLst>
              <a:ext uri="{FF2B5EF4-FFF2-40B4-BE49-F238E27FC236}">
                <a16:creationId xmlns:a16="http://schemas.microsoft.com/office/drawing/2014/main" id="{BB355C81-13CF-3B42-AC98-BAE7554FC35D}"/>
              </a:ext>
            </a:extLst>
          </p:cNvPr>
          <p:cNvSpPr txBox="1"/>
          <p:nvPr/>
        </p:nvSpPr>
        <p:spPr>
          <a:xfrm>
            <a:off x="990600" y="3746500"/>
            <a:ext cx="101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2200" b="1">
                <a:solidFill>
                  <a:srgbClr val="F4B740"/>
                </a:solidFill>
                <a:latin typeface="Arial"/>
                <a:cs typeface="Arial"/>
              </a:rPr>
              <a:t>成员</a:t>
            </a:r>
          </a:p>
        </p:txBody>
      </p:sp>
      <p:sp>
        <p:nvSpPr>
          <p:cNvPr id="26" name="成员横向分隔线">
            <a:extLst>
              <a:ext uri="{FF2B5EF4-FFF2-40B4-BE49-F238E27FC236}">
                <a16:creationId xmlns:a16="http://schemas.microsoft.com/office/drawing/2014/main" id="{BE56C3B3-DE72-8A4C-B90C-D088C5F641D6}"/>
              </a:ext>
            </a:extLst>
          </p:cNvPr>
          <p:cNvSpPr/>
          <p:nvPr/>
        </p:nvSpPr>
        <p:spPr>
          <a:xfrm>
            <a:off x="990600" y="4203700"/>
            <a:ext cx="7747000" cy="254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成员姓名_莫均杰">
            <a:extLst>
              <a:ext uri="{FF2B5EF4-FFF2-40B4-BE49-F238E27FC236}">
                <a16:creationId xmlns:a16="http://schemas.microsoft.com/office/drawing/2014/main" id="{71C1DB1C-3967-684B-9379-048C47795E66}"/>
              </a:ext>
            </a:extLst>
          </p:cNvPr>
          <p:cNvSpPr txBox="1"/>
          <p:nvPr/>
        </p:nvSpPr>
        <p:spPr>
          <a:xfrm>
            <a:off x="990600" y="4445000"/>
            <a:ext cx="17145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2000" b="1">
                <a:solidFill>
                  <a:srgbClr val="F7FAF8"/>
                </a:solidFill>
                <a:latin typeface="Arial"/>
                <a:cs typeface="Arial"/>
              </a:rPr>
              <a:t>莫均杰</a:t>
            </a:r>
          </a:p>
        </p:txBody>
      </p:sp>
      <p:sp>
        <p:nvSpPr>
          <p:cNvPr id="28" name="成员姓名_郭铭涛">
            <a:extLst>
              <a:ext uri="{FF2B5EF4-FFF2-40B4-BE49-F238E27FC236}">
                <a16:creationId xmlns:a16="http://schemas.microsoft.com/office/drawing/2014/main" id="{D8D4A461-1774-0447-8D35-48E819734618}"/>
              </a:ext>
            </a:extLst>
          </p:cNvPr>
          <p:cNvSpPr txBox="1"/>
          <p:nvPr/>
        </p:nvSpPr>
        <p:spPr>
          <a:xfrm>
            <a:off x="3073400" y="4445000"/>
            <a:ext cx="17145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2000" b="1">
                <a:solidFill>
                  <a:srgbClr val="F7FAF8"/>
                </a:solidFill>
                <a:latin typeface="Arial"/>
                <a:cs typeface="Arial"/>
              </a:rPr>
              <a:t>郭铭涛</a:t>
            </a:r>
          </a:p>
        </p:txBody>
      </p:sp>
      <p:sp>
        <p:nvSpPr>
          <p:cNvPr id="29" name="成员姓名_Annakuliyev Sedar">
            <a:extLst>
              <a:ext uri="{FF2B5EF4-FFF2-40B4-BE49-F238E27FC236}">
                <a16:creationId xmlns:a16="http://schemas.microsoft.com/office/drawing/2014/main" id="{41515655-9EB8-5745-A61C-4248B0500D0C}"/>
              </a:ext>
            </a:extLst>
          </p:cNvPr>
          <p:cNvSpPr txBox="1"/>
          <p:nvPr/>
        </p:nvSpPr>
        <p:spPr>
          <a:xfrm>
            <a:off x="5156200" y="4445000"/>
            <a:ext cx="3810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b="1">
                <a:solidFill>
                  <a:srgbClr val="F7FAF8"/>
                </a:solidFill>
                <a:latin typeface="Arial"/>
                <a:cs typeface="Arial"/>
              </a:rPr>
              <a:t>Annakuliyev Sedar</a:t>
            </a:r>
            <a:endParaRPr lang="zh-CN" altLang="en-US" b="1">
              <a:solidFill>
                <a:srgbClr val="F7FAF8"/>
              </a:solidFill>
              <a:latin typeface="Arial"/>
              <a:cs typeface="Arial"/>
            </a:endParaRPr>
          </a:p>
        </p:txBody>
      </p:sp>
      <p:sp>
        <p:nvSpPr>
          <p:cNvPr id="30" name="成员姓名分隔符">
            <a:extLst>
              <a:ext uri="{FF2B5EF4-FFF2-40B4-BE49-F238E27FC236}">
                <a16:creationId xmlns:a16="http://schemas.microsoft.com/office/drawing/2014/main" id="{400B9764-6CFE-6E43-9919-336CB29A04A8}"/>
              </a:ext>
            </a:extLst>
          </p:cNvPr>
          <p:cNvSpPr txBox="1"/>
          <p:nvPr/>
        </p:nvSpPr>
        <p:spPr>
          <a:xfrm>
            <a:off x="2794000" y="4470400"/>
            <a:ext cx="2032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>
                <a:solidFill>
                  <a:srgbClr val="7CB6A3"/>
                </a:solidFill>
                <a:latin typeface="Arial"/>
                <a:cs typeface="Arial"/>
              </a:rPr>
              <a:t>/</a:t>
            </a:r>
            <a:endParaRPr lang="zh-CN" altLang="en-US">
              <a:solidFill>
                <a:srgbClr val="7CB6A3"/>
              </a:solidFill>
              <a:latin typeface="Arial"/>
              <a:cs typeface="Arial"/>
            </a:endParaRPr>
          </a:p>
        </p:txBody>
      </p:sp>
      <p:sp>
        <p:nvSpPr>
          <p:cNvPr id="31" name="成员姓名分隔符">
            <a:extLst>
              <a:ext uri="{FF2B5EF4-FFF2-40B4-BE49-F238E27FC236}">
                <a16:creationId xmlns:a16="http://schemas.microsoft.com/office/drawing/2014/main" id="{9B7BD308-57D6-BD4D-8F28-A550E9B3E5D5}"/>
              </a:ext>
            </a:extLst>
          </p:cNvPr>
          <p:cNvSpPr txBox="1"/>
          <p:nvPr/>
        </p:nvSpPr>
        <p:spPr>
          <a:xfrm>
            <a:off x="4876800" y="4470400"/>
            <a:ext cx="2032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>
                <a:solidFill>
                  <a:srgbClr val="7CB6A3"/>
                </a:solidFill>
                <a:latin typeface="Arial"/>
                <a:cs typeface="Arial"/>
              </a:rPr>
              <a:t>/</a:t>
            </a:r>
            <a:endParaRPr lang="zh-CN" altLang="en-US">
              <a:solidFill>
                <a:srgbClr val="7CB6A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52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E6A891A-9916-4951-B738-A616E0806DF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CF59A-17F1-492D-88BD-7A4C167DB6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C5BDF8-75D7-492F-BE2A-61624480BFE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258B25-98E5-42B1-B594-E9C07FDEBEF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79CF00-D81F-47DB-BA62-425E00DA3EF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SECTION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C4FBB-67A8-4778-B749-5249754EEE8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实验概述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0ACCBD-92DE-4157-B0E7-01D025844B6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326441-5011-43E6-A4C6-2C3562BCD25C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课程名称：软件综合开发实训</a:t>
            </a: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实验名称：锄大地扑克牌游戏</a:t>
            </a: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项目名称：锄大地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Android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棋牌游戏</a:t>
            </a: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面向班级：202</a:t>
            </a:r>
            <a:r>
              <a:rPr lang="en-US" altLang="zh-CN"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软件工程</a:t>
            </a:r>
            <a:r>
              <a:rPr lang="en-US" altLang="zh-CN"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lang="zh-CN" altLang="en-US"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班</a:t>
            </a: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开发周期：5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周开发迭代。项目阶段按照《软件开发综合实训提交时间节点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V0.0.1.xlsx》划分为开始、三次细化/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构造迭代和交付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小组成员及主要职责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D0293C-5018-4A67-A43F-FBF13A4ED071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22791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2806A-0336-464B-89AB-9BDB9C5FA91F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21839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76519-7B83-4A56-84DF-DDB2AD9BC30F}"/>
              </a:ext>
            </a:extLst>
          </p:cNvPr>
          <p:cNvSpPr>
            <a:spLocks noGrp="1"/>
          </p:cNvSpPr>
          <p:nvPr/>
        </p:nvSpPr>
        <p:spPr>
          <a:xfrm>
            <a:off x="7470321" y="1905000"/>
            <a:ext cx="410255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827AF4-3106-4918-9D32-53F88AEB16C6}"/>
              </a:ext>
            </a:extLst>
          </p:cNvPr>
          <p:cNvSpPr>
            <a:spLocks noGrp="1"/>
          </p:cNvSpPr>
          <p:nvPr/>
        </p:nvSpPr>
        <p:spPr>
          <a:xfrm>
            <a:off x="7517946" y="1943100"/>
            <a:ext cx="400730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主要职责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5BBDD1-1A2A-42E2-B40D-F0DFC6E803B1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2279196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05E950-7FF4-49B6-BFCD-7C19C225EC61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3D628B-58CA-41F9-A48B-BD6389D81A1C}"/>
              </a:ext>
            </a:extLst>
          </p:cNvPr>
          <p:cNvSpPr>
            <a:spLocks noGrp="1"/>
          </p:cNvSpPr>
          <p:nvPr/>
        </p:nvSpPr>
        <p:spPr>
          <a:xfrm>
            <a:off x="7470321" y="2305050"/>
            <a:ext cx="4102554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BE6FD6-ED9B-4236-ACB2-E51DA9AD75B3}"/>
              </a:ext>
            </a:extLst>
          </p:cNvPr>
          <p:cNvSpPr>
            <a:spLocks noGrp="1"/>
          </p:cNvSpPr>
          <p:nvPr/>
        </p:nvSpPr>
        <p:spPr>
          <a:xfrm>
            <a:off x="7517946" y="233362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ProcessOn UML 7 大图绘制、图形布局调整、建模文档整理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FAD12B-033E-4CB6-9A24-D493A4350C75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2279196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FA8405-7180-4C42-98B3-2B3CE479694E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643CB8-C63A-49AA-BF3E-0F1478AC931C}"/>
              </a:ext>
            </a:extLst>
          </p:cNvPr>
          <p:cNvSpPr>
            <a:spLocks noGrp="1"/>
          </p:cNvSpPr>
          <p:nvPr/>
        </p:nvSpPr>
        <p:spPr>
          <a:xfrm>
            <a:off x="7470321" y="3517900"/>
            <a:ext cx="4102554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CF6489-6FD1-4A96-A137-BEE3F66A80AC}"/>
              </a:ext>
            </a:extLst>
          </p:cNvPr>
          <p:cNvSpPr>
            <a:spLocks noGrp="1"/>
          </p:cNvSpPr>
          <p:nvPr/>
        </p:nvSpPr>
        <p:spPr>
          <a:xfrm>
            <a:off x="7517946" y="354647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主体代码编写、规则模块、AI 模块、蓝牙模块、UI 页面、发布集成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7DD943-B52C-4C82-8D17-065635A63772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2279196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7D22A5-16FC-4C39-ABB4-FF55388B0FDE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2183946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34DECD-884B-44F4-A2D0-257D08D90283}"/>
              </a:ext>
            </a:extLst>
          </p:cNvPr>
          <p:cNvSpPr>
            <a:spLocks noGrp="1"/>
          </p:cNvSpPr>
          <p:nvPr/>
        </p:nvSpPr>
        <p:spPr>
          <a:xfrm>
            <a:off x="7470321" y="4730750"/>
            <a:ext cx="4102554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94D93C-CA5C-FF47-9CCB-302F26EFC92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F0E0BA-9BA7-D14A-BCAF-D9C3CC88FA1E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94BD11-6C9E-A344-AAD5-608E2AA71BC7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5612AB-EC59-482D-A467-778998E322D6}"/>
              </a:ext>
            </a:extLst>
          </p:cNvPr>
          <p:cNvSpPr>
            <a:spLocks noGrp="1"/>
          </p:cNvSpPr>
          <p:nvPr/>
        </p:nvSpPr>
        <p:spPr>
          <a:xfrm>
            <a:off x="7517946" y="4759325"/>
            <a:ext cx="4007304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单元测试、蓝牙模拟测试、运行验收、测试报告、录屏验证</a:t>
            </a:r>
          </a:p>
        </p:txBody>
      </p:sp>
    </p:spTree>
    <p:extLst>
      <p:ext uri="{BB962C8B-B14F-4D97-AF65-F5344CB8AC3E}">
        <p14:creationId xmlns:p14="http://schemas.microsoft.com/office/powerpoint/2010/main" val="159816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5A0B787-A643-4885-883A-0DBABEEAE2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978E3C-2107-46F8-91F4-B79A4BBC3D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9CF0BD-F6A0-4868-A083-FB6E92D603C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E7CC92-D590-4965-BD54-2CF233EEB1E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1. 实验概述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F7A468-1DEF-4F90-A7ED-A1CC3B4C183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73C3E4-A679-436C-B0E4-A15CED5DB44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01B06B-BF66-4B37-8560-202DDB98EF0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1.2 实验环境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CCBFB6-DEE5-4D71-A503-648CDCA089D6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C8F5CA-F554-4DF9-B7FB-39813868FCAF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4958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D38555-DB10-4E9B-93B9-C69FF4FB278E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44005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033510-345A-4229-9212-3ABA31CB53E8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67437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7DE629-B876-486C-A78F-F4CB5D2693DF}"/>
              </a:ext>
            </a:extLst>
          </p:cNvPr>
          <p:cNvSpPr>
            <a:spLocks noGrp="1"/>
          </p:cNvSpPr>
          <p:nvPr/>
        </p:nvSpPr>
        <p:spPr>
          <a:xfrm>
            <a:off x="5000625" y="1943100"/>
            <a:ext cx="66484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环境说明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340AB1-ACC2-4615-937B-24D9AB57151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E5376D-EDF2-4CE1-A4AF-F13917491655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硬件环境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6BD570-64C5-43F9-A587-CB0F464B1E98}"/>
              </a:ext>
            </a:extLst>
          </p:cNvPr>
          <p:cNvSpPr>
            <a:spLocks noGrp="1"/>
          </p:cNvSpPr>
          <p:nvPr/>
        </p:nvSpPr>
        <p:spPr>
          <a:xfrm>
            <a:off x="4953000" y="230505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B574CA-37AB-4F3F-97EB-966B064BEFF4}"/>
              </a:ext>
            </a:extLst>
          </p:cNvPr>
          <p:cNvSpPr>
            <a:spLocks noGrp="1"/>
          </p:cNvSpPr>
          <p:nvPr/>
        </p:nvSpPr>
        <p:spPr>
          <a:xfrm>
            <a:off x="5000625" y="233362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4.4 以上系统手机或 Android 模拟器，蓝牙联机验收需要多台手机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E863D7-D0D8-4318-9551-60E10DC4A4D6}"/>
              </a:ext>
            </a:extLst>
          </p:cNvPr>
          <p:cNvSpPr>
            <a:spLocks noGrp="1"/>
          </p:cNvSpPr>
          <p:nvPr/>
        </p:nvSpPr>
        <p:spPr>
          <a:xfrm>
            <a:off x="457200" y="291147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E2FBFC-44E6-413E-8F29-D9211D9FC1B5}"/>
              </a:ext>
            </a:extLst>
          </p:cNvPr>
          <p:cNvSpPr>
            <a:spLocks noGrp="1"/>
          </p:cNvSpPr>
          <p:nvPr/>
        </p:nvSpPr>
        <p:spPr>
          <a:xfrm>
            <a:off x="504825" y="294005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开发工具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A5D1EE-F1D5-4A78-8B6D-640CF5055D28}"/>
              </a:ext>
            </a:extLst>
          </p:cNvPr>
          <p:cNvSpPr>
            <a:spLocks noGrp="1"/>
          </p:cNvSpPr>
          <p:nvPr/>
        </p:nvSpPr>
        <p:spPr>
          <a:xfrm>
            <a:off x="4953000" y="291147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D31EBE-A81E-4C6A-8A31-37F599334E7F}"/>
              </a:ext>
            </a:extLst>
          </p:cNvPr>
          <p:cNvSpPr>
            <a:spLocks noGrp="1"/>
          </p:cNvSpPr>
          <p:nvPr/>
        </p:nvSpPr>
        <p:spPr>
          <a:xfrm>
            <a:off x="5000625" y="294005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 Studio、Gradle、Git、GitHub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8370DA-F16F-47F5-BF3B-A8606A630F6B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DB1D4F-2452-42EA-9279-8CE5F1F8611D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建模工具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797B12-E4BD-424B-A2DB-95645724A231}"/>
              </a:ext>
            </a:extLst>
          </p:cNvPr>
          <p:cNvSpPr>
            <a:spLocks noGrp="1"/>
          </p:cNvSpPr>
          <p:nvPr/>
        </p:nvSpPr>
        <p:spPr>
          <a:xfrm>
            <a:off x="4953000" y="351790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F7C3F1-8098-494B-AFA8-4BDAD1376369}"/>
              </a:ext>
            </a:extLst>
          </p:cNvPr>
          <p:cNvSpPr>
            <a:spLocks noGrp="1"/>
          </p:cNvSpPr>
          <p:nvPr/>
        </p:nvSpPr>
        <p:spPr>
          <a:xfrm>
            <a:off x="5000625" y="354647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ProcessOn UML、PlantUML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A0F8E5-4D2B-4FD5-A4A5-48538A5CB9BF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77D77E-05B5-4C15-897B-7FAD0984673E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编程语言与框架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9316AD-9B4D-4D9D-AFA0-754752311141}"/>
              </a:ext>
            </a:extLst>
          </p:cNvPr>
          <p:cNvSpPr>
            <a:spLocks noGrp="1"/>
          </p:cNvSpPr>
          <p:nvPr/>
        </p:nvSpPr>
        <p:spPr>
          <a:xfrm>
            <a:off x="4953000" y="412432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A3BED5-01FE-437E-B8E0-1E26F3DBE40F}"/>
              </a:ext>
            </a:extLst>
          </p:cNvPr>
          <p:cNvSpPr>
            <a:spLocks noGrp="1"/>
          </p:cNvSpPr>
          <p:nvPr/>
        </p:nvSpPr>
        <p:spPr>
          <a:xfrm>
            <a:off x="5000625" y="415290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Kotlin、Jetpack Compose、Android SDK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571979-6015-4E38-91A7-ED54B7FA5EA1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44958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A9CE5C-53E1-4286-9F1E-87D6A622F3D9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测试工具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9B506D-62BB-43A8-A812-410BEC610708}"/>
              </a:ext>
            </a:extLst>
          </p:cNvPr>
          <p:cNvSpPr>
            <a:spLocks noGrp="1"/>
          </p:cNvSpPr>
          <p:nvPr/>
        </p:nvSpPr>
        <p:spPr>
          <a:xfrm>
            <a:off x="4953000" y="4730750"/>
            <a:ext cx="674370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398472-86A3-4544-AEE6-0DFEA18BBBE4}"/>
              </a:ext>
            </a:extLst>
          </p:cNvPr>
          <p:cNvSpPr>
            <a:spLocks noGrp="1"/>
          </p:cNvSpPr>
          <p:nvPr/>
        </p:nvSpPr>
        <p:spPr>
          <a:xfrm>
            <a:off x="5000625" y="4759325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JUnit、Gradle Test、Android Instrumented Test、蓝牙模拟测试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C49194-06D0-42AA-BD48-70DC1B60F04D}"/>
              </a:ext>
            </a:extLst>
          </p:cNvPr>
          <p:cNvSpPr>
            <a:spLocks noGrp="1"/>
          </p:cNvSpPr>
          <p:nvPr/>
        </p:nvSpPr>
        <p:spPr>
          <a:xfrm>
            <a:off x="457200" y="5337175"/>
            <a:ext cx="44958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8F3C57-4DC4-40C9-BA43-87FACE0F0AE8}"/>
              </a:ext>
            </a:extLst>
          </p:cNvPr>
          <p:cNvSpPr>
            <a:spLocks noGrp="1"/>
          </p:cNvSpPr>
          <p:nvPr/>
        </p:nvSpPr>
        <p:spPr>
          <a:xfrm>
            <a:off x="504825" y="5365750"/>
            <a:ext cx="44005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工具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5CD8B9-CF4E-48DE-86DC-DECE0BAEF7AB}"/>
              </a:ext>
            </a:extLst>
          </p:cNvPr>
          <p:cNvSpPr>
            <a:spLocks noGrp="1"/>
          </p:cNvSpPr>
          <p:nvPr/>
        </p:nvSpPr>
        <p:spPr>
          <a:xfrm>
            <a:off x="4953000" y="5337175"/>
            <a:ext cx="674370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4BAD7A6-C5EF-D244-A0DA-7E90D53940F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C868696-A9E6-8647-8843-F0B4FA97CA3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0C894A-79F0-C947-8F36-1F9D011C07C1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505B79F-9553-498E-B9AB-6C8EA4A9B838}"/>
              </a:ext>
            </a:extLst>
          </p:cNvPr>
          <p:cNvSpPr>
            <a:spLocks noGrp="1"/>
          </p:cNvSpPr>
          <p:nvPr/>
        </p:nvSpPr>
        <p:spPr>
          <a:xfrm>
            <a:off x="5000625" y="5365750"/>
            <a:ext cx="664845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OpenAI Codex / GPT-5，用于需求拆解、主要代码实现、UML 草图/更新、测试补全和文档同步</a:t>
            </a:r>
          </a:p>
        </p:txBody>
      </p:sp>
    </p:spTree>
    <p:extLst>
      <p:ext uri="{BB962C8B-B14F-4D97-AF65-F5344CB8AC3E}">
        <p14:creationId xmlns:p14="http://schemas.microsoft.com/office/powerpoint/2010/main" val="120174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AEFD94C9-69D5-47E8-8D03-860EA44C0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A67656-3739-4FC4-8094-3D0A135563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E5F5C2-64AC-4B32-9D65-E0E25C1C1BD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37961-0579-46D6-B0B3-27D702EB9E4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3. 小组分工与协作方式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B5337F-F2CD-4F63-8CF3-BC1318F781D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5C6904-5CD6-4EAE-9C3F-595A51272A4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DED256-B29C-4A4D-B17B-1C24424D5EB6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总体分工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A5044D-96AA-40FC-8050-82DC41E5FF8B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6546CF-DD97-4354-97A5-F19600E730C8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75617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2D0712-07E7-4A28-BB3E-0A579FF3C15B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66092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D3B8EF-1444-4B58-9BEB-CA8887BAB7C9}"/>
              </a:ext>
            </a:extLst>
          </p:cNvPr>
          <p:cNvSpPr>
            <a:spLocks noGrp="1"/>
          </p:cNvSpPr>
          <p:nvPr/>
        </p:nvSpPr>
        <p:spPr>
          <a:xfrm>
            <a:off x="2213372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2A7C0A-82E9-44BB-AD0D-D9730669FB66}"/>
              </a:ext>
            </a:extLst>
          </p:cNvPr>
          <p:cNvSpPr>
            <a:spLocks noGrp="1"/>
          </p:cNvSpPr>
          <p:nvPr/>
        </p:nvSpPr>
        <p:spPr>
          <a:xfrm>
            <a:off x="2260997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负责内容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F0E3FB-7883-4B78-B54F-CAE738AE3620}"/>
              </a:ext>
            </a:extLst>
          </p:cNvPr>
          <p:cNvSpPr>
            <a:spLocks noGrp="1"/>
          </p:cNvSpPr>
          <p:nvPr/>
        </p:nvSpPr>
        <p:spPr>
          <a:xfrm>
            <a:off x="5374481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E6DEA7-1F14-409C-8CE1-8F114F571636}"/>
              </a:ext>
            </a:extLst>
          </p:cNvPr>
          <p:cNvSpPr>
            <a:spLocks noGrp="1"/>
          </p:cNvSpPr>
          <p:nvPr/>
        </p:nvSpPr>
        <p:spPr>
          <a:xfrm>
            <a:off x="5422106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主要交付物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BD26DB-7871-4998-AEF9-5F30916043BB}"/>
              </a:ext>
            </a:extLst>
          </p:cNvPr>
          <p:cNvSpPr>
            <a:spLocks noGrp="1"/>
          </p:cNvSpPr>
          <p:nvPr/>
        </p:nvSpPr>
        <p:spPr>
          <a:xfrm>
            <a:off x="8535591" y="1905000"/>
            <a:ext cx="316110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94BA88-1C1E-4348-957C-B0FD856547B6}"/>
              </a:ext>
            </a:extLst>
          </p:cNvPr>
          <p:cNvSpPr>
            <a:spLocks noGrp="1"/>
          </p:cNvSpPr>
          <p:nvPr/>
        </p:nvSpPr>
        <p:spPr>
          <a:xfrm>
            <a:off x="8583216" y="1943100"/>
            <a:ext cx="306585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答辩重点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3D8E58-0B60-4AF9-BE2C-1D8B7C6F0BDD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756172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BB47F4-FCB6-479B-AB71-FE9493681CA7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11BA21-2F4C-469F-AE6F-548121656522}"/>
              </a:ext>
            </a:extLst>
          </p:cNvPr>
          <p:cNvSpPr>
            <a:spLocks noGrp="1"/>
          </p:cNvSpPr>
          <p:nvPr/>
        </p:nvSpPr>
        <p:spPr>
          <a:xfrm>
            <a:off x="2213372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B72963-5974-430A-B418-C7AFDC3FDF62}"/>
              </a:ext>
            </a:extLst>
          </p:cNvPr>
          <p:cNvSpPr>
            <a:spLocks noGrp="1"/>
          </p:cNvSpPr>
          <p:nvPr/>
        </p:nvSpPr>
        <p:spPr>
          <a:xfrm>
            <a:off x="2260997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 建模、ProcessOn 绘图、图形布局和建模文档整理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BEA7C4-0FB8-4B6A-8F68-6B43767E056F}"/>
              </a:ext>
            </a:extLst>
          </p:cNvPr>
          <p:cNvSpPr>
            <a:spLocks noGrp="1"/>
          </p:cNvSpPr>
          <p:nvPr/>
        </p:nvSpPr>
        <p:spPr>
          <a:xfrm>
            <a:off x="5374481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D9AF6E-05B7-4802-92EC-4686BABDA406}"/>
              </a:ext>
            </a:extLst>
          </p:cNvPr>
          <p:cNvSpPr>
            <a:spLocks noGrp="1"/>
          </p:cNvSpPr>
          <p:nvPr/>
        </p:nvSpPr>
        <p:spPr>
          <a:xfrm>
            <a:off x="5422106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用例图、类图、顺序图、状态图、活动图、组件图、部署图，UML 建模说明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3878B5-6D7B-46B4-9143-342E424C85D9}"/>
              </a:ext>
            </a:extLst>
          </p:cNvPr>
          <p:cNvSpPr>
            <a:spLocks noGrp="1"/>
          </p:cNvSpPr>
          <p:nvPr/>
        </p:nvSpPr>
        <p:spPr>
          <a:xfrm>
            <a:off x="8535591" y="23050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94DC08-0863-414C-9703-86BA259B21C6}"/>
              </a:ext>
            </a:extLst>
          </p:cNvPr>
          <p:cNvSpPr>
            <a:spLocks noGrp="1"/>
          </p:cNvSpPr>
          <p:nvPr/>
        </p:nvSpPr>
        <p:spPr>
          <a:xfrm>
            <a:off x="8583216" y="23336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 图含义、分析建模和设计建模关系、图与代码对应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41C9AE-330B-4921-AB9E-08EEE10178A5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1756172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CFCB03-75AF-42FD-A75A-90F9BCDBD6A1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62D981D-5670-46BF-A921-85711DAA7ED0}"/>
              </a:ext>
            </a:extLst>
          </p:cNvPr>
          <p:cNvSpPr>
            <a:spLocks noGrp="1"/>
          </p:cNvSpPr>
          <p:nvPr/>
        </p:nvSpPr>
        <p:spPr>
          <a:xfrm>
            <a:off x="2213372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25DCA-8863-461D-AA24-06079F0CC358}"/>
              </a:ext>
            </a:extLst>
          </p:cNvPr>
          <p:cNvSpPr>
            <a:spLocks noGrp="1"/>
          </p:cNvSpPr>
          <p:nvPr/>
        </p:nvSpPr>
        <p:spPr>
          <a:xfrm>
            <a:off x="2260997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主体代码、架构设计、游戏规则、AI、蓝牙、UI、Release 集成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27F1DB-A0B2-45C1-894F-4A5583626F69}"/>
              </a:ext>
            </a:extLst>
          </p:cNvPr>
          <p:cNvSpPr>
            <a:spLocks noGrp="1"/>
          </p:cNvSpPr>
          <p:nvPr/>
        </p:nvSpPr>
        <p:spPr>
          <a:xfrm>
            <a:off x="5374481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A599B-7284-4878-B140-759667E3E59B}"/>
              </a:ext>
            </a:extLst>
          </p:cNvPr>
          <p:cNvSpPr>
            <a:spLocks noGrp="1"/>
          </p:cNvSpPr>
          <p:nvPr/>
        </p:nvSpPr>
        <p:spPr>
          <a:xfrm>
            <a:off x="5422106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Kotlin/Compose 项目代码、规则模块、AI 策略、蓝牙房间、玩家中心、Release APK/AAB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6A0D20-F591-4ABB-B4C5-F54E00FD79F3}"/>
              </a:ext>
            </a:extLst>
          </p:cNvPr>
          <p:cNvSpPr>
            <a:spLocks noGrp="1"/>
          </p:cNvSpPr>
          <p:nvPr/>
        </p:nvSpPr>
        <p:spPr>
          <a:xfrm>
            <a:off x="8535591" y="3517900"/>
            <a:ext cx="3161109" cy="12128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B6FC30-28EB-4DDD-92A1-16316D1CDCFA}"/>
              </a:ext>
            </a:extLst>
          </p:cNvPr>
          <p:cNvSpPr>
            <a:spLocks noGrp="1"/>
          </p:cNvSpPr>
          <p:nvPr/>
        </p:nvSpPr>
        <p:spPr>
          <a:xfrm>
            <a:off x="8583216" y="354647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分层、设计模式、南北规则、多人蓝牙、AI 策略、发布流程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A0ECD7-F568-4A2E-AF50-A1800348998F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1756172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45B297F-63C1-40C1-9974-7946EA214C91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1660922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5CBD66-A028-418E-9AFE-18AB217739DB}"/>
              </a:ext>
            </a:extLst>
          </p:cNvPr>
          <p:cNvSpPr>
            <a:spLocks noGrp="1"/>
          </p:cNvSpPr>
          <p:nvPr/>
        </p:nvSpPr>
        <p:spPr>
          <a:xfrm>
            <a:off x="2213372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F47101-2B9E-4779-ABBC-F5B5E8034C12}"/>
              </a:ext>
            </a:extLst>
          </p:cNvPr>
          <p:cNvSpPr>
            <a:spLocks noGrp="1"/>
          </p:cNvSpPr>
          <p:nvPr/>
        </p:nvSpPr>
        <p:spPr>
          <a:xfrm>
            <a:off x="2260997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测试设计、自动化测试、模拟蓝牙测试、运行验收、测试报告和录屏验证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18E1B1-E70F-443D-8754-8AE34791966B}"/>
              </a:ext>
            </a:extLst>
          </p:cNvPr>
          <p:cNvSpPr>
            <a:spLocks noGrp="1"/>
          </p:cNvSpPr>
          <p:nvPr/>
        </p:nvSpPr>
        <p:spPr>
          <a:xfrm>
            <a:off x="5374481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D6BD509-A985-42E5-BEC2-3D2D9CF0D612}"/>
              </a:ext>
            </a:extLst>
          </p:cNvPr>
          <p:cNvSpPr>
            <a:spLocks noGrp="1"/>
          </p:cNvSpPr>
          <p:nvPr/>
        </p:nvSpPr>
        <p:spPr>
          <a:xfrm>
            <a:off x="5422106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单元测试、模拟测试、测试报告、手动验收表、演示录屏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2A0889-8B21-4ED8-915B-B754DF273C6A}"/>
              </a:ext>
            </a:extLst>
          </p:cNvPr>
          <p:cNvSpPr>
            <a:spLocks noGrp="1"/>
          </p:cNvSpPr>
          <p:nvPr/>
        </p:nvSpPr>
        <p:spPr>
          <a:xfrm>
            <a:off x="8535591" y="4730750"/>
            <a:ext cx="3161109" cy="1212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E79DA81-1F16-6C45-B0EC-9A62B673B469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C19E25E-641A-E046-AAF6-5F8082FE432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683372-8927-654A-BAB7-998DFAD32F8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00E48F-DDC1-44B7-B56C-090B38E3D80A}"/>
              </a:ext>
            </a:extLst>
          </p:cNvPr>
          <p:cNvSpPr>
            <a:spLocks noGrp="1"/>
          </p:cNvSpPr>
          <p:nvPr/>
        </p:nvSpPr>
        <p:spPr>
          <a:xfrm>
            <a:off x="8583216" y="4759325"/>
            <a:ext cx="3065859" cy="1155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测试覆盖、测试方法、蓝牙风险、Release 验收、录屏展示</a:t>
            </a:r>
          </a:p>
        </p:txBody>
      </p:sp>
    </p:spTree>
    <p:extLst>
      <p:ext uri="{BB962C8B-B14F-4D97-AF65-F5344CB8AC3E}">
        <p14:creationId xmlns:p14="http://schemas.microsoft.com/office/powerpoint/2010/main" val="19567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D55D-AFD7-3A9E-2222-25F28F05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780BAD67-479A-0804-B104-65E6F477C5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BCE5A3-3088-0C8E-97DE-4BDB8B21713D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488099-3BBA-B646-8025-B2313EC02D62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0E014E-5662-3C4B-87E6-C8AB4592A8C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D1A482-DC22-894C-8020-F7421DE45254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80A161-FF9C-1C0E-4B0F-BA5F4A97C41D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开始阶段</a:t>
            </a:r>
            <a:endParaRPr sz="72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102866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75BA99D-E0EC-4016-B71C-315719C3D5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7E9FC3-0C0A-4E0B-A467-557FECEE9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F09ACD-C5C0-4904-823C-4EE8BFCC7B4D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0B31D4-92EB-4FEF-8BC1-5ABC12D3CA0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4F7043-ACBF-42E7-A92A-AD461759A41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F5A9BF-F424-4142-AE2A-4DE2E7C4E57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47A88A-24BA-47FD-91C4-0C8E03C35EF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.1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阶段目标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B22C6E-42BC-4AA7-8A93-D427AFF2D85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627111-D370-A84C-8F63-E47B4504128F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E660C-FCAD-3240-9F42-A6D9BBC92EE5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D6FC5F-ACB6-D74C-9C46-4BF10BB57D4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6D5542-0188-46DE-84B7-AF895FC0BA4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开始阶段的目标是完成开发环境配置、明确项目愿景、确定核心用例和基础迭代计划</a:t>
            </a:r>
            <a:endParaRPr sz="32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95531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1F48-FC10-6263-8C5B-5392F10B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C2EEBE6-1297-94C2-F052-C503AD33C35B}"/>
              </a:ext>
            </a:extLst>
          </p:cNvPr>
          <p:cNvSpPr>
            <a:spLocks noGrp="1"/>
          </p:cNvSpPr>
          <p:nvPr/>
        </p:nvSpPr>
        <p:spPr>
          <a:xfrm>
            <a:off x="0" y="36195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1E56C-3973-44FA-4303-034B71784D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B7F2D6-9081-42E7-9BE5-E83281B21F81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B0D342-B3CB-0A9B-7819-3FDFB7FE25A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044C17-172A-5306-7DD5-2CD26CD044E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B7D31C-03E4-2F66-D962-F590E9C739D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4F0032-5B4B-5B3B-A1B4-E398D694A303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需求分析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A83E2-67EE-E04B-BBA9-121ABA9710F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0EDCBB-8B83-C611-4123-A8D56BD0FD09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endParaRPr sz="32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44D8729-7467-9435-1A9A-E8B07510D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875"/>
            <a:ext cx="4460299" cy="519112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7C36BF8-0567-3849-A4B9-BA2A7139CB0B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45D0DA-D6E6-C846-A2CB-6B6A2DAA452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34C3A0-E3CA-844F-ABC1-C4B918F4CFEE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8AA6033-A38D-20FC-8116-D7C3A60B7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505" y="1666875"/>
            <a:ext cx="7142488" cy="330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9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DC394EF4-BCCE-49C7-84F3-8BC2CCA27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8EBC94-08A8-42B5-B402-7235CD613F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1C6131-D6B2-4D1F-8EE0-B7120D29273D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665C47-8D12-4DE7-8187-29B0FEBDE782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3. 小组分工与协作方式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1C0C90-99E7-4E94-B771-DDC4A2A078A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80CD11-FA2B-476E-80A7-3D1AEBD7E8C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505B3A-3B3E-48B5-AC6D-C93AA96A192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阶段分工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E869B0-847B-45FF-827F-D5C2E3DFF4DF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10B4C-C3F6-4410-A016-93D7E92679B3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69652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2D0A18-111D-4843-AE24-AC8A82B42A5A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60127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EADEBA-F8F1-4AC5-ABF8-14BBAAEE21B6}"/>
              </a:ext>
            </a:extLst>
          </p:cNvPr>
          <p:cNvSpPr>
            <a:spLocks noGrp="1"/>
          </p:cNvSpPr>
          <p:nvPr/>
        </p:nvSpPr>
        <p:spPr>
          <a:xfrm>
            <a:off x="2153728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D8882B-40EA-4D97-93F3-A79056917D62}"/>
              </a:ext>
            </a:extLst>
          </p:cNvPr>
          <p:cNvSpPr>
            <a:spLocks noGrp="1"/>
          </p:cNvSpPr>
          <p:nvPr/>
        </p:nvSpPr>
        <p:spPr>
          <a:xfrm>
            <a:off x="2201353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Annakuliyev Sedar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FBED8B-BE85-462B-AF4A-F0FE78B7700E}"/>
              </a:ext>
            </a:extLst>
          </p:cNvPr>
          <p:cNvSpPr>
            <a:spLocks noGrp="1"/>
          </p:cNvSpPr>
          <p:nvPr/>
        </p:nvSpPr>
        <p:spPr>
          <a:xfrm>
            <a:off x="5334719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D31144-5B7D-4FB9-92AD-9117528737A0}"/>
              </a:ext>
            </a:extLst>
          </p:cNvPr>
          <p:cNvSpPr>
            <a:spLocks noGrp="1"/>
          </p:cNvSpPr>
          <p:nvPr/>
        </p:nvSpPr>
        <p:spPr>
          <a:xfrm>
            <a:off x="5382344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莫均杰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F8B3C7-E381-485C-8CBE-4AB00F09CB22}"/>
              </a:ext>
            </a:extLst>
          </p:cNvPr>
          <p:cNvSpPr>
            <a:spLocks noGrp="1"/>
          </p:cNvSpPr>
          <p:nvPr/>
        </p:nvSpPr>
        <p:spPr>
          <a:xfrm>
            <a:off x="8515709" y="1905000"/>
            <a:ext cx="318099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B63A06-72D2-4DB9-9BA5-BBCADEA678B1}"/>
              </a:ext>
            </a:extLst>
          </p:cNvPr>
          <p:cNvSpPr>
            <a:spLocks noGrp="1"/>
          </p:cNvSpPr>
          <p:nvPr/>
        </p:nvSpPr>
        <p:spPr>
          <a:xfrm>
            <a:off x="8563334" y="1943100"/>
            <a:ext cx="308574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郭铭涛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45C269-991D-44F6-9331-2838E795E16B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3A556A-5A9B-47A2-8775-F678D859B5A4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48558D-8395-4C19-BF02-C536BEC876A8}"/>
              </a:ext>
            </a:extLst>
          </p:cNvPr>
          <p:cNvSpPr>
            <a:spLocks noGrp="1"/>
          </p:cNvSpPr>
          <p:nvPr/>
        </p:nvSpPr>
        <p:spPr>
          <a:xfrm>
            <a:off x="2153728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58F0BF-8D57-467E-B212-178B5DDAB45F}"/>
              </a:ext>
            </a:extLst>
          </p:cNvPr>
          <p:cNvSpPr>
            <a:spLocks noGrp="1"/>
          </p:cNvSpPr>
          <p:nvPr/>
        </p:nvSpPr>
        <p:spPr>
          <a:xfrm>
            <a:off x="2201353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整理核心参与者和初版用例图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2F47AB-9841-4CE1-877D-857A6510F435}"/>
              </a:ext>
            </a:extLst>
          </p:cNvPr>
          <p:cNvSpPr>
            <a:spLocks noGrp="1"/>
          </p:cNvSpPr>
          <p:nvPr/>
        </p:nvSpPr>
        <p:spPr>
          <a:xfrm>
            <a:off x="5334719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87E623-F74A-4C43-B9D0-61EF8D9DB1EE}"/>
              </a:ext>
            </a:extLst>
          </p:cNvPr>
          <p:cNvSpPr>
            <a:spLocks noGrp="1"/>
          </p:cNvSpPr>
          <p:nvPr/>
        </p:nvSpPr>
        <p:spPr>
          <a:xfrm>
            <a:off x="5382344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搭建 Android 项目环境，确定 Kotlin + Compose 技术路线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0696AF-1A5D-4C9E-8FCF-F23A91E90782}"/>
              </a:ext>
            </a:extLst>
          </p:cNvPr>
          <p:cNvSpPr>
            <a:spLocks noGrp="1"/>
          </p:cNvSpPr>
          <p:nvPr/>
        </p:nvSpPr>
        <p:spPr>
          <a:xfrm>
            <a:off x="8515709" y="230505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CE8E6A-686D-47CE-B0A4-D5BBBFEBB40B}"/>
              </a:ext>
            </a:extLst>
          </p:cNvPr>
          <p:cNvSpPr>
            <a:spLocks noGrp="1"/>
          </p:cNvSpPr>
          <p:nvPr/>
        </p:nvSpPr>
        <p:spPr>
          <a:xfrm>
            <a:off x="8563334" y="233362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协助确认用例边界和基础验收场景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A871B4-1B46-4DD2-A148-80D7F56BE3F0}"/>
              </a:ext>
            </a:extLst>
          </p:cNvPr>
          <p:cNvSpPr>
            <a:spLocks noGrp="1"/>
          </p:cNvSpPr>
          <p:nvPr/>
        </p:nvSpPr>
        <p:spPr>
          <a:xfrm>
            <a:off x="457200" y="3032760"/>
            <a:ext cx="169652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0A47B4-3666-4086-BF94-D2D321296779}"/>
              </a:ext>
            </a:extLst>
          </p:cNvPr>
          <p:cNvSpPr>
            <a:spLocks noGrp="1"/>
          </p:cNvSpPr>
          <p:nvPr/>
        </p:nvSpPr>
        <p:spPr>
          <a:xfrm>
            <a:off x="504825" y="306133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3B49FA-7DF7-4BAF-92AD-233D5AEF420C}"/>
              </a:ext>
            </a:extLst>
          </p:cNvPr>
          <p:cNvSpPr>
            <a:spLocks noGrp="1"/>
          </p:cNvSpPr>
          <p:nvPr/>
        </p:nvSpPr>
        <p:spPr>
          <a:xfrm>
            <a:off x="2153728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72A70F-244D-47DD-B418-6E746B0F9CC7}"/>
              </a:ext>
            </a:extLst>
          </p:cNvPr>
          <p:cNvSpPr>
            <a:spLocks noGrp="1"/>
          </p:cNvSpPr>
          <p:nvPr/>
        </p:nvSpPr>
        <p:spPr>
          <a:xfrm>
            <a:off x="2201353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绘制类图、顺序图、包图和交互关系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91D41A-781B-4E42-BE19-39DF46F3663E}"/>
              </a:ext>
            </a:extLst>
          </p:cNvPr>
          <p:cNvSpPr>
            <a:spLocks noGrp="1"/>
          </p:cNvSpPr>
          <p:nvPr/>
        </p:nvSpPr>
        <p:spPr>
          <a:xfrm>
            <a:off x="5334719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4631F8-BDC3-4B1E-9532-E96DC12E1268}"/>
              </a:ext>
            </a:extLst>
          </p:cNvPr>
          <p:cNvSpPr>
            <a:spLocks noGrp="1"/>
          </p:cNvSpPr>
          <p:nvPr/>
        </p:nvSpPr>
        <p:spPr>
          <a:xfrm>
            <a:off x="5382344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完成 MVC 分层设计，建立 Model、Controller、View 基础结构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9BEF8F-9E48-44E8-94C8-85C2A317BB71}"/>
              </a:ext>
            </a:extLst>
          </p:cNvPr>
          <p:cNvSpPr>
            <a:spLocks noGrp="1"/>
          </p:cNvSpPr>
          <p:nvPr/>
        </p:nvSpPr>
        <p:spPr>
          <a:xfrm>
            <a:off x="8515709" y="303276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1A10F3-B25D-42F4-AE8A-1D1E5FA20B3D}"/>
              </a:ext>
            </a:extLst>
          </p:cNvPr>
          <p:cNvSpPr>
            <a:spLocks noGrp="1"/>
          </p:cNvSpPr>
          <p:nvPr/>
        </p:nvSpPr>
        <p:spPr>
          <a:xfrm>
            <a:off x="8563334" y="306133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准备牌型、首出、过牌等规则测试思路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39E4F7-FD05-48DF-99A9-30A7F7129715}"/>
              </a:ext>
            </a:extLst>
          </p:cNvPr>
          <p:cNvSpPr>
            <a:spLocks noGrp="1"/>
          </p:cNvSpPr>
          <p:nvPr/>
        </p:nvSpPr>
        <p:spPr>
          <a:xfrm>
            <a:off x="457200" y="376047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836C43-74DC-40C7-B1DB-6FE00CE5F9FD}"/>
              </a:ext>
            </a:extLst>
          </p:cNvPr>
          <p:cNvSpPr>
            <a:spLocks noGrp="1"/>
          </p:cNvSpPr>
          <p:nvPr/>
        </p:nvSpPr>
        <p:spPr>
          <a:xfrm>
            <a:off x="504825" y="378904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199980-B2D4-4AA1-8684-1DA044003884}"/>
              </a:ext>
            </a:extLst>
          </p:cNvPr>
          <p:cNvSpPr>
            <a:spLocks noGrp="1"/>
          </p:cNvSpPr>
          <p:nvPr/>
        </p:nvSpPr>
        <p:spPr>
          <a:xfrm>
            <a:off x="2153728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E1F8D0-5636-430B-9AE9-DDC141B32258}"/>
              </a:ext>
            </a:extLst>
          </p:cNvPr>
          <p:cNvSpPr>
            <a:spLocks noGrp="1"/>
          </p:cNvSpPr>
          <p:nvPr/>
        </p:nvSpPr>
        <p:spPr>
          <a:xfrm>
            <a:off x="2201353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更新蓝牙、规则相关 UML 元素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60BE86-B652-40CC-8E7C-B2D727F42512}"/>
              </a:ext>
            </a:extLst>
          </p:cNvPr>
          <p:cNvSpPr>
            <a:spLocks noGrp="1"/>
          </p:cNvSpPr>
          <p:nvPr/>
        </p:nvSpPr>
        <p:spPr>
          <a:xfrm>
            <a:off x="5334719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8A93A8-338B-4077-B75C-45127B24C720}"/>
              </a:ext>
            </a:extLst>
          </p:cNvPr>
          <p:cNvSpPr>
            <a:spLocks noGrp="1"/>
          </p:cNvSpPr>
          <p:nvPr/>
        </p:nvSpPr>
        <p:spPr>
          <a:xfrm>
            <a:off x="5382344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实现南北规则、牌型识别、蓝牙房间和消息协议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B1BCE3-529C-4C7B-A4AE-50BEADAC7F7A}"/>
              </a:ext>
            </a:extLst>
          </p:cNvPr>
          <p:cNvSpPr>
            <a:spLocks noGrp="1"/>
          </p:cNvSpPr>
          <p:nvPr/>
        </p:nvSpPr>
        <p:spPr>
          <a:xfrm>
            <a:off x="8515709" y="376047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4DA44E-F931-49C7-84F8-3EFCC1275340}"/>
              </a:ext>
            </a:extLst>
          </p:cNvPr>
          <p:cNvSpPr>
            <a:spLocks noGrp="1"/>
          </p:cNvSpPr>
          <p:nvPr/>
        </p:nvSpPr>
        <p:spPr>
          <a:xfrm>
            <a:off x="8563334" y="378904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编写规则测试、消息编解码测试、房间座位测试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6D3609-CA07-4450-B215-92AD716A67F6}"/>
              </a:ext>
            </a:extLst>
          </p:cNvPr>
          <p:cNvSpPr>
            <a:spLocks noGrp="1"/>
          </p:cNvSpPr>
          <p:nvPr/>
        </p:nvSpPr>
        <p:spPr>
          <a:xfrm>
            <a:off x="457200" y="4488180"/>
            <a:ext cx="169652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DE464B-726C-4228-A513-64ED1A89AD93}"/>
              </a:ext>
            </a:extLst>
          </p:cNvPr>
          <p:cNvSpPr>
            <a:spLocks noGrp="1"/>
          </p:cNvSpPr>
          <p:nvPr/>
        </p:nvSpPr>
        <p:spPr>
          <a:xfrm>
            <a:off x="504825" y="451675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细化迭代 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F3AF49-720A-4B60-ABAB-40B84243BCB4}"/>
              </a:ext>
            </a:extLst>
          </p:cNvPr>
          <p:cNvSpPr>
            <a:spLocks noGrp="1"/>
          </p:cNvSpPr>
          <p:nvPr/>
        </p:nvSpPr>
        <p:spPr>
          <a:xfrm>
            <a:off x="2153728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DDCC506-BC1F-45A2-B420-09F23DE45065}"/>
              </a:ext>
            </a:extLst>
          </p:cNvPr>
          <p:cNvSpPr>
            <a:spLocks noGrp="1"/>
          </p:cNvSpPr>
          <p:nvPr/>
        </p:nvSpPr>
        <p:spPr>
          <a:xfrm>
            <a:off x="2201353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绘制状态图，补充 AI、玩家成长与牌局状态转换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F3463D-0194-41E8-9FD8-238D6A4A7C26}"/>
              </a:ext>
            </a:extLst>
          </p:cNvPr>
          <p:cNvSpPr>
            <a:spLocks noGrp="1"/>
          </p:cNvSpPr>
          <p:nvPr/>
        </p:nvSpPr>
        <p:spPr>
          <a:xfrm>
            <a:off x="5334719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682A77-6C1B-4238-906D-F33D199CE9AB}"/>
              </a:ext>
            </a:extLst>
          </p:cNvPr>
          <p:cNvSpPr>
            <a:spLocks noGrp="1"/>
          </p:cNvSpPr>
          <p:nvPr/>
        </p:nvSpPr>
        <p:spPr>
          <a:xfrm>
            <a:off x="5382344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实现三档 AI 策略、牌桌 UI 状态切换和玩家成长系统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85BE50-E93E-481C-9881-617E272006EF}"/>
              </a:ext>
            </a:extLst>
          </p:cNvPr>
          <p:cNvSpPr>
            <a:spLocks noGrp="1"/>
          </p:cNvSpPr>
          <p:nvPr/>
        </p:nvSpPr>
        <p:spPr>
          <a:xfrm>
            <a:off x="8515709" y="4488180"/>
            <a:ext cx="3180991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716831-A619-4549-BA3E-B1C374A35F46}"/>
              </a:ext>
            </a:extLst>
          </p:cNvPr>
          <p:cNvSpPr>
            <a:spLocks noGrp="1"/>
          </p:cNvSpPr>
          <p:nvPr/>
        </p:nvSpPr>
        <p:spPr>
          <a:xfrm>
            <a:off x="8563334" y="451675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 AI 合法动作、随机多局完成、玩家成长和动画 key 稳定性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B905C74-EA51-49A7-8FD7-44A77DE5EC04}"/>
              </a:ext>
            </a:extLst>
          </p:cNvPr>
          <p:cNvSpPr>
            <a:spLocks noGrp="1"/>
          </p:cNvSpPr>
          <p:nvPr/>
        </p:nvSpPr>
        <p:spPr>
          <a:xfrm>
            <a:off x="457200" y="5215890"/>
            <a:ext cx="169652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2CFDF8F-EC73-49E5-B3B2-12562648A771}"/>
              </a:ext>
            </a:extLst>
          </p:cNvPr>
          <p:cNvSpPr>
            <a:spLocks noGrp="1"/>
          </p:cNvSpPr>
          <p:nvPr/>
        </p:nvSpPr>
        <p:spPr>
          <a:xfrm>
            <a:off x="504825" y="5244465"/>
            <a:ext cx="160127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3AF7D05-198D-4FDD-8FAD-4D9E905A579F}"/>
              </a:ext>
            </a:extLst>
          </p:cNvPr>
          <p:cNvSpPr>
            <a:spLocks noGrp="1"/>
          </p:cNvSpPr>
          <p:nvPr/>
        </p:nvSpPr>
        <p:spPr>
          <a:xfrm>
            <a:off x="2153728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E060A33-E5DF-4E9B-8D5D-FCBF2585EBA9}"/>
              </a:ext>
            </a:extLst>
          </p:cNvPr>
          <p:cNvSpPr>
            <a:spLocks noGrp="1"/>
          </p:cNvSpPr>
          <p:nvPr/>
        </p:nvSpPr>
        <p:spPr>
          <a:xfrm>
            <a:off x="2201353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核对 UML 图与最终代码一致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9B66D20-9E84-4A32-81FA-64FCB0858C2C}"/>
              </a:ext>
            </a:extLst>
          </p:cNvPr>
          <p:cNvSpPr>
            <a:spLocks noGrp="1"/>
          </p:cNvSpPr>
          <p:nvPr/>
        </p:nvSpPr>
        <p:spPr>
          <a:xfrm>
            <a:off x="5334719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4036F4-2A73-4AA2-9340-30C633065532}"/>
              </a:ext>
            </a:extLst>
          </p:cNvPr>
          <p:cNvSpPr>
            <a:spLocks noGrp="1"/>
          </p:cNvSpPr>
          <p:nvPr/>
        </p:nvSpPr>
        <p:spPr>
          <a:xfrm>
            <a:off x="5382344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集成音效动画、Release 签名包、GitHub 托管和最终文档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D115D8-88EC-4B09-A92A-0922B8DFEAAE}"/>
              </a:ext>
            </a:extLst>
          </p:cNvPr>
          <p:cNvSpPr>
            <a:spLocks noGrp="1"/>
          </p:cNvSpPr>
          <p:nvPr/>
        </p:nvSpPr>
        <p:spPr>
          <a:xfrm>
            <a:off x="8515709" y="5215890"/>
            <a:ext cx="3180991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3E0EC34-E733-1A4D-9A1B-4D0902EA1072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C042797-96DE-734A-9BEB-E1885E4314E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676AB26-C79F-5146-9C1A-2E2CA1AE7F17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05277E2-2380-4CE0-8FBE-555CDC3CFD45}"/>
              </a:ext>
            </a:extLst>
          </p:cNvPr>
          <p:cNvSpPr>
            <a:spLocks noGrp="1"/>
          </p:cNvSpPr>
          <p:nvPr/>
        </p:nvSpPr>
        <p:spPr>
          <a:xfrm>
            <a:off x="8563334" y="5244465"/>
            <a:ext cx="3085741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执行单元测试、构建测试、真机/模拟器验收</a:t>
            </a:r>
          </a:p>
        </p:txBody>
      </p:sp>
    </p:spTree>
    <p:extLst>
      <p:ext uri="{BB962C8B-B14F-4D97-AF65-F5344CB8AC3E}">
        <p14:creationId xmlns:p14="http://schemas.microsoft.com/office/powerpoint/2010/main" val="276018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8B61-37B2-9D7F-51BA-50CD5AC9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F982B88B-1A3C-2AF6-1B5E-C6E6497D6A52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17BC3C-9E36-2489-2C8F-AEF2EB39A1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5EB8A8-FA3B-8411-1AAE-0481AFFC3F0F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C453DC-FE82-E7A6-5CED-6A6B1678AA1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420639-040B-F797-CBA0-DBD1FA5AF19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DB663D-3F0A-8BC3-4D95-05BC7AB49E7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BCA9DF-C0CB-7D69-2B26-EB043FCB348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开发内容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5B69E9-37BC-70B3-FC47-C83C6508016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AC1924-16B6-6C0E-1BD3-19EFE6A83A59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需求分析时，将游戏拆分为以下核心用例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6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玩家启动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App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并进入大厅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玩家选择规则，包括北方规则和南方规则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玩家进入人机对局，选择简单、普通、困难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玩家创建或加入好友蓝牙房间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房主添加人机补位并开始四人对局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玩家完成发牌、选牌、出牌、不出、提示、结算和再来一局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</a:t>
            </a:r>
            <a:r>
              <a:rPr sz="16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玩家进入玩家中心，查看等级、金币、战绩、成就和头像</a:t>
            </a:r>
            <a:r>
              <a:rPr sz="16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E019CA-E991-9E42-8ABA-AAB5EF2B5770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F1AB88-A006-9742-AC6B-A6837D425CAE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1C2572-741F-534B-83EF-B3B509425D98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60FD47FE-9EFA-FA05-F634-D7AA415D9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8" y="628650"/>
            <a:ext cx="3787775" cy="608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4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C113C1B5-2D21-47CB-A28C-FD98CE476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551FC7-ABC2-4106-8FA9-27F67B0867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2BE52-1E0C-49C4-B886-9BD4DFF4716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2269A-499F-4E8F-8527-8ABF69668A2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4. 阶段 1：开始（Inception）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1D9D9B-5E12-4776-8D6E-5BD2D4F0585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AB356-BEB6-44FD-99F3-C28D4AA70D8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2E08B8-95A7-4D5D-AD39-732C742C87D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开发内容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FE36D0-2EE7-4CB0-8D34-5070EBDF3C8E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F1C2C2-2510-4803-8BCE-43A2912D207A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83" lnSpcReduction="20000"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本阶段完成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Android Studio 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Gradle 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环境配置，建立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Kotlin + Jetpack Compose 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项目基础，确认应用主入口、资源目录和构建脚本。项目入口为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app/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src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/main/java/com/example/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uml_chudadi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MainActivity.kt，主界面集中在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app/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src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/main/java/com/example/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uml_chudadi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/view/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ChudadiApp.kt</a:t>
            </a: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25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25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5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按照要求，本阶段没有直接堆叠大量界面，而是先确定项目边界和主流程</a:t>
            </a:r>
            <a:r>
              <a:rPr lang="zh-CN" altLang="en-US" sz="250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  <a:endParaRPr sz="2500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E2B9A5-5701-4E3A-9DD3-FA169B3D2BFA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25355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2368F6-CE13-484C-B8E9-ABE9E880E338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15830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3EDA68-79DE-4A5D-A393-BB0C8DEA96B9}"/>
              </a:ext>
            </a:extLst>
          </p:cNvPr>
          <p:cNvSpPr>
            <a:spLocks noGrp="1"/>
          </p:cNvSpPr>
          <p:nvPr/>
        </p:nvSpPr>
        <p:spPr>
          <a:xfrm>
            <a:off x="6444683" y="1905000"/>
            <a:ext cx="25640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D8678F-82EE-4F6F-AC64-873A86D503C4}"/>
              </a:ext>
            </a:extLst>
          </p:cNvPr>
          <p:cNvSpPr>
            <a:spLocks noGrp="1"/>
          </p:cNvSpPr>
          <p:nvPr/>
        </p:nvSpPr>
        <p:spPr>
          <a:xfrm>
            <a:off x="6492308" y="1943100"/>
            <a:ext cx="24688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具体结论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BEE5DD-D8D3-4A3D-892C-0FC820F0C2A1}"/>
              </a:ext>
            </a:extLst>
          </p:cNvPr>
          <p:cNvSpPr>
            <a:spLocks noGrp="1"/>
          </p:cNvSpPr>
          <p:nvPr/>
        </p:nvSpPr>
        <p:spPr>
          <a:xfrm>
            <a:off x="9008779" y="1905000"/>
            <a:ext cx="256409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2CD30D-B8E0-41C6-997D-23449A36BEA2}"/>
              </a:ext>
            </a:extLst>
          </p:cNvPr>
          <p:cNvSpPr>
            <a:spLocks noGrp="1"/>
          </p:cNvSpPr>
          <p:nvPr/>
        </p:nvSpPr>
        <p:spPr>
          <a:xfrm>
            <a:off x="9056404" y="1943100"/>
            <a:ext cx="246884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对应代码/文档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F75272-201F-4F11-9806-66AF52C20B56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05FD3D-8BB8-49E5-9537-6FA726314885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技术框架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7291C2-11F6-46C7-907C-2E896E6F99C1}"/>
              </a:ext>
            </a:extLst>
          </p:cNvPr>
          <p:cNvSpPr>
            <a:spLocks noGrp="1"/>
          </p:cNvSpPr>
          <p:nvPr/>
        </p:nvSpPr>
        <p:spPr>
          <a:xfrm>
            <a:off x="6444683" y="230505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FC7078-9045-4CFC-9B6F-24444852161B}"/>
              </a:ext>
            </a:extLst>
          </p:cNvPr>
          <p:cNvSpPr>
            <a:spLocks noGrp="1"/>
          </p:cNvSpPr>
          <p:nvPr/>
        </p:nvSpPr>
        <p:spPr>
          <a:xfrm>
            <a:off x="6492308" y="233362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采用</a:t>
            </a:r>
            <a:r>
              <a:rPr sz="7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Android Studio + Gradle + Kotlin + Jetpack </a:t>
            </a: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Compose；项目使用</a:t>
            </a:r>
            <a:r>
              <a:rPr sz="7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Kotlin </a:t>
            </a: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作为</a:t>
            </a:r>
            <a:r>
              <a:rPr sz="7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Android </a:t>
            </a: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官方推荐语言</a:t>
            </a:r>
            <a:endParaRPr sz="7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818095-5115-48C8-91FC-10F1E8D73FA5}"/>
              </a:ext>
            </a:extLst>
          </p:cNvPr>
          <p:cNvSpPr>
            <a:spLocks noGrp="1"/>
          </p:cNvSpPr>
          <p:nvPr/>
        </p:nvSpPr>
        <p:spPr>
          <a:xfrm>
            <a:off x="9008779" y="230505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D0F22E-1C53-400A-BA6B-B74313D80B5D}"/>
              </a:ext>
            </a:extLst>
          </p:cNvPr>
          <p:cNvSpPr>
            <a:spLocks noGrp="1"/>
          </p:cNvSpPr>
          <p:nvPr/>
        </p:nvSpPr>
        <p:spPr>
          <a:xfrm>
            <a:off x="9056404" y="233362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settings.gradle.kts、build.gradle.kts、MainActivity.kt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EBD32D-BFAD-4766-B540-41FAD911DEC3}"/>
              </a:ext>
            </a:extLst>
          </p:cNvPr>
          <p:cNvSpPr>
            <a:spLocks noGrp="1"/>
          </p:cNvSpPr>
          <p:nvPr/>
        </p:nvSpPr>
        <p:spPr>
          <a:xfrm>
            <a:off x="5191125" y="3032760"/>
            <a:ext cx="125355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328E6C-63C3-4167-81F6-F6DDB5E71FA5}"/>
              </a:ext>
            </a:extLst>
          </p:cNvPr>
          <p:cNvSpPr>
            <a:spLocks noGrp="1"/>
          </p:cNvSpPr>
          <p:nvPr/>
        </p:nvSpPr>
        <p:spPr>
          <a:xfrm>
            <a:off x="5238750" y="306133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主入口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80538F-13B7-4528-BC69-52A506CFFD2A}"/>
              </a:ext>
            </a:extLst>
          </p:cNvPr>
          <p:cNvSpPr>
            <a:spLocks noGrp="1"/>
          </p:cNvSpPr>
          <p:nvPr/>
        </p:nvSpPr>
        <p:spPr>
          <a:xfrm>
            <a:off x="6444683" y="303276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735965-81D9-4E8D-ABE2-F69C29A6E58F}"/>
              </a:ext>
            </a:extLst>
          </p:cNvPr>
          <p:cNvSpPr>
            <a:spLocks noGrp="1"/>
          </p:cNvSpPr>
          <p:nvPr/>
        </p:nvSpPr>
        <p:spPr>
          <a:xfrm>
            <a:off x="6492308" y="306133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 Activity 架构，MainActivity 只负责创建 Compose 内容，具体页面逻辑交给 ChudadiApp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9AD60D-C788-4DC1-8C5A-B79F7E2B2E0F}"/>
              </a:ext>
            </a:extLst>
          </p:cNvPr>
          <p:cNvSpPr>
            <a:spLocks noGrp="1"/>
          </p:cNvSpPr>
          <p:nvPr/>
        </p:nvSpPr>
        <p:spPr>
          <a:xfrm>
            <a:off x="9008779" y="303276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9F97F1-3071-4AEF-9085-0B423E4F4413}"/>
              </a:ext>
            </a:extLst>
          </p:cNvPr>
          <p:cNvSpPr>
            <a:spLocks noGrp="1"/>
          </p:cNvSpPr>
          <p:nvPr/>
        </p:nvSpPr>
        <p:spPr>
          <a:xfrm>
            <a:off x="9056404" y="306133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MainActivity.kt、view/ChudadiApp.kt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51AB4B-494A-4DED-9AB0-5A7FC63DEF48}"/>
              </a:ext>
            </a:extLst>
          </p:cNvPr>
          <p:cNvSpPr>
            <a:spLocks noGrp="1"/>
          </p:cNvSpPr>
          <p:nvPr/>
        </p:nvSpPr>
        <p:spPr>
          <a:xfrm>
            <a:off x="5191125" y="376047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EB7D34-DC20-4E27-953C-DDFF0A97EA01}"/>
              </a:ext>
            </a:extLst>
          </p:cNvPr>
          <p:cNvSpPr>
            <a:spLocks noGrp="1"/>
          </p:cNvSpPr>
          <p:nvPr/>
        </p:nvSpPr>
        <p:spPr>
          <a:xfrm>
            <a:off x="5238750" y="378904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游戏对象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1A974F-1907-4613-AA3E-3C73386CFD46}"/>
              </a:ext>
            </a:extLst>
          </p:cNvPr>
          <p:cNvSpPr>
            <a:spLocks noGrp="1"/>
          </p:cNvSpPr>
          <p:nvPr/>
        </p:nvSpPr>
        <p:spPr>
          <a:xfrm>
            <a:off x="6444683" y="376047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F86A5B-ADEC-47C6-9C1F-CA4D413ECFD7}"/>
              </a:ext>
            </a:extLst>
          </p:cNvPr>
          <p:cNvSpPr>
            <a:spLocks noGrp="1"/>
          </p:cNvSpPr>
          <p:nvPr/>
        </p:nvSpPr>
        <p:spPr>
          <a:xfrm>
            <a:off x="6492308" y="378904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玩家、扑克牌、牌堆、牌型、规则、牌局状态、出牌动作、蓝牙房间、玩家档案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DB55E18-A782-434D-B045-15CE4624721A}"/>
              </a:ext>
            </a:extLst>
          </p:cNvPr>
          <p:cNvSpPr>
            <a:spLocks noGrp="1"/>
          </p:cNvSpPr>
          <p:nvPr/>
        </p:nvSpPr>
        <p:spPr>
          <a:xfrm>
            <a:off x="9008779" y="376047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C2E818-179C-4872-9B9C-29DB0C8AD858}"/>
              </a:ext>
            </a:extLst>
          </p:cNvPr>
          <p:cNvSpPr>
            <a:spLocks noGrp="1"/>
          </p:cNvSpPr>
          <p:nvPr/>
        </p:nvSpPr>
        <p:spPr>
          <a:xfrm>
            <a:off x="9056404" y="378904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model/、transport/、profile/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D6179F3-E170-4DF8-B91D-73EDF98A1BC8}"/>
              </a:ext>
            </a:extLst>
          </p:cNvPr>
          <p:cNvSpPr>
            <a:spLocks noGrp="1"/>
          </p:cNvSpPr>
          <p:nvPr/>
        </p:nvSpPr>
        <p:spPr>
          <a:xfrm>
            <a:off x="5191125" y="4488180"/>
            <a:ext cx="1253558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0E320F-C365-455C-B12E-6E3F8A9BFC2F}"/>
              </a:ext>
            </a:extLst>
          </p:cNvPr>
          <p:cNvSpPr>
            <a:spLocks noGrp="1"/>
          </p:cNvSpPr>
          <p:nvPr/>
        </p:nvSpPr>
        <p:spPr>
          <a:xfrm>
            <a:off x="5238750" y="451675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核心用例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5D9876-CB62-4686-801F-B71BFEB2A0F9}"/>
              </a:ext>
            </a:extLst>
          </p:cNvPr>
          <p:cNvSpPr>
            <a:spLocks noGrp="1"/>
          </p:cNvSpPr>
          <p:nvPr/>
        </p:nvSpPr>
        <p:spPr>
          <a:xfrm>
            <a:off x="6444683" y="448818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A7CFD1-67B3-4161-A902-1FDA1F248899}"/>
              </a:ext>
            </a:extLst>
          </p:cNvPr>
          <p:cNvSpPr>
            <a:spLocks noGrp="1"/>
          </p:cNvSpPr>
          <p:nvPr/>
        </p:nvSpPr>
        <p:spPr>
          <a:xfrm>
            <a:off x="6492308" y="451675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开屏、进入大厅、选择规则、人机对局、蓝牙房间、发牌、选牌、出牌、不出、提示、结算、再来一局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D969CD8-751B-47FD-84BB-C4F4123A7A4B}"/>
              </a:ext>
            </a:extLst>
          </p:cNvPr>
          <p:cNvSpPr>
            <a:spLocks noGrp="1"/>
          </p:cNvSpPr>
          <p:nvPr/>
        </p:nvSpPr>
        <p:spPr>
          <a:xfrm>
            <a:off x="9008779" y="4488180"/>
            <a:ext cx="256409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334557-F10C-4B08-B051-324DB37ECB0F}"/>
              </a:ext>
            </a:extLst>
          </p:cNvPr>
          <p:cNvSpPr>
            <a:spLocks noGrp="1"/>
          </p:cNvSpPr>
          <p:nvPr/>
        </p:nvSpPr>
        <p:spPr>
          <a:xfrm>
            <a:off x="9056404" y="451675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docs/uml/use_case.puml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81D22A3-DEA3-492A-B551-C057B2B2A24E}"/>
              </a:ext>
            </a:extLst>
          </p:cNvPr>
          <p:cNvSpPr>
            <a:spLocks noGrp="1"/>
          </p:cNvSpPr>
          <p:nvPr/>
        </p:nvSpPr>
        <p:spPr>
          <a:xfrm>
            <a:off x="5191125" y="5215890"/>
            <a:ext cx="1253558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3766F5-D6C3-47DD-BA00-4D972D4B10B3}"/>
              </a:ext>
            </a:extLst>
          </p:cNvPr>
          <p:cNvSpPr>
            <a:spLocks noGrp="1"/>
          </p:cNvSpPr>
          <p:nvPr/>
        </p:nvSpPr>
        <p:spPr>
          <a:xfrm>
            <a:off x="5238750" y="5244465"/>
            <a:ext cx="1158308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质量边界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DB288C-D2F1-4174-831E-8D98618F4CE5}"/>
              </a:ext>
            </a:extLst>
          </p:cNvPr>
          <p:cNvSpPr>
            <a:spLocks noGrp="1"/>
          </p:cNvSpPr>
          <p:nvPr/>
        </p:nvSpPr>
        <p:spPr>
          <a:xfrm>
            <a:off x="6444683" y="521589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ED50C2-29CE-4387-B213-F3FE262D6635}"/>
              </a:ext>
            </a:extLst>
          </p:cNvPr>
          <p:cNvSpPr>
            <a:spLocks noGrp="1"/>
          </p:cNvSpPr>
          <p:nvPr/>
        </p:nvSpPr>
        <p:spPr>
          <a:xfrm>
            <a:off x="6492308" y="524446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不新增不必要第三方依赖，优先使用</a:t>
            </a:r>
            <a:r>
              <a:rPr sz="7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Android/Compose/</a:t>
            </a: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蓝牙原生</a:t>
            </a:r>
            <a:r>
              <a:rPr sz="7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API，降低构建风险</a:t>
            </a:r>
            <a:endParaRPr sz="7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5732FD-E08F-4C30-9CE4-0C4E8A272A5A}"/>
              </a:ext>
            </a:extLst>
          </p:cNvPr>
          <p:cNvSpPr>
            <a:spLocks noGrp="1"/>
          </p:cNvSpPr>
          <p:nvPr/>
        </p:nvSpPr>
        <p:spPr>
          <a:xfrm>
            <a:off x="9008779" y="5215890"/>
            <a:ext cx="256409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1CD918-0D63-6B4A-985E-F23902C87CA1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0FE6BC2-B9D8-514C-A1C1-9F4DF1489B1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1A2B6B-3B0D-EA4E-A55D-FB4B7E28E3F3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295129-AC1A-44C4-80C0-2FBB926CDD96}"/>
              </a:ext>
            </a:extLst>
          </p:cNvPr>
          <p:cNvSpPr>
            <a:spLocks noGrp="1"/>
          </p:cNvSpPr>
          <p:nvPr/>
        </p:nvSpPr>
        <p:spPr>
          <a:xfrm>
            <a:off x="9056404" y="5244465"/>
            <a:ext cx="246884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docs/requirements.md</a:t>
            </a:r>
          </a:p>
        </p:txBody>
      </p:sp>
    </p:spTree>
    <p:extLst>
      <p:ext uri="{BB962C8B-B14F-4D97-AF65-F5344CB8AC3E}">
        <p14:creationId xmlns:p14="http://schemas.microsoft.com/office/powerpoint/2010/main" val="96955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3A6E-70B4-0015-B8E4-10F83E1D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7E24581-CB19-F481-7ECD-AD182090BB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01DD37-E219-35E5-D365-8D1F22ACC575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5741E2-D349-D546-ACD8-0E54C937EF7E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6DD20F-2D3C-C741-829E-B52971F31834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EB08D3-BE59-644E-AEF3-8A3AD7E242D7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B31BD1-016F-C3BE-F2D9-B1FD6916C6E8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</a:t>
            </a:r>
            <a:r>
              <a:rPr lang="en-US" altLang="zh-CN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  <a:endParaRPr sz="72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9673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B68C14C-224C-422F-B99F-85C29173D4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5A25E4-3655-4199-907D-6F9BC81D0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B4355D-8100-4104-9BBA-9ACDFC6D3AD3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36C14-6F7A-4545-BAEC-5435666C787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5A810-561A-449C-A605-E68F13CDC10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786749-0462-4180-86C3-BDBE71D3356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533B3B-D2B4-4842-8908-199311F2FB8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.1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阶段目标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C0BB3A-6485-4CC5-8B9F-5BCF98B8DCF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4FF4BD-6AAB-574E-996F-3ECFEB28513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B3B8EC-BFCC-7940-B4AB-1553F618F58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8BB20E-675D-1F4B-BEF6-D56DB2862720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F1764E-2FD4-4100-BDC2-528841BD7AFC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本阶段目标是完成面向对象分析和初步设计，建立项目的领域模型、系统顺序图、操作契约、包图、交互图和类图，并实现核心代码结构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957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50B32E6-EA67-4746-9A9D-003860FBA4C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38F6AD-ABAB-433D-916A-3AB00E3B1C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026EF4-FCDD-4A2B-A030-91C0B0C34FAE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63A2A2-4560-4738-B2D6-9F2D8281AA8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0E7BE5-C7E0-4EFC-8EBD-69400C3D251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4CF4BB-8A88-4159-BD32-3AC5808E3BA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829A13-ECB4-48A4-A495-ED062326F013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面向对象分析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373F2-C6F0-44F2-9C65-8AB273A73BBF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2A21DC-741C-4AC4-8AE3-7D6405F3733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5588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锄大地游戏的核心对象包括扑克牌、牌堆、玩家、牌型、规则、牌局状态、玩家动作和联机消息。根据这些对象，项目将代码分为 Model、Controller、View、Transport、Profile 和 Audio 等模块。</a:t>
            </a:r>
          </a:p>
        </p:txBody>
      </p:sp>
      <p:sp>
        <p:nvSpPr>
          <p:cNvPr id="11" name="Merged object table r0c0"/>
          <p:cNvSpPr/>
          <p:nvPr/>
        </p:nvSpPr>
        <p:spPr>
          <a:xfrm>
            <a:off x="457200" y="2641600"/>
            <a:ext cx="2519172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2" name="Merged object table r0c1"/>
          <p:cNvSpPr/>
          <p:nvPr/>
        </p:nvSpPr>
        <p:spPr>
          <a:xfrm>
            <a:off x="2976372" y="2641600"/>
            <a:ext cx="4360164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关键类</a:t>
            </a:r>
          </a:p>
        </p:txBody>
      </p:sp>
      <p:sp>
        <p:nvSpPr>
          <p:cNvPr id="13" name="Merged object table r0c2"/>
          <p:cNvSpPr/>
          <p:nvPr/>
        </p:nvSpPr>
        <p:spPr>
          <a:xfrm>
            <a:off x="7336536" y="2641600"/>
            <a:ext cx="4360164" cy="387350"/>
          </a:xfrm>
          <a:prstGeom prst="rect">
            <a:avLst/>
          </a:prstGeom>
          <a:solidFill>
            <a:srgbClr val="0D4635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职责</a:t>
            </a:r>
          </a:p>
        </p:txBody>
      </p:sp>
      <p:sp>
        <p:nvSpPr>
          <p:cNvPr id="14" name="Merged object table r1c0"/>
          <p:cNvSpPr/>
          <p:nvPr/>
        </p:nvSpPr>
        <p:spPr>
          <a:xfrm>
            <a:off x="457200" y="30289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牌与牌型</a:t>
            </a:r>
          </a:p>
        </p:txBody>
      </p:sp>
      <p:sp>
        <p:nvSpPr>
          <p:cNvPr id="15" name="Merged object table r1c1"/>
          <p:cNvSpPr/>
          <p:nvPr/>
        </p:nvSpPr>
        <p:spPr>
          <a:xfrm>
            <a:off x="2976372" y="30289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Card、Deck、HandClassifier、HandType</a:t>
            </a:r>
          </a:p>
        </p:txBody>
      </p:sp>
      <p:sp>
        <p:nvSpPr>
          <p:cNvPr id="16" name="Merged object table r1c2"/>
          <p:cNvSpPr/>
          <p:nvPr/>
        </p:nvSpPr>
        <p:spPr>
          <a:xfrm>
            <a:off x="7336536" y="30289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表示牌面、发牌、牌型识别和牌型比较基础</a:t>
            </a:r>
          </a:p>
        </p:txBody>
      </p:sp>
      <p:sp>
        <p:nvSpPr>
          <p:cNvPr id="17" name="Merged object table r2c0"/>
          <p:cNvSpPr/>
          <p:nvPr/>
        </p:nvSpPr>
        <p:spPr>
          <a:xfrm>
            <a:off x="457200" y="34861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18" name="Merged object table r2c1"/>
          <p:cNvSpPr/>
          <p:nvPr/>
        </p:nvSpPr>
        <p:spPr>
          <a:xfrm>
            <a:off x="2976372" y="34861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RuleProfile、NorthRuleSet、SouthRuleSet</a:t>
            </a:r>
          </a:p>
        </p:txBody>
      </p:sp>
      <p:sp>
        <p:nvSpPr>
          <p:cNvPr id="19" name="Merged object table r2c2"/>
          <p:cNvSpPr/>
          <p:nvPr/>
        </p:nvSpPr>
        <p:spPr>
          <a:xfrm>
            <a:off x="7336536" y="34861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表示南北玩法、首出规则和压牌规则</a:t>
            </a:r>
          </a:p>
        </p:txBody>
      </p:sp>
      <p:sp>
        <p:nvSpPr>
          <p:cNvPr id="20" name="Merged object table r3c0"/>
          <p:cNvSpPr/>
          <p:nvPr/>
        </p:nvSpPr>
        <p:spPr>
          <a:xfrm>
            <a:off x="457200" y="39433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回合控制</a:t>
            </a:r>
          </a:p>
        </p:txBody>
      </p:sp>
      <p:sp>
        <p:nvSpPr>
          <p:cNvPr id="21" name="Merged object table r3c1"/>
          <p:cNvSpPr/>
          <p:nvPr/>
        </p:nvSpPr>
        <p:spPr>
          <a:xfrm>
            <a:off x="2976372" y="39433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GameController、GameState、Move</a:t>
            </a:r>
          </a:p>
        </p:txBody>
      </p:sp>
      <p:sp>
        <p:nvSpPr>
          <p:cNvPr id="22" name="Merged object table r3c2"/>
          <p:cNvSpPr/>
          <p:nvPr/>
        </p:nvSpPr>
        <p:spPr>
          <a:xfrm>
            <a:off x="7336536" y="39433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处理出牌、不出、三家过牌重置和胜负结算</a:t>
            </a:r>
          </a:p>
        </p:txBody>
      </p:sp>
      <p:sp>
        <p:nvSpPr>
          <p:cNvPr id="23" name="Merged object table r4c0"/>
          <p:cNvSpPr/>
          <p:nvPr/>
        </p:nvSpPr>
        <p:spPr>
          <a:xfrm>
            <a:off x="457200" y="44005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24" name="Merged object table r4c1"/>
          <p:cNvSpPr/>
          <p:nvPr/>
        </p:nvSpPr>
        <p:spPr>
          <a:xfrm>
            <a:off x="2976372" y="44005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AiStrategy、GreedyAiStrategy、HeuristicAiStrategy、MonteCarloRolloutAiStrategy</a:t>
            </a:r>
          </a:p>
        </p:txBody>
      </p:sp>
      <p:sp>
        <p:nvSpPr>
          <p:cNvPr id="25" name="Merged object table r4c2"/>
          <p:cNvSpPr/>
          <p:nvPr/>
        </p:nvSpPr>
        <p:spPr>
          <a:xfrm>
            <a:off x="7336536" y="44005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表示不同难度的人机策略</a:t>
            </a:r>
          </a:p>
        </p:txBody>
      </p:sp>
      <p:sp>
        <p:nvSpPr>
          <p:cNvPr id="26" name="Merged object table r5c0"/>
          <p:cNvSpPr/>
          <p:nvPr/>
        </p:nvSpPr>
        <p:spPr>
          <a:xfrm>
            <a:off x="457200" y="48577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联机</a:t>
            </a:r>
          </a:p>
        </p:txBody>
      </p:sp>
      <p:sp>
        <p:nvSpPr>
          <p:cNvPr id="27" name="Merged object table r5c1"/>
          <p:cNvSpPr/>
          <p:nvPr/>
        </p:nvSpPr>
        <p:spPr>
          <a:xfrm>
            <a:off x="2976372" y="48577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GameTransport、BluetoothHostTransport、BluetoothClientTransport、LocalRoomTransport</a:t>
            </a:r>
          </a:p>
        </p:txBody>
      </p:sp>
      <p:sp>
        <p:nvSpPr>
          <p:cNvPr id="28" name="Merged object table r5c2"/>
          <p:cNvSpPr/>
          <p:nvPr/>
        </p:nvSpPr>
        <p:spPr>
          <a:xfrm>
            <a:off x="7336536" y="48577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隔离真实蓝牙和本地模拟传输</a:t>
            </a:r>
          </a:p>
        </p:txBody>
      </p:sp>
      <p:sp>
        <p:nvSpPr>
          <p:cNvPr id="29" name="Merged object table r6c0"/>
          <p:cNvSpPr/>
          <p:nvPr/>
        </p:nvSpPr>
        <p:spPr>
          <a:xfrm>
            <a:off x="457200" y="5314950"/>
            <a:ext cx="2519172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</a:t>
            </a:r>
          </a:p>
        </p:txBody>
      </p:sp>
      <p:sp>
        <p:nvSpPr>
          <p:cNvPr id="30" name="Merged object table r6c1"/>
          <p:cNvSpPr/>
          <p:nvPr/>
        </p:nvSpPr>
        <p:spPr>
          <a:xfrm>
            <a:off x="2976372" y="53149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PlayerProfile、ProfileController、ProfileStore</a:t>
            </a:r>
          </a:p>
        </p:txBody>
      </p:sp>
      <p:sp>
        <p:nvSpPr>
          <p:cNvPr id="31" name="Merged object table r6c2"/>
          <p:cNvSpPr/>
          <p:nvPr/>
        </p:nvSpPr>
        <p:spPr>
          <a:xfrm>
            <a:off x="7336536" y="5314950"/>
            <a:ext cx="4360164" cy="457200"/>
          </a:xfrm>
          <a:prstGeom prst="rect">
            <a:avLst/>
          </a:prstGeom>
          <a:solidFill>
            <a:srgbClr val="F5F8F2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管理金币、等级、经验、战绩、头像和成就</a:t>
            </a:r>
          </a:p>
        </p:txBody>
      </p:sp>
      <p:sp>
        <p:nvSpPr>
          <p:cNvPr id="32" name="Merged object table r7c0"/>
          <p:cNvSpPr/>
          <p:nvPr/>
        </p:nvSpPr>
        <p:spPr>
          <a:xfrm>
            <a:off x="457200" y="5772150"/>
            <a:ext cx="25191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UI 与反馈</a:t>
            </a:r>
          </a:p>
        </p:txBody>
      </p:sp>
      <p:sp>
        <p:nvSpPr>
          <p:cNvPr id="33" name="Merged object table r7c1"/>
          <p:cNvSpPr/>
          <p:nvPr/>
        </p:nvSpPr>
        <p:spPr>
          <a:xfrm>
            <a:off x="2976372" y="57721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ChudadiApp、CardRoomMusicPlayer、TableAnimationKeys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87BA6EE-6300-6D48-99F7-C1CDA7FDA595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AC1AFB4-C9AC-1948-85CE-B34B38B6EDB9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DB178A-FDA1-A74F-8188-471E00B1294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Merged object table r7c2"/>
          <p:cNvSpPr/>
          <p:nvPr/>
        </p:nvSpPr>
        <p:spPr>
          <a:xfrm>
            <a:off x="7336536" y="5772150"/>
            <a:ext cx="43601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D4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l">
              <a:buNone/>
              <a:def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负责页面、动画、音乐、音效和交互反馈</a:t>
            </a:r>
          </a:p>
        </p:txBody>
      </p:sp>
    </p:spTree>
    <p:extLst>
      <p:ext uri="{BB962C8B-B14F-4D97-AF65-F5344CB8AC3E}">
        <p14:creationId xmlns:p14="http://schemas.microsoft.com/office/powerpoint/2010/main" val="305059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3153A915-D17A-40C1-9522-DD86E562E4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649DF0-3921-48DA-94B0-C84F637EB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36AAD-0B32-4916-B24C-C70D3F06A6EF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155C64-F6FE-4AC2-A57A-2C36DECEFE2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68AA80-0DDB-4C00-BC7B-ACEB2E0B155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693AB0-D34E-4819-8D23-38391E1FF80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E0F2-EB84-403A-B1AD-8035B2AAB43A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MVC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分层设计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592F9-A817-480C-AB3E-B29922703B8E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16DC01-39A6-4A7A-91DC-20560AC3D738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6284"/>
          </a:bodyPr>
          <a:lstStyle/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项目采用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MVC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思想组织代码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23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Model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层负责领域数据和规则，包括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Card、Deck、HandType、RuleSet、GameState、Player、RoomSeat、GameSnapshot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PlayerProfile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Controller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层负责业务逻辑，包括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GameController、PlayerActionPolicy、RoomController、NetworkMoveGuard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ProfileController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View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层使用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Jetpack Compose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实现界面展示，包括开屏、大厅、规则设置、人机难度选择、蓝牙房间、牌桌、结算和玩家中心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23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这种分层让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UI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不直接处理复杂规则，让规则、AI、蓝牙和测试能够独立演进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23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更细的实现边界如下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23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例如玩家点击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时，View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层只收集选中的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Card；PlayerActionPolicy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判断</a:t>
            </a:r>
            <a:r>
              <a:rPr lang="zh-CN" altLang="en-US"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按钮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是否</a:t>
            </a:r>
            <a:r>
              <a:rPr lang="zh-CN" altLang="en-US"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可用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；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调用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RuleSet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校验是否合法；成功后生成新的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GameState；如果是蓝牙对局，房主再通过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GameSnapshot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广播给客户端。这个流程体现了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MVC </a:t>
            </a:r>
            <a:r>
              <a:rPr sz="123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的分层和顺序图中的调用链</a:t>
            </a:r>
            <a:r>
              <a:rPr sz="123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71EDC-8E74-432D-BC08-352834C597B3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51431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28B294-F03D-445A-BB7F-D76AC092B401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41906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2114DB-64D5-4A0E-9121-829BF86369BA}"/>
              </a:ext>
            </a:extLst>
          </p:cNvPr>
          <p:cNvSpPr>
            <a:spLocks noGrp="1"/>
          </p:cNvSpPr>
          <p:nvPr/>
        </p:nvSpPr>
        <p:spPr>
          <a:xfrm>
            <a:off x="6705439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C4AD3C-AB12-4CD5-A2CD-6A244DA61062}"/>
              </a:ext>
            </a:extLst>
          </p:cNvPr>
          <p:cNvSpPr>
            <a:spLocks noGrp="1"/>
          </p:cNvSpPr>
          <p:nvPr/>
        </p:nvSpPr>
        <p:spPr>
          <a:xfrm>
            <a:off x="6753064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597E65-A3C3-412A-A10C-37496E2A1AEE}"/>
              </a:ext>
            </a:extLst>
          </p:cNvPr>
          <p:cNvSpPr>
            <a:spLocks noGrp="1"/>
          </p:cNvSpPr>
          <p:nvPr/>
        </p:nvSpPr>
        <p:spPr>
          <a:xfrm>
            <a:off x="8327917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E17F10-97B7-4F7C-B37D-4F3C56D98E46}"/>
              </a:ext>
            </a:extLst>
          </p:cNvPr>
          <p:cNvSpPr>
            <a:spLocks noGrp="1"/>
          </p:cNvSpPr>
          <p:nvPr/>
        </p:nvSpPr>
        <p:spPr>
          <a:xfrm>
            <a:off x="8375542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1E1EEB-5A79-40EE-B2C4-3FEEBD767B10}"/>
              </a:ext>
            </a:extLst>
          </p:cNvPr>
          <p:cNvSpPr>
            <a:spLocks noGrp="1"/>
          </p:cNvSpPr>
          <p:nvPr/>
        </p:nvSpPr>
        <p:spPr>
          <a:xfrm>
            <a:off x="9950396" y="1905000"/>
            <a:ext cx="162247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A9603-20EE-4DB6-9A16-712BF1623FF8}"/>
              </a:ext>
            </a:extLst>
          </p:cNvPr>
          <p:cNvSpPr>
            <a:spLocks noGrp="1"/>
          </p:cNvSpPr>
          <p:nvPr/>
        </p:nvSpPr>
        <p:spPr>
          <a:xfrm>
            <a:off x="9998021" y="1943100"/>
            <a:ext cx="152722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具体职责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1E6D66-2EFE-41D2-9252-0E7EBBC083F9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C4A329-1CD0-4574-BAD1-CEE51F11F29A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3008E2-FB50-4E1D-A552-3FAB27E31E0B}"/>
              </a:ext>
            </a:extLst>
          </p:cNvPr>
          <p:cNvSpPr>
            <a:spLocks noGrp="1"/>
          </p:cNvSpPr>
          <p:nvPr/>
        </p:nvSpPr>
        <p:spPr>
          <a:xfrm>
            <a:off x="6705439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62A2FD-F6F6-440C-AB95-F3E23EF48009}"/>
              </a:ext>
            </a:extLst>
          </p:cNvPr>
          <p:cNvSpPr>
            <a:spLocks noGrp="1"/>
          </p:cNvSpPr>
          <p:nvPr/>
        </p:nvSpPr>
        <p:spPr>
          <a:xfrm>
            <a:off x="6753064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app/src/main/java/com/example/uml_chudadi/model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9E0E2B-5423-4B2D-811B-BEA8278E8A9E}"/>
              </a:ext>
            </a:extLst>
          </p:cNvPr>
          <p:cNvSpPr>
            <a:spLocks noGrp="1"/>
          </p:cNvSpPr>
          <p:nvPr/>
        </p:nvSpPr>
        <p:spPr>
          <a:xfrm>
            <a:off x="8327917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D51D99-9A5D-4DE9-A84D-5996F364DF27}"/>
              </a:ext>
            </a:extLst>
          </p:cNvPr>
          <p:cNvSpPr>
            <a:spLocks noGrp="1"/>
          </p:cNvSpPr>
          <p:nvPr/>
        </p:nvSpPr>
        <p:spPr>
          <a:xfrm>
            <a:off x="8375542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Card、Deck、HandType、GameState、RuleSet、Player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77A146-94FA-483E-A7D3-3661DB246917}"/>
              </a:ext>
            </a:extLst>
          </p:cNvPr>
          <p:cNvSpPr>
            <a:spLocks noGrp="1"/>
          </p:cNvSpPr>
          <p:nvPr/>
        </p:nvSpPr>
        <p:spPr>
          <a:xfrm>
            <a:off x="9950396" y="23050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118D2C-6750-4256-BF93-29FF1D4FD754}"/>
              </a:ext>
            </a:extLst>
          </p:cNvPr>
          <p:cNvSpPr>
            <a:spLocks noGrp="1"/>
          </p:cNvSpPr>
          <p:nvPr/>
        </p:nvSpPr>
        <p:spPr>
          <a:xfrm>
            <a:off x="9998021" y="23336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表示牌、牌型、玩家、规则和牌局状态，不依赖 Android UI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BAD58D-16A8-40C2-A493-7E58339D9FB0}"/>
              </a:ext>
            </a:extLst>
          </p:cNvPr>
          <p:cNvSpPr>
            <a:spLocks noGrp="1"/>
          </p:cNvSpPr>
          <p:nvPr/>
        </p:nvSpPr>
        <p:spPr>
          <a:xfrm>
            <a:off x="5191125" y="291147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EA5023-D498-45B8-9AFC-05F98031CAFE}"/>
              </a:ext>
            </a:extLst>
          </p:cNvPr>
          <p:cNvSpPr>
            <a:spLocks noGrp="1"/>
          </p:cNvSpPr>
          <p:nvPr/>
        </p:nvSpPr>
        <p:spPr>
          <a:xfrm>
            <a:off x="5238750" y="294005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Controller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96ADCA-56A1-4D6A-972E-542125E0AC74}"/>
              </a:ext>
            </a:extLst>
          </p:cNvPr>
          <p:cNvSpPr>
            <a:spLocks noGrp="1"/>
          </p:cNvSpPr>
          <p:nvPr/>
        </p:nvSpPr>
        <p:spPr>
          <a:xfrm>
            <a:off x="6705439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0B9AE5-D7E3-4159-89F7-3E3AD0F6CB95}"/>
              </a:ext>
            </a:extLst>
          </p:cNvPr>
          <p:cNvSpPr>
            <a:spLocks noGrp="1"/>
          </p:cNvSpPr>
          <p:nvPr/>
        </p:nvSpPr>
        <p:spPr>
          <a:xfrm>
            <a:off x="6753064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app/src/main/java/com/example/uml_chudadi/controller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DA04C0-264E-4BD5-9CBB-ABE5425F6219}"/>
              </a:ext>
            </a:extLst>
          </p:cNvPr>
          <p:cNvSpPr>
            <a:spLocks noGrp="1"/>
          </p:cNvSpPr>
          <p:nvPr/>
        </p:nvSpPr>
        <p:spPr>
          <a:xfrm>
            <a:off x="8327917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09BB51-3DF6-496D-9811-367C91FEB2D4}"/>
              </a:ext>
            </a:extLst>
          </p:cNvPr>
          <p:cNvSpPr>
            <a:spLocks noGrp="1"/>
          </p:cNvSpPr>
          <p:nvPr/>
        </p:nvSpPr>
        <p:spPr>
          <a:xfrm>
            <a:off x="8375542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GameController、AiStrategy、PlayerActionPolicy、NetworkMoveGuard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882228-78F5-42DB-8D6F-9DC4B1A4D7CB}"/>
              </a:ext>
            </a:extLst>
          </p:cNvPr>
          <p:cNvSpPr>
            <a:spLocks noGrp="1"/>
          </p:cNvSpPr>
          <p:nvPr/>
        </p:nvSpPr>
        <p:spPr>
          <a:xfrm>
            <a:off x="9950396" y="29114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40D6A5-5A82-4217-B6EF-A0734DA9CBF7}"/>
              </a:ext>
            </a:extLst>
          </p:cNvPr>
          <p:cNvSpPr>
            <a:spLocks noGrp="1"/>
          </p:cNvSpPr>
          <p:nvPr/>
        </p:nvSpPr>
        <p:spPr>
          <a:xfrm>
            <a:off x="9998021" y="29400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处理发牌、出牌、过牌、AI 决策、按钮可用性和网络请求校验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22F32B-C8ED-4DCA-895D-1D9BDFFA9167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A3BB6C2-494D-4017-A4A0-26EC020817FD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Transport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AEE31E-B299-4C48-85DA-D46243F874BE}"/>
              </a:ext>
            </a:extLst>
          </p:cNvPr>
          <p:cNvSpPr>
            <a:spLocks noGrp="1"/>
          </p:cNvSpPr>
          <p:nvPr/>
        </p:nvSpPr>
        <p:spPr>
          <a:xfrm>
            <a:off x="6705439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51C65A3-C448-42C8-B8F1-45D45C25F6F7}"/>
              </a:ext>
            </a:extLst>
          </p:cNvPr>
          <p:cNvSpPr>
            <a:spLocks noGrp="1"/>
          </p:cNvSpPr>
          <p:nvPr/>
        </p:nvSpPr>
        <p:spPr>
          <a:xfrm>
            <a:off x="6753064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95A96E3-C979-463E-A278-DEC386661942}"/>
              </a:ext>
            </a:extLst>
          </p:cNvPr>
          <p:cNvSpPr>
            <a:spLocks noGrp="1"/>
          </p:cNvSpPr>
          <p:nvPr/>
        </p:nvSpPr>
        <p:spPr>
          <a:xfrm>
            <a:off x="8327917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04DB96-4DA7-4B7E-81DB-2CBA89019FD4}"/>
              </a:ext>
            </a:extLst>
          </p:cNvPr>
          <p:cNvSpPr>
            <a:spLocks noGrp="1"/>
          </p:cNvSpPr>
          <p:nvPr/>
        </p:nvSpPr>
        <p:spPr>
          <a:xfrm>
            <a:off x="8375542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lnSpcReduction="10000"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GameTransport、BluetoothHostTransport、BluetoothClientTransport、GameMessageCodec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9616B2B-077A-4A4B-9FDA-8989A1DC029A}"/>
              </a:ext>
            </a:extLst>
          </p:cNvPr>
          <p:cNvSpPr>
            <a:spLocks noGrp="1"/>
          </p:cNvSpPr>
          <p:nvPr/>
        </p:nvSpPr>
        <p:spPr>
          <a:xfrm>
            <a:off x="9950396" y="351790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F2F0AD8-98F4-446E-8FB3-D9845604D29F}"/>
              </a:ext>
            </a:extLst>
          </p:cNvPr>
          <p:cNvSpPr>
            <a:spLocks noGrp="1"/>
          </p:cNvSpPr>
          <p:nvPr/>
        </p:nvSpPr>
        <p:spPr>
          <a:xfrm>
            <a:off x="9998021" y="354647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隔离蓝牙 socket、消息编解码、快照同步和房间座位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376C54-DF9F-4448-A79B-3CF5D739616F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90ACD28-89D1-473E-9723-116C8C34B51B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9C0EAD9-9863-4F07-ACA0-8C0F30530D44}"/>
              </a:ext>
            </a:extLst>
          </p:cNvPr>
          <p:cNvSpPr>
            <a:spLocks noGrp="1"/>
          </p:cNvSpPr>
          <p:nvPr/>
        </p:nvSpPr>
        <p:spPr>
          <a:xfrm>
            <a:off x="6705439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5FDDD39-B652-4506-9050-0931A7DDC1E3}"/>
              </a:ext>
            </a:extLst>
          </p:cNvPr>
          <p:cNvSpPr>
            <a:spLocks noGrp="1"/>
          </p:cNvSpPr>
          <p:nvPr/>
        </p:nvSpPr>
        <p:spPr>
          <a:xfrm>
            <a:off x="6753064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app/src/main/java/com/example/uml_chudadi/profile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B5873E3-5CE5-4ED3-BD7F-90E9D5A1CB4C}"/>
              </a:ext>
            </a:extLst>
          </p:cNvPr>
          <p:cNvSpPr>
            <a:spLocks noGrp="1"/>
          </p:cNvSpPr>
          <p:nvPr/>
        </p:nvSpPr>
        <p:spPr>
          <a:xfrm>
            <a:off x="8327917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C23788D-457B-4F17-9924-8BD5C3E55BA6}"/>
              </a:ext>
            </a:extLst>
          </p:cNvPr>
          <p:cNvSpPr>
            <a:spLocks noGrp="1"/>
          </p:cNvSpPr>
          <p:nvPr/>
        </p:nvSpPr>
        <p:spPr>
          <a:xfrm>
            <a:off x="8375542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PlayerProfile、ProfileController、ProfileStore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D5C72D-4C60-4D58-872D-168930173F98}"/>
              </a:ext>
            </a:extLst>
          </p:cNvPr>
          <p:cNvSpPr>
            <a:spLocks noGrp="1"/>
          </p:cNvSpPr>
          <p:nvPr/>
        </p:nvSpPr>
        <p:spPr>
          <a:xfrm>
            <a:off x="9950396" y="412432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7B99BCC-F62D-4B2D-BA87-C7261C358C12}"/>
              </a:ext>
            </a:extLst>
          </p:cNvPr>
          <p:cNvSpPr>
            <a:spLocks noGrp="1"/>
          </p:cNvSpPr>
          <p:nvPr/>
        </p:nvSpPr>
        <p:spPr>
          <a:xfrm>
            <a:off x="9998021" y="415290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处理等级、金币、头像、战绩、成就、每日奖励和本地保存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6D3B16E-A8D7-4F6D-81D5-599348520BD8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1514314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44EA171-1668-4271-802F-5FDA5BE17125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View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7BBEE7-9501-4C40-A678-70938698ACC7}"/>
              </a:ext>
            </a:extLst>
          </p:cNvPr>
          <p:cNvSpPr>
            <a:spLocks noGrp="1"/>
          </p:cNvSpPr>
          <p:nvPr/>
        </p:nvSpPr>
        <p:spPr>
          <a:xfrm>
            <a:off x="6705439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5CCE7D-6FDB-4654-B107-AC0BFB339FC8}"/>
              </a:ext>
            </a:extLst>
          </p:cNvPr>
          <p:cNvSpPr>
            <a:spLocks noGrp="1"/>
          </p:cNvSpPr>
          <p:nvPr/>
        </p:nvSpPr>
        <p:spPr>
          <a:xfrm>
            <a:off x="6753064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app/src/main/java/com/example/uml_chudadi/view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A89FCEB-DD6E-4651-A992-A41F200B65FE}"/>
              </a:ext>
            </a:extLst>
          </p:cNvPr>
          <p:cNvSpPr>
            <a:spLocks noGrp="1"/>
          </p:cNvSpPr>
          <p:nvPr/>
        </p:nvSpPr>
        <p:spPr>
          <a:xfrm>
            <a:off x="8327917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28E6A2-2EA8-448A-97D7-4B44D944F2AF}"/>
              </a:ext>
            </a:extLst>
          </p:cNvPr>
          <p:cNvSpPr>
            <a:spLocks noGrp="1"/>
          </p:cNvSpPr>
          <p:nvPr/>
        </p:nvSpPr>
        <p:spPr>
          <a:xfrm>
            <a:off x="8375542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ChudadiApp、SplashScreen、LobbyScreen、GameScreen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3733AFD-54C7-4C90-83C4-D900C57C6DA5}"/>
              </a:ext>
            </a:extLst>
          </p:cNvPr>
          <p:cNvSpPr>
            <a:spLocks noGrp="1"/>
          </p:cNvSpPr>
          <p:nvPr/>
        </p:nvSpPr>
        <p:spPr>
          <a:xfrm>
            <a:off x="9950396" y="4730750"/>
            <a:ext cx="1622479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676D53B-9CE6-4A94-8F09-9361263086D0}"/>
              </a:ext>
            </a:extLst>
          </p:cNvPr>
          <p:cNvSpPr>
            <a:spLocks noGrp="1"/>
          </p:cNvSpPr>
          <p:nvPr/>
        </p:nvSpPr>
        <p:spPr>
          <a:xfrm>
            <a:off x="9998021" y="4759325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 Compose 页面、动画、弹窗和用户交互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83E9BC5-4E98-417C-8FF6-09A295D9093F}"/>
              </a:ext>
            </a:extLst>
          </p:cNvPr>
          <p:cNvSpPr>
            <a:spLocks noGrp="1"/>
          </p:cNvSpPr>
          <p:nvPr/>
        </p:nvSpPr>
        <p:spPr>
          <a:xfrm>
            <a:off x="5191125" y="5337175"/>
            <a:ext cx="1514314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F15D407-A829-485E-A66E-882939322DD6}"/>
              </a:ext>
            </a:extLst>
          </p:cNvPr>
          <p:cNvSpPr>
            <a:spLocks noGrp="1"/>
          </p:cNvSpPr>
          <p:nvPr/>
        </p:nvSpPr>
        <p:spPr>
          <a:xfrm>
            <a:off x="5238750" y="5365750"/>
            <a:ext cx="1419064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Audio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8282532-57F3-4E9F-9208-6BE1921D4F0D}"/>
              </a:ext>
            </a:extLst>
          </p:cNvPr>
          <p:cNvSpPr>
            <a:spLocks noGrp="1"/>
          </p:cNvSpPr>
          <p:nvPr/>
        </p:nvSpPr>
        <p:spPr>
          <a:xfrm>
            <a:off x="6705439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4EF1CE3-7DA2-41D5-8DDA-725101C762E6}"/>
              </a:ext>
            </a:extLst>
          </p:cNvPr>
          <p:cNvSpPr>
            <a:spLocks noGrp="1"/>
          </p:cNvSpPr>
          <p:nvPr/>
        </p:nvSpPr>
        <p:spPr>
          <a:xfrm>
            <a:off x="6753064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app/src/main/java/com/example/uml_chudadi/audio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6C71F7B-2109-434A-980D-854C9A97F03F}"/>
              </a:ext>
            </a:extLst>
          </p:cNvPr>
          <p:cNvSpPr>
            <a:spLocks noGrp="1"/>
          </p:cNvSpPr>
          <p:nvPr/>
        </p:nvSpPr>
        <p:spPr>
          <a:xfrm>
            <a:off x="8327917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6AC351-E662-4052-B382-53E58DFD8C2F}"/>
              </a:ext>
            </a:extLst>
          </p:cNvPr>
          <p:cNvSpPr>
            <a:spLocks noGrp="1"/>
          </p:cNvSpPr>
          <p:nvPr/>
        </p:nvSpPr>
        <p:spPr>
          <a:xfrm>
            <a:off x="8375542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CardRoomMusicPlayer、GameSoundEffects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8E8561B-1AF8-4F22-83F3-665C31BFAA06}"/>
              </a:ext>
            </a:extLst>
          </p:cNvPr>
          <p:cNvSpPr>
            <a:spLocks noGrp="1"/>
          </p:cNvSpPr>
          <p:nvPr/>
        </p:nvSpPr>
        <p:spPr>
          <a:xfrm>
            <a:off x="9950396" y="5337175"/>
            <a:ext cx="1622479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BADE27B-8C7F-FE4B-A7CF-78B2961DED12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83E4072-8D6A-C24A-A481-7ACFD3AD0E85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542A1BB-91EC-5B45-A392-81088D44F78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B860747-16EE-42A4-80D2-D17E538CAAFD}"/>
              </a:ext>
            </a:extLst>
          </p:cNvPr>
          <p:cNvSpPr>
            <a:spLocks noGrp="1"/>
          </p:cNvSpPr>
          <p:nvPr/>
        </p:nvSpPr>
        <p:spPr>
          <a:xfrm>
            <a:off x="9998021" y="5365750"/>
            <a:ext cx="1527229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负责背景音乐、出牌音效和震动反馈</a:t>
            </a:r>
          </a:p>
        </p:txBody>
      </p:sp>
    </p:spTree>
    <p:extLst>
      <p:ext uri="{BB962C8B-B14F-4D97-AF65-F5344CB8AC3E}">
        <p14:creationId xmlns:p14="http://schemas.microsoft.com/office/powerpoint/2010/main" val="1692046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2C37A4B-C0A4-4910-BC11-9AE2C2BA0E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B3FE7-9749-4B84-878F-3D48015693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88AB49-CD4E-4454-B7A5-F86DB71E156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139056-D0AD-4DB4-B09E-81BA17C1DAFC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B20F77-FA2E-45BC-BDA1-36DA906CDC1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3AB134-AA4A-47BD-8E12-3B6D0E10A70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20F11E-DF00-42DF-82CF-DA6B956B830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.4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AFFC4A-4905-4ECB-A679-580969EB911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5A2A1-59C3-47F6-A62F-DB7B5540C41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本阶段重点完成类图、顺序图和</a:t>
            </a:r>
            <a:r>
              <a:rPr lang="zh-CN" altLang="en-US"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组件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图。类图展示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Model、Controller、Transport、Profile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View/Audio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的类关系；顺序图展示玩家一次本地出牌以及蓝牙房主权威同步的调用流程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Merged UML Header 1"/>
          <p:cNvSpPr/>
          <p:nvPr/>
        </p:nvSpPr>
        <p:spPr>
          <a:xfrm>
            <a:off x="457200" y="2870200"/>
            <a:ext cx="24130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UML 图</a:t>
            </a:r>
          </a:p>
        </p:txBody>
      </p:sp>
      <p:sp>
        <p:nvSpPr>
          <p:cNvPr id="12" name="Merged UML Header 2"/>
          <p:cNvSpPr/>
          <p:nvPr/>
        </p:nvSpPr>
        <p:spPr>
          <a:xfrm>
            <a:off x="2870200" y="2870200"/>
            <a:ext cx="43942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文件</a:t>
            </a:r>
          </a:p>
        </p:txBody>
      </p:sp>
      <p:sp>
        <p:nvSpPr>
          <p:cNvPr id="13" name="Merged UML Header 3"/>
          <p:cNvSpPr/>
          <p:nvPr/>
        </p:nvSpPr>
        <p:spPr>
          <a:xfrm>
            <a:off x="7264400" y="2870200"/>
            <a:ext cx="4419600" cy="3556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4" name="Merged UML Row 1 Col 1"/>
          <p:cNvSpPr/>
          <p:nvPr/>
        </p:nvSpPr>
        <p:spPr>
          <a:xfrm>
            <a:off x="457200" y="32258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用例图</a:t>
            </a:r>
          </a:p>
        </p:txBody>
      </p:sp>
      <p:sp>
        <p:nvSpPr>
          <p:cNvPr id="15" name="Merged UML Row 1 Col 2"/>
          <p:cNvSpPr/>
          <p:nvPr/>
        </p:nvSpPr>
        <p:spPr>
          <a:xfrm>
            <a:off x="2870200" y="32258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docs/uml/use_case.png</a:t>
            </a:r>
          </a:p>
        </p:txBody>
      </p:sp>
      <p:sp>
        <p:nvSpPr>
          <p:cNvPr id="16" name="Merged UML Row 1 Col 3"/>
          <p:cNvSpPr/>
          <p:nvPr/>
        </p:nvSpPr>
        <p:spPr>
          <a:xfrm>
            <a:off x="7264400" y="32258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玩家、房主、加入者和人机与核心用例</a:t>
            </a:r>
          </a:p>
        </p:txBody>
      </p:sp>
      <p:sp>
        <p:nvSpPr>
          <p:cNvPr id="17" name="Merged UML Row 2 Col 1"/>
          <p:cNvSpPr/>
          <p:nvPr/>
        </p:nvSpPr>
        <p:spPr>
          <a:xfrm>
            <a:off x="457200" y="36322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类图</a:t>
            </a:r>
          </a:p>
        </p:txBody>
      </p:sp>
      <p:sp>
        <p:nvSpPr>
          <p:cNvPr id="18" name="Merged UML Row 2 Col 2"/>
          <p:cNvSpPr/>
          <p:nvPr/>
        </p:nvSpPr>
        <p:spPr>
          <a:xfrm>
            <a:off x="2870200" y="36322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docs/uml/class_diagram.png</a:t>
            </a:r>
          </a:p>
        </p:txBody>
      </p:sp>
      <p:sp>
        <p:nvSpPr>
          <p:cNvPr id="19" name="Merged UML Row 2 Col 3"/>
          <p:cNvSpPr/>
          <p:nvPr/>
        </p:nvSpPr>
        <p:spPr>
          <a:xfrm>
            <a:off x="7264400" y="36322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Model、Controller、Transport、View/Audio 类关系</a:t>
            </a:r>
          </a:p>
        </p:txBody>
      </p:sp>
      <p:sp>
        <p:nvSpPr>
          <p:cNvPr id="20" name="Merged UML Row 3 Col 1"/>
          <p:cNvSpPr/>
          <p:nvPr/>
        </p:nvSpPr>
        <p:spPr>
          <a:xfrm>
            <a:off x="457200" y="40386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</a:t>
            </a:r>
          </a:p>
        </p:txBody>
      </p:sp>
      <p:sp>
        <p:nvSpPr>
          <p:cNvPr id="21" name="Merged UML Row 3 Col 2"/>
          <p:cNvSpPr/>
          <p:nvPr/>
        </p:nvSpPr>
        <p:spPr>
          <a:xfrm>
            <a:off x="2870200" y="40386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  <p:sp>
        <p:nvSpPr>
          <p:cNvPr id="22" name="Merged UML Row 3 Col 3"/>
          <p:cNvSpPr/>
          <p:nvPr/>
        </p:nvSpPr>
        <p:spPr>
          <a:xfrm>
            <a:off x="7264400" y="40386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本地出牌和蓝牙同步调用顺序</a:t>
            </a:r>
          </a:p>
        </p:txBody>
      </p:sp>
      <p:sp>
        <p:nvSpPr>
          <p:cNvPr id="23" name="Merged UML Row 4 Col 1"/>
          <p:cNvSpPr/>
          <p:nvPr/>
        </p:nvSpPr>
        <p:spPr>
          <a:xfrm>
            <a:off x="457200" y="44450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活动图</a:t>
            </a:r>
          </a:p>
        </p:txBody>
      </p:sp>
      <p:sp>
        <p:nvSpPr>
          <p:cNvPr id="24" name="Merged UML Row 4 Col 2"/>
          <p:cNvSpPr/>
          <p:nvPr/>
        </p:nvSpPr>
        <p:spPr>
          <a:xfrm>
            <a:off x="2870200" y="44450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docs/uml/activity_play.png</a:t>
            </a:r>
          </a:p>
        </p:txBody>
      </p:sp>
      <p:sp>
        <p:nvSpPr>
          <p:cNvPr id="25" name="Merged UML Row 4 Col 3"/>
          <p:cNvSpPr/>
          <p:nvPr/>
        </p:nvSpPr>
        <p:spPr>
          <a:xfrm>
            <a:off x="7264400" y="44450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开局、出牌、不出、结算和再开局流程</a:t>
            </a:r>
          </a:p>
        </p:txBody>
      </p:sp>
      <p:sp>
        <p:nvSpPr>
          <p:cNvPr id="26" name="Merged UML Row 5 Col 1"/>
          <p:cNvSpPr/>
          <p:nvPr/>
        </p:nvSpPr>
        <p:spPr>
          <a:xfrm>
            <a:off x="457200" y="48514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状态图</a:t>
            </a:r>
          </a:p>
        </p:txBody>
      </p:sp>
      <p:sp>
        <p:nvSpPr>
          <p:cNvPr id="27" name="Merged UML Row 5 Col 2"/>
          <p:cNvSpPr/>
          <p:nvPr/>
        </p:nvSpPr>
        <p:spPr>
          <a:xfrm>
            <a:off x="2870200" y="48514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docs/uml/state_game.png</a:t>
            </a:r>
          </a:p>
        </p:txBody>
      </p:sp>
      <p:sp>
        <p:nvSpPr>
          <p:cNvPr id="28" name="Merged UML Row 5 Col 3"/>
          <p:cNvSpPr/>
          <p:nvPr/>
        </p:nvSpPr>
        <p:spPr>
          <a:xfrm>
            <a:off x="7264400" y="48514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页面、房间、牌桌、暂停和结算状态</a:t>
            </a:r>
          </a:p>
        </p:txBody>
      </p:sp>
      <p:sp>
        <p:nvSpPr>
          <p:cNvPr id="29" name="Merged UML Row 6 Col 1"/>
          <p:cNvSpPr/>
          <p:nvPr/>
        </p:nvSpPr>
        <p:spPr>
          <a:xfrm>
            <a:off x="457200" y="5257800"/>
            <a:ext cx="24130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组件图</a:t>
            </a:r>
          </a:p>
        </p:txBody>
      </p:sp>
      <p:sp>
        <p:nvSpPr>
          <p:cNvPr id="30" name="Merged UML Row 6 Col 2"/>
          <p:cNvSpPr/>
          <p:nvPr/>
        </p:nvSpPr>
        <p:spPr>
          <a:xfrm>
            <a:off x="2870200" y="5257800"/>
            <a:ext cx="43942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docs/uml/component_diagram.png</a:t>
            </a:r>
          </a:p>
        </p:txBody>
      </p:sp>
      <p:sp>
        <p:nvSpPr>
          <p:cNvPr id="31" name="Merged UML Row 6 Col 3"/>
          <p:cNvSpPr/>
          <p:nvPr/>
        </p:nvSpPr>
        <p:spPr>
          <a:xfrm>
            <a:off x="7264400" y="5257800"/>
            <a:ext cx="4419600" cy="4064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UI、控制器、规则、消息、蓝牙和系统能力</a:t>
            </a:r>
          </a:p>
        </p:txBody>
      </p:sp>
      <p:sp>
        <p:nvSpPr>
          <p:cNvPr id="32" name="Merged UML Row 7 Col 1"/>
          <p:cNvSpPr/>
          <p:nvPr/>
        </p:nvSpPr>
        <p:spPr>
          <a:xfrm>
            <a:off x="457200" y="5664200"/>
            <a:ext cx="24130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部署图</a:t>
            </a:r>
          </a:p>
        </p:txBody>
      </p:sp>
      <p:sp>
        <p:nvSpPr>
          <p:cNvPr id="33" name="Merged UML Row 7 Col 2"/>
          <p:cNvSpPr/>
          <p:nvPr/>
        </p:nvSpPr>
        <p:spPr>
          <a:xfrm>
            <a:off x="2870200" y="5664200"/>
            <a:ext cx="43942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6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docs/uml/deployment_diagram.png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223574-5097-E84C-9FBD-E0C1BE4896B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52D5D4-11F8-1C48-811C-02F019EAAC72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11B028-1D08-F541-9176-1B8B91AE1B67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Merged UML Row 7 Col 3"/>
          <p:cNvSpPr/>
          <p:nvPr/>
        </p:nvSpPr>
        <p:spPr>
          <a:xfrm>
            <a:off x="7264400" y="5664200"/>
            <a:ext cx="44196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房主手机、加入者手机、蓝牙栈和开发测试环境</a:t>
            </a:r>
          </a:p>
        </p:txBody>
      </p:sp>
    </p:spTree>
    <p:extLst>
      <p:ext uri="{BB962C8B-B14F-4D97-AF65-F5344CB8AC3E}">
        <p14:creationId xmlns:p14="http://schemas.microsoft.com/office/powerpoint/2010/main" val="201227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D6B4C10-9004-4DFB-81B4-D81A3BE89A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886C7B-005E-4719-891C-86BF55538A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F3C69E-DA03-44E5-8E14-B4B2ABC1EE3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675755-6BC8-45AF-9785-FF8A0EDC6C2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D3FEDE-848B-40DE-9815-7988E2245F7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42C298-B24D-4BDA-A918-AC542363FC0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0757B7-9520-4A56-970A-717F22ED9AE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799C90-5C7F-416E-B0BC-DB5CF7EB41B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36931D3-FBCA-4835-9C05-FF6904613C04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382250" cy="40386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2000250"/>
            <a:ext cx="10191750" cy="36957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DBE6B95-CEA7-2744-B3E3-0291F1D5CBD7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DCED35-107C-FD45-B42A-A4D5829DB35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3D7A6-CB2A-8740-B830-8E7B4791395A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FB7FC6-2227-4A40-A6F1-6413AB36102A}"/>
              </a:ext>
            </a:extLst>
          </p:cNvPr>
          <p:cNvSpPr>
            <a:spLocks noGrp="1"/>
          </p:cNvSpPr>
          <p:nvPr/>
        </p:nvSpPr>
        <p:spPr>
          <a:xfrm>
            <a:off x="1009650" y="5715000"/>
            <a:ext cx="1015365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41" lnSpcReduction="20000"/>
          </a:bodyPr>
          <a:lstStyle/>
          <a:p>
            <a:pPr algn="ct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阶段2类图</a:t>
            </a:r>
          </a:p>
        </p:txBody>
      </p:sp>
    </p:spTree>
    <p:extLst>
      <p:ext uri="{BB962C8B-B14F-4D97-AF65-F5344CB8AC3E}">
        <p14:creationId xmlns:p14="http://schemas.microsoft.com/office/powerpoint/2010/main" val="177189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5FE745C-36B6-4D9D-8527-E4D6EF45F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5A28F5-DCE3-4489-A904-FA916F390B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70C502-C2D5-442B-A36D-99CA0541AA3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7F520D-D6CC-41D0-A3F5-6FD3FFA6BBF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7DCAA9-3DFA-432F-A0CC-228AAF5B09D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47BF26-BA88-49DB-867D-3AC16C9EB634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11A651-A9A6-4433-AE15-588F7A45CDB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F66A3E-3578-4C81-BE2D-A16B14E7777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851405-F60D-3A4C-9A5A-A540FBFF6111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F7208B-9377-7941-A96B-5C706198FE9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C664CF-5A67-B44A-8903-5BB4130FE440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3AE5D6E4-ED0A-BC4A-DF84-EA74B1AD4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970" y="1390650"/>
            <a:ext cx="6080760" cy="543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CE7733A-F192-42A8-B461-2BE74F0B2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0565B3-5FAC-4263-858C-D4ED5F14EB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9A6574-31F6-4F02-A67F-3FE50989EFD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E4411-4940-4329-BA6E-5EABCC134B72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9868B8-BA40-4F8F-9A73-DACFDD3614A9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A60C52-4ED4-4877-9033-209BBB2731F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A9B461-0BB2-42DE-B121-5859E99C12D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建模成果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CCFD4F-2E08-4CF5-8329-A9F89A0C366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679998F-D6CC-4FEC-9E13-879143CD466D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382250" cy="40386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2000250"/>
            <a:ext cx="10191750" cy="36957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9AABA45-B135-3243-A435-52E811B349E4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6D4C9A-46A8-7847-B4C8-472F0E6F2C5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536E11-A851-704E-871E-E9BDD5824994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3769F5-1BEA-4AFF-8A07-616DEBD3832B}"/>
              </a:ext>
            </a:extLst>
          </p:cNvPr>
          <p:cNvSpPr>
            <a:spLocks noGrp="1"/>
          </p:cNvSpPr>
          <p:nvPr/>
        </p:nvSpPr>
        <p:spPr>
          <a:xfrm>
            <a:off x="1009650" y="5715000"/>
            <a:ext cx="1015365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75141" lnSpcReduction="20000"/>
          </a:bodyPr>
          <a:lstStyle/>
          <a:p>
            <a:pPr algn="ct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阶段2组件图</a:t>
            </a:r>
          </a:p>
        </p:txBody>
      </p:sp>
    </p:spTree>
    <p:extLst>
      <p:ext uri="{BB962C8B-B14F-4D97-AF65-F5344CB8AC3E}">
        <p14:creationId xmlns:p14="http://schemas.microsoft.com/office/powerpoint/2010/main" val="193698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AA970DA2-B226-4987-9286-19A17C9DB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29637-B0B2-4713-8F1F-AFC19AD00F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6D9D8-E140-4442-A26E-2AEF73A7EC33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9BF036-2A5B-4B38-9EEA-CDA88AA2502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14833C-96EA-47B3-B975-6255F8C0A8B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1AED07-688A-4975-8601-6E41F4EA7DC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473BF5-1275-4218-B423-429D4A3CC29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实现成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330D3D-7EEB-40DA-8276-5666E56F6D1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D3708F-B9B2-4FF8-94F7-FB6DC59920E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11144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7622"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本阶段完成了 MVC 工程结构和主要模型设计。Model 层负责 Card、Player、GameState、RuleSet、HandType 等领域数据和规则抽象；Controller 层负责 GameController、AiController、RoomController、PlayerActionPolicy 等业务流程；View 层通过 ChudadiApp 和 Compose 组件展示状态并收集用户意图。GameState 仍是牌桌状态源，但它属于 MVC 中的 Model，不直接处理界面和蓝牙线程。UML 类图、顺序图和组件图主要由 Codex/GPT 根据最新代码生成 PlantUML 草图，再在 ProcessOn/PlantUML 预览中校对和导出。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BC3529-9FFB-4627-A308-A623FB9140D5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阶段成果展示：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AE1FF2-97D4-4924-A4A9-B0A43ABB4E33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2245895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62A029-C4BB-48A7-8B92-B134DECDE064}"/>
              </a:ext>
            </a:extLst>
          </p:cNvPr>
          <p:cNvSpPr>
            <a:spLocks noGrp="1"/>
          </p:cNvSpPr>
          <p:nvPr/>
        </p:nvSpPr>
        <p:spPr>
          <a:xfrm>
            <a:off x="733425" y="3876675"/>
            <a:ext cx="215064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成果类型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E9A5BC-37A8-43A7-8B4C-BDEF6E0ECE93}"/>
              </a:ext>
            </a:extLst>
          </p:cNvPr>
          <p:cNvSpPr>
            <a:spLocks noGrp="1"/>
          </p:cNvSpPr>
          <p:nvPr/>
        </p:nvSpPr>
        <p:spPr>
          <a:xfrm>
            <a:off x="2931695" y="3838575"/>
            <a:ext cx="4211053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FE4907-6E3A-468A-93A2-D9DC08499186}"/>
              </a:ext>
            </a:extLst>
          </p:cNvPr>
          <p:cNvSpPr>
            <a:spLocks noGrp="1"/>
          </p:cNvSpPr>
          <p:nvPr/>
        </p:nvSpPr>
        <p:spPr>
          <a:xfrm>
            <a:off x="2979320" y="3876675"/>
            <a:ext cx="4115803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展示内容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C13527-274F-425F-A84B-269C5672756D}"/>
              </a:ext>
            </a:extLst>
          </p:cNvPr>
          <p:cNvSpPr>
            <a:spLocks noGrp="1"/>
          </p:cNvSpPr>
          <p:nvPr/>
        </p:nvSpPr>
        <p:spPr>
          <a:xfrm>
            <a:off x="7142747" y="3838575"/>
            <a:ext cx="4211053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1E6AC8-C307-442B-92DB-D3E8ABEB6599}"/>
              </a:ext>
            </a:extLst>
          </p:cNvPr>
          <p:cNvSpPr>
            <a:spLocks noGrp="1"/>
          </p:cNvSpPr>
          <p:nvPr/>
        </p:nvSpPr>
        <p:spPr>
          <a:xfrm>
            <a:off x="7190372" y="3876675"/>
            <a:ext cx="4115803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证据材料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D96594-F100-4BB7-B21D-FFFEAB856F2F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245895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A42353-8FE4-4986-A13C-726E92629DA4}"/>
              </a:ext>
            </a:extLst>
          </p:cNvPr>
          <p:cNvSpPr>
            <a:spLocks noGrp="1"/>
          </p:cNvSpPr>
          <p:nvPr/>
        </p:nvSpPr>
        <p:spPr>
          <a:xfrm>
            <a:off x="733425" y="4267200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代码成果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F96FCB-D333-462A-A2DD-AEC7E968DBDD}"/>
              </a:ext>
            </a:extLst>
          </p:cNvPr>
          <p:cNvSpPr>
            <a:spLocks noGrp="1"/>
          </p:cNvSpPr>
          <p:nvPr/>
        </p:nvSpPr>
        <p:spPr>
          <a:xfrm>
            <a:off x="2931695" y="4238625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86EB8E-84D8-4295-ACE8-8E595380E697}"/>
              </a:ext>
            </a:extLst>
          </p:cNvPr>
          <p:cNvSpPr>
            <a:spLocks noGrp="1"/>
          </p:cNvSpPr>
          <p:nvPr/>
        </p:nvSpPr>
        <p:spPr>
          <a:xfrm>
            <a:off x="2979320" y="4267200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5331" lnSpcReduction="10000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 层保存牌、玩家、规则和牌局状态；Controller 层推进出牌、过牌、AI 和房间流程；View 层只展示状态和触发用户意图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C3D373C-B9A7-4E68-98A9-99209948C005}"/>
              </a:ext>
            </a:extLst>
          </p:cNvPr>
          <p:cNvSpPr>
            <a:spLocks noGrp="1"/>
          </p:cNvSpPr>
          <p:nvPr/>
        </p:nvSpPr>
        <p:spPr>
          <a:xfrm>
            <a:off x="7142747" y="4238625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33ACEA-0075-40E2-9EC7-CD8777011549}"/>
              </a:ext>
            </a:extLst>
          </p:cNvPr>
          <p:cNvSpPr>
            <a:spLocks noGrp="1"/>
          </p:cNvSpPr>
          <p:nvPr/>
        </p:nvSpPr>
        <p:spPr>
          <a:xfrm>
            <a:off x="7190372" y="4267200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model/、controller/、view/ChudadiApp.kt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0CB208-106E-4C59-A6AC-E32F79A3A710}"/>
              </a:ext>
            </a:extLst>
          </p:cNvPr>
          <p:cNvSpPr>
            <a:spLocks noGrp="1"/>
          </p:cNvSpPr>
          <p:nvPr/>
        </p:nvSpPr>
        <p:spPr>
          <a:xfrm>
            <a:off x="685800" y="4664869"/>
            <a:ext cx="2245895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BC4A17-F3B9-4DF9-BDFA-A10059DD333C}"/>
              </a:ext>
            </a:extLst>
          </p:cNvPr>
          <p:cNvSpPr>
            <a:spLocks noGrp="1"/>
          </p:cNvSpPr>
          <p:nvPr/>
        </p:nvSpPr>
        <p:spPr>
          <a:xfrm>
            <a:off x="733425" y="4693444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设计成果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59A84A-7BEA-4BD6-8969-CDD79E9F4F5A}"/>
              </a:ext>
            </a:extLst>
          </p:cNvPr>
          <p:cNvSpPr>
            <a:spLocks noGrp="1"/>
          </p:cNvSpPr>
          <p:nvPr/>
        </p:nvSpPr>
        <p:spPr>
          <a:xfrm>
            <a:off x="2931695" y="4664869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A4C419-6B5F-4C8E-96B8-352DCEF3A2FC}"/>
              </a:ext>
            </a:extLst>
          </p:cNvPr>
          <p:cNvSpPr>
            <a:spLocks noGrp="1"/>
          </p:cNvSpPr>
          <p:nvPr/>
        </p:nvSpPr>
        <p:spPr>
          <a:xfrm>
            <a:off x="2979320" y="4693444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5331" lnSpcReduction="10000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MVC 分层边界明确，Model、Controller、Transport、Profile、View、Audio 职责分离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C5A67B3-519D-48F4-83E8-96334CDB6037}"/>
              </a:ext>
            </a:extLst>
          </p:cNvPr>
          <p:cNvSpPr>
            <a:spLocks noGrp="1"/>
          </p:cNvSpPr>
          <p:nvPr/>
        </p:nvSpPr>
        <p:spPr>
          <a:xfrm>
            <a:off x="7142747" y="4664869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30BC3B-D47A-4F8B-A833-BC2A555D27B9}"/>
              </a:ext>
            </a:extLst>
          </p:cNvPr>
          <p:cNvSpPr>
            <a:spLocks noGrp="1"/>
          </p:cNvSpPr>
          <p:nvPr/>
        </p:nvSpPr>
        <p:spPr>
          <a:xfrm>
            <a:off x="7190372" y="4693444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docs/design.md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0BF1C4-C795-4638-8376-C42C9EDCE293}"/>
              </a:ext>
            </a:extLst>
          </p:cNvPr>
          <p:cNvSpPr>
            <a:spLocks noGrp="1"/>
          </p:cNvSpPr>
          <p:nvPr/>
        </p:nvSpPr>
        <p:spPr>
          <a:xfrm>
            <a:off x="685800" y="5091113"/>
            <a:ext cx="2245895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D6C53F-9C1C-4263-B13C-64A21036E2B6}"/>
              </a:ext>
            </a:extLst>
          </p:cNvPr>
          <p:cNvSpPr>
            <a:spLocks noGrp="1"/>
          </p:cNvSpPr>
          <p:nvPr/>
        </p:nvSpPr>
        <p:spPr>
          <a:xfrm>
            <a:off x="733425" y="5119688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图片成果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16FCE0-AC48-4C04-B8F8-A1F7B334C09C}"/>
              </a:ext>
            </a:extLst>
          </p:cNvPr>
          <p:cNvSpPr>
            <a:spLocks noGrp="1"/>
          </p:cNvSpPr>
          <p:nvPr/>
        </p:nvSpPr>
        <p:spPr>
          <a:xfrm>
            <a:off x="2931695" y="5091113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5A97AB-6063-406C-92A7-74F4382A525A}"/>
              </a:ext>
            </a:extLst>
          </p:cNvPr>
          <p:cNvSpPr>
            <a:spLocks noGrp="1"/>
          </p:cNvSpPr>
          <p:nvPr/>
        </p:nvSpPr>
        <p:spPr>
          <a:xfrm>
            <a:off x="2979320" y="5119688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类图展示 Model、Controller、Transport、Profile、View/Audio 的依赖关系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3CA621-1583-4869-8CA4-62FD870B818F}"/>
              </a:ext>
            </a:extLst>
          </p:cNvPr>
          <p:cNvSpPr>
            <a:spLocks noGrp="1"/>
          </p:cNvSpPr>
          <p:nvPr/>
        </p:nvSpPr>
        <p:spPr>
          <a:xfrm>
            <a:off x="7142747" y="5091113"/>
            <a:ext cx="4211053" cy="42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CE168E-254A-4460-AD63-A2606006775D}"/>
              </a:ext>
            </a:extLst>
          </p:cNvPr>
          <p:cNvSpPr>
            <a:spLocks noGrp="1"/>
          </p:cNvSpPr>
          <p:nvPr/>
        </p:nvSpPr>
        <p:spPr>
          <a:xfrm>
            <a:off x="7190372" y="5119688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docs/uml/class_diagram.png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584D0-4CBA-4412-944E-406CE2476C14}"/>
              </a:ext>
            </a:extLst>
          </p:cNvPr>
          <p:cNvSpPr>
            <a:spLocks noGrp="1"/>
          </p:cNvSpPr>
          <p:nvPr/>
        </p:nvSpPr>
        <p:spPr>
          <a:xfrm>
            <a:off x="685800" y="5517356"/>
            <a:ext cx="2245895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DF2BB8-6B69-4DA7-AED9-9B28E34BD919}"/>
              </a:ext>
            </a:extLst>
          </p:cNvPr>
          <p:cNvSpPr>
            <a:spLocks noGrp="1"/>
          </p:cNvSpPr>
          <p:nvPr/>
        </p:nvSpPr>
        <p:spPr>
          <a:xfrm>
            <a:off x="733425" y="5545931"/>
            <a:ext cx="2150645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交互成果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E7C150-99AB-4308-82E9-4BB0AE07C5E9}"/>
              </a:ext>
            </a:extLst>
          </p:cNvPr>
          <p:cNvSpPr>
            <a:spLocks noGrp="1"/>
          </p:cNvSpPr>
          <p:nvPr/>
        </p:nvSpPr>
        <p:spPr>
          <a:xfrm>
            <a:off x="2931695" y="5517356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3D1542-9F2F-4CA0-A9DA-3F046EFDE8A0}"/>
              </a:ext>
            </a:extLst>
          </p:cNvPr>
          <p:cNvSpPr>
            <a:spLocks noGrp="1"/>
          </p:cNvSpPr>
          <p:nvPr/>
        </p:nvSpPr>
        <p:spPr>
          <a:xfrm>
            <a:off x="2979320" y="5545931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顺序图展示本地出牌和蓝牙房主权威同步调用链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81DFFC-36B7-450D-AB91-014841E0CD2B}"/>
              </a:ext>
            </a:extLst>
          </p:cNvPr>
          <p:cNvSpPr>
            <a:spLocks noGrp="1"/>
          </p:cNvSpPr>
          <p:nvPr/>
        </p:nvSpPr>
        <p:spPr>
          <a:xfrm>
            <a:off x="7142747" y="5517356"/>
            <a:ext cx="4211053" cy="426244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52796C2-CD2E-084F-973F-ADCA9A9E587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B905F3F-C7AF-6C4E-A6AA-5366CAC4DC85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6EF53D-6546-294D-8E87-A0BCF0824FA3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DD0110-B765-45A2-AEB2-E4FE21015B74}"/>
              </a:ext>
            </a:extLst>
          </p:cNvPr>
          <p:cNvSpPr>
            <a:spLocks noGrp="1"/>
          </p:cNvSpPr>
          <p:nvPr/>
        </p:nvSpPr>
        <p:spPr>
          <a:xfrm>
            <a:off x="7190372" y="5545931"/>
            <a:ext cx="4115803" cy="369094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</p:spTree>
    <p:extLst>
      <p:ext uri="{BB962C8B-B14F-4D97-AF65-F5344CB8AC3E}">
        <p14:creationId xmlns:p14="http://schemas.microsoft.com/office/powerpoint/2010/main" val="145377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BFB9473-8B01-441D-BBE0-879A905619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5F7746-E350-4900-99AD-06F155841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DE64CE-3CEB-42CC-84AE-53D8D4BD066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B2059F-6AF1-4417-8B65-0A633F111D5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5. 阶段 2：细化迭代 1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44FDCF-F63E-494E-B1B5-A5E1FBC6E00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4EA6F-2F27-4287-A81F-D1E979A0D6F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AD48D6-933A-42F2-983B-B520F2141E4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EBF65C-B5FE-4438-B18B-E0696D2B141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3D90F1-4077-4838-A02A-D250525988F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0534650" cy="37719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data class GameState(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players: List&lt;Player&gt;,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ruleSet: RuleSet,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currentPlayerId: Int,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lastPlayedHand: PlayedHand? = null,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passCount: Int = 0,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firstTurn: Boolean = true,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winnerId: Int? = null,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    val message: String = "准备开始"</a:t>
            </a:r>
          </a:p>
          <a:p>
            <a:pPr algn="l">
              <a:lnSpc>
                <a:spcPct val="102000"/>
              </a:lnSpc>
              <a:buNone/>
              <a:defRPr sz="938" b="0">
                <a:solidFill>
                  <a:srgbClr val="F4F1E6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4F1E6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4E9F774-87B1-B2EE-3A78-421899268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711325"/>
            <a:ext cx="4229100" cy="27686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08B904F-3F8B-084C-9532-380635928992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F2B27E-A307-D34E-94DF-8A10214BA357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029FE6-3060-F141-B732-FF0BE9407530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8259E8B-8559-6A09-7CFE-2B928EC95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52" y="1762125"/>
            <a:ext cx="38608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35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9AD5-EAE7-1B9A-CA28-A949CBE4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579B408-DD00-3C22-F436-44E6F8EC2A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266D67-BDFE-2588-56B0-FD266AB78710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AA170C-05B6-5B42-82FC-6DB190B94DBE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5EB2-7588-C54E-BAF4-0B923B91F98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AD4FB-94C9-944C-8E99-EEFA6D9B64B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840105-338A-D8D4-69DA-60009DEC4BB5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</a:t>
            </a:r>
            <a:r>
              <a:rPr lang="en-US" altLang="zh-CN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  <a:endParaRPr sz="72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74707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1148120-DD1D-4D0A-8958-814D8715B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07D248-7321-403C-BFB8-48C3B000F3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FCE639-29A4-4C07-8C7F-5A48AE37DF5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A8ED5-B592-4CE5-A130-68C0DA37C3F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F2EFCF-4400-4753-9A4A-3902B1F9986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E46923-48C7-41CC-A698-F05192AE3F6B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D79C3A-D835-4638-947B-463B1011971B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.1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阶段目标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9F113D-60DD-463A-980F-601FD7E3130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141A88-7364-144E-BA8A-46976E2D0F9F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9BF014-115A-4543-8673-97736D679FD4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3776A4-CC3A-6944-B70E-6D76CEA08B80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D21BDA-A414-45A0-9474-FA108164797A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本阶段目标是完成出牌规则模块和多人通信模块，并把与规则、蓝牙和协议相关的设计落到代码中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03523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DDB92CA-88B4-4015-8611-643FA2358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365972-BC6F-4D1A-B6B5-3FFD3559E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925328-F2C1-4801-9EA8-C613F16AD16B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6DABF4-8939-40F3-A488-DA337C14A97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E2BED0-4E2B-4978-8AB6-4EBAE50B0BE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14800-F304-4C01-B678-1E83027609B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049083-6F8B-4460-910B-FB9A7906B6A5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出牌规则模块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DF6166-9885-4BFE-B3D3-64589468E0A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2BEE6C-A348-40B2-8F33-DA5F3D8E274A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85317" lnSpcReduction="10000"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项目使用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RuleSet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表示规则接口，并通过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NorthRuleSet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SouthRuleSet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适配南北玩法差异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牌型识别由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HandClassifier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完成，支持单张、对子、三张、顺子、同花、葫芦、四带一和同花顺。GameController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在玩家出牌时调用规则模块进行合法性校验，并根据三家过牌、上一手牌和当前玩家推进牌局状态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规则模块的详细执行流程如下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玩家或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选择若干张牌后，GameController.play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()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首先判断是否轮到该玩家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控制器调用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state.ruleSet.classify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(cards)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识别牌型；无法识别时返回非法提示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如果是首出，调用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state.ruleSet.canLead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(cards,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state.firstTurn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)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检查是否包含规则指定首牌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如果是跟牌，调用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state.ruleSet.canBeat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(previous, next)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判断是否可以压过上一手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合法出牌会从玩家手牌中移除对应牌，刷新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lastMove、currentPlayerId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和提示消息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三家连续不出后，上一手清空，下一位玩家获得自由出牌权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某玩家手牌为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0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时，winnerId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产生，进入结算</a:t>
            </a:r>
            <a:r>
              <a:rPr sz="1125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>
              <a:lnSpc>
                <a:spcPct val="113000"/>
              </a:lnSpc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125" dirty="0"/>
              <a:t>使用了单例模式，</a:t>
            </a:r>
            <a:r>
              <a:rPr lang="zh-CN" altLang="zh-CN" sz="1125" dirty="0"/>
              <a:t>RuleSet.kt 中的 object NorthRuleSet、object SouthRuleSet南北规则作为全局唯一规则对象，不需要重复创建，便于统一引用</a:t>
            </a:r>
            <a:endParaRPr sz="1125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78EFE7-576B-44E8-B89F-2A431984BFA7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112415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A6F0D6-8DD4-432A-88E8-F1AFFF1BAFF4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01716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277BFE-C337-431B-968A-EF324D0FCB80}"/>
              </a:ext>
            </a:extLst>
          </p:cNvPr>
          <p:cNvSpPr>
            <a:spLocks noGrp="1"/>
          </p:cNvSpPr>
          <p:nvPr/>
        </p:nvSpPr>
        <p:spPr>
          <a:xfrm>
            <a:off x="6303540" y="1905000"/>
            <a:ext cx="2634667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1A498F-131A-473F-ADC3-949C7A210906}"/>
              </a:ext>
            </a:extLst>
          </p:cNvPr>
          <p:cNvSpPr>
            <a:spLocks noGrp="1"/>
          </p:cNvSpPr>
          <p:nvPr/>
        </p:nvSpPr>
        <p:spPr>
          <a:xfrm>
            <a:off x="6351165" y="1943100"/>
            <a:ext cx="2539417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北方规则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815020-55FA-48C9-89CC-AAC20E654303}"/>
              </a:ext>
            </a:extLst>
          </p:cNvPr>
          <p:cNvSpPr>
            <a:spLocks noGrp="1"/>
          </p:cNvSpPr>
          <p:nvPr/>
        </p:nvSpPr>
        <p:spPr>
          <a:xfrm>
            <a:off x="8938208" y="1905000"/>
            <a:ext cx="2634667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A119-2CD6-424B-AE09-6F9EE5B4F83C}"/>
              </a:ext>
            </a:extLst>
          </p:cNvPr>
          <p:cNvSpPr>
            <a:spLocks noGrp="1"/>
          </p:cNvSpPr>
          <p:nvPr/>
        </p:nvSpPr>
        <p:spPr>
          <a:xfrm>
            <a:off x="8985833" y="1943100"/>
            <a:ext cx="2539417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南方规则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09F4A9-A8A2-41AF-AA2C-CB8EF441BC40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112415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D11E2E-FA29-45A6-AC8B-C21AE2C6070D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首出牌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211944-E7ED-4395-9106-39D5F33C1D7D}"/>
              </a:ext>
            </a:extLst>
          </p:cNvPr>
          <p:cNvSpPr>
            <a:spLocks noGrp="1"/>
          </p:cNvSpPr>
          <p:nvPr/>
        </p:nvSpPr>
        <p:spPr>
          <a:xfrm>
            <a:off x="6303540" y="2305050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9C9EFA-35A7-4D7A-8AD7-FE87498B821D}"/>
              </a:ext>
            </a:extLst>
          </p:cNvPr>
          <p:cNvSpPr>
            <a:spLocks noGrp="1"/>
          </p:cNvSpPr>
          <p:nvPr/>
        </p:nvSpPr>
        <p:spPr>
          <a:xfrm>
            <a:off x="6351165" y="2333625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黑桃 3 首出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E8F1C4-D298-4906-AF8F-352A4B6A1A6B}"/>
              </a:ext>
            </a:extLst>
          </p:cNvPr>
          <p:cNvSpPr>
            <a:spLocks noGrp="1"/>
          </p:cNvSpPr>
          <p:nvPr/>
        </p:nvSpPr>
        <p:spPr>
          <a:xfrm>
            <a:off x="8938208" y="2305050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44E41F-9801-44B4-8FA5-61D219248116}"/>
              </a:ext>
            </a:extLst>
          </p:cNvPr>
          <p:cNvSpPr>
            <a:spLocks noGrp="1"/>
          </p:cNvSpPr>
          <p:nvPr/>
        </p:nvSpPr>
        <p:spPr>
          <a:xfrm>
            <a:off x="8985833" y="2333625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方块 3 首出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736EF6-A60A-420D-BEBD-22E0EC282342}"/>
              </a:ext>
            </a:extLst>
          </p:cNvPr>
          <p:cNvSpPr>
            <a:spLocks noGrp="1"/>
          </p:cNvSpPr>
          <p:nvPr/>
        </p:nvSpPr>
        <p:spPr>
          <a:xfrm>
            <a:off x="5191125" y="3214688"/>
            <a:ext cx="1112415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D58343-B0D0-4D78-ACEF-1005E202D7CA}"/>
              </a:ext>
            </a:extLst>
          </p:cNvPr>
          <p:cNvSpPr>
            <a:spLocks noGrp="1"/>
          </p:cNvSpPr>
          <p:nvPr/>
        </p:nvSpPr>
        <p:spPr>
          <a:xfrm>
            <a:off x="5238750" y="3243263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五张牌比较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0D29D5-482D-4ECA-AA0E-4BA3BEFD2D7D}"/>
              </a:ext>
            </a:extLst>
          </p:cNvPr>
          <p:cNvSpPr>
            <a:spLocks noGrp="1"/>
          </p:cNvSpPr>
          <p:nvPr/>
        </p:nvSpPr>
        <p:spPr>
          <a:xfrm>
            <a:off x="6303540" y="3214688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F873F7-3FE9-462A-B532-8D18F2D256A0}"/>
              </a:ext>
            </a:extLst>
          </p:cNvPr>
          <p:cNvSpPr>
            <a:spLocks noGrp="1"/>
          </p:cNvSpPr>
          <p:nvPr/>
        </p:nvSpPr>
        <p:spPr>
          <a:xfrm>
            <a:off x="6351165" y="3243263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四带一、同花顺可作为增强强牌跨牌型压制普通牌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DE4E6B-AA5D-4201-9EE8-D23A5576EA7C}"/>
              </a:ext>
            </a:extLst>
          </p:cNvPr>
          <p:cNvSpPr>
            <a:spLocks noGrp="1"/>
          </p:cNvSpPr>
          <p:nvPr/>
        </p:nvSpPr>
        <p:spPr>
          <a:xfrm>
            <a:off x="8938208" y="3214688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D384F3-0BDF-44F8-AF13-70BDDD487734}"/>
              </a:ext>
            </a:extLst>
          </p:cNvPr>
          <p:cNvSpPr>
            <a:spLocks noGrp="1"/>
          </p:cNvSpPr>
          <p:nvPr/>
        </p:nvSpPr>
        <p:spPr>
          <a:xfrm>
            <a:off x="8985833" y="3243263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五张牌之间按顺子、同花、葫芦、四带一、同花顺等级比较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0E1F56-8365-4EBD-892F-4EB7CAC70E4A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1112415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C6F6E6-0A7A-4786-867C-BA07BFF04975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压牌限制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2F005A-B0F6-4D70-BFD6-99B91AD48778}"/>
              </a:ext>
            </a:extLst>
          </p:cNvPr>
          <p:cNvSpPr>
            <a:spLocks noGrp="1"/>
          </p:cNvSpPr>
          <p:nvPr/>
        </p:nvSpPr>
        <p:spPr>
          <a:xfrm>
            <a:off x="6303540" y="4124325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1AB1D6-873D-4C64-9FF3-445C91E8321F}"/>
              </a:ext>
            </a:extLst>
          </p:cNvPr>
          <p:cNvSpPr>
            <a:spLocks noGrp="1"/>
          </p:cNvSpPr>
          <p:nvPr/>
        </p:nvSpPr>
        <p:spPr>
          <a:xfrm>
            <a:off x="6351165" y="4152900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根据北方增强牌规则判断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B7EF09-3D9C-4125-96AC-95ED18D24637}"/>
              </a:ext>
            </a:extLst>
          </p:cNvPr>
          <p:cNvSpPr>
            <a:spLocks noGrp="1"/>
          </p:cNvSpPr>
          <p:nvPr/>
        </p:nvSpPr>
        <p:spPr>
          <a:xfrm>
            <a:off x="8938208" y="4124325"/>
            <a:ext cx="2634667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CE675E-FDCC-43F5-8E11-322591BBEAE3}"/>
              </a:ext>
            </a:extLst>
          </p:cNvPr>
          <p:cNvSpPr>
            <a:spLocks noGrp="1"/>
          </p:cNvSpPr>
          <p:nvPr/>
        </p:nvSpPr>
        <p:spPr>
          <a:xfrm>
            <a:off x="8985833" y="4152900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更强调同张数压制和五张牌等级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DFCA63-06DB-4D3E-9730-6DF96D17BA62}"/>
              </a:ext>
            </a:extLst>
          </p:cNvPr>
          <p:cNvSpPr>
            <a:spLocks noGrp="1"/>
          </p:cNvSpPr>
          <p:nvPr/>
        </p:nvSpPr>
        <p:spPr>
          <a:xfrm>
            <a:off x="5191125" y="5033963"/>
            <a:ext cx="1112415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D1D37E-C65F-4677-BCBF-7BB9F5AEBF90}"/>
              </a:ext>
            </a:extLst>
          </p:cNvPr>
          <p:cNvSpPr>
            <a:spLocks noGrp="1"/>
          </p:cNvSpPr>
          <p:nvPr/>
        </p:nvSpPr>
        <p:spPr>
          <a:xfrm>
            <a:off x="5238750" y="5062538"/>
            <a:ext cx="1017165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配置方式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3EB1FE-2617-40BE-B090-55F698E1EF30}"/>
              </a:ext>
            </a:extLst>
          </p:cNvPr>
          <p:cNvSpPr>
            <a:spLocks noGrp="1"/>
          </p:cNvSpPr>
          <p:nvPr/>
        </p:nvSpPr>
        <p:spPr>
          <a:xfrm>
            <a:off x="6303540" y="5033963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8D3237-3E12-45FA-A840-05B3F29B041F}"/>
              </a:ext>
            </a:extLst>
          </p:cNvPr>
          <p:cNvSpPr>
            <a:spLocks noGrp="1"/>
          </p:cNvSpPr>
          <p:nvPr/>
        </p:nvSpPr>
        <p:spPr>
          <a:xfrm>
            <a:off x="6351165" y="5062538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通过规则设置保存到本机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48DED6-4EB5-4E64-96AB-DD5F14432DD7}"/>
              </a:ext>
            </a:extLst>
          </p:cNvPr>
          <p:cNvSpPr>
            <a:spLocks noGrp="1"/>
          </p:cNvSpPr>
          <p:nvPr/>
        </p:nvSpPr>
        <p:spPr>
          <a:xfrm>
            <a:off x="8938208" y="5033963"/>
            <a:ext cx="2634667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E129C77-EF15-E841-B455-D2E45632E224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B03707E-9F0D-C34F-99B4-A19ADFCE3139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3194D4B-1949-BF4A-97DE-D79E61BB55F2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AF719BC-DB5E-43EF-8890-BE416FD47384}"/>
              </a:ext>
            </a:extLst>
          </p:cNvPr>
          <p:cNvSpPr>
            <a:spLocks noGrp="1"/>
          </p:cNvSpPr>
          <p:nvPr/>
        </p:nvSpPr>
        <p:spPr>
          <a:xfrm>
            <a:off x="8985833" y="5062538"/>
            <a:ext cx="2539417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通过规则设置保存到本机</a:t>
            </a:r>
          </a:p>
        </p:txBody>
      </p:sp>
    </p:spTree>
    <p:extLst>
      <p:ext uri="{BB962C8B-B14F-4D97-AF65-F5344CB8AC3E}">
        <p14:creationId xmlns:p14="http://schemas.microsoft.com/office/powerpoint/2010/main" val="913429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4B3B0CF-7224-4E48-BD1F-E56C04076A05}"/>
              </a:ext>
            </a:extLst>
          </p:cNvPr>
          <p:cNvSpPr>
            <a:spLocks noGrp="1"/>
          </p:cNvSpPr>
          <p:nvPr/>
        </p:nvSpPr>
        <p:spPr>
          <a:xfrm>
            <a:off x="0" y="30226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C5EAA9-7872-48A6-B18D-37EE9095F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96EF65-E81C-4086-9413-3401C89C55D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040D8-2607-4380-817F-780502AA3FA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9B5EE2-2E46-4520-BF67-FBF58C5330C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41074F-AD12-495A-8757-495C482D66D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3FBF96-1483-4D9A-9956-C90BFB5F42F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蓝牙通信模块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EC3D1F-E325-4815-90A6-FFD5C65C58F4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86DC7B-8E40-0844-9890-8751B6B9E954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880123-694C-AE41-9EA5-5D089D39C274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61AB1E-07C4-6547-B221-53312EB2560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C312ED-700B-4357-9123-D6496191393E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>
              <a:lnSpc>
                <a:spcPct val="113000"/>
              </a:lnSpc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多人联机采用房主权威的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C/S 模式，而不是一对一蓝牙匹配。房主手机创建房间并监听连接，加入者手机作为客户端连接房主。房间固定四个座位，房主可以添加人机补位，满四座并准备后开始游戏。</a:t>
            </a:r>
            <a:r>
              <a:rPr lang="zh-CN" altLang="en-US" sz="1013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使用了适配器模式，</a:t>
            </a:r>
            <a:r>
              <a:rPr lang="zh-CN" altLang="zh-CN" sz="1013" dirty="0"/>
              <a:t>GameTransport.kt 抽象传输接口，BluetoothHostTransport、BluetoothClientTransport、LocalRoomTransport 适配不同传输方式</a:t>
            </a:r>
            <a:r>
              <a:rPr lang="zh-CN" altLang="en-US" sz="1013" dirty="0"/>
              <a:t>，</a:t>
            </a:r>
            <a:r>
              <a:rPr lang="zh-CN" altLang="zh-CN" sz="1013" dirty="0"/>
              <a:t>UI 和房间逻辑不用直接依赖 BluetoothSocket，真实蓝牙和本地模拟可以共用一套调用方式</a:t>
            </a:r>
            <a:r>
              <a:rPr lang="zh-CN" altLang="en-US" sz="1013" dirty="0"/>
              <a:t>。使用了观察者模式，</a:t>
            </a:r>
            <a:r>
              <a:rPr lang="zh-CN" altLang="zh-CN" sz="1013" dirty="0"/>
              <a:t>GameTransport.observeEvents(listener) 通过回调监听 TransportEvent.Message、PeerConnected、PeerDisconnected、Error蓝牙连接、断开、消息到达时通知上层界面或房间控制逻辑，体现事件驱动</a:t>
            </a:r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蓝牙通信的核心流程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房主创建房间，建立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BluetoothHostTransport，持续监听加入者连接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加入者搜索附近或已配对设备，并通过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BluetoothClientTransport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连接房主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加入者发送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HELLO，其中包含昵称和客户端标识等基础信息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房主维护四座位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RoomSeat，记录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SeatConnectionState、clientId、设备地址和是否由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托管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房主广播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ROOM(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roomId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,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hostEpoch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, seats)，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使所有客户端看到一致座位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开局时房主生成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seed、同步规则并广播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START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消息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客户端只发送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MOVE_REQUEST，不直接修改本地牌局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8.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房主使用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NetworkMoveGuard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判断是否为当前玩家的有效请求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9.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房主调用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校验和推进状态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10.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房主广播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MOVE_ACCEPTED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STATE_SNAPSHOT，所有客户端以房主快照为准刷新牌桌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11.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如果客户端断线，传输层发出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TransportEvent.PeerDisconnected，房主把对应座位标记为“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断线，人机托管中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并广播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DISCONNECT_NOTICE。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12.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当前发布版没有实现自动断线重连；断线客户端需要重新进入蓝牙流程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13.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如果房主断线，客户端弹窗提示连接断开，关闭当前传输并退出房间，提示重新创建或重新加入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这种方式可以避免多台手机各自结算导致的状态分叉，也便于测试时用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LocalRoomTransport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SimulatedBluetoothHubTest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模拟多人房间。由于房主是权威端，当前版本对房主断线采用保守处理：直接提示并退出，而不尝试新房主迁移，避免恢复过程中出现多端状态不一致。</a:t>
            </a:r>
          </a:p>
        </p:txBody>
      </p:sp>
    </p:spTree>
    <p:extLst>
      <p:ext uri="{BB962C8B-B14F-4D97-AF65-F5344CB8AC3E}">
        <p14:creationId xmlns:p14="http://schemas.microsoft.com/office/powerpoint/2010/main" val="293146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07C72A2E-9BEF-4A69-AB3D-EE97684E9E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979FD-5C4A-4BE3-9BF3-1E618CD01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E0467E-8DA8-4C5E-845A-2F4234AD8D3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C17AF8-5BF6-409D-845F-56114E4093A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804A10-5B1A-41FF-B18E-9EFB86A9CF79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07752F-4A22-421A-8B97-14EDF82783D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AD7B52-C131-4A23-B951-037A0AACF02F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实现成果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7EEBA7-205D-47E6-8778-64EBCA19EAB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1FB0CF-8F14-412F-A93C-4974220E704F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本阶段完成南北规则模块、牌型识别、联机消息协议、四座位房间、房主广播同步、本地模拟传输，以及蓝牙断线处理机制。传输层通过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TransportEvent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上报连接和断开，客户端断线时房主保留座位并让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托管，房主断线时客户端弹窗提示并退出房间。项目满足“多人蓝牙连接，而不是一对一蓝牙匹配”的核心要求，并且通过测试覆盖规则差异、消息编解码、房间座位、客户端断线托管和蓝牙模拟场景。</a:t>
            </a:r>
          </a:p>
          <a:p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3C1967-C453-4ADE-B06F-D52944CDA626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343526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792E73-B8E0-4CCE-BCC6-D0E9B62E8E59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248276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C25866-F0B6-4352-A3AB-A275379A7936}"/>
              </a:ext>
            </a:extLst>
          </p:cNvPr>
          <p:cNvSpPr>
            <a:spLocks noGrp="1"/>
          </p:cNvSpPr>
          <p:nvPr/>
        </p:nvSpPr>
        <p:spPr>
          <a:xfrm>
            <a:off x="6534651" y="1905000"/>
            <a:ext cx="25191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FEBA1B-6063-4FF3-ADD3-1F591C90EA46}"/>
              </a:ext>
            </a:extLst>
          </p:cNvPr>
          <p:cNvSpPr>
            <a:spLocks noGrp="1"/>
          </p:cNvSpPr>
          <p:nvPr/>
        </p:nvSpPr>
        <p:spPr>
          <a:xfrm>
            <a:off x="6582276" y="1943100"/>
            <a:ext cx="24238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展示内容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228FD2-4A8F-436A-B6F2-7776C7F75684}"/>
              </a:ext>
            </a:extLst>
          </p:cNvPr>
          <p:cNvSpPr>
            <a:spLocks noGrp="1"/>
          </p:cNvSpPr>
          <p:nvPr/>
        </p:nvSpPr>
        <p:spPr>
          <a:xfrm>
            <a:off x="9053763" y="1905000"/>
            <a:ext cx="25191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33476D-DB96-4C76-B3D2-B021F9588E03}"/>
              </a:ext>
            </a:extLst>
          </p:cNvPr>
          <p:cNvSpPr>
            <a:spLocks noGrp="1"/>
          </p:cNvSpPr>
          <p:nvPr/>
        </p:nvSpPr>
        <p:spPr>
          <a:xfrm>
            <a:off x="9101388" y="1943100"/>
            <a:ext cx="24238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证据材料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505222-4966-4649-91E7-C6692D269CEC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D504CB-ACFC-4156-A7BC-0A001C9924AD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代码成果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93A843-5BD7-4FB0-A115-F4F8A865D4A5}"/>
              </a:ext>
            </a:extLst>
          </p:cNvPr>
          <p:cNvSpPr>
            <a:spLocks noGrp="1"/>
          </p:cNvSpPr>
          <p:nvPr/>
        </p:nvSpPr>
        <p:spPr>
          <a:xfrm>
            <a:off x="6534651" y="230505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0EBFF7-9246-4734-A58D-27243E5EAD36}"/>
              </a:ext>
            </a:extLst>
          </p:cNvPr>
          <p:cNvSpPr>
            <a:spLocks noGrp="1"/>
          </p:cNvSpPr>
          <p:nvPr/>
        </p:nvSpPr>
        <p:spPr>
          <a:xfrm>
            <a:off x="6582276" y="233362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RuleSet、NorthRuleSet、SouthRuleSet 封装南北规则差异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631BB0-BF76-4476-8723-B3CB63FB399F}"/>
              </a:ext>
            </a:extLst>
          </p:cNvPr>
          <p:cNvSpPr>
            <a:spLocks noGrp="1"/>
          </p:cNvSpPr>
          <p:nvPr/>
        </p:nvSpPr>
        <p:spPr>
          <a:xfrm>
            <a:off x="9053763" y="230505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F2FF67-71B4-44C9-B48D-14F9062DAAC2}"/>
              </a:ext>
            </a:extLst>
          </p:cNvPr>
          <p:cNvSpPr>
            <a:spLocks noGrp="1"/>
          </p:cNvSpPr>
          <p:nvPr/>
        </p:nvSpPr>
        <p:spPr>
          <a:xfrm>
            <a:off x="9101388" y="233362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app/src/main/java/com/example/uml_chudadi/model/RuleSet.kt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426D9C-3B6F-453D-9A59-D109BDC3AE3D}"/>
              </a:ext>
            </a:extLst>
          </p:cNvPr>
          <p:cNvSpPr>
            <a:spLocks noGrp="1"/>
          </p:cNvSpPr>
          <p:nvPr/>
        </p:nvSpPr>
        <p:spPr>
          <a:xfrm>
            <a:off x="5191125" y="3032760"/>
            <a:ext cx="134352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C972AB-7E7A-45F3-988D-92E1194BFDF1}"/>
              </a:ext>
            </a:extLst>
          </p:cNvPr>
          <p:cNvSpPr>
            <a:spLocks noGrp="1"/>
          </p:cNvSpPr>
          <p:nvPr/>
        </p:nvSpPr>
        <p:spPr>
          <a:xfrm>
            <a:off x="5238750" y="306133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代码成果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DBB109-7613-405F-A550-800BCBE539F9}"/>
              </a:ext>
            </a:extLst>
          </p:cNvPr>
          <p:cNvSpPr>
            <a:spLocks noGrp="1"/>
          </p:cNvSpPr>
          <p:nvPr/>
        </p:nvSpPr>
        <p:spPr>
          <a:xfrm>
            <a:off x="6534651" y="303276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24149F-B16F-4515-BEA6-511DDCC6B6E1}"/>
              </a:ext>
            </a:extLst>
          </p:cNvPr>
          <p:cNvSpPr>
            <a:spLocks noGrp="1"/>
          </p:cNvSpPr>
          <p:nvPr/>
        </p:nvSpPr>
        <p:spPr>
          <a:xfrm>
            <a:off x="6582276" y="306133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GameTransport 与 TransportEvent 把蓝牙消息、连接、断开、错误统一为事件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C0CC2C-9671-479F-ACCA-9A293D9F6B4B}"/>
              </a:ext>
            </a:extLst>
          </p:cNvPr>
          <p:cNvSpPr>
            <a:spLocks noGrp="1"/>
          </p:cNvSpPr>
          <p:nvPr/>
        </p:nvSpPr>
        <p:spPr>
          <a:xfrm>
            <a:off x="9053763" y="303276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79D6E7-D2A3-4F7C-BFDB-C73C8B18EDA1}"/>
              </a:ext>
            </a:extLst>
          </p:cNvPr>
          <p:cNvSpPr>
            <a:spLocks noGrp="1"/>
          </p:cNvSpPr>
          <p:nvPr/>
        </p:nvSpPr>
        <p:spPr>
          <a:xfrm>
            <a:off x="9101388" y="306133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app/src/main/java/com/example/uml_chudadi/transport/GameTransport.kt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B7D0A4-D766-4E2B-B3D1-9A6C0D0D3D17}"/>
              </a:ext>
            </a:extLst>
          </p:cNvPr>
          <p:cNvSpPr>
            <a:spLocks noGrp="1"/>
          </p:cNvSpPr>
          <p:nvPr/>
        </p:nvSpPr>
        <p:spPr>
          <a:xfrm>
            <a:off x="5191125" y="376047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B25FF6-3CB3-44AA-A7D9-2657666C6919}"/>
              </a:ext>
            </a:extLst>
          </p:cNvPr>
          <p:cNvSpPr>
            <a:spLocks noGrp="1"/>
          </p:cNvSpPr>
          <p:nvPr/>
        </p:nvSpPr>
        <p:spPr>
          <a:xfrm>
            <a:off x="5238750" y="378904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协议成果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1DC789-AE5E-4592-BB97-B0CB4E0C4DD0}"/>
              </a:ext>
            </a:extLst>
          </p:cNvPr>
          <p:cNvSpPr>
            <a:spLocks noGrp="1"/>
          </p:cNvSpPr>
          <p:nvPr/>
        </p:nvSpPr>
        <p:spPr>
          <a:xfrm>
            <a:off x="6534651" y="376047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75CE50-3D8F-4BF1-B67F-235EF1BB56CD}"/>
              </a:ext>
            </a:extLst>
          </p:cNvPr>
          <p:cNvSpPr>
            <a:spLocks noGrp="1"/>
          </p:cNvSpPr>
          <p:nvPr/>
        </p:nvSpPr>
        <p:spPr>
          <a:xfrm>
            <a:off x="6582276" y="378904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DISCONNECT_NOTICE、STATE_SNAPSHOT 等消息支持断线提示、托管和状态同步；迁移/重连消息仅作为后续扩展入口保留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8259CC-16C9-498A-9979-206119278D8B}"/>
              </a:ext>
            </a:extLst>
          </p:cNvPr>
          <p:cNvSpPr>
            <a:spLocks noGrp="1"/>
          </p:cNvSpPr>
          <p:nvPr/>
        </p:nvSpPr>
        <p:spPr>
          <a:xfrm>
            <a:off x="9053763" y="376047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B7C481-17D8-4F1A-A739-CF30356345C7}"/>
              </a:ext>
            </a:extLst>
          </p:cNvPr>
          <p:cNvSpPr>
            <a:spLocks noGrp="1"/>
          </p:cNvSpPr>
          <p:nvPr/>
        </p:nvSpPr>
        <p:spPr>
          <a:xfrm>
            <a:off x="9101388" y="378904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app/src/main/java/com/example/uml_chudadi/transport/GameMessage.kt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987055-E5B9-43A6-AC61-BBDD9EDFBBB1}"/>
              </a:ext>
            </a:extLst>
          </p:cNvPr>
          <p:cNvSpPr>
            <a:spLocks noGrp="1"/>
          </p:cNvSpPr>
          <p:nvPr/>
        </p:nvSpPr>
        <p:spPr>
          <a:xfrm>
            <a:off x="5191125" y="4488180"/>
            <a:ext cx="1343526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A8B198F-B2EE-4648-83CC-F2D88D70A90F}"/>
              </a:ext>
            </a:extLst>
          </p:cNvPr>
          <p:cNvSpPr>
            <a:spLocks noGrp="1"/>
          </p:cNvSpPr>
          <p:nvPr/>
        </p:nvSpPr>
        <p:spPr>
          <a:xfrm>
            <a:off x="5238750" y="451675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图片成果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C2CAF4-5156-4439-91C3-D59EABA20F67}"/>
              </a:ext>
            </a:extLst>
          </p:cNvPr>
          <p:cNvSpPr>
            <a:spLocks noGrp="1"/>
          </p:cNvSpPr>
          <p:nvPr/>
        </p:nvSpPr>
        <p:spPr>
          <a:xfrm>
            <a:off x="6534651" y="448818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06AA54-6AAC-47AF-8E0A-9FF2E1E107B8}"/>
              </a:ext>
            </a:extLst>
          </p:cNvPr>
          <p:cNvSpPr>
            <a:spLocks noGrp="1"/>
          </p:cNvSpPr>
          <p:nvPr/>
        </p:nvSpPr>
        <p:spPr>
          <a:xfrm>
            <a:off x="6582276" y="451675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顺序图展示客户端发请求、房主校验、广播快照的权威同步流程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687E8B-131A-44D6-912A-8A12049AD4F6}"/>
              </a:ext>
            </a:extLst>
          </p:cNvPr>
          <p:cNvSpPr>
            <a:spLocks noGrp="1"/>
          </p:cNvSpPr>
          <p:nvPr/>
        </p:nvSpPr>
        <p:spPr>
          <a:xfrm>
            <a:off x="9053763" y="4488180"/>
            <a:ext cx="2519112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017E1FE-04C1-4DCE-82DA-883385835917}"/>
              </a:ext>
            </a:extLst>
          </p:cNvPr>
          <p:cNvSpPr>
            <a:spLocks noGrp="1"/>
          </p:cNvSpPr>
          <p:nvPr/>
        </p:nvSpPr>
        <p:spPr>
          <a:xfrm>
            <a:off x="9101388" y="451675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docs/uml/sequence_game_turn.png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62E775-C384-45A5-A3DB-ACCAAE9C355A}"/>
              </a:ext>
            </a:extLst>
          </p:cNvPr>
          <p:cNvSpPr>
            <a:spLocks noGrp="1"/>
          </p:cNvSpPr>
          <p:nvPr/>
        </p:nvSpPr>
        <p:spPr>
          <a:xfrm>
            <a:off x="5191125" y="5215890"/>
            <a:ext cx="1343526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96068BC-B6C1-41E8-9F9F-0B8DE878ED5B}"/>
              </a:ext>
            </a:extLst>
          </p:cNvPr>
          <p:cNvSpPr>
            <a:spLocks noGrp="1"/>
          </p:cNvSpPr>
          <p:nvPr/>
        </p:nvSpPr>
        <p:spPr>
          <a:xfrm>
            <a:off x="5238750" y="5244465"/>
            <a:ext cx="1248276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测试成果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DAF2E59-D46E-40A5-8519-AD8F7BEC365D}"/>
              </a:ext>
            </a:extLst>
          </p:cNvPr>
          <p:cNvSpPr>
            <a:spLocks noGrp="1"/>
          </p:cNvSpPr>
          <p:nvPr/>
        </p:nvSpPr>
        <p:spPr>
          <a:xfrm>
            <a:off x="6534651" y="521589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D337EAF-9EDC-4885-9BC8-A162346B4C65}"/>
              </a:ext>
            </a:extLst>
          </p:cNvPr>
          <p:cNvSpPr>
            <a:spLocks noGrp="1"/>
          </p:cNvSpPr>
          <p:nvPr/>
        </p:nvSpPr>
        <p:spPr>
          <a:xfrm>
            <a:off x="6582276" y="524446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模拟蓝牙覆盖三人加入、房满拒绝、房主广播、移动请求和客户端断线托管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CE7101B-28EA-4291-97FF-08C7B4CF31F5}"/>
              </a:ext>
            </a:extLst>
          </p:cNvPr>
          <p:cNvSpPr>
            <a:spLocks noGrp="1"/>
          </p:cNvSpPr>
          <p:nvPr/>
        </p:nvSpPr>
        <p:spPr>
          <a:xfrm>
            <a:off x="9053763" y="5215890"/>
            <a:ext cx="2519112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A018043-2895-1343-A3C6-06983E447B3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7F7CD74-8071-6A42-B8DB-B8932D07BF9C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495A04-1B30-324A-854D-7D32D6FBC766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AE89BBD-C758-485A-90A5-1F4BF1BD65D0}"/>
              </a:ext>
            </a:extLst>
          </p:cNvPr>
          <p:cNvSpPr>
            <a:spLocks noGrp="1"/>
          </p:cNvSpPr>
          <p:nvPr/>
        </p:nvSpPr>
        <p:spPr>
          <a:xfrm>
            <a:off x="9101388" y="5244465"/>
            <a:ext cx="2423862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app/src/test/java/com/example/uml_chudadi/transport/SimulatedBluetoothHubTest.kt</a:t>
            </a:r>
          </a:p>
        </p:txBody>
      </p:sp>
    </p:spTree>
    <p:extLst>
      <p:ext uri="{BB962C8B-B14F-4D97-AF65-F5344CB8AC3E}">
        <p14:creationId xmlns:p14="http://schemas.microsoft.com/office/powerpoint/2010/main" val="1890780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E03B198A-CC8F-4CE4-A038-F7659FC655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C9D372-5A23-4840-98F6-D0F600EA53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9EA6AE-1BE4-49A2-AB89-66BFEDB3B20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C851F1-E9A7-4F39-9597-A50C1662A435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E276C6-F562-4211-BF91-E16AD1A49F3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15FE36-38F6-4057-8AA8-51EEF944DF9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BF1BE3-D256-4D22-9236-660499CDC74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.6 Codex/GPT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使用情况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729BE-95B1-4455-9DC3-7DAF02C07918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86AC2C-46B2-42FF-868D-D980B73E8F83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1930712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8CFA3C-3C53-4036-8D48-AC3904199A2D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1835462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DB7FF1-4B66-4867-B643-E259C273AB9C}"/>
              </a:ext>
            </a:extLst>
          </p:cNvPr>
          <p:cNvSpPr>
            <a:spLocks noGrp="1"/>
          </p:cNvSpPr>
          <p:nvPr/>
        </p:nvSpPr>
        <p:spPr>
          <a:xfrm>
            <a:off x="2387912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05CC93-B860-4B7C-9A28-4172C10F87F5}"/>
              </a:ext>
            </a:extLst>
          </p:cNvPr>
          <p:cNvSpPr>
            <a:spLocks noGrp="1"/>
          </p:cNvSpPr>
          <p:nvPr/>
        </p:nvSpPr>
        <p:spPr>
          <a:xfrm>
            <a:off x="2435537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使用方式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431160-7226-4AEA-9B85-6F3D8C95BD14}"/>
              </a:ext>
            </a:extLst>
          </p:cNvPr>
          <p:cNvSpPr>
            <a:spLocks noGrp="1"/>
          </p:cNvSpPr>
          <p:nvPr/>
        </p:nvSpPr>
        <p:spPr>
          <a:xfrm>
            <a:off x="5490841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52B244-FF56-45FF-96B0-6CBC4A519DB8}"/>
              </a:ext>
            </a:extLst>
          </p:cNvPr>
          <p:cNvSpPr>
            <a:spLocks noGrp="1"/>
          </p:cNvSpPr>
          <p:nvPr/>
        </p:nvSpPr>
        <p:spPr>
          <a:xfrm>
            <a:off x="5538466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Codex/GPT 产出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BEBB68-D583-4BCB-B11E-F9558D506F9E}"/>
              </a:ext>
            </a:extLst>
          </p:cNvPr>
          <p:cNvSpPr>
            <a:spLocks noGrp="1"/>
          </p:cNvSpPr>
          <p:nvPr/>
        </p:nvSpPr>
        <p:spPr>
          <a:xfrm>
            <a:off x="8593771" y="1905000"/>
            <a:ext cx="310292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5DA7F6-6A97-489C-8D24-D993D86F5E60}"/>
              </a:ext>
            </a:extLst>
          </p:cNvPr>
          <p:cNvSpPr>
            <a:spLocks noGrp="1"/>
          </p:cNvSpPr>
          <p:nvPr/>
        </p:nvSpPr>
        <p:spPr>
          <a:xfrm>
            <a:off x="8641396" y="1943100"/>
            <a:ext cx="300767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开发者确认与调整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EEC63D-8EEF-46E2-A4F2-A659F388B8AD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1930712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61D076-6352-4E3C-870A-33866E89A4CB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南北规则比较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1228CF-336E-456F-8465-A9F2E85A609D}"/>
              </a:ext>
            </a:extLst>
          </p:cNvPr>
          <p:cNvSpPr>
            <a:spLocks noGrp="1"/>
          </p:cNvSpPr>
          <p:nvPr/>
        </p:nvSpPr>
        <p:spPr>
          <a:xfrm>
            <a:off x="2387912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01449C-7536-4608-A320-6702B95A0B64}"/>
              </a:ext>
            </a:extLst>
          </p:cNvPr>
          <p:cNvSpPr>
            <a:spLocks noGrp="1"/>
          </p:cNvSpPr>
          <p:nvPr/>
        </p:nvSpPr>
        <p:spPr>
          <a:xfrm>
            <a:off x="2435537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 Codex/GPT 完成规则差异分析和 Kotlin 规则模块实现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2E6FC-C13E-491B-840E-61FBD6BAF5D5}"/>
              </a:ext>
            </a:extLst>
          </p:cNvPr>
          <p:cNvSpPr>
            <a:spLocks noGrp="1"/>
          </p:cNvSpPr>
          <p:nvPr/>
        </p:nvSpPr>
        <p:spPr>
          <a:xfrm>
            <a:off x="5490841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2F2DE1-3478-49F9-9653-3AD1A8874C7D}"/>
              </a:ext>
            </a:extLst>
          </p:cNvPr>
          <p:cNvSpPr>
            <a:spLocks noGrp="1"/>
          </p:cNvSpPr>
          <p:nvPr/>
        </p:nvSpPr>
        <p:spPr>
          <a:xfrm>
            <a:off x="5538466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形成 RuleProfile、NorthRuleSet、SouthRuleSet 和规则测试思路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6AD6EA-4DC1-4252-A5B6-879CBC6C6633}"/>
              </a:ext>
            </a:extLst>
          </p:cNvPr>
          <p:cNvSpPr>
            <a:spLocks noGrp="1"/>
          </p:cNvSpPr>
          <p:nvPr/>
        </p:nvSpPr>
        <p:spPr>
          <a:xfrm>
            <a:off x="8593771" y="2305050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0CD343-1229-4773-A20E-914385BB8BF8}"/>
              </a:ext>
            </a:extLst>
          </p:cNvPr>
          <p:cNvSpPr>
            <a:spLocks noGrp="1"/>
          </p:cNvSpPr>
          <p:nvPr/>
        </p:nvSpPr>
        <p:spPr>
          <a:xfrm>
            <a:off x="8641396" y="2333625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开发者运行规则测试并按实际玩法修正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92C1A8-BC91-4475-AF29-13584EAB33FC}"/>
              </a:ext>
            </a:extLst>
          </p:cNvPr>
          <p:cNvSpPr>
            <a:spLocks noGrp="1"/>
          </p:cNvSpPr>
          <p:nvPr/>
        </p:nvSpPr>
        <p:spPr>
          <a:xfrm>
            <a:off x="457200" y="3214688"/>
            <a:ext cx="1930712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631ED4-5E72-4DFF-8AD1-8BED21FABC6A}"/>
              </a:ext>
            </a:extLst>
          </p:cNvPr>
          <p:cNvSpPr>
            <a:spLocks noGrp="1"/>
          </p:cNvSpPr>
          <p:nvPr/>
        </p:nvSpPr>
        <p:spPr>
          <a:xfrm>
            <a:off x="504825" y="3243263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蓝牙拓扑</a:t>
            </a:r>
            <a:r>
              <a:rPr lang="zh-CN" altLang="en-US"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</a:t>
            </a:r>
            <a:endParaRPr sz="7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A24583-6F6E-42F2-80B4-31262224B776}"/>
              </a:ext>
            </a:extLst>
          </p:cNvPr>
          <p:cNvSpPr>
            <a:spLocks noGrp="1"/>
          </p:cNvSpPr>
          <p:nvPr/>
        </p:nvSpPr>
        <p:spPr>
          <a:xfrm>
            <a:off x="2387912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90F371-C451-4150-A2A9-8C6F9F69F9AC}"/>
              </a:ext>
            </a:extLst>
          </p:cNvPr>
          <p:cNvSpPr>
            <a:spLocks noGrp="1"/>
          </p:cNvSpPr>
          <p:nvPr/>
        </p:nvSpPr>
        <p:spPr>
          <a:xfrm>
            <a:off x="2435537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</a:t>
            </a:r>
            <a:r>
              <a:rPr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Codex/GPT </a:t>
            </a:r>
            <a:r>
              <a:rPr lang="zh-CN" altLang="en-US"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实现</a:t>
            </a: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</a:t>
            </a:r>
            <a:r>
              <a:rPr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C/S </a:t>
            </a: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方案</a:t>
            </a:r>
            <a:endParaRPr sz="7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77AAC62-55CD-4CD0-BEA5-7BE7D5F1B75F}"/>
              </a:ext>
            </a:extLst>
          </p:cNvPr>
          <p:cNvSpPr>
            <a:spLocks noGrp="1"/>
          </p:cNvSpPr>
          <p:nvPr/>
        </p:nvSpPr>
        <p:spPr>
          <a:xfrm>
            <a:off x="5490841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179469-E14C-4C92-8FFD-5D0B86A38D05}"/>
              </a:ext>
            </a:extLst>
          </p:cNvPr>
          <p:cNvSpPr>
            <a:spLocks noGrp="1"/>
          </p:cNvSpPr>
          <p:nvPr/>
        </p:nvSpPr>
        <p:spPr>
          <a:xfrm>
            <a:off x="5538466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房主权威</a:t>
            </a:r>
            <a:r>
              <a:rPr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C/S </a:t>
            </a: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模式</a:t>
            </a:r>
            <a:r>
              <a:rPr lang="zh-CN" altLang="en-US" sz="788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蓝牙模块代码</a:t>
            </a:r>
            <a:endParaRPr sz="7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EB37AC-F986-4856-806D-B3EEA140E84D}"/>
              </a:ext>
            </a:extLst>
          </p:cNvPr>
          <p:cNvSpPr>
            <a:spLocks noGrp="1"/>
          </p:cNvSpPr>
          <p:nvPr/>
        </p:nvSpPr>
        <p:spPr>
          <a:xfrm>
            <a:off x="8593771" y="3214688"/>
            <a:ext cx="3102929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AD40C7-3FBE-4ABB-B0DE-7EEC4B4E6D2F}"/>
              </a:ext>
            </a:extLst>
          </p:cNvPr>
          <p:cNvSpPr>
            <a:spLocks noGrp="1"/>
          </p:cNvSpPr>
          <p:nvPr/>
        </p:nvSpPr>
        <p:spPr>
          <a:xfrm>
            <a:off x="8641396" y="3243263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 GameTransport、GameMessageCodec 和模拟测试落地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6D6EFB-8BE5-4092-930C-485062E6504B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1930712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83A1F3-2644-48BB-A79B-2F6949858D4E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1835462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断线处理方案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76B042-ECC9-41DB-BC94-EE46BA2055EE}"/>
              </a:ext>
            </a:extLst>
          </p:cNvPr>
          <p:cNvSpPr>
            <a:spLocks noGrp="1"/>
          </p:cNvSpPr>
          <p:nvPr/>
        </p:nvSpPr>
        <p:spPr>
          <a:xfrm>
            <a:off x="2387912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2FD702-2F45-4823-8B71-7D5C12FE0F9A}"/>
              </a:ext>
            </a:extLst>
          </p:cNvPr>
          <p:cNvSpPr>
            <a:spLocks noGrp="1"/>
          </p:cNvSpPr>
          <p:nvPr/>
        </p:nvSpPr>
        <p:spPr>
          <a:xfrm>
            <a:off x="2435537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主要由 Codex/GPT 完成分析客户端断线、房主断线、重复请求和旧消息覆盖等风险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06DCCAC-008E-4F20-94B4-E0738FFC2013}"/>
              </a:ext>
            </a:extLst>
          </p:cNvPr>
          <p:cNvSpPr>
            <a:spLocks noGrp="1"/>
          </p:cNvSpPr>
          <p:nvPr/>
        </p:nvSpPr>
        <p:spPr>
          <a:xfrm>
            <a:off x="5490841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F080FD-30A0-46E9-89A9-1119508DDB52}"/>
              </a:ext>
            </a:extLst>
          </p:cNvPr>
          <p:cNvSpPr>
            <a:spLocks noGrp="1"/>
          </p:cNvSpPr>
          <p:nvPr/>
        </p:nvSpPr>
        <p:spPr>
          <a:xfrm>
            <a:off x="5538466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88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代码实现</a:t>
            </a: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takeoverByAi</a:t>
            </a:r>
            <a:r>
              <a:rPr sz="7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7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客户端托管、房主断线弹窗退出的保守方案</a:t>
            </a:r>
            <a:endParaRPr sz="7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D78BE3-7645-479F-A352-AAF5E17F3D30}"/>
              </a:ext>
            </a:extLst>
          </p:cNvPr>
          <p:cNvSpPr>
            <a:spLocks noGrp="1"/>
          </p:cNvSpPr>
          <p:nvPr/>
        </p:nvSpPr>
        <p:spPr>
          <a:xfrm>
            <a:off x="8593771" y="4124325"/>
            <a:ext cx="3102929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91A577A-4E93-DF47-97DB-23A5BDC1B80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50125C6-9087-9A48-A108-817C04486561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001496F-723E-474E-9C07-6D30BE1677A6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6373026-A8EB-4B4F-919B-270179EFF45C}"/>
              </a:ext>
            </a:extLst>
          </p:cNvPr>
          <p:cNvSpPr>
            <a:spLocks noGrp="1"/>
          </p:cNvSpPr>
          <p:nvPr/>
        </p:nvSpPr>
        <p:spPr>
          <a:xfrm>
            <a:off x="8641396" y="4152900"/>
            <a:ext cx="3007679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通过 RoomSeatTest、SimulatedBluetoothHubTest 覆盖客户端断线托管和房间边界</a:t>
            </a:r>
          </a:p>
        </p:txBody>
      </p:sp>
    </p:spTree>
    <p:extLst>
      <p:ext uri="{BB962C8B-B14F-4D97-AF65-F5344CB8AC3E}">
        <p14:creationId xmlns:p14="http://schemas.microsoft.com/office/powerpoint/2010/main" val="856815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90DCFE1-F712-4BCC-8F7E-C7DE8A6553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BA119-0A77-4761-A150-5FA245F91E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2292D0-6674-4A4D-8D2C-1F139A32769B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20DC8-6545-475F-AB4C-2185B020C61B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6. 阶段 3：细化迭代 2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5D7B27-2AD8-44D5-B914-F1F2DD4D05B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57EC0B-8458-4BAA-A11F-64F74301AE6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1F4F2D-210B-4B57-8C4F-0514A6C0438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问题与解决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27DD0F-7EDD-4963-809C-C6D12B71D572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76A7A-BA5C-4F9F-A00E-6B0A942A2E77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1FBDDE-2C7C-4C00-BCCE-50873470BE0E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DF453B-5D2A-442A-A0B5-C63F2D9BF18A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CC4AD6-3580-4366-A20F-586B5F3E6DB3}"/>
              </a:ext>
            </a:extLst>
          </p:cNvPr>
          <p:cNvSpPr>
            <a:spLocks noGrp="1"/>
          </p:cNvSpPr>
          <p:nvPr/>
        </p:nvSpPr>
        <p:spPr>
          <a:xfrm>
            <a:off x="612457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571308-EC8D-41A1-904D-679D9F9E0F7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BD908E-DA4C-4292-9A28-CA78C907633F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蓝牙多机连接容易出现状态不一致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BC7343-FE4A-486D-B948-9F574CE63E53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5DD146-ADD5-4116-9B72-8ED67706D2AC}"/>
              </a:ext>
            </a:extLst>
          </p:cNvPr>
          <p:cNvSpPr>
            <a:spLocks noGrp="1"/>
          </p:cNvSpPr>
          <p:nvPr/>
        </p:nvSpPr>
        <p:spPr>
          <a:xfrm>
            <a:off x="6124575" y="23336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使用房主权威同步，客户端只提交请求，最终以房主快照为准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1C6E20-0964-4F9F-B185-370A7DF36D27}"/>
              </a:ext>
            </a:extLst>
          </p:cNvPr>
          <p:cNvSpPr>
            <a:spLocks noGrp="1"/>
          </p:cNvSpPr>
          <p:nvPr/>
        </p:nvSpPr>
        <p:spPr>
          <a:xfrm>
            <a:off x="457200" y="29114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1E801B-3126-4654-BAE6-5BDAA45ED8DB}"/>
              </a:ext>
            </a:extLst>
          </p:cNvPr>
          <p:cNvSpPr>
            <a:spLocks noGrp="1"/>
          </p:cNvSpPr>
          <p:nvPr/>
        </p:nvSpPr>
        <p:spPr>
          <a:xfrm>
            <a:off x="504825" y="29400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真机数量不足会影响联机测试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F5475C-2927-4B31-9EB6-323078D06F48}"/>
              </a:ext>
            </a:extLst>
          </p:cNvPr>
          <p:cNvSpPr>
            <a:spLocks noGrp="1"/>
          </p:cNvSpPr>
          <p:nvPr/>
        </p:nvSpPr>
        <p:spPr>
          <a:xfrm>
            <a:off x="6076950" y="29114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EA1C5E-8C72-4B34-B1E1-C5E7D051ABA8}"/>
              </a:ext>
            </a:extLst>
          </p:cNvPr>
          <p:cNvSpPr>
            <a:spLocks noGrp="1"/>
          </p:cNvSpPr>
          <p:nvPr/>
        </p:nvSpPr>
        <p:spPr>
          <a:xfrm>
            <a:off x="6124575" y="29400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SimulatedBluetoothHubTest 覆盖三人加入、房满拒绝、广播、移动请求和客户端断线托管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35374-DDEB-4567-BB78-F593B0C84B34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648086-C7DB-426E-94AE-20536086C556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客户端断线会导致座位空缺和牌局中断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99F698-3D73-458D-903B-C801046A38CC}"/>
              </a:ext>
            </a:extLst>
          </p:cNvPr>
          <p:cNvSpPr>
            <a:spLocks noGrp="1"/>
          </p:cNvSpPr>
          <p:nvPr/>
        </p:nvSpPr>
        <p:spPr>
          <a:xfrm>
            <a:off x="6076950" y="351790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291950-9067-4DF9-A5D4-7038C6271730}"/>
              </a:ext>
            </a:extLst>
          </p:cNvPr>
          <p:cNvSpPr>
            <a:spLocks noGrp="1"/>
          </p:cNvSpPr>
          <p:nvPr/>
        </p:nvSpPr>
        <p:spPr>
          <a:xfrm>
            <a:off x="6124575" y="354647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保留原座位并设置 takeoverByAi，房主用普通 AI 继续代打；当前版本不承诺自动重连恢复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7D90F3-2A14-4069-94C6-58400DF58505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F5A068-322E-4E27-A041-4D3B87B8C5F4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房主断线会导致权威端丢失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BDB6EB-3E58-4BCB-A8B0-A0A233F29054}"/>
              </a:ext>
            </a:extLst>
          </p:cNvPr>
          <p:cNvSpPr>
            <a:spLocks noGrp="1"/>
          </p:cNvSpPr>
          <p:nvPr/>
        </p:nvSpPr>
        <p:spPr>
          <a:xfrm>
            <a:off x="6076950" y="412432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E6F336-EA38-4403-B30C-7AF4EEA2800A}"/>
              </a:ext>
            </a:extLst>
          </p:cNvPr>
          <p:cNvSpPr>
            <a:spLocks noGrp="1"/>
          </p:cNvSpPr>
          <p:nvPr/>
        </p:nvSpPr>
        <p:spPr>
          <a:xfrm>
            <a:off x="6124575" y="415290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当前版本弹窗提示后退出房间，要求重新创建或重新加入，避免无权威端时状态分叉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95BDFF-6C7F-47C9-88CC-4864F994D43C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B9CC2F6-9378-41DC-A270-22AAF1F1884B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南北规则差异会影响首出和压牌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6FD30B-DFE6-4E1D-8F2C-5AAB6190D290}"/>
              </a:ext>
            </a:extLst>
          </p:cNvPr>
          <p:cNvSpPr>
            <a:spLocks noGrp="1"/>
          </p:cNvSpPr>
          <p:nvPr/>
        </p:nvSpPr>
        <p:spPr>
          <a:xfrm>
            <a:off x="6076950" y="4730750"/>
            <a:ext cx="56197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DBD0FB-0EFE-4247-8278-FA8EE4FD2DFC}"/>
              </a:ext>
            </a:extLst>
          </p:cNvPr>
          <p:cNvSpPr>
            <a:spLocks noGrp="1"/>
          </p:cNvSpPr>
          <p:nvPr/>
        </p:nvSpPr>
        <p:spPr>
          <a:xfrm>
            <a:off x="6124575" y="4759325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RuleProfile、NorthRuleSet、SouthRuleSet 拆分规则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4DA14D-4D91-4FF0-926B-C9B501E715A6}"/>
              </a:ext>
            </a:extLst>
          </p:cNvPr>
          <p:cNvSpPr>
            <a:spLocks noGrp="1"/>
          </p:cNvSpPr>
          <p:nvPr/>
        </p:nvSpPr>
        <p:spPr>
          <a:xfrm>
            <a:off x="457200" y="53371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AD5F0AB-E393-450E-B3E1-DD56B95D9132}"/>
              </a:ext>
            </a:extLst>
          </p:cNvPr>
          <p:cNvSpPr>
            <a:spLocks noGrp="1"/>
          </p:cNvSpPr>
          <p:nvPr/>
        </p:nvSpPr>
        <p:spPr>
          <a:xfrm>
            <a:off x="504825" y="53657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蓝牙协议容易散落在 UI 代码中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5CDCBD-B306-4B8D-8784-2A712AB100B8}"/>
              </a:ext>
            </a:extLst>
          </p:cNvPr>
          <p:cNvSpPr>
            <a:spLocks noGrp="1"/>
          </p:cNvSpPr>
          <p:nvPr/>
        </p:nvSpPr>
        <p:spPr>
          <a:xfrm>
            <a:off x="6076950" y="5337175"/>
            <a:ext cx="56197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791420-B931-F64A-9940-06723397ED30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8F6555-F570-2A42-A39C-AB97EDEBFD6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B71E5F-376F-B94F-893F-B4C6B85A3BF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7EF64B3-1169-420E-A812-0CBEE939407B}"/>
              </a:ext>
            </a:extLst>
          </p:cNvPr>
          <p:cNvSpPr>
            <a:spLocks noGrp="1"/>
          </p:cNvSpPr>
          <p:nvPr/>
        </p:nvSpPr>
        <p:spPr>
          <a:xfrm>
            <a:off x="6124575" y="5365750"/>
            <a:ext cx="55245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GameMessageCodec 集中编码和解码</a:t>
            </a:r>
          </a:p>
        </p:txBody>
      </p:sp>
    </p:spTree>
    <p:extLst>
      <p:ext uri="{BB962C8B-B14F-4D97-AF65-F5344CB8AC3E}">
        <p14:creationId xmlns:p14="http://schemas.microsoft.com/office/powerpoint/2010/main" val="699227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862B-3A2F-BFF7-5682-EC818985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8469D21-84F8-6EE8-AD64-B33D738E55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6F405B-4961-B3D1-396E-51180B4CEA74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282E3C-6BC6-EE4B-B135-7209E8E1E44E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BEAB55-9908-484A-A7C6-2DBC5C253394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384F3-F832-F546-A20E-2825585B1188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215948-E170-412C-2FAE-789FEB5F92CC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细化迭代</a:t>
            </a:r>
            <a:r>
              <a:rPr lang="en-US" altLang="zh-CN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  <a:endParaRPr sz="72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503570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B0DA443-A0C3-4AEA-AF61-B53A7089EB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5E6D62-B9CE-4160-8BCD-A63FDBF857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BB0C5-50E0-4589-BFA7-A838DA376E79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C3F856-6866-480B-AC4B-08D8A8A379BE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5E51A7-8386-4CEB-8375-435CE30F78B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066C8A-2FD7-4124-BDE6-B2ECF84FB18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768BA-9D0E-4406-8928-20F90D584488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.1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阶段目标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A637A4-DFC1-4D4E-9EB7-EF5A1EC005A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5C26A5-0E38-5B4A-9B20-8C5B6F3C38BA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C31FF4-591D-C445-A858-6597229B4A2C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B37EE5-A39E-7B44-8919-E07D825E8DE1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33BE34-139A-4A95-A7AE-8C9B5436EDB3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本阶段目标是完成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算法模块，完善状态建模，并补齐玩家成长系统与牌桌体验。评分标准要求扑克牌博弈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至少提供两种算法策略，并使用策略模式。本项目实现简单、普通、困难三档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AI，满足并超过该要求；同时把大厅顶部的头像、等级、金币、战绩入口从静态展示改成真实可用的本地成长系统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30544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C80CCAE3-3E06-4533-A100-F2E3D9A547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DF0AC2-BCB8-45CA-AA32-FF66B2E67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2EB11-1766-4952-843D-45191C5EEC7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FFAB8-6E2F-4271-B061-980A9D29A61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025CD1-F4D3-4127-A66D-D4A2D9A10F6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81CE85-5430-4ECC-BD68-2198B33A865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4C83C-6250-43CB-BD84-33612A93875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AI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算法模块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FAAB56-844A-4393-80F3-679904EBD3B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E024BB-0AAD-4825-8304-382CD09DA30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AI 模块通过 AiStrategy 接口统一不同算法：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575A44-19FF-4258-B422-66D269298C2C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16186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2BAF2E-104F-4058-826E-1C0903C97EF8}"/>
              </a:ext>
            </a:extLst>
          </p:cNvPr>
          <p:cNvSpPr>
            <a:spLocks noGrp="1"/>
          </p:cNvSpPr>
          <p:nvPr/>
        </p:nvSpPr>
        <p:spPr>
          <a:xfrm>
            <a:off x="733425" y="2686050"/>
            <a:ext cx="106661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难度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43C77F-7370-4177-8666-672B4287DAEE}"/>
              </a:ext>
            </a:extLst>
          </p:cNvPr>
          <p:cNvSpPr>
            <a:spLocks noGrp="1"/>
          </p:cNvSpPr>
          <p:nvPr/>
        </p:nvSpPr>
        <p:spPr>
          <a:xfrm>
            <a:off x="1847661" y="2647950"/>
            <a:ext cx="47530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717D8A-7B6A-435D-88FC-2EA529C17D97}"/>
              </a:ext>
            </a:extLst>
          </p:cNvPr>
          <p:cNvSpPr>
            <a:spLocks noGrp="1"/>
          </p:cNvSpPr>
          <p:nvPr/>
        </p:nvSpPr>
        <p:spPr>
          <a:xfrm>
            <a:off x="1895286" y="2686050"/>
            <a:ext cx="46578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策略类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5AE891-9511-4A21-969B-DA262C06ADA6}"/>
              </a:ext>
            </a:extLst>
          </p:cNvPr>
          <p:cNvSpPr>
            <a:spLocks noGrp="1"/>
          </p:cNvSpPr>
          <p:nvPr/>
        </p:nvSpPr>
        <p:spPr>
          <a:xfrm>
            <a:off x="6600731" y="2647950"/>
            <a:ext cx="47530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A7CB0B-1462-4E3B-8A0F-48E88E5A71DF}"/>
              </a:ext>
            </a:extLst>
          </p:cNvPr>
          <p:cNvSpPr>
            <a:spLocks noGrp="1"/>
          </p:cNvSpPr>
          <p:nvPr/>
        </p:nvSpPr>
        <p:spPr>
          <a:xfrm>
            <a:off x="6648356" y="2686050"/>
            <a:ext cx="46578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基本思路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347D21-4C54-4371-BCE7-60D51187FB1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161861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14F4E7-AD33-4309-8D23-C5FECFE177BA}"/>
              </a:ext>
            </a:extLst>
          </p:cNvPr>
          <p:cNvSpPr>
            <a:spLocks noGrp="1"/>
          </p:cNvSpPr>
          <p:nvPr/>
        </p:nvSpPr>
        <p:spPr>
          <a:xfrm>
            <a:off x="733425" y="307657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简单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BCC679-CD1D-4D3C-BF51-C2D57B3FF1A9}"/>
              </a:ext>
            </a:extLst>
          </p:cNvPr>
          <p:cNvSpPr>
            <a:spLocks noGrp="1"/>
          </p:cNvSpPr>
          <p:nvPr/>
        </p:nvSpPr>
        <p:spPr>
          <a:xfrm>
            <a:off x="1847661" y="30480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D4C8E9-F62F-4166-97E3-635C9105B544}"/>
              </a:ext>
            </a:extLst>
          </p:cNvPr>
          <p:cNvSpPr>
            <a:spLocks noGrp="1"/>
          </p:cNvSpPr>
          <p:nvPr/>
        </p:nvSpPr>
        <p:spPr>
          <a:xfrm>
            <a:off x="1895286" y="30765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GreedyAiStrategy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B060CE-A5D0-4420-A607-61047645C7E2}"/>
              </a:ext>
            </a:extLst>
          </p:cNvPr>
          <p:cNvSpPr>
            <a:spLocks noGrp="1"/>
          </p:cNvSpPr>
          <p:nvPr/>
        </p:nvSpPr>
        <p:spPr>
          <a:xfrm>
            <a:off x="6600731" y="30480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856390-0F7B-4879-BC46-3B41B7DD6B71}"/>
              </a:ext>
            </a:extLst>
          </p:cNvPr>
          <p:cNvSpPr>
            <a:spLocks noGrp="1"/>
          </p:cNvSpPr>
          <p:nvPr/>
        </p:nvSpPr>
        <p:spPr>
          <a:xfrm>
            <a:off x="6648356" y="30765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优先选择当前能出的较小合法牌，逻辑简单，适合新手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DDE200-023D-4DF9-9790-B29EDD932AC6}"/>
              </a:ext>
            </a:extLst>
          </p:cNvPr>
          <p:cNvSpPr>
            <a:spLocks noGrp="1"/>
          </p:cNvSpPr>
          <p:nvPr/>
        </p:nvSpPr>
        <p:spPr>
          <a:xfrm>
            <a:off x="685800" y="3740150"/>
            <a:ext cx="1161861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2B3D72-1DC9-45B1-AB17-06A42154FA2F}"/>
              </a:ext>
            </a:extLst>
          </p:cNvPr>
          <p:cNvSpPr>
            <a:spLocks noGrp="1"/>
          </p:cNvSpPr>
          <p:nvPr/>
        </p:nvSpPr>
        <p:spPr>
          <a:xfrm>
            <a:off x="733425" y="376872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普通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7EF00E7-B526-4C09-A60D-D1C7291B4F36}"/>
              </a:ext>
            </a:extLst>
          </p:cNvPr>
          <p:cNvSpPr>
            <a:spLocks noGrp="1"/>
          </p:cNvSpPr>
          <p:nvPr/>
        </p:nvSpPr>
        <p:spPr>
          <a:xfrm>
            <a:off x="1847661" y="3740150"/>
            <a:ext cx="4753069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56B596-5490-4D9D-90B2-3E06C359C89B}"/>
              </a:ext>
            </a:extLst>
          </p:cNvPr>
          <p:cNvSpPr>
            <a:spLocks noGrp="1"/>
          </p:cNvSpPr>
          <p:nvPr/>
        </p:nvSpPr>
        <p:spPr>
          <a:xfrm>
            <a:off x="1895286" y="376872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HeuristicAiStrategy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2EF9DA-6C7D-48EC-A520-771CFE65DF72}"/>
              </a:ext>
            </a:extLst>
          </p:cNvPr>
          <p:cNvSpPr>
            <a:spLocks noGrp="1"/>
          </p:cNvSpPr>
          <p:nvPr/>
        </p:nvSpPr>
        <p:spPr>
          <a:xfrm>
            <a:off x="6600731" y="3740150"/>
            <a:ext cx="4753069" cy="6921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FF6E5D-DDB8-46AE-8A00-66EBAED7B997}"/>
              </a:ext>
            </a:extLst>
          </p:cNvPr>
          <p:cNvSpPr>
            <a:spLocks noGrp="1"/>
          </p:cNvSpPr>
          <p:nvPr/>
        </p:nvSpPr>
        <p:spPr>
          <a:xfrm>
            <a:off x="6648356" y="376872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根据牌型价值、手牌保留和局面进行启发式选择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DEB24A-C7C4-4FEE-ACE2-468A4A6E78E2}"/>
              </a:ext>
            </a:extLst>
          </p:cNvPr>
          <p:cNvSpPr>
            <a:spLocks noGrp="1"/>
          </p:cNvSpPr>
          <p:nvPr/>
        </p:nvSpPr>
        <p:spPr>
          <a:xfrm>
            <a:off x="685800" y="4432300"/>
            <a:ext cx="1161861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E8C829-31EF-4DF1-8955-D8B85F67430F}"/>
              </a:ext>
            </a:extLst>
          </p:cNvPr>
          <p:cNvSpPr>
            <a:spLocks noGrp="1"/>
          </p:cNvSpPr>
          <p:nvPr/>
        </p:nvSpPr>
        <p:spPr>
          <a:xfrm>
            <a:off x="733425" y="4460875"/>
            <a:ext cx="1066611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困难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CB1220-FB29-41C9-A18B-6791A99A1B71}"/>
              </a:ext>
            </a:extLst>
          </p:cNvPr>
          <p:cNvSpPr>
            <a:spLocks noGrp="1"/>
          </p:cNvSpPr>
          <p:nvPr/>
        </p:nvSpPr>
        <p:spPr>
          <a:xfrm>
            <a:off x="1847661" y="44323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E16F731-688A-4766-901A-160D06877769}"/>
              </a:ext>
            </a:extLst>
          </p:cNvPr>
          <p:cNvSpPr>
            <a:spLocks noGrp="1"/>
          </p:cNvSpPr>
          <p:nvPr/>
        </p:nvSpPr>
        <p:spPr>
          <a:xfrm>
            <a:off x="1895286" y="44608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MonteCarloRolloutAiStrategy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588AE1-EB1B-4874-BC71-65E9BC42408A}"/>
              </a:ext>
            </a:extLst>
          </p:cNvPr>
          <p:cNvSpPr>
            <a:spLocks noGrp="1"/>
          </p:cNvSpPr>
          <p:nvPr/>
        </p:nvSpPr>
        <p:spPr>
          <a:xfrm>
            <a:off x="6600731" y="4432300"/>
            <a:ext cx="4753069" cy="692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81C242-E606-4F30-A6C5-9FD97F7EC905}"/>
              </a:ext>
            </a:extLst>
          </p:cNvPr>
          <p:cNvSpPr>
            <a:spLocks noGrp="1"/>
          </p:cNvSpPr>
          <p:nvPr/>
        </p:nvSpPr>
        <p:spPr>
          <a:xfrm>
            <a:off x="6648356" y="4460875"/>
            <a:ext cx="4657819" cy="6350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在合法动作中进行模拟评估，选择预期更优的出牌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675220-22B6-4344-9E0E-B78C65B79BB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D2230B6-F548-7449-8E78-602DCDA0E9F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04A0A9-E738-A749-A40C-B67DA0DA35E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1F0166-523B-4631-80B4-86460E2E412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GameController 不直接依赖具体 AI 类，而是由 AI 控制逻辑根据难度选择对应 AiStrategy。这种策略模式使 AI 可以替换或扩展，例如后续可以加入更强的搜索算法或机器学习模型，而不需要修改牌局控制器的主体流程。</a:t>
            </a:r>
          </a:p>
        </p:txBody>
      </p:sp>
    </p:spTree>
    <p:extLst>
      <p:ext uri="{BB962C8B-B14F-4D97-AF65-F5344CB8AC3E}">
        <p14:creationId xmlns:p14="http://schemas.microsoft.com/office/powerpoint/2010/main" val="4283836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C80CCAE3-3E06-4533-A100-F2E3D9A5471F}"/>
              </a:ext>
            </a:extLst>
          </p:cNvPr>
          <p:cNvSpPr>
            <a:spLocks noGrp="1"/>
          </p:cNvSpPr>
          <p:nvPr/>
        </p:nvSpPr>
        <p:spPr>
          <a:xfrm>
            <a:off x="0" y="335666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DF0AC2-BCB8-45CA-AA32-FF66B2E67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2EB11-1766-4952-843D-45191C5EEC7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FFAB8-6E2F-4271-B061-980A9D29A610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025CD1-F4D3-4127-A66D-D4A2D9A10F6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81CE85-5430-4ECC-BD68-2198B33A865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4C83C-6250-43CB-BD84-33612A93875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AI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算法模块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FAAB56-844A-4393-80F3-679904EBD3B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overed AI Intro"/>
          <p:cNvSpPr/>
          <p:nvPr/>
        </p:nvSpPr>
        <p:spPr>
          <a:xfrm>
            <a:off x="685800" y="1905000"/>
            <a:ext cx="10668000" cy="4826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1388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三种 AI 的参考来源和实现方式：</a:t>
            </a:r>
          </a:p>
        </p:txBody>
      </p:sp>
      <p:sp>
        <p:nvSpPr>
          <p:cNvPr id="63" name="Recovered AI Header 1"/>
          <p:cNvSpPr/>
          <p:nvPr/>
        </p:nvSpPr>
        <p:spPr>
          <a:xfrm>
            <a:off x="685800" y="2590800"/>
            <a:ext cx="11430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64" name="Recovered AI Header 2"/>
          <p:cNvSpPr/>
          <p:nvPr/>
        </p:nvSpPr>
        <p:spPr>
          <a:xfrm>
            <a:off x="1828800" y="2590800"/>
            <a:ext cx="49022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参考思路</a:t>
            </a:r>
          </a:p>
        </p:txBody>
      </p:sp>
      <p:sp>
        <p:nvSpPr>
          <p:cNvPr id="65" name="Recovered AI Header 3"/>
          <p:cNvSpPr/>
          <p:nvPr/>
        </p:nvSpPr>
        <p:spPr>
          <a:xfrm>
            <a:off x="6731000" y="2590800"/>
            <a:ext cx="4622800" cy="406400"/>
          </a:xfrm>
          <a:prstGeom prst="rect">
            <a:avLst/>
          </a:prstGeom>
          <a:solidFill>
            <a:srgbClr val="0F4636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项目内实现方式</a:t>
            </a:r>
          </a:p>
        </p:txBody>
      </p:sp>
      <p:sp>
        <p:nvSpPr>
          <p:cNvPr id="66" name="Recovered AI Row 1 Col 1"/>
          <p:cNvSpPr/>
          <p:nvPr/>
        </p:nvSpPr>
        <p:spPr>
          <a:xfrm>
            <a:off x="685800" y="2997200"/>
            <a:ext cx="11430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简单</a:t>
            </a:r>
          </a:p>
        </p:txBody>
      </p:sp>
      <p:sp>
        <p:nvSpPr>
          <p:cNvPr id="67" name="Recovered AI Row 1 Col 2"/>
          <p:cNvSpPr/>
          <p:nvPr/>
        </p:nvSpPr>
        <p:spPr>
          <a:xfrm>
            <a:off x="1828800" y="2997200"/>
            <a:ext cx="49022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传统规则启发式和 RLCard/OpenSpiel 中“合法动作集合”概念</a:t>
            </a:r>
          </a:p>
        </p:txBody>
      </p:sp>
      <p:sp>
        <p:nvSpPr>
          <p:cNvPr id="68" name="Recovered AI Row 1 Col 3"/>
          <p:cNvSpPr/>
          <p:nvPr/>
        </p:nvSpPr>
        <p:spPr>
          <a:xfrm>
            <a:off x="6731000" y="2997200"/>
            <a:ext cx="46228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枚举 GameController.legalPlays()，选择最小可行牌；无法出牌则不出</a:t>
            </a:r>
          </a:p>
        </p:txBody>
      </p:sp>
      <p:sp>
        <p:nvSpPr>
          <p:cNvPr id="69" name="Recovered AI Row 2 Col 1"/>
          <p:cNvSpPr/>
          <p:nvPr/>
        </p:nvSpPr>
        <p:spPr>
          <a:xfrm>
            <a:off x="685800" y="3987800"/>
            <a:ext cx="11430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普通</a:t>
            </a:r>
          </a:p>
        </p:txBody>
      </p:sp>
      <p:sp>
        <p:nvSpPr>
          <p:cNvPr id="70" name="Recovered AI Row 2 Col 2"/>
          <p:cNvSpPr/>
          <p:nvPr/>
        </p:nvSpPr>
        <p:spPr>
          <a:xfrm>
            <a:off x="1828800" y="3987800"/>
            <a:ext cx="49022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扑克游戏常见保牌、少拆组合、优先降低手牌数量的启发式</a:t>
            </a:r>
          </a:p>
        </p:txBody>
      </p:sp>
      <p:sp>
        <p:nvSpPr>
          <p:cNvPr id="71" name="Recovered AI Row 2 Col 3"/>
          <p:cNvSpPr/>
          <p:nvPr/>
        </p:nvSpPr>
        <p:spPr>
          <a:xfrm>
            <a:off x="6731000" y="3987800"/>
            <a:ext cx="4622800" cy="990600"/>
          </a:xfrm>
          <a:prstGeom prst="rect">
            <a:avLst/>
          </a:prstGeom>
          <a:solidFill>
            <a:srgbClr val="F4F8F2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对候选动作评分，考虑牌型强度、拆牌损失、剩余手牌数量和是否能释放小牌</a:t>
            </a:r>
          </a:p>
        </p:txBody>
      </p:sp>
      <p:sp>
        <p:nvSpPr>
          <p:cNvPr id="72" name="Recovered AI Row 3 Col 1"/>
          <p:cNvSpPr/>
          <p:nvPr/>
        </p:nvSpPr>
        <p:spPr>
          <a:xfrm>
            <a:off x="685800" y="4978400"/>
            <a:ext cx="11430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困难</a:t>
            </a:r>
          </a:p>
        </p:txBody>
      </p:sp>
      <p:sp>
        <p:nvSpPr>
          <p:cNvPr id="73" name="Recovered AI Row 3 Col 2"/>
          <p:cNvSpPr/>
          <p:nvPr/>
        </p:nvSpPr>
        <p:spPr>
          <a:xfrm>
            <a:off x="1828800" y="4978400"/>
            <a:ext cx="49022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ISMCTS 的有限信息模拟思想、OpenSpiel 的状态/动作解耦、DouZero 对出牌游戏候选动作评估的方向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EAF1A5-0185-7D41-852F-438398B97701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A30F9D-BAE6-8841-BA2A-362E3D6F8C92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FD41-3748-C241-85F9-AF66053F69D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4" name="Recovered AI Row 3 Col 3"/>
          <p:cNvSpPr/>
          <p:nvPr/>
        </p:nvSpPr>
        <p:spPr>
          <a:xfrm>
            <a:off x="6731000" y="4978400"/>
            <a:ext cx="462280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D0"/>
            </a:solidFill>
          </a:ln>
        </p:spPr>
        <p:txBody>
          <a:bodyPr wrap="square" lIns="45720" tIns="22860" rIns="45720" bIns="22860" anchor="ctr">
            <a:normAutofit/>
          </a:bodyPr>
          <a:lstStyle/>
          <a:p>
            <a:pPr algn="l">
              <a:buNone/>
              <a:def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不加载神经网络模型，而是在 Kotlin 中对合法候选做有限 rollout 和局面评分，优先考虑一手走完、对手压力、保留强牌和减少结构损失</a:t>
            </a:r>
          </a:p>
        </p:txBody>
      </p:sp>
    </p:spTree>
    <p:extLst>
      <p:ext uri="{BB962C8B-B14F-4D97-AF65-F5344CB8AC3E}">
        <p14:creationId xmlns:p14="http://schemas.microsoft.com/office/powerpoint/2010/main" val="1998968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6FB8D19-C141-4994-AF65-A7338C67E6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CC2A23-C45D-43D7-814A-B0A8F4F72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1AF7C2-A03F-4652-AE4D-FCDB4406C9F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5E99AE-3B7D-4A88-A19A-951B3D9B5DB8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07F592-C7FF-4C6B-B337-93BCE19C733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C67BB3-BC1A-4BD3-9226-EDAA9E59A40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9356D-3308-4DD2-AC2F-1BCF1CB883D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AI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算法模块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CEB802-6CAA-442A-9E8A-F799E344825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4A9633-DF0C-4B43-81DD-584B9A548E02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2662E5-A348-E948-A4E5-2219F081410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93C443-F867-E846-B471-2E74ADB0B72E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049E59-1FC8-44C6-9BA8-B051A071938C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RLCard：面向纸牌游戏的强化学习工具包，支持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Blackjack、Leduc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Hold'em、Texas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Hold'em、UNO、Dou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Dizhu、Mahjong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等环境。项目参考其“游戏环境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+ Agent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策略接口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合法动作集合”的组织方式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GitHub：&lt;https://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github.com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datamllab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rlcard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&gt;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论文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arxiv.org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/abs/1910.04376&gt;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OpenSpiel：Google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DeepMind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开源的多智能体博弈研究框架，支持完美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不完美信息、回合制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同步行动、搜索和强化学习算法。项目参考其“游戏状态、合法动作、策略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/Agent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解耦”的通用博弈建模方式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GitHub：&lt;https://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github.com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/google-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deepmind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open_spiel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&gt;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ISMCTS：Cowling、Powley、Whitehouse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的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Information Set Monte Carlo Tree Search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论文，核心思想是把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Monte Carlo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搜索用于隐藏信息和不确定性游戏。项目困难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没有完整实现树搜索，而是参考“对候选动作进行有限随机模拟和期望评分”的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rollout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思路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论文页面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pure.york.ac.uk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/portal/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en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/publications/information-set-monte-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carlo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-tree-search/&gt;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DouZero：快手开源的斗地主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AI，使用自博弈深度强化学习解决斗地主。项目没有使用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DouZero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的神经网络和训练模型，只参考其对斗地主类出牌游戏中动作候选、残局压力和多玩家不完美信息问题的处理方向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GitHub：&lt;https://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github.com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/kwai/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DouZero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&gt;</a:t>
            </a: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论文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：&lt;https://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arxiv.org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/abs/2106.06135&gt;</a:t>
            </a:r>
          </a:p>
          <a:p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0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项目没有把这些开源项目的模型或代码直接接入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Android。原因是锄大地没有现成可直接使用的移动端训练模型，RLCard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OpenSpiel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DouZero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更偏研究或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Python/C++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生态；直接接入会带来模型体积、推理框架、训练数据和性能成本。当前实现属于“规则启发式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有限模拟”的博弈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AI，是真正能自主决策的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AI </a:t>
            </a:r>
            <a:r>
              <a:rPr sz="1013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策略模块，但不是深度学习大模型</a:t>
            </a:r>
            <a:r>
              <a:rPr sz="1013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013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048599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EDB5E6D-1B39-4CC7-B4A0-BAD6624D9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61A82D-74C5-4AB6-916E-0E92632C33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BA4A2-218C-4013-ACD6-13D5FEFB9F7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876719-B1DD-4C2D-B038-747D7A4FCF16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BB9245-31F2-4846-A9BD-1817CD3926D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964A5-FA41-41BD-B7A0-D88ABCC6251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916D09-4E5F-4589-BFE3-0772C3558227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状态建模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9B6E6F-2B3E-4F65-9BDB-A46664CA1E41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30818E-F473-EB40-B8E0-C16937B79E8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BF947B-3E4D-954A-A1F1-C08E39130D67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ED3620-312C-E14B-A669-DF36EF0F039E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E4C7AA-0A0B-4F75-8A95-3A2783BB4930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项目通过状态图描述从启动到结算的主要状态转换：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Splash：开屏页，玩家点击开始游戏后进入大厅。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Lobby：大厅，进入人机、蓝牙、规则、设置、教程或玩家中心。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ReadyToStart：人机对局预备牌桌，玩家确认开始。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Dealing：发牌动画阶段。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Playing：正式对局阶段，玩家和 AI 按回合出牌。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Paused：设置、确认或临时暂停状态。</a:t>
            </a: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Result：结算页，展示胜负、金币、经验、升级和再来一局。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状态建模帮助 UI 避免多个布尔值交叉控制，页面切换和牌局阶段都由明确状态驱动。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状态图不仅描述页面，还描述关键业务保护：</a:t>
            </a:r>
          </a:p>
        </p:txBody>
      </p:sp>
    </p:spTree>
    <p:extLst>
      <p:ext uri="{BB962C8B-B14F-4D97-AF65-F5344CB8AC3E}">
        <p14:creationId xmlns:p14="http://schemas.microsoft.com/office/powerpoint/2010/main" val="923918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CF179B58-7551-4E42-A996-D30ABB3BA9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6DF10-C987-4B0F-ABA5-1C5183F7BF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F9CFAC-0B06-49F7-A2D1-F53AD4651D2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577083-2A2A-43EC-A04D-9FCFED47202A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EDF2D6-CD62-4EA1-B310-1FB3AE7F5AF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203B9C-43F1-490C-8679-F8130D3D77D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8EFF0A-F02B-43BC-AE10-053D29E6BFEA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状态建模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F1864C-A9BE-41BE-9258-6ABE45CB042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39ACA0-7CC7-4587-A2D5-8C8C757E6D79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A7932F-BEAD-4497-8B0F-A82E813BF77A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6548C-2AFC-4F7B-A115-F1936451F2EB}"/>
              </a:ext>
            </a:extLst>
          </p:cNvPr>
          <p:cNvSpPr>
            <a:spLocks noGrp="1"/>
          </p:cNvSpPr>
          <p:nvPr/>
        </p:nvSpPr>
        <p:spPr>
          <a:xfrm>
            <a:off x="42037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8D9162-5960-4AA3-9BFD-CDF2FA64322A}"/>
              </a:ext>
            </a:extLst>
          </p:cNvPr>
          <p:cNvSpPr>
            <a:spLocks noGrp="1"/>
          </p:cNvSpPr>
          <p:nvPr/>
        </p:nvSpPr>
        <p:spPr>
          <a:xfrm>
            <a:off x="42513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400515-FDE3-4E99-9B6D-2C85A68506BF}"/>
              </a:ext>
            </a:extLst>
          </p:cNvPr>
          <p:cNvSpPr>
            <a:spLocks noGrp="1"/>
          </p:cNvSpPr>
          <p:nvPr/>
        </p:nvSpPr>
        <p:spPr>
          <a:xfrm>
            <a:off x="7950200" y="1905000"/>
            <a:ext cx="374650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DC1FEE-5F76-4DC7-9CE4-0C2DBD440D74}"/>
              </a:ext>
            </a:extLst>
          </p:cNvPr>
          <p:cNvSpPr>
            <a:spLocks noGrp="1"/>
          </p:cNvSpPr>
          <p:nvPr/>
        </p:nvSpPr>
        <p:spPr>
          <a:xfrm>
            <a:off x="7997825" y="1943100"/>
            <a:ext cx="36512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禁用/允许内容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126761-89B0-437B-AE2E-FE01A428EC11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3BD030-CB7E-43B8-B774-3AA58EEEFBCC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ReadyToStart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62DE02-9979-418A-9363-A159BE259FF9}"/>
              </a:ext>
            </a:extLst>
          </p:cNvPr>
          <p:cNvSpPr>
            <a:spLocks noGrp="1"/>
          </p:cNvSpPr>
          <p:nvPr/>
        </p:nvSpPr>
        <p:spPr>
          <a:xfrm>
            <a:off x="42037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CFE557-C641-4DC3-A0C2-5479C6E911A8}"/>
              </a:ext>
            </a:extLst>
          </p:cNvPr>
          <p:cNvSpPr>
            <a:spLocks noGrp="1"/>
          </p:cNvSpPr>
          <p:nvPr/>
        </p:nvSpPr>
        <p:spPr>
          <a:xfrm>
            <a:off x="42513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人机选择难度后进入牌桌预备页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A6B0FE-D8C4-4245-88AE-7717C0BFF391}"/>
              </a:ext>
            </a:extLst>
          </p:cNvPr>
          <p:cNvSpPr>
            <a:spLocks noGrp="1"/>
          </p:cNvSpPr>
          <p:nvPr/>
        </p:nvSpPr>
        <p:spPr>
          <a:xfrm>
            <a:off x="7950200" y="2305050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2781DF-A169-4330-9FA1-B08B29D7A051}"/>
              </a:ext>
            </a:extLst>
          </p:cNvPr>
          <p:cNvSpPr>
            <a:spLocks noGrp="1"/>
          </p:cNvSpPr>
          <p:nvPr/>
        </p:nvSpPr>
        <p:spPr>
          <a:xfrm>
            <a:off x="7997825" y="2333625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不显示手牌，不启动倒计时，不触发 AI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63ADFD-6044-45EC-81FC-49FB586B775E}"/>
              </a:ext>
            </a:extLst>
          </p:cNvPr>
          <p:cNvSpPr>
            <a:spLocks noGrp="1"/>
          </p:cNvSpPr>
          <p:nvPr/>
        </p:nvSpPr>
        <p:spPr>
          <a:xfrm>
            <a:off x="4572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58C306-9F66-4AFE-81BC-C33B19EC0B44}"/>
              </a:ext>
            </a:extLst>
          </p:cNvPr>
          <p:cNvSpPr>
            <a:spLocks noGrp="1"/>
          </p:cNvSpPr>
          <p:nvPr/>
        </p:nvSpPr>
        <p:spPr>
          <a:xfrm>
            <a:off x="5048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Dealing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AB6C07-54CF-4FE7-B867-4579993A8746}"/>
              </a:ext>
            </a:extLst>
          </p:cNvPr>
          <p:cNvSpPr>
            <a:spLocks noGrp="1"/>
          </p:cNvSpPr>
          <p:nvPr/>
        </p:nvSpPr>
        <p:spPr>
          <a:xfrm>
            <a:off x="42037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30BA15-FC27-42F0-9E77-228759E9814A}"/>
              </a:ext>
            </a:extLst>
          </p:cNvPr>
          <p:cNvSpPr>
            <a:spLocks noGrp="1"/>
          </p:cNvSpPr>
          <p:nvPr/>
        </p:nvSpPr>
        <p:spPr>
          <a:xfrm>
            <a:off x="42513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点击开始游戏后播放发牌动画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7A331F-B229-4DAB-8125-D86251E7AD70}"/>
              </a:ext>
            </a:extLst>
          </p:cNvPr>
          <p:cNvSpPr>
            <a:spLocks noGrp="1"/>
          </p:cNvSpPr>
          <p:nvPr/>
        </p:nvSpPr>
        <p:spPr>
          <a:xfrm>
            <a:off x="7950200" y="2824843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5A6F54-8BB0-416A-B29F-2AED675DBC05}"/>
              </a:ext>
            </a:extLst>
          </p:cNvPr>
          <p:cNvSpPr>
            <a:spLocks noGrp="1"/>
          </p:cNvSpPr>
          <p:nvPr/>
        </p:nvSpPr>
        <p:spPr>
          <a:xfrm>
            <a:off x="7997825" y="2853418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禁用出牌/不出/提示/重选，倒计时暂停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9671D0-0DEC-460A-9AC8-28A64D6A8A09}"/>
              </a:ext>
            </a:extLst>
          </p:cNvPr>
          <p:cNvSpPr>
            <a:spLocks noGrp="1"/>
          </p:cNvSpPr>
          <p:nvPr/>
        </p:nvSpPr>
        <p:spPr>
          <a:xfrm>
            <a:off x="4572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F99C3D-FC30-4CD7-B5EE-0A422A2C9FB9}"/>
              </a:ext>
            </a:extLst>
          </p:cNvPr>
          <p:cNvSpPr>
            <a:spLocks noGrp="1"/>
          </p:cNvSpPr>
          <p:nvPr/>
        </p:nvSpPr>
        <p:spPr>
          <a:xfrm>
            <a:off x="5048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Playing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EFAB18-2C0A-42F5-B5F1-BB85C030EC71}"/>
              </a:ext>
            </a:extLst>
          </p:cNvPr>
          <p:cNvSpPr>
            <a:spLocks noGrp="1"/>
          </p:cNvSpPr>
          <p:nvPr/>
        </p:nvSpPr>
        <p:spPr>
          <a:xfrm>
            <a:off x="42037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42403F7-3EBE-45DB-84CB-D0E49C5E3B52}"/>
              </a:ext>
            </a:extLst>
          </p:cNvPr>
          <p:cNvSpPr>
            <a:spLocks noGrp="1"/>
          </p:cNvSpPr>
          <p:nvPr/>
        </p:nvSpPr>
        <p:spPr>
          <a:xfrm>
            <a:off x="42513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发牌动画完成后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EEE1A9-B0BF-44B2-906F-172DA281D25E}"/>
              </a:ext>
            </a:extLst>
          </p:cNvPr>
          <p:cNvSpPr>
            <a:spLocks noGrp="1"/>
          </p:cNvSpPr>
          <p:nvPr/>
        </p:nvSpPr>
        <p:spPr>
          <a:xfrm>
            <a:off x="7950200" y="3344636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EB3ED7-F84C-430E-A862-ACA5F3B1B614}"/>
              </a:ext>
            </a:extLst>
          </p:cNvPr>
          <p:cNvSpPr>
            <a:spLocks noGrp="1"/>
          </p:cNvSpPr>
          <p:nvPr/>
        </p:nvSpPr>
        <p:spPr>
          <a:xfrm>
            <a:off x="7997825" y="3373211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允许当前玩家按规则出牌，AI 可以行动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71A184-7349-4DC8-AAAB-8BCEF15A0119}"/>
              </a:ext>
            </a:extLst>
          </p:cNvPr>
          <p:cNvSpPr>
            <a:spLocks noGrp="1"/>
          </p:cNvSpPr>
          <p:nvPr/>
        </p:nvSpPr>
        <p:spPr>
          <a:xfrm>
            <a:off x="4572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90BEE8-489B-43AF-88D7-DAF78B18561F}"/>
              </a:ext>
            </a:extLst>
          </p:cNvPr>
          <p:cNvSpPr>
            <a:spLocks noGrp="1"/>
          </p:cNvSpPr>
          <p:nvPr/>
        </p:nvSpPr>
        <p:spPr>
          <a:xfrm>
            <a:off x="5048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Paused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FAD0B9-D276-4FA3-85AD-799D59127F7C}"/>
              </a:ext>
            </a:extLst>
          </p:cNvPr>
          <p:cNvSpPr>
            <a:spLocks noGrp="1"/>
          </p:cNvSpPr>
          <p:nvPr/>
        </p:nvSpPr>
        <p:spPr>
          <a:xfrm>
            <a:off x="42037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1303E-4CF7-4818-BB36-A014AFFAA2FD}"/>
              </a:ext>
            </a:extLst>
          </p:cNvPr>
          <p:cNvSpPr>
            <a:spLocks noGrp="1"/>
          </p:cNvSpPr>
          <p:nvPr/>
        </p:nvSpPr>
        <p:spPr>
          <a:xfrm>
            <a:off x="42513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设置菜单、弹窗确认、断线提示等情况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26CCB4-00E3-42B0-BC4B-F57AA3BABD03}"/>
              </a:ext>
            </a:extLst>
          </p:cNvPr>
          <p:cNvSpPr>
            <a:spLocks noGrp="1"/>
          </p:cNvSpPr>
          <p:nvPr/>
        </p:nvSpPr>
        <p:spPr>
          <a:xfrm>
            <a:off x="7950200" y="3864429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B4340CA-C3B7-45F7-A43D-A8F9FDDC5505}"/>
              </a:ext>
            </a:extLst>
          </p:cNvPr>
          <p:cNvSpPr>
            <a:spLocks noGrp="1"/>
          </p:cNvSpPr>
          <p:nvPr/>
        </p:nvSpPr>
        <p:spPr>
          <a:xfrm>
            <a:off x="7997825" y="3893004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暂停倒计时和 AI 自动行动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C8E1D4-E772-47B2-A7FA-C44AFE731A64}"/>
              </a:ext>
            </a:extLst>
          </p:cNvPr>
          <p:cNvSpPr>
            <a:spLocks noGrp="1"/>
          </p:cNvSpPr>
          <p:nvPr/>
        </p:nvSpPr>
        <p:spPr>
          <a:xfrm>
            <a:off x="4572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1B21992-2612-44C2-86C8-387400EB71A3}"/>
              </a:ext>
            </a:extLst>
          </p:cNvPr>
          <p:cNvSpPr>
            <a:spLocks noGrp="1"/>
          </p:cNvSpPr>
          <p:nvPr/>
        </p:nvSpPr>
        <p:spPr>
          <a:xfrm>
            <a:off x="5048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ClientTakeover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2D3385-9967-4972-B081-BB0BCA3DD5B0}"/>
              </a:ext>
            </a:extLst>
          </p:cNvPr>
          <p:cNvSpPr>
            <a:spLocks noGrp="1"/>
          </p:cNvSpPr>
          <p:nvPr/>
        </p:nvSpPr>
        <p:spPr>
          <a:xfrm>
            <a:off x="42037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8346FC-ED9D-45E7-BC08-8854DF3637C6}"/>
              </a:ext>
            </a:extLst>
          </p:cNvPr>
          <p:cNvSpPr>
            <a:spLocks noGrp="1"/>
          </p:cNvSpPr>
          <p:nvPr/>
        </p:nvSpPr>
        <p:spPr>
          <a:xfrm>
            <a:off x="42513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客户端断线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ED5AC8-B0BA-459F-B9FB-31982918AE46}"/>
              </a:ext>
            </a:extLst>
          </p:cNvPr>
          <p:cNvSpPr>
            <a:spLocks noGrp="1"/>
          </p:cNvSpPr>
          <p:nvPr/>
        </p:nvSpPr>
        <p:spPr>
          <a:xfrm>
            <a:off x="7950200" y="4384221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6976F28-3AD1-4317-81E4-3A7D6782395E}"/>
              </a:ext>
            </a:extLst>
          </p:cNvPr>
          <p:cNvSpPr>
            <a:spLocks noGrp="1"/>
          </p:cNvSpPr>
          <p:nvPr/>
        </p:nvSpPr>
        <p:spPr>
          <a:xfrm>
            <a:off x="7997825" y="4412796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 AI 托管断线座位并广播快照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4290F4-06D4-409B-9B3B-29A4395BCEA5}"/>
              </a:ext>
            </a:extLst>
          </p:cNvPr>
          <p:cNvSpPr>
            <a:spLocks noGrp="1"/>
          </p:cNvSpPr>
          <p:nvPr/>
        </p:nvSpPr>
        <p:spPr>
          <a:xfrm>
            <a:off x="4572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D0C698-FC65-46F7-8F73-EA3D6F8BBD5F}"/>
              </a:ext>
            </a:extLst>
          </p:cNvPr>
          <p:cNvSpPr>
            <a:spLocks noGrp="1"/>
          </p:cNvSpPr>
          <p:nvPr/>
        </p:nvSpPr>
        <p:spPr>
          <a:xfrm>
            <a:off x="5048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HostDisconnected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40A345-194C-4C38-AC27-376E1385E35D}"/>
              </a:ext>
            </a:extLst>
          </p:cNvPr>
          <p:cNvSpPr>
            <a:spLocks noGrp="1"/>
          </p:cNvSpPr>
          <p:nvPr/>
        </p:nvSpPr>
        <p:spPr>
          <a:xfrm>
            <a:off x="42037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6C89D76-4CA0-40A3-BE46-15EE216D78E5}"/>
              </a:ext>
            </a:extLst>
          </p:cNvPr>
          <p:cNvSpPr>
            <a:spLocks noGrp="1"/>
          </p:cNvSpPr>
          <p:nvPr/>
        </p:nvSpPr>
        <p:spPr>
          <a:xfrm>
            <a:off x="42513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房主断线或连接丢失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EB6CE4C-57F4-4722-8EEC-B69A91C1743A}"/>
              </a:ext>
            </a:extLst>
          </p:cNvPr>
          <p:cNvSpPr>
            <a:spLocks noGrp="1"/>
          </p:cNvSpPr>
          <p:nvPr/>
        </p:nvSpPr>
        <p:spPr>
          <a:xfrm>
            <a:off x="7950200" y="4904014"/>
            <a:ext cx="3746500" cy="51979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986D6B-9243-4519-9254-B125F02B2169}"/>
              </a:ext>
            </a:extLst>
          </p:cNvPr>
          <p:cNvSpPr>
            <a:spLocks noGrp="1"/>
          </p:cNvSpPr>
          <p:nvPr/>
        </p:nvSpPr>
        <p:spPr>
          <a:xfrm>
            <a:off x="7997825" y="4932589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弹窗提示并退出当前房间，要求重新创建或重新加入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017B1F-AABA-4AFC-9FDE-CF68AD10858A}"/>
              </a:ext>
            </a:extLst>
          </p:cNvPr>
          <p:cNvSpPr>
            <a:spLocks noGrp="1"/>
          </p:cNvSpPr>
          <p:nvPr/>
        </p:nvSpPr>
        <p:spPr>
          <a:xfrm>
            <a:off x="4572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DABA503-FF4C-4F15-8DD0-53204B505EBA}"/>
              </a:ext>
            </a:extLst>
          </p:cNvPr>
          <p:cNvSpPr>
            <a:spLocks noGrp="1"/>
          </p:cNvSpPr>
          <p:nvPr/>
        </p:nvSpPr>
        <p:spPr>
          <a:xfrm>
            <a:off x="5048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Result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E704DFB-EA78-4A64-95F6-35478CB5FF0A}"/>
              </a:ext>
            </a:extLst>
          </p:cNvPr>
          <p:cNvSpPr>
            <a:spLocks noGrp="1"/>
          </p:cNvSpPr>
          <p:nvPr/>
        </p:nvSpPr>
        <p:spPr>
          <a:xfrm>
            <a:off x="42037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9B999D2-BC4B-47C6-A296-CCF8F0B47835}"/>
              </a:ext>
            </a:extLst>
          </p:cNvPr>
          <p:cNvSpPr>
            <a:spLocks noGrp="1"/>
          </p:cNvSpPr>
          <p:nvPr/>
        </p:nvSpPr>
        <p:spPr>
          <a:xfrm>
            <a:off x="42513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玩家手牌清空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9A21887-70E6-43C6-B5DE-37AD1E4E4E4F}"/>
              </a:ext>
            </a:extLst>
          </p:cNvPr>
          <p:cNvSpPr>
            <a:spLocks noGrp="1"/>
          </p:cNvSpPr>
          <p:nvPr/>
        </p:nvSpPr>
        <p:spPr>
          <a:xfrm>
            <a:off x="7950200" y="5423807"/>
            <a:ext cx="3746500" cy="51979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801B77B-1A49-B248-AD4B-6E08146EBA87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27BF8C-C1BB-1C4C-966E-381F34CB661C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C33EFA0-FE09-C240-B71F-866C85CC2D6E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9CB94F0-71F2-4B50-86D3-E88B522C4C9E}"/>
              </a:ext>
            </a:extLst>
          </p:cNvPr>
          <p:cNvSpPr>
            <a:spLocks noGrp="1"/>
          </p:cNvSpPr>
          <p:nvPr/>
        </p:nvSpPr>
        <p:spPr>
          <a:xfrm>
            <a:off x="7997825" y="5452382"/>
            <a:ext cx="3651250" cy="46264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展示结算、奖励、成就和再来一局</a:t>
            </a:r>
          </a:p>
        </p:txBody>
      </p:sp>
    </p:spTree>
    <p:extLst>
      <p:ext uri="{BB962C8B-B14F-4D97-AF65-F5344CB8AC3E}">
        <p14:creationId xmlns:p14="http://schemas.microsoft.com/office/powerpoint/2010/main" val="484946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2D4F4-C948-3CA8-8CA6-76276E35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5D1FB08-489C-C100-19B6-93E4A4AB03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84AEE1-E1E0-D91C-E9FF-AF1E960D9F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D22DDE-6E0D-56B1-195D-D18769F95449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150DF4-8B7E-16E1-52CE-5D33EE346E2B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34D8A8-A821-B05B-FDAA-21D30B2D2B0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67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1D092F-A1B2-083F-70A9-6F9D589EE98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4445CB-DCCF-8EA8-B80E-922192B8DCF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状态建模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1A36BB-7181-EFBD-2031-E3ACEE8D55E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A0DA5-7D97-D9EC-92E6-A1C523B200FD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endParaRPr sz="1388" b="0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6C8B4F-1997-E848-BB29-3723A1E51DAD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BD6BEF-D5FC-004D-B88C-D1BDF007AC92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EAC380-2C2C-3E46-98B6-93B019E25B3D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889517D7-B730-FEEE-45A1-60D7428B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89" y="1675767"/>
            <a:ext cx="8333321" cy="496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18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557B2DF-6F23-48A2-8A1B-692A1B3014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6961B-A877-481A-892C-071197C85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065DFB-C912-4636-B7B8-86333926B825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B8C75-8AF8-4F96-807F-3824311C3947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9DB67-12B8-4850-8FAE-EB6B47346A1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63EA3D-7726-44AF-99A9-9A4916FDC39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E729E6-8D81-42FB-85E7-C0711AF4CB6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.4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玩家成长系统完善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39AED1-8A8C-4511-BDFF-C44350BD41E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合并说明"/>
          <p:cNvSpPr/>
          <p:nvPr/>
        </p:nvSpPr>
        <p:spPr>
          <a:xfrm>
            <a:off x="685800" y="1879600"/>
            <a:ext cx="10820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20">
                <a:solidFill>
                  <a:srgbClr val="17201B"/>
                </a:solidFill>
              </a:rPr>
              <a:t>• 玩家成长系统在本阶段完成，让大厅顶部头像、等级、金币、战绩入口从“静态展示”变成真实可用功能；统一由 ProfileController 处理结算奖励、经验、金币消耗与档案存储。</a:t>
            </a:r>
          </a:p>
        </p:txBody>
      </p:sp>
      <p:sp>
        <p:nvSpPr>
          <p:cNvPr id="12" name="合并说明标题"/>
          <p:cNvSpPr/>
          <p:nvPr/>
        </p:nvSpPr>
        <p:spPr>
          <a:xfrm>
            <a:off x="685800" y="23368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50">
                <a:solidFill>
                  <a:srgbClr val="17201B"/>
                </a:solidFill>
              </a:rPr>
              <a:t>• 成长系统主要功能如下：</a:t>
            </a:r>
          </a:p>
        </p:txBody>
      </p:sp>
      <p:sp>
        <p:nvSpPr>
          <p:cNvPr id="13" name="merged_growth_table_0_0">
            <a:extLst>
              <a:ext uri="{FF2B5EF4-FFF2-40B4-BE49-F238E27FC236}">
                <a16:creationId xmlns:a16="http://schemas.microsoft.com/office/drawing/2014/main" id="{7D994E49-01E5-A047-9415-A84837AAB839}"/>
              </a:ext>
            </a:extLst>
          </p:cNvPr>
          <p:cNvSpPr/>
          <p:nvPr/>
        </p:nvSpPr>
        <p:spPr>
          <a:xfrm>
            <a:off x="457200" y="2616200"/>
            <a:ext cx="31242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830" b="1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14" name="merged_growth_table_0_1">
            <a:extLst>
              <a:ext uri="{FF2B5EF4-FFF2-40B4-BE49-F238E27FC236}">
                <a16:creationId xmlns:a16="http://schemas.microsoft.com/office/drawing/2014/main" id="{29EBAFF0-B163-4841-8CFD-46B7C6FAA138}"/>
              </a:ext>
            </a:extLst>
          </p:cNvPr>
          <p:cNvSpPr/>
          <p:nvPr/>
        </p:nvSpPr>
        <p:spPr>
          <a:xfrm>
            <a:off x="3581400" y="2616200"/>
            <a:ext cx="40386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830" b="1">
                <a:solidFill>
                  <a:srgbClr val="FFFFFF"/>
                </a:solidFill>
              </a:rPr>
              <a:t>代码</a:t>
            </a:r>
            <a:r>
              <a:rPr lang="en-US" altLang="zh-CN" sz="830" b="1">
                <a:solidFill>
                  <a:srgbClr val="FFFFFF"/>
                </a:solidFill>
              </a:rPr>
              <a:t>/</a:t>
            </a:r>
            <a:r>
              <a:rPr lang="zh-CN" altLang="en-US" sz="830" b="1">
                <a:solidFill>
                  <a:srgbClr val="FFFFFF"/>
                </a:solidFill>
              </a:rPr>
              <a:t>数据</a:t>
            </a:r>
          </a:p>
        </p:txBody>
      </p:sp>
      <p:sp>
        <p:nvSpPr>
          <p:cNvPr id="15" name="merged_growth_table_0_2">
            <a:extLst>
              <a:ext uri="{FF2B5EF4-FFF2-40B4-BE49-F238E27FC236}">
                <a16:creationId xmlns:a16="http://schemas.microsoft.com/office/drawing/2014/main" id="{C164B831-EA20-8845-86F0-2D1C807D359F}"/>
              </a:ext>
            </a:extLst>
          </p:cNvPr>
          <p:cNvSpPr/>
          <p:nvPr/>
        </p:nvSpPr>
        <p:spPr>
          <a:xfrm>
            <a:off x="7620000" y="2616200"/>
            <a:ext cx="4495800" cy="304800"/>
          </a:xfrm>
          <a:prstGeom prst="rect">
            <a:avLst/>
          </a:prstGeom>
          <a:solidFill>
            <a:srgbClr val="0C4636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830" b="1">
                <a:solidFill>
                  <a:srgbClr val="FFFFFF"/>
                </a:solidFill>
              </a:rPr>
              <a:t>实现说明</a:t>
            </a:r>
          </a:p>
        </p:txBody>
      </p:sp>
      <p:sp>
        <p:nvSpPr>
          <p:cNvPr id="16" name="merged_growth_table_1_0">
            <a:extLst>
              <a:ext uri="{FF2B5EF4-FFF2-40B4-BE49-F238E27FC236}">
                <a16:creationId xmlns:a16="http://schemas.microsoft.com/office/drawing/2014/main" id="{E25AA51F-0F7E-C448-AADA-E728BA47328C}"/>
              </a:ext>
            </a:extLst>
          </p:cNvPr>
          <p:cNvSpPr/>
          <p:nvPr/>
        </p:nvSpPr>
        <p:spPr>
          <a:xfrm>
            <a:off x="457200" y="292100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玩家档案</a:t>
            </a:r>
          </a:p>
        </p:txBody>
      </p:sp>
      <p:sp>
        <p:nvSpPr>
          <p:cNvPr id="17" name="merged_growth_table_1_1">
            <a:extLst>
              <a:ext uri="{FF2B5EF4-FFF2-40B4-BE49-F238E27FC236}">
                <a16:creationId xmlns:a16="http://schemas.microsoft.com/office/drawing/2014/main" id="{1BB4D894-97EE-374C-8AD2-C08154382649}"/>
              </a:ext>
            </a:extLst>
          </p:cNvPr>
          <p:cNvSpPr/>
          <p:nvPr/>
        </p:nvSpPr>
        <p:spPr>
          <a:xfrm>
            <a:off x="3581400" y="292100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PlayerProfile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18" name="merged_growth_table_1_2">
            <a:extLst>
              <a:ext uri="{FF2B5EF4-FFF2-40B4-BE49-F238E27FC236}">
                <a16:creationId xmlns:a16="http://schemas.microsoft.com/office/drawing/2014/main" id="{C2783275-468A-4F4F-BE6C-D3C84482306E}"/>
              </a:ext>
            </a:extLst>
          </p:cNvPr>
          <p:cNvSpPr/>
          <p:nvPr/>
        </p:nvSpPr>
        <p:spPr>
          <a:xfrm>
            <a:off x="7620000" y="292100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保存昵称、头像、金币、经验、等级、称号、统计和成就</a:t>
            </a:r>
          </a:p>
        </p:txBody>
      </p:sp>
      <p:sp>
        <p:nvSpPr>
          <p:cNvPr id="19" name="merged_growth_table_2_0">
            <a:extLst>
              <a:ext uri="{FF2B5EF4-FFF2-40B4-BE49-F238E27FC236}">
                <a16:creationId xmlns:a16="http://schemas.microsoft.com/office/drawing/2014/main" id="{0702A85C-3C5C-1F43-81D9-11B6EA0F0E2F}"/>
              </a:ext>
            </a:extLst>
          </p:cNvPr>
          <p:cNvSpPr/>
          <p:nvPr/>
        </p:nvSpPr>
        <p:spPr>
          <a:xfrm>
            <a:off x="457200" y="326644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经验等级</a:t>
            </a:r>
          </a:p>
        </p:txBody>
      </p:sp>
      <p:sp>
        <p:nvSpPr>
          <p:cNvPr id="20" name="merged_growth_table_2_1">
            <a:extLst>
              <a:ext uri="{FF2B5EF4-FFF2-40B4-BE49-F238E27FC236}">
                <a16:creationId xmlns:a16="http://schemas.microsoft.com/office/drawing/2014/main" id="{16E147A8-8EED-0A40-A6F1-90A068ABFCFE}"/>
              </a:ext>
            </a:extLst>
          </p:cNvPr>
          <p:cNvSpPr/>
          <p:nvPr/>
        </p:nvSpPr>
        <p:spPr>
          <a:xfrm>
            <a:off x="3581400" y="326644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ProfileController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21" name="merged_growth_table_2_2">
            <a:extLst>
              <a:ext uri="{FF2B5EF4-FFF2-40B4-BE49-F238E27FC236}">
                <a16:creationId xmlns:a16="http://schemas.microsoft.com/office/drawing/2014/main" id="{E370334B-0DAD-EC45-AA9F-9A33873AB8DC}"/>
              </a:ext>
            </a:extLst>
          </p:cNvPr>
          <p:cNvSpPr/>
          <p:nvPr/>
        </p:nvSpPr>
        <p:spPr>
          <a:xfrm>
            <a:off x="7620000" y="326644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每局根据名次和模式增加经验，经验达到阈值后升级</a:t>
            </a:r>
          </a:p>
        </p:txBody>
      </p:sp>
      <p:sp>
        <p:nvSpPr>
          <p:cNvPr id="22" name="merged_growth_table_3_0">
            <a:extLst>
              <a:ext uri="{FF2B5EF4-FFF2-40B4-BE49-F238E27FC236}">
                <a16:creationId xmlns:a16="http://schemas.microsoft.com/office/drawing/2014/main" id="{4DB4CFB5-CD80-C744-8133-BFBD61D9CAE3}"/>
              </a:ext>
            </a:extLst>
          </p:cNvPr>
          <p:cNvSpPr/>
          <p:nvPr/>
        </p:nvSpPr>
        <p:spPr>
          <a:xfrm>
            <a:off x="457200" y="3611879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金币奖励</a:t>
            </a:r>
          </a:p>
        </p:txBody>
      </p:sp>
      <p:sp>
        <p:nvSpPr>
          <p:cNvPr id="23" name="merged_growth_table_3_1">
            <a:extLst>
              <a:ext uri="{FF2B5EF4-FFF2-40B4-BE49-F238E27FC236}">
                <a16:creationId xmlns:a16="http://schemas.microsoft.com/office/drawing/2014/main" id="{C083C1B9-2F6B-6E4F-B94F-C63CA8E3429C}"/>
              </a:ext>
            </a:extLst>
          </p:cNvPr>
          <p:cNvSpPr/>
          <p:nvPr/>
        </p:nvSpPr>
        <p:spPr>
          <a:xfrm>
            <a:off x="3581400" y="3611879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ProfileController.settleMatch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24" name="merged_growth_table_3_2">
            <a:extLst>
              <a:ext uri="{FF2B5EF4-FFF2-40B4-BE49-F238E27FC236}">
                <a16:creationId xmlns:a16="http://schemas.microsoft.com/office/drawing/2014/main" id="{28511896-193F-9940-A143-3B34749E3C38}"/>
              </a:ext>
            </a:extLst>
          </p:cNvPr>
          <p:cNvSpPr/>
          <p:nvPr/>
        </p:nvSpPr>
        <p:spPr>
          <a:xfrm>
            <a:off x="7620000" y="3611879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人机</a:t>
            </a:r>
            <a:r>
              <a:rPr lang="en-US" altLang="zh-CN" sz="725">
                <a:solidFill>
                  <a:srgbClr val="17201B"/>
                </a:solidFill>
              </a:rPr>
              <a:t>/</a:t>
            </a:r>
            <a:r>
              <a:rPr lang="zh-CN" altLang="en-US" sz="725">
                <a:solidFill>
                  <a:srgbClr val="17201B"/>
                </a:solidFill>
              </a:rPr>
              <a:t>蓝牙对局结束后根据名次发放金币</a:t>
            </a:r>
          </a:p>
        </p:txBody>
      </p:sp>
      <p:sp>
        <p:nvSpPr>
          <p:cNvPr id="25" name="merged_growth_table_4_0">
            <a:extLst>
              <a:ext uri="{FF2B5EF4-FFF2-40B4-BE49-F238E27FC236}">
                <a16:creationId xmlns:a16="http://schemas.microsoft.com/office/drawing/2014/main" id="{979FC0E9-2244-504A-B5B2-43846D2A5FE7}"/>
              </a:ext>
            </a:extLst>
          </p:cNvPr>
          <p:cNvSpPr/>
          <p:nvPr/>
        </p:nvSpPr>
        <p:spPr>
          <a:xfrm>
            <a:off x="457200" y="395732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金币消费</a:t>
            </a:r>
          </a:p>
        </p:txBody>
      </p:sp>
      <p:sp>
        <p:nvSpPr>
          <p:cNvPr id="26" name="merged_growth_table_4_1">
            <a:extLst>
              <a:ext uri="{FF2B5EF4-FFF2-40B4-BE49-F238E27FC236}">
                <a16:creationId xmlns:a16="http://schemas.microsoft.com/office/drawing/2014/main" id="{4D393197-3CAF-6C44-81C6-F84D160318D2}"/>
              </a:ext>
            </a:extLst>
          </p:cNvPr>
          <p:cNvSpPr/>
          <p:nvPr/>
        </p:nvSpPr>
        <p:spPr>
          <a:xfrm>
            <a:off x="3581400" y="395732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renameWithCost</a:t>
            </a:r>
            <a:r>
              <a:rPr lang="zh-CN" altLang="en-US" sz="670">
                <a:solidFill>
                  <a:srgbClr val="17201B"/>
                </a:solidFill>
              </a:rPr>
              <a:t>、</a:t>
            </a:r>
            <a:r>
              <a:rPr lang="en-US" altLang="zh-CN" sz="670">
                <a:solidFill>
                  <a:srgbClr val="17201B"/>
                </a:solidFill>
              </a:rPr>
              <a:t>unlockAvatar</a:t>
            </a:r>
            <a:r>
              <a:rPr lang="zh-CN" altLang="en-US" sz="670">
                <a:solidFill>
                  <a:srgbClr val="17201B"/>
                </a:solidFill>
              </a:rPr>
              <a:t>、</a:t>
            </a:r>
            <a:r>
              <a:rPr lang="en-US" altLang="zh-CN" sz="670">
                <a:solidFill>
                  <a:srgbClr val="17201B"/>
                </a:solidFill>
              </a:rPr>
              <a:t>unlockCustomAvatar</a:t>
            </a:r>
            <a:r>
              <a:rPr lang="zh-CN" altLang="en-US" sz="670">
                <a:solidFill>
                  <a:srgbClr val="17201B"/>
                </a:solidFill>
              </a:rPr>
              <a:t>、</a:t>
            </a:r>
            <a:r>
              <a:rPr lang="en-US" altLang="zh-CN" sz="670">
                <a:solidFill>
                  <a:srgbClr val="17201B"/>
                </a:solidFill>
              </a:rPr>
              <a:t>resetStats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27" name="merged_growth_table_4_2">
            <a:extLst>
              <a:ext uri="{FF2B5EF4-FFF2-40B4-BE49-F238E27FC236}">
                <a16:creationId xmlns:a16="http://schemas.microsoft.com/office/drawing/2014/main" id="{F37A707C-A960-FF43-8D19-1706668C0BCD}"/>
              </a:ext>
            </a:extLst>
          </p:cNvPr>
          <p:cNvSpPr/>
          <p:nvPr/>
        </p:nvSpPr>
        <p:spPr>
          <a:xfrm>
            <a:off x="7620000" y="395732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改名、头像解锁、自定义头像、重置战绩都需要金币并二次确认</a:t>
            </a:r>
          </a:p>
        </p:txBody>
      </p:sp>
      <p:sp>
        <p:nvSpPr>
          <p:cNvPr id="28" name="merged_growth_table_5_0">
            <a:extLst>
              <a:ext uri="{FF2B5EF4-FFF2-40B4-BE49-F238E27FC236}">
                <a16:creationId xmlns:a16="http://schemas.microsoft.com/office/drawing/2014/main" id="{8D8E7D82-A285-7F49-B4BA-8B14D1CE8F03}"/>
              </a:ext>
            </a:extLst>
          </p:cNvPr>
          <p:cNvSpPr/>
          <p:nvPr/>
        </p:nvSpPr>
        <p:spPr>
          <a:xfrm>
            <a:off x="457200" y="430276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头像商店</a:t>
            </a:r>
          </a:p>
        </p:txBody>
      </p:sp>
      <p:sp>
        <p:nvSpPr>
          <p:cNvPr id="29" name="merged_growth_table_5_1">
            <a:extLst>
              <a:ext uri="{FF2B5EF4-FFF2-40B4-BE49-F238E27FC236}">
                <a16:creationId xmlns:a16="http://schemas.microsoft.com/office/drawing/2014/main" id="{9BC5CC44-5EB6-EA4B-B514-9A3FE99A91BA}"/>
              </a:ext>
            </a:extLst>
          </p:cNvPr>
          <p:cNvSpPr/>
          <p:nvPr/>
        </p:nvSpPr>
        <p:spPr>
          <a:xfrm>
            <a:off x="3581400" y="430276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BuiltInAvatar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30" name="merged_growth_table_5_2">
            <a:extLst>
              <a:ext uri="{FF2B5EF4-FFF2-40B4-BE49-F238E27FC236}">
                <a16:creationId xmlns:a16="http://schemas.microsoft.com/office/drawing/2014/main" id="{3BCF328B-F037-FC43-B52E-42824069CEA4}"/>
              </a:ext>
            </a:extLst>
          </p:cNvPr>
          <p:cNvSpPr/>
          <p:nvPr/>
        </p:nvSpPr>
        <p:spPr>
          <a:xfrm>
            <a:off x="7620000" y="430276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内置多个自然头像，按普通、稀有、传说设置不同价格和视觉样式</a:t>
            </a:r>
          </a:p>
        </p:txBody>
      </p:sp>
      <p:sp>
        <p:nvSpPr>
          <p:cNvPr id="31" name="merged_growth_table_6_0">
            <a:extLst>
              <a:ext uri="{FF2B5EF4-FFF2-40B4-BE49-F238E27FC236}">
                <a16:creationId xmlns:a16="http://schemas.microsoft.com/office/drawing/2014/main" id="{7CF6D0D6-E0D7-9545-8465-9D778AEDE14D}"/>
              </a:ext>
            </a:extLst>
          </p:cNvPr>
          <p:cNvSpPr/>
          <p:nvPr/>
        </p:nvSpPr>
        <p:spPr>
          <a:xfrm>
            <a:off x="457200" y="464820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自定义头像</a:t>
            </a:r>
          </a:p>
        </p:txBody>
      </p:sp>
      <p:sp>
        <p:nvSpPr>
          <p:cNvPr id="32" name="merged_growth_table_6_1">
            <a:extLst>
              <a:ext uri="{FF2B5EF4-FFF2-40B4-BE49-F238E27FC236}">
                <a16:creationId xmlns:a16="http://schemas.microsoft.com/office/drawing/2014/main" id="{E5380F25-DFB2-7847-8854-813A31D1399B}"/>
              </a:ext>
            </a:extLst>
          </p:cNvPr>
          <p:cNvSpPr/>
          <p:nvPr/>
        </p:nvSpPr>
        <p:spPr>
          <a:xfrm>
            <a:off x="3581400" y="464820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670">
                <a:solidFill>
                  <a:srgbClr val="17201B"/>
                </a:solidFill>
              </a:rPr>
              <a:t>相册选择 </a:t>
            </a:r>
            <a:r>
              <a:rPr lang="en-US" altLang="zh-CN" sz="670">
                <a:solidFill>
                  <a:srgbClr val="17201B"/>
                </a:solidFill>
              </a:rPr>
              <a:t>+ </a:t>
            </a:r>
            <a:r>
              <a:rPr lang="zh-CN" altLang="en-US" sz="670">
                <a:solidFill>
                  <a:srgbClr val="17201B"/>
                </a:solidFill>
              </a:rPr>
              <a:t>私有目录复制</a:t>
            </a:r>
          </a:p>
        </p:txBody>
      </p:sp>
      <p:sp>
        <p:nvSpPr>
          <p:cNvPr id="33" name="merged_growth_table_6_2">
            <a:extLst>
              <a:ext uri="{FF2B5EF4-FFF2-40B4-BE49-F238E27FC236}">
                <a16:creationId xmlns:a16="http://schemas.microsoft.com/office/drawing/2014/main" id="{6DDF4B73-0DD4-7A4E-A64B-E9BD9ADF05BB}"/>
              </a:ext>
            </a:extLst>
          </p:cNvPr>
          <p:cNvSpPr/>
          <p:nvPr/>
        </p:nvSpPr>
        <p:spPr>
          <a:xfrm>
            <a:off x="7620000" y="464820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未解锁时显示提示，解锁后可选择本地图片作为头像</a:t>
            </a:r>
          </a:p>
        </p:txBody>
      </p:sp>
      <p:sp>
        <p:nvSpPr>
          <p:cNvPr id="34" name="merged_growth_table_7_0">
            <a:extLst>
              <a:ext uri="{FF2B5EF4-FFF2-40B4-BE49-F238E27FC236}">
                <a16:creationId xmlns:a16="http://schemas.microsoft.com/office/drawing/2014/main" id="{06B20969-EB32-8D41-A247-D81FC6B382D5}"/>
              </a:ext>
            </a:extLst>
          </p:cNvPr>
          <p:cNvSpPr/>
          <p:nvPr/>
        </p:nvSpPr>
        <p:spPr>
          <a:xfrm>
            <a:off x="457200" y="499364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战绩</a:t>
            </a:r>
          </a:p>
        </p:txBody>
      </p:sp>
      <p:sp>
        <p:nvSpPr>
          <p:cNvPr id="35" name="merged_growth_table_7_1">
            <a:extLst>
              <a:ext uri="{FF2B5EF4-FFF2-40B4-BE49-F238E27FC236}">
                <a16:creationId xmlns:a16="http://schemas.microsoft.com/office/drawing/2014/main" id="{FC692EC1-CC3D-5F41-B075-83F3A77155B6}"/>
              </a:ext>
            </a:extLst>
          </p:cNvPr>
          <p:cNvSpPr/>
          <p:nvPr/>
        </p:nvSpPr>
        <p:spPr>
          <a:xfrm>
            <a:off x="3581400" y="499364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MatchRecord</a:t>
            </a:r>
            <a:r>
              <a:rPr lang="zh-CN" altLang="en-US" sz="670">
                <a:solidFill>
                  <a:srgbClr val="17201B"/>
                </a:solidFill>
              </a:rPr>
              <a:t>、</a:t>
            </a:r>
            <a:r>
              <a:rPr lang="en-US" altLang="zh-CN" sz="670">
                <a:solidFill>
                  <a:srgbClr val="17201B"/>
                </a:solidFill>
              </a:rPr>
              <a:t>ProfileStats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36" name="merged_growth_table_7_2">
            <a:extLst>
              <a:ext uri="{FF2B5EF4-FFF2-40B4-BE49-F238E27FC236}">
                <a16:creationId xmlns:a16="http://schemas.microsoft.com/office/drawing/2014/main" id="{D2902D39-B845-1646-BE75-8AFAA7A15BD8}"/>
              </a:ext>
            </a:extLst>
          </p:cNvPr>
          <p:cNvSpPr/>
          <p:nvPr/>
        </p:nvSpPr>
        <p:spPr>
          <a:xfrm>
            <a:off x="7620000" y="499364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记录最近</a:t>
            </a:r>
            <a:r>
              <a:rPr lang="en-US" altLang="zh-CN" sz="725">
                <a:solidFill>
                  <a:srgbClr val="17201B"/>
                </a:solidFill>
              </a:rPr>
              <a:t>50</a:t>
            </a:r>
            <a:r>
              <a:rPr lang="zh-CN" altLang="en-US" sz="725">
                <a:solidFill>
                  <a:srgbClr val="17201B"/>
                </a:solidFill>
              </a:rPr>
              <a:t>局、总局数、胜场、蓝牙局、困难胜场、连胜等统计</a:t>
            </a:r>
          </a:p>
        </p:txBody>
      </p:sp>
      <p:sp>
        <p:nvSpPr>
          <p:cNvPr id="37" name="merged_growth_table_8_0">
            <a:extLst>
              <a:ext uri="{FF2B5EF4-FFF2-40B4-BE49-F238E27FC236}">
                <a16:creationId xmlns:a16="http://schemas.microsoft.com/office/drawing/2014/main" id="{09D5ED05-9825-624F-A475-C139936D3880}"/>
              </a:ext>
            </a:extLst>
          </p:cNvPr>
          <p:cNvSpPr/>
          <p:nvPr/>
        </p:nvSpPr>
        <p:spPr>
          <a:xfrm>
            <a:off x="457200" y="5339080"/>
            <a:ext cx="31242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成就</a:t>
            </a:r>
          </a:p>
        </p:txBody>
      </p:sp>
      <p:sp>
        <p:nvSpPr>
          <p:cNvPr id="38" name="merged_growth_table_8_1">
            <a:extLst>
              <a:ext uri="{FF2B5EF4-FFF2-40B4-BE49-F238E27FC236}">
                <a16:creationId xmlns:a16="http://schemas.microsoft.com/office/drawing/2014/main" id="{348EEBA2-5A20-8E46-970A-F0DD901CB565}"/>
              </a:ext>
            </a:extLst>
          </p:cNvPr>
          <p:cNvSpPr/>
          <p:nvPr/>
        </p:nvSpPr>
        <p:spPr>
          <a:xfrm>
            <a:off x="3581400" y="5339080"/>
            <a:ext cx="40386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Achievement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39" name="merged_growth_table_8_2">
            <a:extLst>
              <a:ext uri="{FF2B5EF4-FFF2-40B4-BE49-F238E27FC236}">
                <a16:creationId xmlns:a16="http://schemas.microsoft.com/office/drawing/2014/main" id="{E7B7571E-6716-2241-8CF7-FE6FB24AA5CC}"/>
              </a:ext>
            </a:extLst>
          </p:cNvPr>
          <p:cNvSpPr/>
          <p:nvPr/>
        </p:nvSpPr>
        <p:spPr>
          <a:xfrm>
            <a:off x="7620000" y="5339080"/>
            <a:ext cx="4495800" cy="345440"/>
          </a:xfrm>
          <a:prstGeom prst="rect">
            <a:avLst/>
          </a:prstGeom>
          <a:solidFill>
            <a:srgbClr val="F3F6E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首胜、连胜、困难胜利、蓝牙对局等条件触发，只奖励一次</a:t>
            </a:r>
          </a:p>
        </p:txBody>
      </p:sp>
      <p:sp>
        <p:nvSpPr>
          <p:cNvPr id="40" name="merged_growth_table_9_0">
            <a:extLst>
              <a:ext uri="{FF2B5EF4-FFF2-40B4-BE49-F238E27FC236}">
                <a16:creationId xmlns:a16="http://schemas.microsoft.com/office/drawing/2014/main" id="{91322CB9-241E-434D-A2E1-FB8790CD44F1}"/>
              </a:ext>
            </a:extLst>
          </p:cNvPr>
          <p:cNvSpPr/>
          <p:nvPr/>
        </p:nvSpPr>
        <p:spPr>
          <a:xfrm>
            <a:off x="457200" y="5684520"/>
            <a:ext cx="31242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每日奖励</a:t>
            </a:r>
          </a:p>
        </p:txBody>
      </p:sp>
      <p:sp>
        <p:nvSpPr>
          <p:cNvPr id="41" name="merged_growth_table_9_1">
            <a:extLst>
              <a:ext uri="{FF2B5EF4-FFF2-40B4-BE49-F238E27FC236}">
                <a16:creationId xmlns:a16="http://schemas.microsoft.com/office/drawing/2014/main" id="{14D1644E-9C73-7D47-96DB-6FF6618F25D9}"/>
              </a:ext>
            </a:extLst>
          </p:cNvPr>
          <p:cNvSpPr/>
          <p:nvPr/>
        </p:nvSpPr>
        <p:spPr>
          <a:xfrm>
            <a:off x="3581400" y="5684520"/>
            <a:ext cx="40386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670">
                <a:solidFill>
                  <a:srgbClr val="17201B"/>
                </a:solidFill>
              </a:rPr>
              <a:t>ProfileController.claimDailyReward</a:t>
            </a:r>
            <a:endParaRPr lang="zh-CN" altLang="en-US" sz="670">
              <a:solidFill>
                <a:srgbClr val="17201B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7CE2535-6981-4543-AAB5-80901CDFC1F0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AAC6F84-6AA4-4945-B0D1-51109FB8EDFD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D8A18D6-FF8F-F941-9360-50CEEAC541A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merged_growth_table_9_2">
            <a:extLst>
              <a:ext uri="{FF2B5EF4-FFF2-40B4-BE49-F238E27FC236}">
                <a16:creationId xmlns:a16="http://schemas.microsoft.com/office/drawing/2014/main" id="{D73D9906-891E-084C-9EB4-265EB8B93464}"/>
              </a:ext>
            </a:extLst>
          </p:cNvPr>
          <p:cNvSpPr/>
          <p:nvPr/>
        </p:nvSpPr>
        <p:spPr>
          <a:xfrm>
            <a:off x="7620000" y="5684520"/>
            <a:ext cx="4495800" cy="345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725">
                <a:solidFill>
                  <a:srgbClr val="17201B"/>
                </a:solidFill>
              </a:rPr>
              <a:t>同一天不可重复领取，跨天可再次领取</a:t>
            </a:r>
          </a:p>
        </p:txBody>
      </p:sp>
    </p:spTree>
    <p:extLst>
      <p:ext uri="{BB962C8B-B14F-4D97-AF65-F5344CB8AC3E}">
        <p14:creationId xmlns:p14="http://schemas.microsoft.com/office/powerpoint/2010/main" val="852923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3A182F0-BD20-4F47-A4FA-8B10D2312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8A7F2-B9D8-4FFB-9C16-F744B5C21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E3C454-595C-4EC8-97E6-844DA477AFE2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9BAD7C-127C-4552-853C-604872FC62F4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7C4AB-5CE4-4436-B630-1045EED405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2442E1-A143-46B0-9488-99EC59390EA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8C4BBD-BDA9-4E5F-9C05-9EB4CF6119F6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.4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玩家成长系统完善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C8A2AC-2A8B-4E08-B9F2-B68850617C5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6567D-940E-4136-BD39-07BF4E45B7ED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7782"/>
          </a:bodyPr>
          <a:lstStyle/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玩家成长结算流程：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对局结束后，结算页根据名次、模式、难度、规则和剩余牌数生成 MatchSettlement。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ProfileController.settleMatch(profile, settlement) 计算金币、经验、成就和历史记录。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控制器返回 ProfileChange，其中包含更新后的 PlayerProfile、本局 MatchRecord 和提示信息。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ProfileStore.saveProfile() 写入 SharedPreferences。</a:t>
            </a: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大厅、玩家中心和结算页读取同一份档案，显示最新金币、等级、头像和战绩。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金币消费采用确认弹窗保护：玩家点击改名、解锁头像、解锁自定义头像或重置战绩时，先显示消费说明和金币数量；确认后才调用 ProfileController，金币不足时不修改档案并弹窗提示失败原因。这样可以避免误扣金币，也方便答辩时说明本地数据的完整闭环。</a:t>
            </a:r>
          </a:p>
          <a:p>
            <a:endParaRPr sz="123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本阶段为成长系统使用的设计模式如下：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8FE159-AC52-4359-8FF2-B4F001FEBE75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1514314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29ED1D-B8F8-4D2C-A6B9-EA15684481EF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1419064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设计模式/原则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545764-29EA-44AE-9F94-574A7FB2D218}"/>
              </a:ext>
            </a:extLst>
          </p:cNvPr>
          <p:cNvSpPr>
            <a:spLocks noGrp="1"/>
          </p:cNvSpPr>
          <p:nvPr/>
        </p:nvSpPr>
        <p:spPr>
          <a:xfrm>
            <a:off x="6705439" y="1905000"/>
            <a:ext cx="243371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7491EC-51CA-4D06-AEF1-694E6D9A1AD2}"/>
              </a:ext>
            </a:extLst>
          </p:cNvPr>
          <p:cNvSpPr>
            <a:spLocks noGrp="1"/>
          </p:cNvSpPr>
          <p:nvPr/>
        </p:nvSpPr>
        <p:spPr>
          <a:xfrm>
            <a:off x="6753064" y="1943100"/>
            <a:ext cx="233846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代码落点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5D4C20-4957-4A1E-990C-13B2B5824CF0}"/>
              </a:ext>
            </a:extLst>
          </p:cNvPr>
          <p:cNvSpPr>
            <a:spLocks noGrp="1"/>
          </p:cNvSpPr>
          <p:nvPr/>
        </p:nvSpPr>
        <p:spPr>
          <a:xfrm>
            <a:off x="9139157" y="1905000"/>
            <a:ext cx="2433718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B877D6-8C8B-47F5-96D8-E6B43C5C9CC0}"/>
              </a:ext>
            </a:extLst>
          </p:cNvPr>
          <p:cNvSpPr>
            <a:spLocks noGrp="1"/>
          </p:cNvSpPr>
          <p:nvPr/>
        </p:nvSpPr>
        <p:spPr>
          <a:xfrm>
            <a:off x="9186782" y="1943100"/>
            <a:ext cx="2338468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DEFF14-BBA0-43D7-95DD-650320585AD2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514314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FB1676-D7EA-493B-83CC-6F8B95BAFEDC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1419064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仓储模式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96730-FF0F-474B-A3A9-8CB13A8641AD}"/>
              </a:ext>
            </a:extLst>
          </p:cNvPr>
          <p:cNvSpPr>
            <a:spLocks noGrp="1"/>
          </p:cNvSpPr>
          <p:nvPr/>
        </p:nvSpPr>
        <p:spPr>
          <a:xfrm>
            <a:off x="6705439" y="2305050"/>
            <a:ext cx="2433718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5AC2D6-A4BC-4BC1-B68C-66CDAE2394D5}"/>
              </a:ext>
            </a:extLst>
          </p:cNvPr>
          <p:cNvSpPr>
            <a:spLocks noGrp="1"/>
          </p:cNvSpPr>
          <p:nvPr/>
        </p:nvSpPr>
        <p:spPr>
          <a:xfrm>
            <a:off x="6753064" y="2333625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ProfileStore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B178AD-A948-4EA5-85EC-CFA1A05C157A}"/>
              </a:ext>
            </a:extLst>
          </p:cNvPr>
          <p:cNvSpPr>
            <a:spLocks noGrp="1"/>
          </p:cNvSpPr>
          <p:nvPr/>
        </p:nvSpPr>
        <p:spPr>
          <a:xfrm>
            <a:off x="9139157" y="2305050"/>
            <a:ext cx="2433718" cy="9096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F156CF-84B9-4818-835F-28F69998189A}"/>
              </a:ext>
            </a:extLst>
          </p:cNvPr>
          <p:cNvSpPr>
            <a:spLocks noGrp="1"/>
          </p:cNvSpPr>
          <p:nvPr/>
        </p:nvSpPr>
        <p:spPr>
          <a:xfrm>
            <a:off x="9186782" y="2333625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统一保存和读取玩家档案，UI 不直接处理序列化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34DA9C-FFBD-4121-B528-0C091FEEEE5A}"/>
              </a:ext>
            </a:extLst>
          </p:cNvPr>
          <p:cNvSpPr>
            <a:spLocks noGrp="1"/>
          </p:cNvSpPr>
          <p:nvPr/>
        </p:nvSpPr>
        <p:spPr>
          <a:xfrm>
            <a:off x="5191125" y="3214688"/>
            <a:ext cx="1514314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C768C0-3D55-4322-B6B8-B9FE4FAB65F5}"/>
              </a:ext>
            </a:extLst>
          </p:cNvPr>
          <p:cNvSpPr>
            <a:spLocks noGrp="1"/>
          </p:cNvSpPr>
          <p:nvPr/>
        </p:nvSpPr>
        <p:spPr>
          <a:xfrm>
            <a:off x="5238750" y="3243263"/>
            <a:ext cx="1419064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门面/控制器模式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26B00A-DEC9-4696-9D5F-F3AC5B3D9B03}"/>
              </a:ext>
            </a:extLst>
          </p:cNvPr>
          <p:cNvSpPr>
            <a:spLocks noGrp="1"/>
          </p:cNvSpPr>
          <p:nvPr/>
        </p:nvSpPr>
        <p:spPr>
          <a:xfrm>
            <a:off x="6705439" y="3214688"/>
            <a:ext cx="2433718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8D244F-F16C-433C-BD5D-70B8AF469732}"/>
              </a:ext>
            </a:extLst>
          </p:cNvPr>
          <p:cNvSpPr>
            <a:spLocks noGrp="1"/>
          </p:cNvSpPr>
          <p:nvPr/>
        </p:nvSpPr>
        <p:spPr>
          <a:xfrm>
            <a:off x="6753064" y="3243263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ProfileController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B78D96-D56F-4380-ADD4-64A67546A3A1}"/>
              </a:ext>
            </a:extLst>
          </p:cNvPr>
          <p:cNvSpPr>
            <a:spLocks noGrp="1"/>
          </p:cNvSpPr>
          <p:nvPr/>
        </p:nvSpPr>
        <p:spPr>
          <a:xfrm>
            <a:off x="9139157" y="3214688"/>
            <a:ext cx="2433718" cy="909638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56C2A1-3709-44C1-9F7C-495CC6C0512E}"/>
              </a:ext>
            </a:extLst>
          </p:cNvPr>
          <p:cNvSpPr>
            <a:spLocks noGrp="1"/>
          </p:cNvSpPr>
          <p:nvPr/>
        </p:nvSpPr>
        <p:spPr>
          <a:xfrm>
            <a:off x="9186782" y="3243263"/>
            <a:ext cx="2338468" cy="852488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对外提供结算、改名、头像、战绩重置等统一入口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35DD49-1B77-C74D-89D1-FC3E497F3597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B4790D7-DF13-BB4A-A299-429FF0F34F7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95E2B5-D670-7F4E-9408-D5A737CABFEB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455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14B3ADE-8CA0-4AD2-9F9D-586EBB163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8B2361-1E43-4F2A-8257-17D9E1FB8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3A4326-5F9F-49E4-8B09-A06B12FAA428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E8CCCA-9BAE-4617-9077-0C3B6CF29357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0C9EA2-AC1C-4C72-B7B9-834B2FEC1BF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7D78EA-7CC8-468F-8198-502728428D6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7C9D2E-80C9-4113-845B-BF6EB3FE8BB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UI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与交互完善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A435E4-BC40-4ECB-9BB9-1C71BCBFE460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AA6433-2661-434F-82ED-D8D919833BFB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1E5D73-607F-9142-B0E2-F243322DF57A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B7FC90-6B9B-1F4C-938A-BA173ECE779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33F44-1668-4470-90DC-D23EF8F9507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本阶段继续完善 Compose 页面和动画体验：</a:t>
            </a:r>
          </a:p>
        </p:txBody>
      </p:sp>
    </p:spTree>
    <p:extLst>
      <p:ext uri="{BB962C8B-B14F-4D97-AF65-F5344CB8AC3E}">
        <p14:creationId xmlns:p14="http://schemas.microsoft.com/office/powerpoint/2010/main" val="151132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A0D83AFC-4F99-47FC-8014-4278F983CE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01C0FC-AA12-45E8-921E-7E4AB1988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D1BF19-4A75-4374-B829-AA52E907E1A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4BD604-6CB1-441A-86FA-28BB86C8F8C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7. 阶段 4：细化迭代 3 / 构造（Elaboration / Construction）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6C5F2F-3750-48C5-9D85-1DC508CF5DA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74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1A1423-5835-4A02-A0E9-B12D7FEAA15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516FB2-9A25-46FC-9F58-10539F1D7B7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.5 UI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与交互完善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17A101-7DA8-4E86-97A9-CA44F8E733F7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9759F-E539-49D2-A8EC-39184AF0F589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40466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213431-09DD-4D15-9FB6-854B5D476306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430941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B2CF77-3C39-4DEF-8C90-367A0948A5C5}"/>
              </a:ext>
            </a:extLst>
          </p:cNvPr>
          <p:cNvSpPr>
            <a:spLocks noGrp="1"/>
          </p:cNvSpPr>
          <p:nvPr/>
        </p:nvSpPr>
        <p:spPr>
          <a:xfrm>
            <a:off x="4861869" y="1905000"/>
            <a:ext cx="683483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EB4639-83CA-4A38-804D-C6624E0CD361}"/>
              </a:ext>
            </a:extLst>
          </p:cNvPr>
          <p:cNvSpPr>
            <a:spLocks noGrp="1"/>
          </p:cNvSpPr>
          <p:nvPr/>
        </p:nvSpPr>
        <p:spPr>
          <a:xfrm>
            <a:off x="4909494" y="1943100"/>
            <a:ext cx="673958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功能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631C1A-32D7-47B5-9288-AD6D7F78BDD8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76D3C7-608A-48B8-BD7B-6FCEFE8EAFBD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704529-ED61-404A-8706-5008BBAD6DE2}"/>
              </a:ext>
            </a:extLst>
          </p:cNvPr>
          <p:cNvSpPr>
            <a:spLocks noGrp="1"/>
          </p:cNvSpPr>
          <p:nvPr/>
        </p:nvSpPr>
        <p:spPr>
          <a:xfrm>
            <a:off x="4861869" y="2305050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08B733-3EBA-4EDC-8C4A-71ACC59FB43E}"/>
              </a:ext>
            </a:extLst>
          </p:cNvPr>
          <p:cNvSpPr>
            <a:spLocks noGrp="1"/>
          </p:cNvSpPr>
          <p:nvPr/>
        </p:nvSpPr>
        <p:spPr>
          <a:xfrm>
            <a:off x="4909494" y="2333625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展示扑克牌背景和开始游戏入口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2075A8-26DF-4214-941E-AAA961037476}"/>
              </a:ext>
            </a:extLst>
          </p:cNvPr>
          <p:cNvSpPr>
            <a:spLocks noGrp="1"/>
          </p:cNvSpPr>
          <p:nvPr/>
        </p:nvSpPr>
        <p:spPr>
          <a:xfrm>
            <a:off x="457200" y="2759869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48B84A-91E2-45F8-AE73-D6FA5291BAE6}"/>
              </a:ext>
            </a:extLst>
          </p:cNvPr>
          <p:cNvSpPr>
            <a:spLocks noGrp="1"/>
          </p:cNvSpPr>
          <p:nvPr/>
        </p:nvSpPr>
        <p:spPr>
          <a:xfrm>
            <a:off x="504825" y="2788444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大厅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8E0D93-C6AD-4C1D-B5AC-AE7614DEA9A7}"/>
              </a:ext>
            </a:extLst>
          </p:cNvPr>
          <p:cNvSpPr>
            <a:spLocks noGrp="1"/>
          </p:cNvSpPr>
          <p:nvPr/>
        </p:nvSpPr>
        <p:spPr>
          <a:xfrm>
            <a:off x="4861869" y="2759869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2C01D-D29E-4687-8988-5F9C76220E71}"/>
              </a:ext>
            </a:extLst>
          </p:cNvPr>
          <p:cNvSpPr>
            <a:spLocks noGrp="1"/>
          </p:cNvSpPr>
          <p:nvPr/>
        </p:nvSpPr>
        <p:spPr>
          <a:xfrm>
            <a:off x="4909494" y="2788444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显示玩家头像、昵称、等级、金币和主要功能入口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0F537D-64E0-4279-B7A7-3BD908129787}"/>
              </a:ext>
            </a:extLst>
          </p:cNvPr>
          <p:cNvSpPr>
            <a:spLocks noGrp="1"/>
          </p:cNvSpPr>
          <p:nvPr/>
        </p:nvSpPr>
        <p:spPr>
          <a:xfrm>
            <a:off x="457200" y="3214688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724740-627B-4A1E-8C83-73B1E0E56A5F}"/>
              </a:ext>
            </a:extLst>
          </p:cNvPr>
          <p:cNvSpPr>
            <a:spLocks noGrp="1"/>
          </p:cNvSpPr>
          <p:nvPr/>
        </p:nvSpPr>
        <p:spPr>
          <a:xfrm>
            <a:off x="504825" y="3243263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人机难度页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573CED-DE3B-45C7-8B3F-B80913621951}"/>
              </a:ext>
            </a:extLst>
          </p:cNvPr>
          <p:cNvSpPr>
            <a:spLocks noGrp="1"/>
          </p:cNvSpPr>
          <p:nvPr/>
        </p:nvSpPr>
        <p:spPr>
          <a:xfrm>
            <a:off x="4861869" y="3214688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550A7B-BB2D-420E-BE66-4AA548647454}"/>
              </a:ext>
            </a:extLst>
          </p:cNvPr>
          <p:cNvSpPr>
            <a:spLocks noGrp="1"/>
          </p:cNvSpPr>
          <p:nvPr/>
        </p:nvSpPr>
        <p:spPr>
          <a:xfrm>
            <a:off x="4909494" y="3243263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选择简单、普通、困难 AI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DD0E68-E959-4945-8F70-BC0005881A7F}"/>
              </a:ext>
            </a:extLst>
          </p:cNvPr>
          <p:cNvSpPr>
            <a:spLocks noGrp="1"/>
          </p:cNvSpPr>
          <p:nvPr/>
        </p:nvSpPr>
        <p:spPr>
          <a:xfrm>
            <a:off x="457200" y="3669506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F8BE69-F5B5-4D01-BC5B-28223FDE2ABD}"/>
              </a:ext>
            </a:extLst>
          </p:cNvPr>
          <p:cNvSpPr>
            <a:spLocks noGrp="1"/>
          </p:cNvSpPr>
          <p:nvPr/>
        </p:nvSpPr>
        <p:spPr>
          <a:xfrm>
            <a:off x="504825" y="3698081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EF2381-1E5F-413A-9545-572E4C9AF5D2}"/>
              </a:ext>
            </a:extLst>
          </p:cNvPr>
          <p:cNvSpPr>
            <a:spLocks noGrp="1"/>
          </p:cNvSpPr>
          <p:nvPr/>
        </p:nvSpPr>
        <p:spPr>
          <a:xfrm>
            <a:off x="4861869" y="3669506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928BC67-0E69-41EC-B177-4C64E5767319}"/>
              </a:ext>
            </a:extLst>
          </p:cNvPr>
          <p:cNvSpPr>
            <a:spLocks noGrp="1"/>
          </p:cNvSpPr>
          <p:nvPr/>
        </p:nvSpPr>
        <p:spPr>
          <a:xfrm>
            <a:off x="4909494" y="3698081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切换北方和南方规则，并保存到本机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FF1B5F-B18D-4C3E-BB9C-9470D3D84CFA}"/>
              </a:ext>
            </a:extLst>
          </p:cNvPr>
          <p:cNvSpPr>
            <a:spLocks noGrp="1"/>
          </p:cNvSpPr>
          <p:nvPr/>
        </p:nvSpPr>
        <p:spPr>
          <a:xfrm>
            <a:off x="457200" y="4124325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34C0FA-3ADD-4161-97ED-EC5F455916A7}"/>
              </a:ext>
            </a:extLst>
          </p:cNvPr>
          <p:cNvSpPr>
            <a:spLocks noGrp="1"/>
          </p:cNvSpPr>
          <p:nvPr/>
        </p:nvSpPr>
        <p:spPr>
          <a:xfrm>
            <a:off x="504825" y="4152900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蓝牙房间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F054B8D-4C2C-463B-BA06-8E946844D131}"/>
              </a:ext>
            </a:extLst>
          </p:cNvPr>
          <p:cNvSpPr>
            <a:spLocks noGrp="1"/>
          </p:cNvSpPr>
          <p:nvPr/>
        </p:nvSpPr>
        <p:spPr>
          <a:xfrm>
            <a:off x="4861869" y="4124325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B3F906-5090-4BDF-8DDE-A6CAA3BE397F}"/>
              </a:ext>
            </a:extLst>
          </p:cNvPr>
          <p:cNvSpPr>
            <a:spLocks noGrp="1"/>
          </p:cNvSpPr>
          <p:nvPr/>
        </p:nvSpPr>
        <p:spPr>
          <a:xfrm>
            <a:off x="4909494" y="4152900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创建房间、加入对局、四座位、人机补位和准备状态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994153-9918-4BBE-B825-2BC53114387D}"/>
              </a:ext>
            </a:extLst>
          </p:cNvPr>
          <p:cNvSpPr>
            <a:spLocks noGrp="1"/>
          </p:cNvSpPr>
          <p:nvPr/>
        </p:nvSpPr>
        <p:spPr>
          <a:xfrm>
            <a:off x="457200" y="4579144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065A07-CBE9-4947-939A-632266B60338}"/>
              </a:ext>
            </a:extLst>
          </p:cNvPr>
          <p:cNvSpPr>
            <a:spLocks noGrp="1"/>
          </p:cNvSpPr>
          <p:nvPr/>
        </p:nvSpPr>
        <p:spPr>
          <a:xfrm>
            <a:off x="504825" y="4607719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牌桌页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C21EB1-4F66-41C1-A3F3-5E79A8BE9E68}"/>
              </a:ext>
            </a:extLst>
          </p:cNvPr>
          <p:cNvSpPr>
            <a:spLocks noGrp="1"/>
          </p:cNvSpPr>
          <p:nvPr/>
        </p:nvSpPr>
        <p:spPr>
          <a:xfrm>
            <a:off x="4861869" y="4579144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33055B-6DD7-4284-85A8-D367E696C74A}"/>
              </a:ext>
            </a:extLst>
          </p:cNvPr>
          <p:cNvSpPr>
            <a:spLocks noGrp="1"/>
          </p:cNvSpPr>
          <p:nvPr/>
        </p:nvSpPr>
        <p:spPr>
          <a:xfrm>
            <a:off x="4909494" y="4607719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发牌、手牌选择、出牌、不出、提示、倒计时和 AI 思考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7B4AE2A-6E79-43F9-9A93-F7302A616158}"/>
              </a:ext>
            </a:extLst>
          </p:cNvPr>
          <p:cNvSpPr>
            <a:spLocks noGrp="1"/>
          </p:cNvSpPr>
          <p:nvPr/>
        </p:nvSpPr>
        <p:spPr>
          <a:xfrm>
            <a:off x="457200" y="5033963"/>
            <a:ext cx="4404669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D9982BB-424F-4D5F-8A78-73C2F257E326}"/>
              </a:ext>
            </a:extLst>
          </p:cNvPr>
          <p:cNvSpPr>
            <a:spLocks noGrp="1"/>
          </p:cNvSpPr>
          <p:nvPr/>
        </p:nvSpPr>
        <p:spPr>
          <a:xfrm>
            <a:off x="504825" y="5062538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FACDE41-7D05-4838-9A5E-2E019540E645}"/>
              </a:ext>
            </a:extLst>
          </p:cNvPr>
          <p:cNvSpPr>
            <a:spLocks noGrp="1"/>
          </p:cNvSpPr>
          <p:nvPr/>
        </p:nvSpPr>
        <p:spPr>
          <a:xfrm>
            <a:off x="4861869" y="5033963"/>
            <a:ext cx="6834831" cy="4548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B1BA3D-1D8D-49E2-BA70-9E277830FE0F}"/>
              </a:ext>
            </a:extLst>
          </p:cNvPr>
          <p:cNvSpPr>
            <a:spLocks noGrp="1"/>
          </p:cNvSpPr>
          <p:nvPr/>
        </p:nvSpPr>
        <p:spPr>
          <a:xfrm>
            <a:off x="4909494" y="5062538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显示胜负、金币经验变化、成就和再来一局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50ABF9-61EB-4C41-BAD6-708E332BEB87}"/>
              </a:ext>
            </a:extLst>
          </p:cNvPr>
          <p:cNvSpPr>
            <a:spLocks noGrp="1"/>
          </p:cNvSpPr>
          <p:nvPr/>
        </p:nvSpPr>
        <p:spPr>
          <a:xfrm>
            <a:off x="457200" y="5488781"/>
            <a:ext cx="4404669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54D4FF-D8C8-4EB9-95B2-FAB5F77A5F21}"/>
              </a:ext>
            </a:extLst>
          </p:cNvPr>
          <p:cNvSpPr>
            <a:spLocks noGrp="1"/>
          </p:cNvSpPr>
          <p:nvPr/>
        </p:nvSpPr>
        <p:spPr>
          <a:xfrm>
            <a:off x="504825" y="5517356"/>
            <a:ext cx="4309419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玩家中心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8C3929-49F8-4C6B-BCE7-FA6D9A2B102E}"/>
              </a:ext>
            </a:extLst>
          </p:cNvPr>
          <p:cNvSpPr>
            <a:spLocks noGrp="1"/>
          </p:cNvSpPr>
          <p:nvPr/>
        </p:nvSpPr>
        <p:spPr>
          <a:xfrm>
            <a:off x="4861869" y="5488781"/>
            <a:ext cx="6834831" cy="454819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70193AA-D4E9-0A40-96C9-48805D20D96A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9F87390-5AC9-2F4A-ACF5-7D92BCFC5038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D30547-843C-E64B-9DA8-3BEC09ABECFB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59C8F2-E662-4672-95FE-870BC1D725C8}"/>
              </a:ext>
            </a:extLst>
          </p:cNvPr>
          <p:cNvSpPr>
            <a:spLocks noGrp="1"/>
          </p:cNvSpPr>
          <p:nvPr/>
        </p:nvSpPr>
        <p:spPr>
          <a:xfrm>
            <a:off x="4909494" y="5517356"/>
            <a:ext cx="6739581" cy="397669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昵称、头像、金币、等级、战绩、成就、每日奖励和头像商店</a:t>
            </a:r>
          </a:p>
        </p:txBody>
      </p:sp>
    </p:spTree>
    <p:extLst>
      <p:ext uri="{BB962C8B-B14F-4D97-AF65-F5344CB8AC3E}">
        <p14:creationId xmlns:p14="http://schemas.microsoft.com/office/powerpoint/2010/main" val="42234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69AA-A97B-D305-2077-B9A9383E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DEAD8B4-6404-05A6-9E82-36E2FC3EC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517515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94CDAD-4C95-A3CE-A2A3-D512C4D40AAD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EAF5EF"/>
                </a:solidFill>
                <a:latin typeface="PingFang SC"/>
                <a:ea typeface="PingFang SC"/>
                <a:cs typeface="PingFang SC"/>
              </a:defRPr>
            </a:pPr>
            <a:endParaRPr sz="1800" b="0" dirty="0">
              <a:solidFill>
                <a:srgbClr val="EAF5E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F25F0-A186-254A-8C35-5E6D69EA1D29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058E12-DFA6-BA41-BAA3-B30B02364361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4EC622-EF90-6A44-9C23-CC1E6B42A973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40469E-9895-6D00-7235-F477A987FC64}"/>
              </a:ext>
            </a:extLst>
          </p:cNvPr>
          <p:cNvSpPr>
            <a:spLocks noGrp="1"/>
          </p:cNvSpPr>
          <p:nvPr/>
        </p:nvSpPr>
        <p:spPr>
          <a:xfrm>
            <a:off x="4114319" y="2905125"/>
            <a:ext cx="781050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Autofit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7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交付阶段</a:t>
            </a:r>
            <a:endParaRPr sz="72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791210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4F91A21-265E-43C0-A5F3-A12EF271C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F876E-4943-493E-80D4-382EFADB4E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6C54D9-0860-4DCA-B9AC-80FF4495008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881208-C70E-4CD7-9354-3925BEFCCE44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0BFD19-9DAC-4843-BDE5-AD0610CE6B9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83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25390C-0CB7-4B4C-A11F-C67805EFAD3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E782FF-E66D-4C1C-8B49-F45FDB73599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.1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阶段目标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640115-EBAA-4727-8F47-CAC2ADFF916A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90AE00-D6C9-0C48-BEE5-7CD92BAF42B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AEC07-AD4A-0945-B88C-A063E2749F30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F13AD3-6439-B44B-9398-BD6B0E756FFA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B02DA-DEFC-4494-8B0D-6DCF240E0CD8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交付阶段目标是完成系统集成、测试验收、Release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包生成、GitHub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200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托管和最终文档整理，确保项目可以运行</a:t>
            </a:r>
            <a:r>
              <a:rPr sz="3200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7239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0467E4C4-257E-45F1-8CF5-9A8CB18FC9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D5C802-C8E5-4254-B32F-DA2B872949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C3235C-AF79-450F-90AC-CE5B0F62B574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6BECAE-3772-4E28-B6E0-863616B1E868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E08746-244E-41ED-8102-9EF625C587D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84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DBD70-6E93-42F6-85FC-1FB8EE38146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AE5F6-0A52-426D-804E-C0B7CAED2421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.2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系统整合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7644D3-B775-47A6-BDE3-50E591EE7CF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F26EC7-7B6E-491F-977D-990B90246715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4333875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1450" lnSpcReduction="20000"/>
          </a:bodyPr>
          <a:lstStyle/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交付阶段首先进行系统整合，把前面三个细化迭代中分别完成的规则、AI、蓝牙、UI、玩家成长、音乐反馈和本地存储统一接入最终 App。整合顺序不是直接打包发布，而是先确认各模块之间的数据流、状态流和页面入口能够连成完整闭环。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最终项目整合了以下功能：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1. 开屏页、大厅、规则、设置、教程、玩家中心、人机对局、蓝牙房间、牌桌和结算页面。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2. 南北规则切换与本地保存。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3. 简单、普通、困难三档 AI。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4. 多人蓝牙房间、四座位、人机补位、房主权威同步、客户端断线 AI 托管，以及房主断线弹窗退出。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5. 玩家成长系统，包括等级、经验、金币、称号、战绩、成就、每日奖励、头像商店、自定义头像和改名消费。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6. 背景音乐、出牌音效、震动、开屏动画、发牌动画、出牌飞牌和结算动画。</a:t>
            </a: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7. Release APK 和 AAB 包。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整合时重点检查以下连接点：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玩家成长系统已在细化迭代 3 完成，本交付阶段主要负责把它与结算页、大厅、玩家中心和测试报告统一集成，确认金币、经验、头像、战绩、成就和每日奖励在最终版本中可保存、可展示、可验收。</a:t>
            </a:r>
          </a:p>
          <a:p>
            <a:endParaRPr sz="1125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音乐与反馈系统也在交付阶段完成：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99E606-8BEB-4029-8403-CC6C4B40B06D}"/>
              </a:ext>
            </a:extLst>
          </p:cNvPr>
          <p:cNvSpPr>
            <a:spLocks noGrp="1"/>
          </p:cNvSpPr>
          <p:nvPr/>
        </p:nvSpPr>
        <p:spPr>
          <a:xfrm>
            <a:off x="519112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9703E2-F115-4A1E-B557-28891A2DEB2A}"/>
              </a:ext>
            </a:extLst>
          </p:cNvPr>
          <p:cNvSpPr>
            <a:spLocks noGrp="1"/>
          </p:cNvSpPr>
          <p:nvPr/>
        </p:nvSpPr>
        <p:spPr>
          <a:xfrm>
            <a:off x="523875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整合对象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610071-36C3-4588-9D75-F42CCACDDEE9}"/>
              </a:ext>
            </a:extLst>
          </p:cNvPr>
          <p:cNvSpPr>
            <a:spLocks noGrp="1"/>
          </p:cNvSpPr>
          <p:nvPr/>
        </p:nvSpPr>
        <p:spPr>
          <a:xfrm>
            <a:off x="731837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E86887-6FCD-41EF-9CDD-D8730657F998}"/>
              </a:ext>
            </a:extLst>
          </p:cNvPr>
          <p:cNvSpPr>
            <a:spLocks noGrp="1"/>
          </p:cNvSpPr>
          <p:nvPr/>
        </p:nvSpPr>
        <p:spPr>
          <a:xfrm>
            <a:off x="736600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整合方式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9A838-B5CF-4F11-AE31-66D7E3144CD1}"/>
              </a:ext>
            </a:extLst>
          </p:cNvPr>
          <p:cNvSpPr>
            <a:spLocks noGrp="1"/>
          </p:cNvSpPr>
          <p:nvPr/>
        </p:nvSpPr>
        <p:spPr>
          <a:xfrm>
            <a:off x="9445625" y="1905000"/>
            <a:ext cx="21272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895AD7-17E2-4CAA-8E6B-60819074FC0F}"/>
              </a:ext>
            </a:extLst>
          </p:cNvPr>
          <p:cNvSpPr>
            <a:spLocks noGrp="1"/>
          </p:cNvSpPr>
          <p:nvPr/>
        </p:nvSpPr>
        <p:spPr>
          <a:xfrm>
            <a:off x="9493250" y="1943100"/>
            <a:ext cx="203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检查重点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7D9190-0DF5-4AD2-A6DF-0D60A370FE1D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EE68F8-0471-4FAB-92B6-B0B327FE521F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规则模块 + 游戏控制器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33B3B5-9447-45E2-BB9D-5B50EB6D3D43}"/>
              </a:ext>
            </a:extLst>
          </p:cNvPr>
          <p:cNvSpPr>
            <a:spLocks noGrp="1"/>
          </p:cNvSpPr>
          <p:nvPr/>
        </p:nvSpPr>
        <p:spPr>
          <a:xfrm>
            <a:off x="731837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8BD7FF-1FB9-49B0-AAC5-C0B8D0219E8D}"/>
              </a:ext>
            </a:extLst>
          </p:cNvPr>
          <p:cNvSpPr>
            <a:spLocks noGrp="1"/>
          </p:cNvSpPr>
          <p:nvPr/>
        </p:nvSpPr>
        <p:spPr>
          <a:xfrm>
            <a:off x="736600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 每次出牌都调用当前 RuleSet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2541D2-E9CF-4176-9AA4-9F7B1EC95826}"/>
              </a:ext>
            </a:extLst>
          </p:cNvPr>
          <p:cNvSpPr>
            <a:spLocks noGrp="1"/>
          </p:cNvSpPr>
          <p:nvPr/>
        </p:nvSpPr>
        <p:spPr>
          <a:xfrm>
            <a:off x="9445625" y="23050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53F10B-CE54-43C7-92F8-8C2647C5FF05}"/>
              </a:ext>
            </a:extLst>
          </p:cNvPr>
          <p:cNvSpPr>
            <a:spLocks noGrp="1"/>
          </p:cNvSpPr>
          <p:nvPr/>
        </p:nvSpPr>
        <p:spPr>
          <a:xfrm>
            <a:off x="9493250" y="23336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南北规则保存后是否影响后续人机和蓝牙对局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B45FE4-824F-474F-9EA0-03DA0FB24A12}"/>
              </a:ext>
            </a:extLst>
          </p:cNvPr>
          <p:cNvSpPr>
            <a:spLocks noGrp="1"/>
          </p:cNvSpPr>
          <p:nvPr/>
        </p:nvSpPr>
        <p:spPr>
          <a:xfrm>
            <a:off x="519112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36E07A-2861-4041-86DE-196BA37BED63}"/>
              </a:ext>
            </a:extLst>
          </p:cNvPr>
          <p:cNvSpPr>
            <a:spLocks noGrp="1"/>
          </p:cNvSpPr>
          <p:nvPr/>
        </p:nvSpPr>
        <p:spPr>
          <a:xfrm>
            <a:off x="523875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模块 + 游戏流程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CA80ADF-9282-4C78-B1B8-80D4C0C09339}"/>
              </a:ext>
            </a:extLst>
          </p:cNvPr>
          <p:cNvSpPr>
            <a:spLocks noGrp="1"/>
          </p:cNvSpPr>
          <p:nvPr/>
        </p:nvSpPr>
        <p:spPr>
          <a:xfrm>
            <a:off x="731837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A48FDE-3D6A-4F9C-A0D4-CA54590B2D6F}"/>
              </a:ext>
            </a:extLst>
          </p:cNvPr>
          <p:cNvSpPr>
            <a:spLocks noGrp="1"/>
          </p:cNvSpPr>
          <p:nvPr/>
        </p:nvSpPr>
        <p:spPr>
          <a:xfrm>
            <a:off x="736600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AiController 根据难度选择 AiStrategy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B1D2DD-5FEE-462C-BC13-BCF4468A538D}"/>
              </a:ext>
            </a:extLst>
          </p:cNvPr>
          <p:cNvSpPr>
            <a:spLocks noGrp="1"/>
          </p:cNvSpPr>
          <p:nvPr/>
        </p:nvSpPr>
        <p:spPr>
          <a:xfrm>
            <a:off x="9445625" y="29114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F1CC7B-AE4E-4841-8765-BE09B4615B29}"/>
              </a:ext>
            </a:extLst>
          </p:cNvPr>
          <p:cNvSpPr>
            <a:spLocks noGrp="1"/>
          </p:cNvSpPr>
          <p:nvPr/>
        </p:nvSpPr>
        <p:spPr>
          <a:xfrm>
            <a:off x="9493250" y="29400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AI 只在 Playing 阶段行动，暂停和发牌阶段不抢流程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9C0B72-0B79-44EC-9AC5-1F748B66FA9A}"/>
              </a:ext>
            </a:extLst>
          </p:cNvPr>
          <p:cNvSpPr>
            <a:spLocks noGrp="1"/>
          </p:cNvSpPr>
          <p:nvPr/>
        </p:nvSpPr>
        <p:spPr>
          <a:xfrm>
            <a:off x="519112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FD068E-AE8A-4B94-A672-ADBF7AC84E31}"/>
              </a:ext>
            </a:extLst>
          </p:cNvPr>
          <p:cNvSpPr>
            <a:spLocks noGrp="1"/>
          </p:cNvSpPr>
          <p:nvPr/>
        </p:nvSpPr>
        <p:spPr>
          <a:xfrm>
            <a:off x="523875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蓝牙模块 + 游戏状态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E7E368-B35F-45B4-AC8B-ED6AF80C646E}"/>
              </a:ext>
            </a:extLst>
          </p:cNvPr>
          <p:cNvSpPr>
            <a:spLocks noGrp="1"/>
          </p:cNvSpPr>
          <p:nvPr/>
        </p:nvSpPr>
        <p:spPr>
          <a:xfrm>
            <a:off x="731837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2AA5D3-BECF-4D1B-934B-2AFE20C12994}"/>
              </a:ext>
            </a:extLst>
          </p:cNvPr>
          <p:cNvSpPr>
            <a:spLocks noGrp="1"/>
          </p:cNvSpPr>
          <p:nvPr/>
        </p:nvSpPr>
        <p:spPr>
          <a:xfrm>
            <a:off x="736600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房主广播 MOVE_ACCEPTED 和 STATE_SNAPSHOT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01769D-ED63-4377-AFEB-C057444D69F5}"/>
              </a:ext>
            </a:extLst>
          </p:cNvPr>
          <p:cNvSpPr>
            <a:spLocks noGrp="1"/>
          </p:cNvSpPr>
          <p:nvPr/>
        </p:nvSpPr>
        <p:spPr>
          <a:xfrm>
            <a:off x="9445625" y="351790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DABEA3-1D42-41E2-8841-C864901BB6C0}"/>
              </a:ext>
            </a:extLst>
          </p:cNvPr>
          <p:cNvSpPr>
            <a:spLocks noGrp="1"/>
          </p:cNvSpPr>
          <p:nvPr/>
        </p:nvSpPr>
        <p:spPr>
          <a:xfrm>
            <a:off x="9493250" y="354647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客户端只展示房主快照，不直接修改权威牌局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5AC92C-4314-478E-80CE-04E9DD5647A9}"/>
              </a:ext>
            </a:extLst>
          </p:cNvPr>
          <p:cNvSpPr>
            <a:spLocks noGrp="1"/>
          </p:cNvSpPr>
          <p:nvPr/>
        </p:nvSpPr>
        <p:spPr>
          <a:xfrm>
            <a:off x="519112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6A4510-7839-4F96-B9FC-184275DD3C0D}"/>
              </a:ext>
            </a:extLst>
          </p:cNvPr>
          <p:cNvSpPr>
            <a:spLocks noGrp="1"/>
          </p:cNvSpPr>
          <p:nvPr/>
        </p:nvSpPr>
        <p:spPr>
          <a:xfrm>
            <a:off x="523875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玩家成长 + 结算页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0D4223-B0D6-4BA7-B616-7873C4EA0F3F}"/>
              </a:ext>
            </a:extLst>
          </p:cNvPr>
          <p:cNvSpPr>
            <a:spLocks noGrp="1"/>
          </p:cNvSpPr>
          <p:nvPr/>
        </p:nvSpPr>
        <p:spPr>
          <a:xfrm>
            <a:off x="731837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271ACC-EC54-44AF-8B6F-DE6D589CE2F2}"/>
              </a:ext>
            </a:extLst>
          </p:cNvPr>
          <p:cNvSpPr>
            <a:spLocks noGrp="1"/>
          </p:cNvSpPr>
          <p:nvPr/>
        </p:nvSpPr>
        <p:spPr>
          <a:xfrm>
            <a:off x="736600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结算生成 MatchSettlement，交给 ProfileController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63F1679-8653-46FA-9447-A1BCDAA50845}"/>
              </a:ext>
            </a:extLst>
          </p:cNvPr>
          <p:cNvSpPr>
            <a:spLocks noGrp="1"/>
          </p:cNvSpPr>
          <p:nvPr/>
        </p:nvSpPr>
        <p:spPr>
          <a:xfrm>
            <a:off x="9445625" y="412432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CA2A6D-2439-4AA8-9C10-B02A77B7081F}"/>
              </a:ext>
            </a:extLst>
          </p:cNvPr>
          <p:cNvSpPr>
            <a:spLocks noGrp="1"/>
          </p:cNvSpPr>
          <p:nvPr/>
        </p:nvSpPr>
        <p:spPr>
          <a:xfrm>
            <a:off x="9493250" y="415290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金币、经验、成就、战绩是否同步到大厅和玩家中心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CD4746-704F-4B4F-8E12-2E4B29B8B7D8}"/>
              </a:ext>
            </a:extLst>
          </p:cNvPr>
          <p:cNvSpPr>
            <a:spLocks noGrp="1"/>
          </p:cNvSpPr>
          <p:nvPr/>
        </p:nvSpPr>
        <p:spPr>
          <a:xfrm>
            <a:off x="519112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1809B82-0F31-456F-AE0A-AAAE44F0CADB}"/>
              </a:ext>
            </a:extLst>
          </p:cNvPr>
          <p:cNvSpPr>
            <a:spLocks noGrp="1"/>
          </p:cNvSpPr>
          <p:nvPr/>
        </p:nvSpPr>
        <p:spPr>
          <a:xfrm>
            <a:off x="523875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音乐反馈 + 页面生命周期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2B9E5D4-A0E3-438C-8945-2E81C5D82B5D}"/>
              </a:ext>
            </a:extLst>
          </p:cNvPr>
          <p:cNvSpPr>
            <a:spLocks noGrp="1"/>
          </p:cNvSpPr>
          <p:nvPr/>
        </p:nvSpPr>
        <p:spPr>
          <a:xfrm>
            <a:off x="731837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B8C6201-3641-43E4-B589-6841C56977F8}"/>
              </a:ext>
            </a:extLst>
          </p:cNvPr>
          <p:cNvSpPr>
            <a:spLocks noGrp="1"/>
          </p:cNvSpPr>
          <p:nvPr/>
        </p:nvSpPr>
        <p:spPr>
          <a:xfrm>
            <a:off x="736600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CardRoomMusicPlayer 由页面状态控制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819A0D-E07B-4848-8345-D0F8296C9A56}"/>
              </a:ext>
            </a:extLst>
          </p:cNvPr>
          <p:cNvSpPr>
            <a:spLocks noGrp="1"/>
          </p:cNvSpPr>
          <p:nvPr/>
        </p:nvSpPr>
        <p:spPr>
          <a:xfrm>
            <a:off x="9445625" y="4730750"/>
            <a:ext cx="2127250" cy="60642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86BD093-4241-4D15-8B7F-73D83A51D04D}"/>
              </a:ext>
            </a:extLst>
          </p:cNvPr>
          <p:cNvSpPr>
            <a:spLocks noGrp="1"/>
          </p:cNvSpPr>
          <p:nvPr/>
        </p:nvSpPr>
        <p:spPr>
          <a:xfrm>
            <a:off x="9493250" y="4759325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页面切换后音乐不重复创建，设置开关能生效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A30AC3-0A7C-4F33-ACA3-424F6A02E6B5}"/>
              </a:ext>
            </a:extLst>
          </p:cNvPr>
          <p:cNvSpPr>
            <a:spLocks noGrp="1"/>
          </p:cNvSpPr>
          <p:nvPr/>
        </p:nvSpPr>
        <p:spPr>
          <a:xfrm>
            <a:off x="519112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1BA0F1-971F-4C27-8B97-677780257665}"/>
              </a:ext>
            </a:extLst>
          </p:cNvPr>
          <p:cNvSpPr>
            <a:spLocks noGrp="1"/>
          </p:cNvSpPr>
          <p:nvPr/>
        </p:nvSpPr>
        <p:spPr>
          <a:xfrm>
            <a:off x="523875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Release 配置 + 本地数据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42C2E09-ADB5-404B-B4BA-D6638E416396}"/>
              </a:ext>
            </a:extLst>
          </p:cNvPr>
          <p:cNvSpPr>
            <a:spLocks noGrp="1"/>
          </p:cNvSpPr>
          <p:nvPr/>
        </p:nvSpPr>
        <p:spPr>
          <a:xfrm>
            <a:off x="731837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5E7D48-F67D-4588-898B-99D499619938}"/>
              </a:ext>
            </a:extLst>
          </p:cNvPr>
          <p:cNvSpPr>
            <a:spLocks noGrp="1"/>
          </p:cNvSpPr>
          <p:nvPr/>
        </p:nvSpPr>
        <p:spPr>
          <a:xfrm>
            <a:off x="736600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debug/release 签名和敏感文件分离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699CEEA-E3E7-4F77-A2F6-F7C8C9740248}"/>
              </a:ext>
            </a:extLst>
          </p:cNvPr>
          <p:cNvSpPr>
            <a:spLocks noGrp="1"/>
          </p:cNvSpPr>
          <p:nvPr/>
        </p:nvSpPr>
        <p:spPr>
          <a:xfrm>
            <a:off x="9445625" y="5337175"/>
            <a:ext cx="2127250" cy="606425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FC286EE-8383-0A40-83BB-C2B3B89E0E53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CD47873-12B2-4E4B-847F-C33C01357921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43A919B-0117-C541-94C2-065D25006B55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A928CDC-9917-4D81-84A1-F174E7B3D4B5}"/>
              </a:ext>
            </a:extLst>
          </p:cNvPr>
          <p:cNvSpPr>
            <a:spLocks noGrp="1"/>
          </p:cNvSpPr>
          <p:nvPr/>
        </p:nvSpPr>
        <p:spPr>
          <a:xfrm>
            <a:off x="9493250" y="5365750"/>
            <a:ext cx="2032000" cy="54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私钥不上传 GitHub，release 包能独立安装运行</a:t>
            </a:r>
          </a:p>
        </p:txBody>
      </p:sp>
    </p:spTree>
    <p:extLst>
      <p:ext uri="{BB962C8B-B14F-4D97-AF65-F5344CB8AC3E}">
        <p14:creationId xmlns:p14="http://schemas.microsoft.com/office/powerpoint/2010/main" val="766230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ED8-8F64-48A0-85C9-EAB30F5B16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207B6-2174-4029-96CE-D69BDAEDFD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E38E90-4E7A-4F4B-8767-D1464B683010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B2AB47-441A-46EA-BC9D-8273DB100DA1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C24BDC-D191-4096-A93B-7E986CA53E5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96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DEA27C-403B-4008-B143-6B7EE1B0CBC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DB176C-C54A-4C46-ACF6-81060871C174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代码测试与验收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1BAB56-59FB-4B09-B657-8E87232080D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9272F-C7FC-B64E-A156-46AB9DD5B14E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611669-DBA8-3549-96D9-52DB233D4B7F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576554-7620-434D-A4AD-68329FFDF97C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877AE6-9EC9-43D9-87C5-F450B5F00C4B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系统整合后第二步是测试代码，而不是立刻发布。测试分为本地单元测试、蓝牙模拟测试、构建测试、设备冒烟测试和手动验收五类，目标是尽量在发布 Release 前排除规则、状态、协议、成长数据和安装运行问题。</a:t>
            </a:r>
          </a:p>
          <a:p>
            <a:endParaRPr sz="1388" b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自动化测试覆盖如下：</a:t>
            </a:r>
          </a:p>
        </p:txBody>
      </p:sp>
    </p:spTree>
    <p:extLst>
      <p:ext uri="{BB962C8B-B14F-4D97-AF65-F5344CB8AC3E}">
        <p14:creationId xmlns:p14="http://schemas.microsoft.com/office/powerpoint/2010/main" val="1123690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924094D0-4ACE-46AB-B292-8C09938E0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5D4D9A-3D4D-48E3-B896-A8D000BE7C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04E9F-49D1-4695-A401-97F22D7DB1DC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6DE506-7401-4AF8-8669-2B43D380DC0D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8D1B7F-1991-4451-960B-86CDFEC8F36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97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080E4-171C-4ECA-91E5-96BED530923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84D741-57E3-493E-98D6-0BCF78018A7D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代码测试与验收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9D9FC5-8216-4638-8B72-85C3958E1B94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E1CC61-5C9C-496E-A7D9-FEE0D4FF1F8F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3DE0C-E9C3-4752-85CC-2538291A9022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6CED90-74B9-4491-9D76-D13E9697CFDE}"/>
              </a:ext>
            </a:extLst>
          </p:cNvPr>
          <p:cNvSpPr>
            <a:spLocks noGrp="1"/>
          </p:cNvSpPr>
          <p:nvPr/>
        </p:nvSpPr>
        <p:spPr>
          <a:xfrm>
            <a:off x="42037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D95AC9-15F7-4DCA-BA72-358CD4AFC473}"/>
              </a:ext>
            </a:extLst>
          </p:cNvPr>
          <p:cNvSpPr>
            <a:spLocks noGrp="1"/>
          </p:cNvSpPr>
          <p:nvPr/>
        </p:nvSpPr>
        <p:spPr>
          <a:xfrm>
            <a:off x="42513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覆盖内容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FB81D-9FA9-46AC-BBB6-622E4867C58B}"/>
              </a:ext>
            </a:extLst>
          </p:cNvPr>
          <p:cNvSpPr>
            <a:spLocks noGrp="1"/>
          </p:cNvSpPr>
          <p:nvPr/>
        </p:nvSpPr>
        <p:spPr>
          <a:xfrm>
            <a:off x="7950200" y="1905000"/>
            <a:ext cx="3746500" cy="3365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2F6083-BC82-43F8-960F-81F38E9B450B}"/>
              </a:ext>
            </a:extLst>
          </p:cNvPr>
          <p:cNvSpPr>
            <a:spLocks noGrp="1"/>
          </p:cNvSpPr>
          <p:nvPr/>
        </p:nvSpPr>
        <p:spPr>
          <a:xfrm>
            <a:off x="7997825" y="1943100"/>
            <a:ext cx="3651250" cy="2603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A55F0D-A36F-4D8C-9FD7-716A6E8927DA}"/>
              </a:ext>
            </a:extLst>
          </p:cNvPr>
          <p:cNvSpPr>
            <a:spLocks noGrp="1"/>
          </p:cNvSpPr>
          <p:nvPr/>
        </p:nvSpPr>
        <p:spPr>
          <a:xfrm>
            <a:off x="4572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9E577F-0EFD-44AA-8F4F-D5FC1A34CED5}"/>
              </a:ext>
            </a:extLst>
          </p:cNvPr>
          <p:cNvSpPr>
            <a:spLocks noGrp="1"/>
          </p:cNvSpPr>
          <p:nvPr/>
        </p:nvSpPr>
        <p:spPr>
          <a:xfrm>
            <a:off x="5048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HandClassifierTest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8E3AA8-C2AC-4AAB-9A6F-2AA97872E575}"/>
              </a:ext>
            </a:extLst>
          </p:cNvPr>
          <p:cNvSpPr>
            <a:spLocks noGrp="1"/>
          </p:cNvSpPr>
          <p:nvPr/>
        </p:nvSpPr>
        <p:spPr>
          <a:xfrm>
            <a:off x="42037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844C5C-D2D1-4D5A-9CB4-7F23D0B65240}"/>
              </a:ext>
            </a:extLst>
          </p:cNvPr>
          <p:cNvSpPr>
            <a:spLocks noGrp="1"/>
          </p:cNvSpPr>
          <p:nvPr/>
        </p:nvSpPr>
        <p:spPr>
          <a:xfrm>
            <a:off x="42513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0187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单张、对子、三张、顺子、同花、葫芦、四带一、同花顺、南北规则差异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D3BF50-5585-40B6-AAA4-D245045859DC}"/>
              </a:ext>
            </a:extLst>
          </p:cNvPr>
          <p:cNvSpPr>
            <a:spLocks noGrp="1"/>
          </p:cNvSpPr>
          <p:nvPr/>
        </p:nvSpPr>
        <p:spPr>
          <a:xfrm>
            <a:off x="7950200" y="22415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4996B3-2825-4286-8E9A-C4D2EAB72C57}"/>
              </a:ext>
            </a:extLst>
          </p:cNvPr>
          <p:cNvSpPr>
            <a:spLocks noGrp="1"/>
          </p:cNvSpPr>
          <p:nvPr/>
        </p:nvSpPr>
        <p:spPr>
          <a:xfrm>
            <a:off x="7997825" y="22701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覆盖核心牌型和规则差异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6C373F-929C-4CFD-9F14-A6241539B239}"/>
              </a:ext>
            </a:extLst>
          </p:cNvPr>
          <p:cNvSpPr>
            <a:spLocks noGrp="1"/>
          </p:cNvSpPr>
          <p:nvPr/>
        </p:nvSpPr>
        <p:spPr>
          <a:xfrm>
            <a:off x="4572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C13E5B-FA4F-4425-B60D-ECD357ACAEA6}"/>
              </a:ext>
            </a:extLst>
          </p:cNvPr>
          <p:cNvSpPr>
            <a:spLocks noGrp="1"/>
          </p:cNvSpPr>
          <p:nvPr/>
        </p:nvSpPr>
        <p:spPr>
          <a:xfrm>
            <a:off x="5048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GameControllerTest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6C587E-41B1-4B10-92B8-FC97852BE759}"/>
              </a:ext>
            </a:extLst>
          </p:cNvPr>
          <p:cNvSpPr>
            <a:spLocks noGrp="1"/>
          </p:cNvSpPr>
          <p:nvPr/>
        </p:nvSpPr>
        <p:spPr>
          <a:xfrm>
            <a:off x="42037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9FB444-EA5F-4BFB-B747-09716CB00F03}"/>
              </a:ext>
            </a:extLst>
          </p:cNvPr>
          <p:cNvSpPr>
            <a:spLocks noGrp="1"/>
          </p:cNvSpPr>
          <p:nvPr/>
        </p:nvSpPr>
        <p:spPr>
          <a:xfrm>
            <a:off x="42513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发牌、首出、过牌重置、AI 合法动作、固定 seed 随机多局完成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CC5699-EED9-47B6-9755-DB67373B77B1}"/>
              </a:ext>
            </a:extLst>
          </p:cNvPr>
          <p:cNvSpPr>
            <a:spLocks noGrp="1"/>
          </p:cNvSpPr>
          <p:nvPr/>
        </p:nvSpPr>
        <p:spPr>
          <a:xfrm>
            <a:off x="7950200" y="25781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B2351-AB1D-4CAE-8AF5-3E5B210E703A}"/>
              </a:ext>
            </a:extLst>
          </p:cNvPr>
          <p:cNvSpPr>
            <a:spLocks noGrp="1"/>
          </p:cNvSpPr>
          <p:nvPr/>
        </p:nvSpPr>
        <p:spPr>
          <a:xfrm>
            <a:off x="7997825" y="26066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覆盖牌局主流程，防止死循环和非法状态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B9E9E1-1D6B-4FB2-B537-58E6079DADEB}"/>
              </a:ext>
            </a:extLst>
          </p:cNvPr>
          <p:cNvSpPr>
            <a:spLocks noGrp="1"/>
          </p:cNvSpPr>
          <p:nvPr/>
        </p:nvSpPr>
        <p:spPr>
          <a:xfrm>
            <a:off x="4572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73BD51-7C98-4C5F-9CE0-1657BBF7DEB8}"/>
              </a:ext>
            </a:extLst>
          </p:cNvPr>
          <p:cNvSpPr>
            <a:spLocks noGrp="1"/>
          </p:cNvSpPr>
          <p:nvPr/>
        </p:nvSpPr>
        <p:spPr>
          <a:xfrm>
            <a:off x="5048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PlayerActionPolicyTest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D6EAD8-F92A-47F8-B5A3-464AC5C9BAF0}"/>
              </a:ext>
            </a:extLst>
          </p:cNvPr>
          <p:cNvSpPr>
            <a:spLocks noGrp="1"/>
          </p:cNvSpPr>
          <p:nvPr/>
        </p:nvSpPr>
        <p:spPr>
          <a:xfrm>
            <a:off x="42037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867A26-2115-4E0B-8F5C-631EB7A8FF18}"/>
              </a:ext>
            </a:extLst>
          </p:cNvPr>
          <p:cNvSpPr>
            <a:spLocks noGrp="1"/>
          </p:cNvSpPr>
          <p:nvPr/>
        </p:nvSpPr>
        <p:spPr>
          <a:xfrm>
            <a:off x="42513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无可压牌提示、按钮可用性、等待确认、发牌阶段锁定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B86D8E-F9F1-48A4-8FEB-09F8F672F41A}"/>
              </a:ext>
            </a:extLst>
          </p:cNvPr>
          <p:cNvSpPr>
            <a:spLocks noGrp="1"/>
          </p:cNvSpPr>
          <p:nvPr/>
        </p:nvSpPr>
        <p:spPr>
          <a:xfrm>
            <a:off x="7950200" y="29146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73E473-2DED-482E-B638-250E09E38DA9}"/>
              </a:ext>
            </a:extLst>
          </p:cNvPr>
          <p:cNvSpPr>
            <a:spLocks noGrp="1"/>
          </p:cNvSpPr>
          <p:nvPr/>
        </p:nvSpPr>
        <p:spPr>
          <a:xfrm>
            <a:off x="7997825" y="29432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覆盖玩家操作是否可点击、是否应提示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5D3E54-BF5E-46B1-A39A-BEA46B420B7E}"/>
              </a:ext>
            </a:extLst>
          </p:cNvPr>
          <p:cNvSpPr>
            <a:spLocks noGrp="1"/>
          </p:cNvSpPr>
          <p:nvPr/>
        </p:nvSpPr>
        <p:spPr>
          <a:xfrm>
            <a:off x="4572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EFDB316-8D56-41FC-BFA3-479FFC1CB5D6}"/>
              </a:ext>
            </a:extLst>
          </p:cNvPr>
          <p:cNvSpPr>
            <a:spLocks noGrp="1"/>
          </p:cNvSpPr>
          <p:nvPr/>
        </p:nvSpPr>
        <p:spPr>
          <a:xfrm>
            <a:off x="5048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GameMessageCodecTest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A2BA55-1E52-4FD6-92EB-A51F14F1CE79}"/>
              </a:ext>
            </a:extLst>
          </p:cNvPr>
          <p:cNvSpPr>
            <a:spLocks noGrp="1"/>
          </p:cNvSpPr>
          <p:nvPr/>
        </p:nvSpPr>
        <p:spPr>
          <a:xfrm>
            <a:off x="42037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DC66DE-2156-4A74-919D-A6F86AD746F6}"/>
              </a:ext>
            </a:extLst>
          </p:cNvPr>
          <p:cNvSpPr>
            <a:spLocks noGrp="1"/>
          </p:cNvSpPr>
          <p:nvPr/>
        </p:nvSpPr>
        <p:spPr>
          <a:xfrm>
            <a:off x="42513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7796"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ROOM、START、MOVE、SNAPSHOT、DISCONNECT_NOTICE 等消息往返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F32BC4-942B-46B7-AA62-69EA2DD0E3BF}"/>
              </a:ext>
            </a:extLst>
          </p:cNvPr>
          <p:cNvSpPr>
            <a:spLocks noGrp="1"/>
          </p:cNvSpPr>
          <p:nvPr/>
        </p:nvSpPr>
        <p:spPr>
          <a:xfrm>
            <a:off x="7950200" y="32512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C4AF2B-78C7-45D4-B866-16A5604DF7D2}"/>
              </a:ext>
            </a:extLst>
          </p:cNvPr>
          <p:cNvSpPr>
            <a:spLocks noGrp="1"/>
          </p:cNvSpPr>
          <p:nvPr/>
        </p:nvSpPr>
        <p:spPr>
          <a:xfrm>
            <a:off x="7997825" y="32797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覆盖联机协议编码/解码和中文昵称场景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16B9B2-DFD7-437F-B9BF-B7029AF54C9E}"/>
              </a:ext>
            </a:extLst>
          </p:cNvPr>
          <p:cNvSpPr>
            <a:spLocks noGrp="1"/>
          </p:cNvSpPr>
          <p:nvPr/>
        </p:nvSpPr>
        <p:spPr>
          <a:xfrm>
            <a:off x="4572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8A780B-C13B-4E64-94BF-4C0EAC4A3D25}"/>
              </a:ext>
            </a:extLst>
          </p:cNvPr>
          <p:cNvSpPr>
            <a:spLocks noGrp="1"/>
          </p:cNvSpPr>
          <p:nvPr/>
        </p:nvSpPr>
        <p:spPr>
          <a:xfrm>
            <a:off x="5048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RoomSeatTest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9E918AF-AEE3-4561-8712-8A16583E3960}"/>
              </a:ext>
            </a:extLst>
          </p:cNvPr>
          <p:cNvSpPr>
            <a:spLocks noGrp="1"/>
          </p:cNvSpPr>
          <p:nvPr/>
        </p:nvSpPr>
        <p:spPr>
          <a:xfrm>
            <a:off x="42037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8C52E8-C6DF-40F6-99EB-71BD1203FF09}"/>
              </a:ext>
            </a:extLst>
          </p:cNvPr>
          <p:cNvSpPr>
            <a:spLocks noGrp="1"/>
          </p:cNvSpPr>
          <p:nvPr/>
        </p:nvSpPr>
        <p:spPr>
          <a:xfrm>
            <a:off x="42513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四座位、添加人机、准备、客户端断线托管、再开局重置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67522C-ED9D-4A51-AE88-20BA6631242E}"/>
              </a:ext>
            </a:extLst>
          </p:cNvPr>
          <p:cNvSpPr>
            <a:spLocks noGrp="1"/>
          </p:cNvSpPr>
          <p:nvPr/>
        </p:nvSpPr>
        <p:spPr>
          <a:xfrm>
            <a:off x="7950200" y="35877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2E51DF3-207F-4F08-AC0F-A5B54060CE94}"/>
              </a:ext>
            </a:extLst>
          </p:cNvPr>
          <p:cNvSpPr>
            <a:spLocks noGrp="1"/>
          </p:cNvSpPr>
          <p:nvPr/>
        </p:nvSpPr>
        <p:spPr>
          <a:xfrm>
            <a:off x="7997825" y="36163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覆盖蓝牙房间座位逻辑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9013FE-C765-4C81-88EE-AEDE192B0DFA}"/>
              </a:ext>
            </a:extLst>
          </p:cNvPr>
          <p:cNvSpPr>
            <a:spLocks noGrp="1"/>
          </p:cNvSpPr>
          <p:nvPr/>
        </p:nvSpPr>
        <p:spPr>
          <a:xfrm>
            <a:off x="4572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FD9F20E-E180-4A59-802F-337C047847C9}"/>
              </a:ext>
            </a:extLst>
          </p:cNvPr>
          <p:cNvSpPr>
            <a:spLocks noGrp="1"/>
          </p:cNvSpPr>
          <p:nvPr/>
        </p:nvSpPr>
        <p:spPr>
          <a:xfrm>
            <a:off x="5048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NetworkMoveGuardTest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D760D6E-C6F3-43E6-AD4C-078987F2F2AA}"/>
              </a:ext>
            </a:extLst>
          </p:cNvPr>
          <p:cNvSpPr>
            <a:spLocks noGrp="1"/>
          </p:cNvSpPr>
          <p:nvPr/>
        </p:nvSpPr>
        <p:spPr>
          <a:xfrm>
            <a:off x="42037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4A4DB57-367E-4C7D-A347-B66A21BA54C6}"/>
              </a:ext>
            </a:extLst>
          </p:cNvPr>
          <p:cNvSpPr>
            <a:spLocks noGrp="1"/>
          </p:cNvSpPr>
          <p:nvPr/>
        </p:nvSpPr>
        <p:spPr>
          <a:xfrm>
            <a:off x="42513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当前远端玩家校验、重复/非法请求过滤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0B7B99E-83DD-42D3-AE0A-12429BE9C3C7}"/>
              </a:ext>
            </a:extLst>
          </p:cNvPr>
          <p:cNvSpPr>
            <a:spLocks noGrp="1"/>
          </p:cNvSpPr>
          <p:nvPr/>
        </p:nvSpPr>
        <p:spPr>
          <a:xfrm>
            <a:off x="7950200" y="39243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4901E92-5887-4B06-9CA7-DC25212DAB75}"/>
              </a:ext>
            </a:extLst>
          </p:cNvPr>
          <p:cNvSpPr>
            <a:spLocks noGrp="1"/>
          </p:cNvSpPr>
          <p:nvPr/>
        </p:nvSpPr>
        <p:spPr>
          <a:xfrm>
            <a:off x="7997825" y="39528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覆盖房主权威保护，避免重复点击污染牌局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745186B-C40F-4BA8-A9A7-4869FE743B21}"/>
              </a:ext>
            </a:extLst>
          </p:cNvPr>
          <p:cNvSpPr>
            <a:spLocks noGrp="1"/>
          </p:cNvSpPr>
          <p:nvPr/>
        </p:nvSpPr>
        <p:spPr>
          <a:xfrm>
            <a:off x="4572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931CBA8-E1D1-4E85-94D8-66397B5A2E17}"/>
              </a:ext>
            </a:extLst>
          </p:cNvPr>
          <p:cNvSpPr>
            <a:spLocks noGrp="1"/>
          </p:cNvSpPr>
          <p:nvPr/>
        </p:nvSpPr>
        <p:spPr>
          <a:xfrm>
            <a:off x="5048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SimulatedBluetoothHubTest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B80E2B-38A6-4D8D-A044-9A58E57328D0}"/>
              </a:ext>
            </a:extLst>
          </p:cNvPr>
          <p:cNvSpPr>
            <a:spLocks noGrp="1"/>
          </p:cNvSpPr>
          <p:nvPr/>
        </p:nvSpPr>
        <p:spPr>
          <a:xfrm>
            <a:off x="42037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D64D3E9-5E65-433F-9B4E-C9B84614DC28}"/>
              </a:ext>
            </a:extLst>
          </p:cNvPr>
          <p:cNvSpPr>
            <a:spLocks noGrp="1"/>
          </p:cNvSpPr>
          <p:nvPr/>
        </p:nvSpPr>
        <p:spPr>
          <a:xfrm>
            <a:off x="42513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三人加入、房满拒绝、房主广播、移动请求和客户端断线托管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6B48B7-17A9-4626-A9CB-0A5A66D650DF}"/>
              </a:ext>
            </a:extLst>
          </p:cNvPr>
          <p:cNvSpPr>
            <a:spLocks noGrp="1"/>
          </p:cNvSpPr>
          <p:nvPr/>
        </p:nvSpPr>
        <p:spPr>
          <a:xfrm>
            <a:off x="7950200" y="42608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EF9299A-570B-4356-97D7-4DB24672E49C}"/>
              </a:ext>
            </a:extLst>
          </p:cNvPr>
          <p:cNvSpPr>
            <a:spLocks noGrp="1"/>
          </p:cNvSpPr>
          <p:nvPr/>
        </p:nvSpPr>
        <p:spPr>
          <a:xfrm>
            <a:off x="7997825" y="42894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覆盖多人蓝牙核心逻辑的可重复模拟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2863203-5D4E-4FB0-8666-B05007698674}"/>
              </a:ext>
            </a:extLst>
          </p:cNvPr>
          <p:cNvSpPr>
            <a:spLocks noGrp="1"/>
          </p:cNvSpPr>
          <p:nvPr/>
        </p:nvSpPr>
        <p:spPr>
          <a:xfrm>
            <a:off x="4572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9272FBB-E3A7-4E65-8956-F139A0BCE61A}"/>
              </a:ext>
            </a:extLst>
          </p:cNvPr>
          <p:cNvSpPr>
            <a:spLocks noGrp="1"/>
          </p:cNvSpPr>
          <p:nvPr/>
        </p:nvSpPr>
        <p:spPr>
          <a:xfrm>
            <a:off x="5048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ProfileControllerTest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97CE4B2-A1D9-4313-A45E-684E7DFF104A}"/>
              </a:ext>
            </a:extLst>
          </p:cNvPr>
          <p:cNvSpPr>
            <a:spLocks noGrp="1"/>
          </p:cNvSpPr>
          <p:nvPr/>
        </p:nvSpPr>
        <p:spPr>
          <a:xfrm>
            <a:off x="42037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118AE84-6B91-420A-A45A-1438E62D92C0}"/>
              </a:ext>
            </a:extLst>
          </p:cNvPr>
          <p:cNvSpPr>
            <a:spLocks noGrp="1"/>
          </p:cNvSpPr>
          <p:nvPr/>
        </p:nvSpPr>
        <p:spPr>
          <a:xfrm>
            <a:off x="42513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经验升级、金币结算、头像解锁、改名消费、战绩重置、每日奖励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18977F8-4C89-4C64-8DF0-7F7DF3018E6F}"/>
              </a:ext>
            </a:extLst>
          </p:cNvPr>
          <p:cNvSpPr>
            <a:spLocks noGrp="1"/>
          </p:cNvSpPr>
          <p:nvPr/>
        </p:nvSpPr>
        <p:spPr>
          <a:xfrm>
            <a:off x="7950200" y="45974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813FFA-8AC1-46B0-B16A-961A30D71641}"/>
              </a:ext>
            </a:extLst>
          </p:cNvPr>
          <p:cNvSpPr>
            <a:spLocks noGrp="1"/>
          </p:cNvSpPr>
          <p:nvPr/>
        </p:nvSpPr>
        <p:spPr>
          <a:xfrm>
            <a:off x="7997825" y="46259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覆盖玩家成长系统和金币消费规则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D0A61AF-79DE-4B67-860B-F9389CF73C0B}"/>
              </a:ext>
            </a:extLst>
          </p:cNvPr>
          <p:cNvSpPr>
            <a:spLocks noGrp="1"/>
          </p:cNvSpPr>
          <p:nvPr/>
        </p:nvSpPr>
        <p:spPr>
          <a:xfrm>
            <a:off x="4572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0B91373-9618-4926-AD26-53D9909F501B}"/>
              </a:ext>
            </a:extLst>
          </p:cNvPr>
          <p:cNvSpPr>
            <a:spLocks noGrp="1"/>
          </p:cNvSpPr>
          <p:nvPr/>
        </p:nvSpPr>
        <p:spPr>
          <a:xfrm>
            <a:off x="5048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TableAnimationKeysTest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06C010A-76D1-488C-A565-77AE01297966}"/>
              </a:ext>
            </a:extLst>
          </p:cNvPr>
          <p:cNvSpPr>
            <a:spLocks noGrp="1"/>
          </p:cNvSpPr>
          <p:nvPr/>
        </p:nvSpPr>
        <p:spPr>
          <a:xfrm>
            <a:off x="42037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CA6AA9F-A07D-4A0D-8B01-DFEA158C833D}"/>
              </a:ext>
            </a:extLst>
          </p:cNvPr>
          <p:cNvSpPr>
            <a:spLocks noGrp="1"/>
          </p:cNvSpPr>
          <p:nvPr/>
        </p:nvSpPr>
        <p:spPr>
          <a:xfrm>
            <a:off x="42513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出牌动画 key 和落桌动画 key 稳定性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A8C1273-3FAD-486D-B952-D8B5D78E0037}"/>
              </a:ext>
            </a:extLst>
          </p:cNvPr>
          <p:cNvSpPr>
            <a:spLocks noGrp="1"/>
          </p:cNvSpPr>
          <p:nvPr/>
        </p:nvSpPr>
        <p:spPr>
          <a:xfrm>
            <a:off x="7950200" y="49339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B58B4B0-C0C2-4FCF-A408-1B5803B17BDF}"/>
              </a:ext>
            </a:extLst>
          </p:cNvPr>
          <p:cNvSpPr>
            <a:spLocks noGrp="1"/>
          </p:cNvSpPr>
          <p:nvPr/>
        </p:nvSpPr>
        <p:spPr>
          <a:xfrm>
            <a:off x="7997825" y="49625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覆盖动画重复触发风险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CE6F25-6069-419F-8C96-C59669AD6C23}"/>
              </a:ext>
            </a:extLst>
          </p:cNvPr>
          <p:cNvSpPr>
            <a:spLocks noGrp="1"/>
          </p:cNvSpPr>
          <p:nvPr/>
        </p:nvSpPr>
        <p:spPr>
          <a:xfrm>
            <a:off x="4572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2DEF54C-79AD-4789-BDF0-0A9636C6F1B6}"/>
              </a:ext>
            </a:extLst>
          </p:cNvPr>
          <p:cNvSpPr>
            <a:spLocks noGrp="1"/>
          </p:cNvSpPr>
          <p:nvPr/>
        </p:nvSpPr>
        <p:spPr>
          <a:xfrm>
            <a:off x="5048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MusicAssetTest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9EF73C-7195-4F9E-9DFE-62AF73450855}"/>
              </a:ext>
            </a:extLst>
          </p:cNvPr>
          <p:cNvSpPr>
            <a:spLocks noGrp="1"/>
          </p:cNvSpPr>
          <p:nvPr/>
        </p:nvSpPr>
        <p:spPr>
          <a:xfrm>
            <a:off x="42037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746A333-7DEB-4E99-8F7B-2BBADB67C7F0}"/>
              </a:ext>
            </a:extLst>
          </p:cNvPr>
          <p:cNvSpPr>
            <a:spLocks noGrp="1"/>
          </p:cNvSpPr>
          <p:nvPr/>
        </p:nvSpPr>
        <p:spPr>
          <a:xfrm>
            <a:off x="42513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背景音乐资源存在和循环配置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7994BF0-26BF-450B-BAA7-6D35B1C0DE23}"/>
              </a:ext>
            </a:extLst>
          </p:cNvPr>
          <p:cNvSpPr>
            <a:spLocks noGrp="1"/>
          </p:cNvSpPr>
          <p:nvPr/>
        </p:nvSpPr>
        <p:spPr>
          <a:xfrm>
            <a:off x="7950200" y="5270500"/>
            <a:ext cx="3746500" cy="33655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2DC9AD6-BBFB-42F7-8990-F42B9577A363}"/>
              </a:ext>
            </a:extLst>
          </p:cNvPr>
          <p:cNvSpPr>
            <a:spLocks noGrp="1"/>
          </p:cNvSpPr>
          <p:nvPr/>
        </p:nvSpPr>
        <p:spPr>
          <a:xfrm>
            <a:off x="7997825" y="529907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覆盖音乐资源和 0:00-1:33 循环要求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2F48DAB-FB27-467B-B8FD-0E00AA687123}"/>
              </a:ext>
            </a:extLst>
          </p:cNvPr>
          <p:cNvSpPr>
            <a:spLocks noGrp="1"/>
          </p:cNvSpPr>
          <p:nvPr/>
        </p:nvSpPr>
        <p:spPr>
          <a:xfrm>
            <a:off x="4572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241E442-5E1A-427B-972A-7031689BECDB}"/>
              </a:ext>
            </a:extLst>
          </p:cNvPr>
          <p:cNvSpPr>
            <a:spLocks noGrp="1"/>
          </p:cNvSpPr>
          <p:nvPr/>
        </p:nvSpPr>
        <p:spPr>
          <a:xfrm>
            <a:off x="5048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ChudadiDeviceSmokeTest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4C83B20-6E14-44D5-B384-5D1352CF184D}"/>
              </a:ext>
            </a:extLst>
          </p:cNvPr>
          <p:cNvSpPr>
            <a:spLocks noGrp="1"/>
          </p:cNvSpPr>
          <p:nvPr/>
        </p:nvSpPr>
        <p:spPr>
          <a:xfrm>
            <a:off x="42037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3FB9426-94FA-4A40-AFF5-3FB0FE902D1B}"/>
              </a:ext>
            </a:extLst>
          </p:cNvPr>
          <p:cNvSpPr>
            <a:spLocks noGrp="1"/>
          </p:cNvSpPr>
          <p:nvPr/>
        </p:nvSpPr>
        <p:spPr>
          <a:xfrm>
            <a:off x="42513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真机/模拟器启动和基础 UI 冒烟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B21D2B-0EBE-411F-850E-99085838FC0F}"/>
              </a:ext>
            </a:extLst>
          </p:cNvPr>
          <p:cNvSpPr>
            <a:spLocks noGrp="1"/>
          </p:cNvSpPr>
          <p:nvPr/>
        </p:nvSpPr>
        <p:spPr>
          <a:xfrm>
            <a:off x="7950200" y="5607050"/>
            <a:ext cx="3746500" cy="33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CCD11EA-4519-334B-9021-C36865E8BF2C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9094353-2018-1749-8688-AFFCDF1ADEF2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B73F9C4-B3EE-6C47-A2C9-D8B5B38425FE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6398FE4-9E46-4392-BAFB-63F143E9617C}"/>
              </a:ext>
            </a:extLst>
          </p:cNvPr>
          <p:cNvSpPr>
            <a:spLocks noGrp="1"/>
          </p:cNvSpPr>
          <p:nvPr/>
        </p:nvSpPr>
        <p:spPr>
          <a:xfrm>
            <a:off x="7997825" y="5635625"/>
            <a:ext cx="3651250" cy="279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覆盖设备启动验收</a:t>
            </a:r>
          </a:p>
        </p:txBody>
      </p:sp>
    </p:spTree>
    <p:extLst>
      <p:ext uri="{BB962C8B-B14F-4D97-AF65-F5344CB8AC3E}">
        <p14:creationId xmlns:p14="http://schemas.microsoft.com/office/powerpoint/2010/main" val="508040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C40A5C3-9744-413F-B3FF-9BA110D95F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684D15-DD09-4755-8639-D38F4A0F03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E795E1-8735-4032-AF8A-4D820E7C1246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62DDA-2FC0-462E-9EAA-1BE54D1C57E9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5D1C5-698D-4379-975F-E9553010597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B6B8F6-9FF7-4AE3-AE50-13F07E988DB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B4F941-891D-4535-A9E7-ED6F701CD1E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代码测试与验收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E04E9C-AA8C-4AB3-9896-30262FB2AD2D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C35FF7-82C5-CB4B-99C7-BC4F02B5A2B4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D01FA7-926D-F043-AD3E-04FF75F234F3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2EE08A-A52E-D34F-A829-5CF9C0515222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0422AC-BDE9-4C2C-8436-50815301F966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668000" cy="40386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388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388" b="0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手动验收重点如下</a:t>
            </a:r>
            <a:r>
              <a:rPr sz="1388" b="0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92697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1EC41B71-C3D4-4FE0-B5E5-929B34253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62141D-2B84-45EE-9A9B-41E97A4E50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B3EBF3-6ACC-42DD-875B-29B1E93B8A6A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DC6865-FDDB-4F42-A944-64564359C8A8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4EA2C5-93DA-42D0-9834-757EE70E1612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76B489-F515-4D9A-BD88-541061A8611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A88ECA-0C93-4810-9887-516884337191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.3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代码测试与验收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755AFD-C40F-4FDE-9C95-04A3FBB37779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E968C-7F59-4F80-939A-85E9211EF02C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218339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63E7DA-9941-4C59-9D29-08FFC8155336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123089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2B6040-7352-43AD-A574-92B9054AED29}"/>
              </a:ext>
            </a:extLst>
          </p:cNvPr>
          <p:cNvSpPr>
            <a:spLocks noGrp="1"/>
          </p:cNvSpPr>
          <p:nvPr/>
        </p:nvSpPr>
        <p:spPr>
          <a:xfrm>
            <a:off x="5675539" y="1905000"/>
            <a:ext cx="6021161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6007AD-0C6E-47D0-9C1A-715ACE1FC0EE}"/>
              </a:ext>
            </a:extLst>
          </p:cNvPr>
          <p:cNvSpPr>
            <a:spLocks noGrp="1"/>
          </p:cNvSpPr>
          <p:nvPr/>
        </p:nvSpPr>
        <p:spPr>
          <a:xfrm>
            <a:off x="5723164" y="1943100"/>
            <a:ext cx="5925911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预期结果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663433-EB6B-40D6-81B8-84C63024A0D2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7C96E9-D2B7-4E7C-8FBB-D0D942DCC853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开屏进入大厅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2B8FD1-DE5E-4307-9676-4F32D2777101}"/>
              </a:ext>
            </a:extLst>
          </p:cNvPr>
          <p:cNvSpPr>
            <a:spLocks noGrp="1"/>
          </p:cNvSpPr>
          <p:nvPr/>
        </p:nvSpPr>
        <p:spPr>
          <a:xfrm>
            <a:off x="5675539" y="2305050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D3AB95-8619-4CD7-AE88-140591F772CF}"/>
              </a:ext>
            </a:extLst>
          </p:cNvPr>
          <p:cNvSpPr>
            <a:spLocks noGrp="1"/>
          </p:cNvSpPr>
          <p:nvPr/>
        </p:nvSpPr>
        <p:spPr>
          <a:xfrm>
            <a:off x="5723164" y="233362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点击开始游戏后进入大厅，UI 无明显错位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9A580A-E178-4C62-8F7E-A23829CE78B4}"/>
              </a:ext>
            </a:extLst>
          </p:cNvPr>
          <p:cNvSpPr>
            <a:spLocks noGrp="1"/>
          </p:cNvSpPr>
          <p:nvPr/>
        </p:nvSpPr>
        <p:spPr>
          <a:xfrm>
            <a:off x="457200" y="2709333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3CD5DD-DBDB-4CB6-9387-326AB2C68BAD}"/>
              </a:ext>
            </a:extLst>
          </p:cNvPr>
          <p:cNvSpPr>
            <a:spLocks noGrp="1"/>
          </p:cNvSpPr>
          <p:nvPr/>
        </p:nvSpPr>
        <p:spPr>
          <a:xfrm>
            <a:off x="504825" y="273790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人机对局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A51460-E5AE-4DBE-BECD-E9A43A74334A}"/>
              </a:ext>
            </a:extLst>
          </p:cNvPr>
          <p:cNvSpPr>
            <a:spLocks noGrp="1"/>
          </p:cNvSpPr>
          <p:nvPr/>
        </p:nvSpPr>
        <p:spPr>
          <a:xfrm>
            <a:off x="5675539" y="2709333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AFF86A-C5A0-485C-AEDA-75F55E196BBF}"/>
              </a:ext>
            </a:extLst>
          </p:cNvPr>
          <p:cNvSpPr>
            <a:spLocks noGrp="1"/>
          </p:cNvSpPr>
          <p:nvPr/>
        </p:nvSpPr>
        <p:spPr>
          <a:xfrm>
            <a:off x="5723164" y="273790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简单、普通、困难均可开局并完成一局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143D6-40EC-4A95-A657-4176ADDD933E}"/>
              </a:ext>
            </a:extLst>
          </p:cNvPr>
          <p:cNvSpPr>
            <a:spLocks noGrp="1"/>
          </p:cNvSpPr>
          <p:nvPr/>
        </p:nvSpPr>
        <p:spPr>
          <a:xfrm>
            <a:off x="457200" y="3113617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A31766-E2E0-47AA-AED6-4F788E529955}"/>
              </a:ext>
            </a:extLst>
          </p:cNvPr>
          <p:cNvSpPr>
            <a:spLocks noGrp="1"/>
          </p:cNvSpPr>
          <p:nvPr/>
        </p:nvSpPr>
        <p:spPr>
          <a:xfrm>
            <a:off x="504825" y="314219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南北规则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67326B-BDB0-4957-B211-BD6466C65093}"/>
              </a:ext>
            </a:extLst>
          </p:cNvPr>
          <p:cNvSpPr>
            <a:spLocks noGrp="1"/>
          </p:cNvSpPr>
          <p:nvPr/>
        </p:nvSpPr>
        <p:spPr>
          <a:xfrm>
            <a:off x="5675539" y="3113617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7AF583-705E-4F72-9278-17D9A87319E8}"/>
              </a:ext>
            </a:extLst>
          </p:cNvPr>
          <p:cNvSpPr>
            <a:spLocks noGrp="1"/>
          </p:cNvSpPr>
          <p:nvPr/>
        </p:nvSpPr>
        <p:spPr>
          <a:xfrm>
            <a:off x="5723164" y="314219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保存规则后影响后续人机和蓝牙对局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8445DA-6C4B-4516-B9E0-D934F547CAD4}"/>
              </a:ext>
            </a:extLst>
          </p:cNvPr>
          <p:cNvSpPr>
            <a:spLocks noGrp="1"/>
          </p:cNvSpPr>
          <p:nvPr/>
        </p:nvSpPr>
        <p:spPr>
          <a:xfrm>
            <a:off x="457200" y="3517900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76F116-BE8A-4FAF-ABB7-CF13DC662635}"/>
              </a:ext>
            </a:extLst>
          </p:cNvPr>
          <p:cNvSpPr>
            <a:spLocks noGrp="1"/>
          </p:cNvSpPr>
          <p:nvPr/>
        </p:nvSpPr>
        <p:spPr>
          <a:xfrm>
            <a:off x="504825" y="354647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蓝牙房间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607EDA-F2A5-4E8D-995F-5A85769D8053}"/>
              </a:ext>
            </a:extLst>
          </p:cNvPr>
          <p:cNvSpPr>
            <a:spLocks noGrp="1"/>
          </p:cNvSpPr>
          <p:nvPr/>
        </p:nvSpPr>
        <p:spPr>
          <a:xfrm>
            <a:off x="5675539" y="3517900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285ED9-A4E4-43B4-995E-3231C7674FD3}"/>
              </a:ext>
            </a:extLst>
          </p:cNvPr>
          <p:cNvSpPr>
            <a:spLocks noGrp="1"/>
          </p:cNvSpPr>
          <p:nvPr/>
        </p:nvSpPr>
        <p:spPr>
          <a:xfrm>
            <a:off x="5723164" y="354647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房主创建房间、加入者连接、四座位准备、人机补位、客户端断线托管、房主断线弹窗退出和开局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B03080-E74D-49A2-9901-B56EA9242A89}"/>
              </a:ext>
            </a:extLst>
          </p:cNvPr>
          <p:cNvSpPr>
            <a:spLocks noGrp="1"/>
          </p:cNvSpPr>
          <p:nvPr/>
        </p:nvSpPr>
        <p:spPr>
          <a:xfrm>
            <a:off x="457200" y="3922183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74AF69-7A33-4322-9ABB-B30831BA114D}"/>
              </a:ext>
            </a:extLst>
          </p:cNvPr>
          <p:cNvSpPr>
            <a:spLocks noGrp="1"/>
          </p:cNvSpPr>
          <p:nvPr/>
        </p:nvSpPr>
        <p:spPr>
          <a:xfrm>
            <a:off x="504825" y="395075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出牌流程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47EBE9-9E84-4A05-B2B1-3BCB18651B67}"/>
              </a:ext>
            </a:extLst>
          </p:cNvPr>
          <p:cNvSpPr>
            <a:spLocks noGrp="1"/>
          </p:cNvSpPr>
          <p:nvPr/>
        </p:nvSpPr>
        <p:spPr>
          <a:xfrm>
            <a:off x="5675539" y="3922183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C2A32F-404E-49F6-A3DB-8903EBC3C522}"/>
              </a:ext>
            </a:extLst>
          </p:cNvPr>
          <p:cNvSpPr>
            <a:spLocks noGrp="1"/>
          </p:cNvSpPr>
          <p:nvPr/>
        </p:nvSpPr>
        <p:spPr>
          <a:xfrm>
            <a:off x="5723164" y="395075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玩家可选牌、出牌、不出、提示，非法牌显示提示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43015A-A3FE-48E6-A00A-13462E2585C8}"/>
              </a:ext>
            </a:extLst>
          </p:cNvPr>
          <p:cNvSpPr>
            <a:spLocks noGrp="1"/>
          </p:cNvSpPr>
          <p:nvPr/>
        </p:nvSpPr>
        <p:spPr>
          <a:xfrm>
            <a:off x="457200" y="4326467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1D5F6A-AABC-48F7-B0D3-02C0403EED02}"/>
              </a:ext>
            </a:extLst>
          </p:cNvPr>
          <p:cNvSpPr>
            <a:spLocks noGrp="1"/>
          </p:cNvSpPr>
          <p:nvPr/>
        </p:nvSpPr>
        <p:spPr>
          <a:xfrm>
            <a:off x="504825" y="435504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无可压牌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905114-A292-43BD-A8C2-C63D7523E4E9}"/>
              </a:ext>
            </a:extLst>
          </p:cNvPr>
          <p:cNvSpPr>
            <a:spLocks noGrp="1"/>
          </p:cNvSpPr>
          <p:nvPr/>
        </p:nvSpPr>
        <p:spPr>
          <a:xfrm>
            <a:off x="5675539" y="4326467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26FC686-2B7F-4B33-8D1E-4636FC233C56}"/>
              </a:ext>
            </a:extLst>
          </p:cNvPr>
          <p:cNvSpPr>
            <a:spLocks noGrp="1"/>
          </p:cNvSpPr>
          <p:nvPr/>
        </p:nvSpPr>
        <p:spPr>
          <a:xfrm>
            <a:off x="5723164" y="435504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显示“手上没有可以大过人家的牌”，只允许不出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C804A06-2698-4279-B6E4-843A0BB25A67}"/>
              </a:ext>
            </a:extLst>
          </p:cNvPr>
          <p:cNvSpPr>
            <a:spLocks noGrp="1"/>
          </p:cNvSpPr>
          <p:nvPr/>
        </p:nvSpPr>
        <p:spPr>
          <a:xfrm>
            <a:off x="457200" y="4730750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B9B18F-5AA5-4089-96C6-872F737B073D}"/>
              </a:ext>
            </a:extLst>
          </p:cNvPr>
          <p:cNvSpPr>
            <a:spLocks noGrp="1"/>
          </p:cNvSpPr>
          <p:nvPr/>
        </p:nvSpPr>
        <p:spPr>
          <a:xfrm>
            <a:off x="504825" y="4759325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350A20-7BEE-4393-A554-E09E1F84500C}"/>
              </a:ext>
            </a:extLst>
          </p:cNvPr>
          <p:cNvSpPr>
            <a:spLocks noGrp="1"/>
          </p:cNvSpPr>
          <p:nvPr/>
        </p:nvSpPr>
        <p:spPr>
          <a:xfrm>
            <a:off x="5675539" y="4730750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F494CD-2EFF-4522-A594-815AE5BD3BF8}"/>
              </a:ext>
            </a:extLst>
          </p:cNvPr>
          <p:cNvSpPr>
            <a:spLocks noGrp="1"/>
          </p:cNvSpPr>
          <p:nvPr/>
        </p:nvSpPr>
        <p:spPr>
          <a:xfrm>
            <a:off x="5723164" y="4759325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显示胜负、金币、经验、升级和再来一局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CD51C97-8663-49FE-B325-B8791CBBA3F2}"/>
              </a:ext>
            </a:extLst>
          </p:cNvPr>
          <p:cNvSpPr>
            <a:spLocks noGrp="1"/>
          </p:cNvSpPr>
          <p:nvPr/>
        </p:nvSpPr>
        <p:spPr>
          <a:xfrm>
            <a:off x="457200" y="5135033"/>
            <a:ext cx="5218339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FD3B229-8C1A-4DDF-8D4F-AA74013FB5A0}"/>
              </a:ext>
            </a:extLst>
          </p:cNvPr>
          <p:cNvSpPr>
            <a:spLocks noGrp="1"/>
          </p:cNvSpPr>
          <p:nvPr/>
        </p:nvSpPr>
        <p:spPr>
          <a:xfrm>
            <a:off x="504825" y="5163608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玩家中心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03F05C0-196F-491E-AC88-1D0786E0D3A9}"/>
              </a:ext>
            </a:extLst>
          </p:cNvPr>
          <p:cNvSpPr>
            <a:spLocks noGrp="1"/>
          </p:cNvSpPr>
          <p:nvPr/>
        </p:nvSpPr>
        <p:spPr>
          <a:xfrm>
            <a:off x="5675539" y="5135033"/>
            <a:ext cx="6021161" cy="404283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EC836C-4591-481C-B10D-00B7287EF8BD}"/>
              </a:ext>
            </a:extLst>
          </p:cNvPr>
          <p:cNvSpPr>
            <a:spLocks noGrp="1"/>
          </p:cNvSpPr>
          <p:nvPr/>
        </p:nvSpPr>
        <p:spPr>
          <a:xfrm>
            <a:off x="5723164" y="5163608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改名、头像、每日奖励、战绩和成就逻辑正常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8E2099C-9798-4732-AAB7-089FFF272F5C}"/>
              </a:ext>
            </a:extLst>
          </p:cNvPr>
          <p:cNvSpPr>
            <a:spLocks noGrp="1"/>
          </p:cNvSpPr>
          <p:nvPr/>
        </p:nvSpPr>
        <p:spPr>
          <a:xfrm>
            <a:off x="457200" y="5539317"/>
            <a:ext cx="5218339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9229B0-E1FE-439C-B19F-4E4E39BFEF2E}"/>
              </a:ext>
            </a:extLst>
          </p:cNvPr>
          <p:cNvSpPr>
            <a:spLocks noGrp="1"/>
          </p:cNvSpPr>
          <p:nvPr/>
        </p:nvSpPr>
        <p:spPr>
          <a:xfrm>
            <a:off x="504825" y="5567892"/>
            <a:ext cx="5123089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音乐与反馈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7CB6D58-3B2C-4E6D-85EA-49F970CF7F32}"/>
              </a:ext>
            </a:extLst>
          </p:cNvPr>
          <p:cNvSpPr>
            <a:spLocks noGrp="1"/>
          </p:cNvSpPr>
          <p:nvPr/>
        </p:nvSpPr>
        <p:spPr>
          <a:xfrm>
            <a:off x="5675539" y="5539317"/>
            <a:ext cx="6021161" cy="4042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D74101-C929-AD45-A645-BFC86E3C3327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DFA3CC2-88D4-834D-8BF7-DB669DBC4CDB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D49E133-B56A-D24E-B567-E30576E27D43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9B14BE-DC43-4E62-A789-069715127A1D}"/>
              </a:ext>
            </a:extLst>
          </p:cNvPr>
          <p:cNvSpPr>
            <a:spLocks noGrp="1"/>
          </p:cNvSpPr>
          <p:nvPr/>
        </p:nvSpPr>
        <p:spPr>
          <a:xfrm>
            <a:off x="5723164" y="5567892"/>
            <a:ext cx="5925911" cy="347133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背景音乐循环、出牌音效、震动开关生效</a:t>
            </a:r>
          </a:p>
        </p:txBody>
      </p:sp>
    </p:spTree>
    <p:extLst>
      <p:ext uri="{BB962C8B-B14F-4D97-AF65-F5344CB8AC3E}">
        <p14:creationId xmlns:p14="http://schemas.microsoft.com/office/powerpoint/2010/main" val="830398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0F962D61-B2D6-47ED-980D-0D6AD9FDE3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8EE63E-0BFF-4E64-8EBB-CC90F895F3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3F3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B070D9-02A5-4801-ADD0-28BAAAB97DD2}"/>
              </a:ext>
            </a:extLst>
          </p:cNvPr>
          <p:cNvSpPr>
            <a:spLocks noGrp="1"/>
          </p:cNvSpPr>
          <p:nvPr/>
        </p:nvSpPr>
        <p:spPr>
          <a:xfrm>
            <a:off x="361950" y="1524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锄大地 Android 棋牌游戏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5CE269-A290-46F7-934D-7331D4286F7F}"/>
              </a:ext>
            </a:extLst>
          </p:cNvPr>
          <p:cNvSpPr>
            <a:spLocks noGrp="1"/>
          </p:cNvSpPr>
          <p:nvPr/>
        </p:nvSpPr>
        <p:spPr>
          <a:xfrm>
            <a:off x="7239000" y="1524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8D08A"/>
                </a:solidFill>
                <a:latin typeface="PingFang SC"/>
                <a:ea typeface="PingFang SC"/>
                <a:cs typeface="PingFang SC"/>
              </a:rPr>
              <a:t>8. 阶段 5：交付（Transition）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B46A43-0FC0-4360-9995-DA5FF3CDC7D7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697"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D63"/>
                </a:solidFill>
                <a:latin typeface="PingFang SC"/>
                <a:ea typeface="PingFang SC"/>
                <a:cs typeface="PingFang SC"/>
              </a:rPr>
              <a:t>107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D063B2-11E9-403B-A531-84F1CE0E4F0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26670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43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A43A"/>
                </a:solidFill>
                <a:latin typeface="PingFang SC"/>
                <a:ea typeface="PingFang SC"/>
                <a:cs typeface="PingFang SC"/>
              </a:rPr>
              <a:t>REPORT BLOCK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65FA7-507D-4FFF-873B-28B25937516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07156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.</a:t>
            </a:r>
            <a:r>
              <a:rPr lang="en-US" altLang="zh-CN"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175" b="1" dirty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75" b="1" dirty="0" err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问题与解决</a:t>
            </a:r>
            <a:endParaRPr sz="2175" b="1" dirty="0">
              <a:solidFill>
                <a:srgbClr val="17211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F0444E-06E7-45C6-8B68-30DEEECCDB52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10668000" cy="9525"/>
          </a:xfrm>
          <a:prstGeom prst="rect">
            <a:avLst/>
          </a:prstGeom>
          <a:solidFill>
            <a:srgbClr val="D9DFD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2A94E5-A420-4144-8D7F-4FFE5866D75D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58493E-537B-4DB2-8AB7-810EB49DB03D}"/>
              </a:ext>
            </a:extLst>
          </p:cNvPr>
          <p:cNvSpPr>
            <a:spLocks noGrp="1"/>
          </p:cNvSpPr>
          <p:nvPr/>
        </p:nvSpPr>
        <p:spPr>
          <a:xfrm>
            <a:off x="50482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4BF2FA-8156-4FDF-9EC0-04592573AF39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5619750" cy="400050"/>
          </a:xfrm>
          <a:prstGeom prst="rect">
            <a:avLst/>
          </a:prstGeom>
          <a:solidFill>
            <a:srgbClr val="0F3F3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225A13-6E83-4510-8F36-F9161A9B3FC3}"/>
              </a:ext>
            </a:extLst>
          </p:cNvPr>
          <p:cNvSpPr>
            <a:spLocks noGrp="1"/>
          </p:cNvSpPr>
          <p:nvPr/>
        </p:nvSpPr>
        <p:spPr>
          <a:xfrm>
            <a:off x="6124575" y="194310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解决方法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F09230-F912-4D86-ADED-B6D302AA6AB9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6C10C-35F6-4DAA-92EB-55441A90898A}"/>
              </a:ext>
            </a:extLst>
          </p:cNvPr>
          <p:cNvSpPr>
            <a:spLocks noGrp="1"/>
          </p:cNvSpPr>
          <p:nvPr/>
        </p:nvSpPr>
        <p:spPr>
          <a:xfrm>
            <a:off x="504825" y="233362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真机蓝牙受品牌、权限、配对状态影响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7B1A73-BEDB-4A0D-A197-9D45B3C284D3}"/>
              </a:ext>
            </a:extLst>
          </p:cNvPr>
          <p:cNvSpPr>
            <a:spLocks noGrp="1"/>
          </p:cNvSpPr>
          <p:nvPr/>
        </p:nvSpPr>
        <p:spPr>
          <a:xfrm>
            <a:off x="6076950" y="230505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3F6FE4-DED9-4702-94E5-4634CE2E0A81}"/>
              </a:ext>
            </a:extLst>
          </p:cNvPr>
          <p:cNvSpPr>
            <a:spLocks noGrp="1"/>
          </p:cNvSpPr>
          <p:nvPr/>
        </p:nvSpPr>
        <p:spPr>
          <a:xfrm>
            <a:off x="6124575" y="233362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自动化模拟测试覆盖协议和房间逻辑，答辩前再做真机复测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31987D-5A92-44AB-A309-16F33631AEBD}"/>
              </a:ext>
            </a:extLst>
          </p:cNvPr>
          <p:cNvSpPr>
            <a:spLocks noGrp="1"/>
          </p:cNvSpPr>
          <p:nvPr/>
        </p:nvSpPr>
        <p:spPr>
          <a:xfrm>
            <a:off x="457200" y="303276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222046-4AFA-45AF-AF80-2049B265CA46}"/>
              </a:ext>
            </a:extLst>
          </p:cNvPr>
          <p:cNvSpPr>
            <a:spLocks noGrp="1"/>
          </p:cNvSpPr>
          <p:nvPr/>
        </p:nvSpPr>
        <p:spPr>
          <a:xfrm>
            <a:off x="504825" y="306133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蓝牙断线场景难以稳定人工复现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72479B-2B6D-4A4E-9C9D-9C3A8F2AC765}"/>
              </a:ext>
            </a:extLst>
          </p:cNvPr>
          <p:cNvSpPr>
            <a:spLocks noGrp="1"/>
          </p:cNvSpPr>
          <p:nvPr/>
        </p:nvSpPr>
        <p:spPr>
          <a:xfrm>
            <a:off x="6076950" y="303276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093EEA-C4A0-42B3-90D4-F014BC9F7BF0}"/>
              </a:ext>
            </a:extLst>
          </p:cNvPr>
          <p:cNvSpPr>
            <a:spLocks noGrp="1"/>
          </p:cNvSpPr>
          <p:nvPr/>
        </p:nvSpPr>
        <p:spPr>
          <a:xfrm>
            <a:off x="6124575" y="306133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使用模拟传输覆盖客户端断线托管；房主断线采用真机/手动验收确认弹窗退出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5136EB-D302-467C-A176-32EF8207972A}"/>
              </a:ext>
            </a:extLst>
          </p:cNvPr>
          <p:cNvSpPr>
            <a:spLocks noGrp="1"/>
          </p:cNvSpPr>
          <p:nvPr/>
        </p:nvSpPr>
        <p:spPr>
          <a:xfrm>
            <a:off x="457200" y="376047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AA164D-6041-47E2-88DB-37D53B87A36A}"/>
              </a:ext>
            </a:extLst>
          </p:cNvPr>
          <p:cNvSpPr>
            <a:spLocks noGrp="1"/>
          </p:cNvSpPr>
          <p:nvPr/>
        </p:nvSpPr>
        <p:spPr>
          <a:xfrm>
            <a:off x="504825" y="378904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Debug 和 Release 签名不同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1DF54F-2737-4340-95C9-54A3C6071F5D}"/>
              </a:ext>
            </a:extLst>
          </p:cNvPr>
          <p:cNvSpPr>
            <a:spLocks noGrp="1"/>
          </p:cNvSpPr>
          <p:nvPr/>
        </p:nvSpPr>
        <p:spPr>
          <a:xfrm>
            <a:off x="6076950" y="376047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F90049-7882-467A-8A1A-E4136C0B67EE}"/>
              </a:ext>
            </a:extLst>
          </p:cNvPr>
          <p:cNvSpPr>
            <a:spLocks noGrp="1"/>
          </p:cNvSpPr>
          <p:nvPr/>
        </p:nvSpPr>
        <p:spPr>
          <a:xfrm>
            <a:off x="6124575" y="378904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runRelease 自动卸载旧包并安装 Release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8C9C79-5D17-4DB1-AA72-34CF3A676399}"/>
              </a:ext>
            </a:extLst>
          </p:cNvPr>
          <p:cNvSpPr>
            <a:spLocks noGrp="1"/>
          </p:cNvSpPr>
          <p:nvPr/>
        </p:nvSpPr>
        <p:spPr>
          <a:xfrm>
            <a:off x="457200" y="448818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C7277B-298B-45B7-8842-886F0448F4FE}"/>
              </a:ext>
            </a:extLst>
          </p:cNvPr>
          <p:cNvSpPr>
            <a:spLocks noGrp="1"/>
          </p:cNvSpPr>
          <p:nvPr/>
        </p:nvSpPr>
        <p:spPr>
          <a:xfrm>
            <a:off x="504825" y="451675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文档与最终代码可能不同步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B08824-3460-4EAB-9E04-AC099AE589C0}"/>
              </a:ext>
            </a:extLst>
          </p:cNvPr>
          <p:cNvSpPr>
            <a:spLocks noGrp="1"/>
          </p:cNvSpPr>
          <p:nvPr/>
        </p:nvSpPr>
        <p:spPr>
          <a:xfrm>
            <a:off x="6076950" y="4488180"/>
            <a:ext cx="5619750" cy="727710"/>
          </a:xfrm>
          <a:prstGeom prst="rect">
            <a:avLst/>
          </a:prstGeom>
          <a:solidFill>
            <a:srgbClr val="F7FAF4"/>
          </a:solidFill>
          <a:ln w="9525">
            <a:solidFill>
              <a:srgbClr val="D9DFD2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95F4C5-6AA5-4CAD-8FE7-E60B27485391}"/>
              </a:ext>
            </a:extLst>
          </p:cNvPr>
          <p:cNvSpPr>
            <a:spLocks noGrp="1"/>
          </p:cNvSpPr>
          <p:nvPr/>
        </p:nvSpPr>
        <p:spPr>
          <a:xfrm>
            <a:off x="6124575" y="451675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使用 docs/final_checklist.md 逐项核查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C1369D-D1A1-482E-B9B2-4EB1A9109E9E}"/>
              </a:ext>
            </a:extLst>
          </p:cNvPr>
          <p:cNvSpPr>
            <a:spLocks noGrp="1"/>
          </p:cNvSpPr>
          <p:nvPr/>
        </p:nvSpPr>
        <p:spPr>
          <a:xfrm>
            <a:off x="457200" y="521589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B6123D-1FC7-4121-9D0A-205CAA9DDC81}"/>
              </a:ext>
            </a:extLst>
          </p:cNvPr>
          <p:cNvSpPr>
            <a:spLocks noGrp="1"/>
          </p:cNvSpPr>
          <p:nvPr/>
        </p:nvSpPr>
        <p:spPr>
          <a:xfrm>
            <a:off x="504825" y="524446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敏感文件不能上传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7460BB-F577-44B2-B7C7-2D4FE995429B}"/>
              </a:ext>
            </a:extLst>
          </p:cNvPr>
          <p:cNvSpPr>
            <a:spLocks noGrp="1"/>
          </p:cNvSpPr>
          <p:nvPr/>
        </p:nvSpPr>
        <p:spPr>
          <a:xfrm>
            <a:off x="6076950" y="5215890"/>
            <a:ext cx="5619750" cy="727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2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9F912D-9DD0-CB42-B661-585C18186DF5}"/>
              </a:ext>
            </a:extLst>
          </p:cNvPr>
          <p:cNvSpPr/>
          <p:nvPr/>
        </p:nvSpPr>
        <p:spPr>
          <a:xfrm>
            <a:off x="457200" y="1117600"/>
            <a:ext cx="57150" cy="58420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999262-16DE-6E44-AB63-A8282BC24644}"/>
              </a:ext>
            </a:extLst>
          </p:cNvPr>
          <p:cNvSpPr/>
          <p:nvPr/>
        </p:nvSpPr>
        <p:spPr>
          <a:xfrm>
            <a:off x="457200" y="6540500"/>
            <a:ext cx="11239500" cy="15240"/>
          </a:xfrm>
          <a:prstGeom prst="rect">
            <a:avLst/>
          </a:prstGeom>
          <a:solidFill>
            <a:srgbClr val="C8D2C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0D7810-7247-5F48-8C3D-2A13851EDC66}"/>
              </a:ext>
            </a:extLst>
          </p:cNvPr>
          <p:cNvSpPr/>
          <p:nvPr/>
        </p:nvSpPr>
        <p:spPr>
          <a:xfrm>
            <a:off x="457200" y="6540500"/>
            <a:ext cx="965200" cy="33020"/>
          </a:xfrm>
          <a:prstGeom prst="rect">
            <a:avLst/>
          </a:prstGeom>
          <a:solidFill>
            <a:srgbClr val="F4B74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C36029-ED95-4F60-A9B7-C03ABAE7BF2C}"/>
              </a:ext>
            </a:extLst>
          </p:cNvPr>
          <p:cNvSpPr>
            <a:spLocks noGrp="1"/>
          </p:cNvSpPr>
          <p:nvPr/>
        </p:nvSpPr>
        <p:spPr>
          <a:xfrm>
            <a:off x="6124575" y="5244465"/>
            <a:ext cx="5524500" cy="67056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将签名私钥和本地配置排除在 GitHub 之外</a:t>
            </a:r>
          </a:p>
        </p:txBody>
      </p:sp>
    </p:spTree>
    <p:extLst>
      <p:ext uri="{BB962C8B-B14F-4D97-AF65-F5344CB8AC3E}">
        <p14:creationId xmlns:p14="http://schemas.microsoft.com/office/powerpoint/2010/main" val="6099972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8C3BF5E-2CAA-A543-A9F2-839DB19EBF9D}">
  <we:reference id="wa200010215" version="2.0.0.0" store="zh-CN" storeType="OMEX"/>
  <we:alternateReferences>
    <we:reference id="wa200010215" version="2.0.0.0" store="zh-CN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BFC2433-2A4E-0144-9A33-88E9F49C816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2f76e17-a3e5-4c80-ac54-b520326943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4526</Words>
  <Application>Microsoft Macintosh PowerPoint</Application>
  <DocSecurity>0</DocSecurity>
  <PresentationFormat>宽屏</PresentationFormat>
  <Paragraphs>798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2" baseType="lpstr">
      <vt:lpstr>PingFang SC</vt:lpstr>
      <vt:lpstr>Arial</vt:lpstr>
      <vt:lpstr>Calibri</vt:lpstr>
      <vt:lpstr>Menlo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均杰 莫</cp:lastModifiedBy>
  <cp:revision>6</cp:revision>
  <dcterms:created xsi:type="dcterms:W3CDTF">2026-06-10T06:12:22Z</dcterms:created>
  <dcterms:modified xsi:type="dcterms:W3CDTF">2026-06-10T16:03:39Z</dcterms:modified>
</cp:coreProperties>
</file>