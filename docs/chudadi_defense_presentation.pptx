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cb259eab3748f2" /><Relationship Type="http://schemas.openxmlformats.org/officeDocument/2006/relationships/extended-properties" Target="/docProps/app.xml" Id="R1f3ac5fa73374e1a" /><Relationship Type="http://schemas.openxmlformats.org/officeDocument/2006/relationships/officeDocument" Target="/ppt/presentation.xml" Id="R74e22522c7dd43a0" /></Relationships>
</file>

<file path=ppt/presentation.xml><?xml version="1.0" encoding="utf-8"?>
<p:presentation xmlns:p="http://schemas.openxmlformats.org/presentationml/2006/main">
  <p:sldMasterIdLst>
    <p:sldMasterId xmlns:r="http://schemas.openxmlformats.org/officeDocument/2006/relationships" id="2147483648" r:id="Rdfc58daaf37e42d3"/>
  </p:sldMasterIdLst>
  <p:notesMasterIdLst>
    <p:notesMasterId xmlns:r="http://schemas.openxmlformats.org/officeDocument/2006/relationships" r:id="R16e90ebcfadf45dd"/>
  </p:notesMasterIdLst>
  <p:sldIdLst>
    <p:sldId xmlns:r="http://schemas.openxmlformats.org/officeDocument/2006/relationships" id="256" r:id="Rb5915066a26642ec"/>
    <p:sldId xmlns:r="http://schemas.openxmlformats.org/officeDocument/2006/relationships" id="257" r:id="R60f22597ab95443b"/>
    <p:sldId xmlns:r="http://schemas.openxmlformats.org/officeDocument/2006/relationships" id="258" r:id="Rc3e52d46f7a74274"/>
    <p:sldId xmlns:r="http://schemas.openxmlformats.org/officeDocument/2006/relationships" id="259" r:id="R3e06836eca9c411c"/>
    <p:sldId xmlns:r="http://schemas.openxmlformats.org/officeDocument/2006/relationships" id="260" r:id="R1ce49574ce164e62"/>
    <p:sldId xmlns:r="http://schemas.openxmlformats.org/officeDocument/2006/relationships" id="261" r:id="R929724562597427f"/>
    <p:sldId xmlns:r="http://schemas.openxmlformats.org/officeDocument/2006/relationships" id="262" r:id="R25e8e4c274294b11"/>
    <p:sldId xmlns:r="http://schemas.openxmlformats.org/officeDocument/2006/relationships" id="263" r:id="R39706d4c2b7b43f1"/>
    <p:sldId xmlns:r="http://schemas.openxmlformats.org/officeDocument/2006/relationships" id="264" r:id="R8915514847134d82"/>
    <p:sldId xmlns:r="http://schemas.openxmlformats.org/officeDocument/2006/relationships" id="265" r:id="Rcdc50036896d4b75"/>
    <p:sldId xmlns:r="http://schemas.openxmlformats.org/officeDocument/2006/relationships" id="266" r:id="R561e8e1a602948c1"/>
    <p:sldId xmlns:r="http://schemas.openxmlformats.org/officeDocument/2006/relationships" id="267" r:id="Rc9411e6378d94ac8"/>
    <p:sldId xmlns:r="http://schemas.openxmlformats.org/officeDocument/2006/relationships" id="268" r:id="R6e1b7d260b6647a0"/>
    <p:sldId xmlns:r="http://schemas.openxmlformats.org/officeDocument/2006/relationships" id="269" r:id="R960c2e61b67d4006"/>
    <p:sldId xmlns:r="http://schemas.openxmlformats.org/officeDocument/2006/relationships" id="270" r:id="R5cb5ed9cf47d45f4"/>
    <p:sldId xmlns:r="http://schemas.openxmlformats.org/officeDocument/2006/relationships" id="271" r:id="R1f9efcfa0b904038"/>
    <p:sldId xmlns:r="http://schemas.openxmlformats.org/officeDocument/2006/relationships" id="272" r:id="R7aed62f13c404555"/>
    <p:sldId xmlns:r="http://schemas.openxmlformats.org/officeDocument/2006/relationships" id="273" r:id="R8406c5ad4065410b"/>
    <p:sldId xmlns:r="http://schemas.openxmlformats.org/officeDocument/2006/relationships" id="274" r:id="R0d314b5bf0fd48dc"/>
    <p:sldId xmlns:r="http://schemas.openxmlformats.org/officeDocument/2006/relationships" id="275" r:id="Rba2d6ba752b84d22"/>
    <p:sldId xmlns:r="http://schemas.openxmlformats.org/officeDocument/2006/relationships" id="276" r:id="R1afc017e21eb494f"/>
    <p:sldId xmlns:r="http://schemas.openxmlformats.org/officeDocument/2006/relationships" id="277" r:id="R6b0d618dcb154057"/>
    <p:sldId xmlns:r="http://schemas.openxmlformats.org/officeDocument/2006/relationships" id="278" r:id="Ra63b6bf874dd4d46"/>
    <p:sldId xmlns:r="http://schemas.openxmlformats.org/officeDocument/2006/relationships" id="279" r:id="Ra7246089c5ed4a8c"/>
    <p:sldId xmlns:r="http://schemas.openxmlformats.org/officeDocument/2006/relationships" id="280" r:id="Ra2b78316717e44eb"/>
    <p:sldId xmlns:r="http://schemas.openxmlformats.org/officeDocument/2006/relationships" id="281" r:id="R209cd618425d457a"/>
    <p:sldId xmlns:r="http://schemas.openxmlformats.org/officeDocument/2006/relationships" id="282" r:id="Re2176ecc463349f8"/>
    <p:sldId xmlns:r="http://schemas.openxmlformats.org/officeDocument/2006/relationships" id="283" r:id="R4bd88e363ab64439"/>
    <p:sldId xmlns:r="http://schemas.openxmlformats.org/officeDocument/2006/relationships" id="284" r:id="Re01e6a30d1c343cc"/>
    <p:sldId xmlns:r="http://schemas.openxmlformats.org/officeDocument/2006/relationships" id="285" r:id="R3130943049654b15"/>
    <p:sldId xmlns:r="http://schemas.openxmlformats.org/officeDocument/2006/relationships" id="286" r:id="R658bdd14ec3f4f19"/>
    <p:sldId xmlns:r="http://schemas.openxmlformats.org/officeDocument/2006/relationships" id="287" r:id="R5fb1736effb244ac"/>
    <p:sldId xmlns:r="http://schemas.openxmlformats.org/officeDocument/2006/relationships" id="288" r:id="Rba2976147fe04604"/>
    <p:sldId xmlns:r="http://schemas.openxmlformats.org/officeDocument/2006/relationships" id="289" r:id="Rcb9bca296b1e45a1"/>
    <p:sldId xmlns:r="http://schemas.openxmlformats.org/officeDocument/2006/relationships" id="290" r:id="R73e9749ab89f41bc"/>
    <p:sldId xmlns:r="http://schemas.openxmlformats.org/officeDocument/2006/relationships" id="291" r:id="Rb2529b8a25c34986"/>
    <p:sldId xmlns:r="http://schemas.openxmlformats.org/officeDocument/2006/relationships" id="292" r:id="R03c7f371582c493c"/>
    <p:sldId xmlns:r="http://schemas.openxmlformats.org/officeDocument/2006/relationships" id="293" r:id="Rc5e176f897ec4504"/>
    <p:sldId xmlns:r="http://schemas.openxmlformats.org/officeDocument/2006/relationships" id="294" r:id="R4eea6b1ff3fb404a"/>
    <p:sldId xmlns:r="http://schemas.openxmlformats.org/officeDocument/2006/relationships" id="295" r:id="R95b62c6c42b747b7"/>
    <p:sldId xmlns:r="http://schemas.openxmlformats.org/officeDocument/2006/relationships" id="296" r:id="Rd0bd39efa0654139"/>
    <p:sldId xmlns:r="http://schemas.openxmlformats.org/officeDocument/2006/relationships" id="297" r:id="R8adfd3f0bf484d3d"/>
    <p:sldId xmlns:r="http://schemas.openxmlformats.org/officeDocument/2006/relationships" id="298" r:id="R06623264efa64074"/>
    <p:sldId xmlns:r="http://schemas.openxmlformats.org/officeDocument/2006/relationships" id="299" r:id="R5b89a676cf0e4504"/>
    <p:sldId xmlns:r="http://schemas.openxmlformats.org/officeDocument/2006/relationships" id="300" r:id="R5eff290b32d94cf9"/>
    <p:sldId xmlns:r="http://schemas.openxmlformats.org/officeDocument/2006/relationships" id="301" r:id="R358ea2d5d0d64f17"/>
    <p:sldId xmlns:r="http://schemas.openxmlformats.org/officeDocument/2006/relationships" id="302" r:id="R3e14b4f1dae54f56"/>
    <p:sldId xmlns:r="http://schemas.openxmlformats.org/officeDocument/2006/relationships" id="303" r:id="R73d53bdaf76a4aea"/>
    <p:sldId xmlns:r="http://schemas.openxmlformats.org/officeDocument/2006/relationships" id="304" r:id="R46cfca89bb33476b"/>
    <p:sldId xmlns:r="http://schemas.openxmlformats.org/officeDocument/2006/relationships" id="305" r:id="R4afd29bb808b4dd6"/>
    <p:sldId xmlns:r="http://schemas.openxmlformats.org/officeDocument/2006/relationships" id="306" r:id="Rccf7074bb24044f3"/>
    <p:sldId xmlns:r="http://schemas.openxmlformats.org/officeDocument/2006/relationships" id="307" r:id="R448fc5454e5d4f32"/>
    <p:sldId xmlns:r="http://schemas.openxmlformats.org/officeDocument/2006/relationships" id="308" r:id="Rd91ef8b36c434d35"/>
    <p:sldId xmlns:r="http://schemas.openxmlformats.org/officeDocument/2006/relationships" id="309" r:id="R2222ac2c38b94978"/>
    <p:sldId xmlns:r="http://schemas.openxmlformats.org/officeDocument/2006/relationships" id="310" r:id="R685ccd70800345c0"/>
    <p:sldId xmlns:r="http://schemas.openxmlformats.org/officeDocument/2006/relationships" id="311" r:id="R1809ffdf03cd420c"/>
    <p:sldId xmlns:r="http://schemas.openxmlformats.org/officeDocument/2006/relationships" id="312" r:id="R03502d69753b4dc2"/>
    <p:sldId xmlns:r="http://schemas.openxmlformats.org/officeDocument/2006/relationships" id="313" r:id="R44061cabbbef4222"/>
    <p:sldId xmlns:r="http://schemas.openxmlformats.org/officeDocument/2006/relationships" id="314" r:id="R3953947cccc949d2"/>
    <p:sldId xmlns:r="http://schemas.openxmlformats.org/officeDocument/2006/relationships" id="315" r:id="R233b827bc646491d"/>
    <p:sldId xmlns:r="http://schemas.openxmlformats.org/officeDocument/2006/relationships" id="316" r:id="Rfea57f15a92640de"/>
    <p:sldId xmlns:r="http://schemas.openxmlformats.org/officeDocument/2006/relationships" id="317" r:id="Rd991a7e8f7824b07"/>
    <p:sldId xmlns:r="http://schemas.openxmlformats.org/officeDocument/2006/relationships" id="318" r:id="R077dcc2ed2044243"/>
    <p:sldId xmlns:r="http://schemas.openxmlformats.org/officeDocument/2006/relationships" id="319" r:id="R69028c1452614aa7"/>
    <p:sldId xmlns:r="http://schemas.openxmlformats.org/officeDocument/2006/relationships" id="320" r:id="R189ce5a895d54c0f"/>
    <p:sldId xmlns:r="http://schemas.openxmlformats.org/officeDocument/2006/relationships" id="321" r:id="R5e1b07be136241d8"/>
    <p:sldId xmlns:r="http://schemas.openxmlformats.org/officeDocument/2006/relationships" id="322" r:id="R0c2a82158fd24008"/>
    <p:sldId xmlns:r="http://schemas.openxmlformats.org/officeDocument/2006/relationships" id="323" r:id="R4b0e853c5ab7432d"/>
    <p:sldId xmlns:r="http://schemas.openxmlformats.org/officeDocument/2006/relationships" id="324" r:id="Rb772836e40c04c98"/>
    <p:sldId xmlns:r="http://schemas.openxmlformats.org/officeDocument/2006/relationships" id="325" r:id="R5b36fe5c12ea42ee"/>
    <p:sldId xmlns:r="http://schemas.openxmlformats.org/officeDocument/2006/relationships" id="326" r:id="R7fd2e2fdb2f14c8c"/>
    <p:sldId xmlns:r="http://schemas.openxmlformats.org/officeDocument/2006/relationships" id="327" r:id="R271ad876f49646fc"/>
    <p:sldId xmlns:r="http://schemas.openxmlformats.org/officeDocument/2006/relationships" id="328" r:id="Rd4733e26041a429f"/>
    <p:sldId xmlns:r="http://schemas.openxmlformats.org/officeDocument/2006/relationships" id="329" r:id="Ra6c61328b8af405e"/>
    <p:sldId xmlns:r="http://schemas.openxmlformats.org/officeDocument/2006/relationships" id="330" r:id="R85689fe062504554"/>
    <p:sldId xmlns:r="http://schemas.openxmlformats.org/officeDocument/2006/relationships" id="331" r:id="Rf4e7ab79abef4709"/>
    <p:sldId xmlns:r="http://schemas.openxmlformats.org/officeDocument/2006/relationships" id="332" r:id="R9899e966dbb24fa3"/>
    <p:sldId xmlns:r="http://schemas.openxmlformats.org/officeDocument/2006/relationships" id="333" r:id="R2744d003517c4f2b"/>
    <p:sldId xmlns:r="http://schemas.openxmlformats.org/officeDocument/2006/relationships" id="334" r:id="Rf8ce1ff51a234f61"/>
    <p:sldId xmlns:r="http://schemas.openxmlformats.org/officeDocument/2006/relationships" id="335" r:id="R2b97ef7a0e1d4d9d"/>
    <p:sldId xmlns:r="http://schemas.openxmlformats.org/officeDocument/2006/relationships" id="336" r:id="R3067a52f45344a0f"/>
    <p:sldId xmlns:r="http://schemas.openxmlformats.org/officeDocument/2006/relationships" id="337" r:id="Rde9304e3127243f7"/>
    <p:sldId xmlns:r="http://schemas.openxmlformats.org/officeDocument/2006/relationships" id="338" r:id="Rfa1d2365023045f9"/>
    <p:sldId xmlns:r="http://schemas.openxmlformats.org/officeDocument/2006/relationships" id="339" r:id="Rf0c710633ccf44a7"/>
    <p:sldId xmlns:r="http://schemas.openxmlformats.org/officeDocument/2006/relationships" id="340" r:id="R2fd89bf373fd4098"/>
    <p:sldId xmlns:r="http://schemas.openxmlformats.org/officeDocument/2006/relationships" id="341" r:id="Rd62c0e1b8ff74e33"/>
    <p:sldId xmlns:r="http://schemas.openxmlformats.org/officeDocument/2006/relationships" id="342" r:id="Rd96ceb5fd8cf4dcb"/>
    <p:sldId xmlns:r="http://schemas.openxmlformats.org/officeDocument/2006/relationships" id="343" r:id="R35bf785eb49d47f7"/>
    <p:sldId xmlns:r="http://schemas.openxmlformats.org/officeDocument/2006/relationships" id="344" r:id="Rb925692c13f847d2"/>
    <p:sldId xmlns:r="http://schemas.openxmlformats.org/officeDocument/2006/relationships" id="345" r:id="Ra7349354ff3d480c"/>
    <p:sldId xmlns:r="http://schemas.openxmlformats.org/officeDocument/2006/relationships" id="346" r:id="R8df91289d2874bee"/>
    <p:sldId xmlns:r="http://schemas.openxmlformats.org/officeDocument/2006/relationships" id="347" r:id="R072bbf628a5644a5"/>
    <p:sldId xmlns:r="http://schemas.openxmlformats.org/officeDocument/2006/relationships" id="348" r:id="R4a008c0da6044672"/>
    <p:sldId xmlns:r="http://schemas.openxmlformats.org/officeDocument/2006/relationships" id="349" r:id="Re374fa3364b14271"/>
    <p:sldId xmlns:r="http://schemas.openxmlformats.org/officeDocument/2006/relationships" id="350" r:id="R77f8ba77275e4438"/>
    <p:sldId xmlns:r="http://schemas.openxmlformats.org/officeDocument/2006/relationships" id="351" r:id="R3e05c3dba6e8454f"/>
    <p:sldId xmlns:r="http://schemas.openxmlformats.org/officeDocument/2006/relationships" id="352" r:id="Ra80d449beb4c45c0"/>
    <p:sldId xmlns:r="http://schemas.openxmlformats.org/officeDocument/2006/relationships" id="353" r:id="Re8d92f5111574d6c"/>
    <p:sldId xmlns:r="http://schemas.openxmlformats.org/officeDocument/2006/relationships" id="354" r:id="Re458b8478a6f48c6"/>
    <p:sldId xmlns:r="http://schemas.openxmlformats.org/officeDocument/2006/relationships" id="355" r:id="R2ad4c7f5345e42e9"/>
    <p:sldId xmlns:r="http://schemas.openxmlformats.org/officeDocument/2006/relationships" id="356" r:id="R959baf21204a4ae3"/>
    <p:sldId xmlns:r="http://schemas.openxmlformats.org/officeDocument/2006/relationships" id="357" r:id="Rfac8d6ff95264820"/>
    <p:sldId xmlns:r="http://schemas.openxmlformats.org/officeDocument/2006/relationships" id="358" r:id="R8122203caf704416"/>
    <p:sldId xmlns:r="http://schemas.openxmlformats.org/officeDocument/2006/relationships" id="359" r:id="R343e26bd1676469c"/>
    <p:sldId xmlns:r="http://schemas.openxmlformats.org/officeDocument/2006/relationships" id="360" r:id="R9b2e80e6947a4aff"/>
    <p:sldId xmlns:r="http://schemas.openxmlformats.org/officeDocument/2006/relationships" id="361" r:id="R0cf661ae85944d3f"/>
    <p:sldId xmlns:r="http://schemas.openxmlformats.org/officeDocument/2006/relationships" id="362" r:id="Rcc5e8c14715b4df9"/>
    <p:sldId xmlns:r="http://schemas.openxmlformats.org/officeDocument/2006/relationships" id="363" r:id="R4f12411f92fa478a"/>
    <p:sldId xmlns:r="http://schemas.openxmlformats.org/officeDocument/2006/relationships" id="364" r:id="R3b1c39bb7ca44829"/>
    <p:sldId xmlns:r="http://schemas.openxmlformats.org/officeDocument/2006/relationships" id="365" r:id="Rc4b46f897f244a72"/>
    <p:sldId xmlns:r="http://schemas.openxmlformats.org/officeDocument/2006/relationships" id="366" r:id="R3a5cb05dd17b4cfc"/>
    <p:sldId xmlns:r="http://schemas.openxmlformats.org/officeDocument/2006/relationships" id="367" r:id="Rca448e9f3a9f47da"/>
    <p:sldId xmlns:r="http://schemas.openxmlformats.org/officeDocument/2006/relationships" id="368" r:id="Rd58ad947f3514ed7"/>
    <p:sldId xmlns:r="http://schemas.openxmlformats.org/officeDocument/2006/relationships" id="369" r:id="R4fd319ed3320404b"/>
    <p:sldId xmlns:r="http://schemas.openxmlformats.org/officeDocument/2006/relationships" id="370" r:id="R476716c1ad05428f"/>
    <p:sldId xmlns:r="http://schemas.openxmlformats.org/officeDocument/2006/relationships" id="371" r:id="R36268b29c17e4b25"/>
    <p:sldId xmlns:r="http://schemas.openxmlformats.org/officeDocument/2006/relationships" id="372" r:id="Rc523639b17fe4e9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91a56476bbb40bf" /><Relationship Type="http://schemas.openxmlformats.org/officeDocument/2006/relationships/slideMaster" Target="/ppt/slideMasters/slideMaster1.xml" Id="Rdfc58daaf37e42d3" /><Relationship Type="http://schemas.openxmlformats.org/officeDocument/2006/relationships/notesMaster" Target="/ppt/notesMasters/notesMaster1.xml" Id="R16e90ebcfadf45dd" /><Relationship Type="http://schemas.openxmlformats.org/officeDocument/2006/relationships/presProps" Target="/ppt/presProps.xml" Id="R83f8b0442bba48bc" /><Relationship Type="http://schemas.openxmlformats.org/officeDocument/2006/relationships/viewProps" Target="/ppt/viewProps.xml" Id="Rea5665838aea43fb" /><Relationship Type="http://schemas.openxmlformats.org/officeDocument/2006/relationships/tableStyles" Target="/ppt/tableStyles.xml" Id="R74116adc64ca4c67" /><Relationship Type="http://schemas.openxmlformats.org/officeDocument/2006/relationships/slide" Target="/ppt/slides/slide1.xml" Id="Rb5915066a26642ec" /><Relationship Type="http://schemas.openxmlformats.org/officeDocument/2006/relationships/slide" Target="/ppt/slides/slide2.xml" Id="R60f22597ab95443b" /><Relationship Type="http://schemas.openxmlformats.org/officeDocument/2006/relationships/slide" Target="/ppt/slides/slide3.xml" Id="Rc3e52d46f7a74274" /><Relationship Type="http://schemas.openxmlformats.org/officeDocument/2006/relationships/slide" Target="/ppt/slides/slide4.xml" Id="R3e06836eca9c411c" /><Relationship Type="http://schemas.openxmlformats.org/officeDocument/2006/relationships/slide" Target="/ppt/slides/slide5.xml" Id="R1ce49574ce164e62" /><Relationship Type="http://schemas.openxmlformats.org/officeDocument/2006/relationships/slide" Target="/ppt/slides/slide6.xml" Id="R929724562597427f" /><Relationship Type="http://schemas.openxmlformats.org/officeDocument/2006/relationships/slide" Target="/ppt/slides/slide7.xml" Id="R25e8e4c274294b11" /><Relationship Type="http://schemas.openxmlformats.org/officeDocument/2006/relationships/slide" Target="/ppt/slides/slide8.xml" Id="R39706d4c2b7b43f1" /><Relationship Type="http://schemas.openxmlformats.org/officeDocument/2006/relationships/slide" Target="/ppt/slides/slide9.xml" Id="R8915514847134d82" /><Relationship Type="http://schemas.openxmlformats.org/officeDocument/2006/relationships/slide" Target="/ppt/slides/slide10.xml" Id="Rcdc50036896d4b75" /><Relationship Type="http://schemas.openxmlformats.org/officeDocument/2006/relationships/slide" Target="/ppt/slides/slide11.xml" Id="R561e8e1a602948c1" /><Relationship Type="http://schemas.openxmlformats.org/officeDocument/2006/relationships/slide" Target="/ppt/slides/slide12.xml" Id="Rc9411e6378d94ac8" /><Relationship Type="http://schemas.openxmlformats.org/officeDocument/2006/relationships/slide" Target="/ppt/slides/slide13.xml" Id="R6e1b7d260b6647a0" /><Relationship Type="http://schemas.openxmlformats.org/officeDocument/2006/relationships/slide" Target="/ppt/slides/slide14.xml" Id="R960c2e61b67d4006" /><Relationship Type="http://schemas.openxmlformats.org/officeDocument/2006/relationships/slide" Target="/ppt/slides/slide15.xml" Id="R5cb5ed9cf47d45f4" /><Relationship Type="http://schemas.openxmlformats.org/officeDocument/2006/relationships/slide" Target="/ppt/slides/slide16.xml" Id="R1f9efcfa0b904038" /><Relationship Type="http://schemas.openxmlformats.org/officeDocument/2006/relationships/slide" Target="/ppt/slides/slide17.xml" Id="R7aed62f13c404555" /><Relationship Type="http://schemas.openxmlformats.org/officeDocument/2006/relationships/slide" Target="/ppt/slides/slide18.xml" Id="R8406c5ad4065410b" /><Relationship Type="http://schemas.openxmlformats.org/officeDocument/2006/relationships/slide" Target="/ppt/slides/slide19.xml" Id="R0d314b5bf0fd48dc" /><Relationship Type="http://schemas.openxmlformats.org/officeDocument/2006/relationships/slide" Target="/ppt/slides/slide20.xml" Id="Rba2d6ba752b84d22" /><Relationship Type="http://schemas.openxmlformats.org/officeDocument/2006/relationships/slide" Target="/ppt/slides/slide21.xml" Id="R1afc017e21eb494f" /><Relationship Type="http://schemas.openxmlformats.org/officeDocument/2006/relationships/slide" Target="/ppt/slides/slide22.xml" Id="R6b0d618dcb154057" /><Relationship Type="http://schemas.openxmlformats.org/officeDocument/2006/relationships/slide" Target="/ppt/slides/slide23.xml" Id="Ra63b6bf874dd4d46" /><Relationship Type="http://schemas.openxmlformats.org/officeDocument/2006/relationships/slide" Target="/ppt/slides/slide24.xml" Id="Ra7246089c5ed4a8c" /><Relationship Type="http://schemas.openxmlformats.org/officeDocument/2006/relationships/slide" Target="/ppt/slides/slide25.xml" Id="Ra2b78316717e44eb" /><Relationship Type="http://schemas.openxmlformats.org/officeDocument/2006/relationships/slide" Target="/ppt/slides/slide26.xml" Id="R209cd618425d457a" /><Relationship Type="http://schemas.openxmlformats.org/officeDocument/2006/relationships/slide" Target="/ppt/slides/slide27.xml" Id="Re2176ecc463349f8" /><Relationship Type="http://schemas.openxmlformats.org/officeDocument/2006/relationships/slide" Target="/ppt/slides/slide28.xml" Id="R4bd88e363ab64439" /><Relationship Type="http://schemas.openxmlformats.org/officeDocument/2006/relationships/slide" Target="/ppt/slides/slide29.xml" Id="Re01e6a30d1c343cc" /><Relationship Type="http://schemas.openxmlformats.org/officeDocument/2006/relationships/slide" Target="/ppt/slides/slide30.xml" Id="R3130943049654b15" /><Relationship Type="http://schemas.openxmlformats.org/officeDocument/2006/relationships/slide" Target="/ppt/slides/slide31.xml" Id="R658bdd14ec3f4f19" /><Relationship Type="http://schemas.openxmlformats.org/officeDocument/2006/relationships/slide" Target="/ppt/slides/slide32.xml" Id="R5fb1736effb244ac" /><Relationship Type="http://schemas.openxmlformats.org/officeDocument/2006/relationships/slide" Target="/ppt/slides/slide33.xml" Id="Rba2976147fe04604" /><Relationship Type="http://schemas.openxmlformats.org/officeDocument/2006/relationships/slide" Target="/ppt/slides/slide34.xml" Id="Rcb9bca296b1e45a1" /><Relationship Type="http://schemas.openxmlformats.org/officeDocument/2006/relationships/slide" Target="/ppt/slides/slide35.xml" Id="R73e9749ab89f41bc" /><Relationship Type="http://schemas.openxmlformats.org/officeDocument/2006/relationships/slide" Target="/ppt/slides/slide36.xml" Id="Rb2529b8a25c34986" /><Relationship Type="http://schemas.openxmlformats.org/officeDocument/2006/relationships/slide" Target="/ppt/slides/slide37.xml" Id="R03c7f371582c493c" /><Relationship Type="http://schemas.openxmlformats.org/officeDocument/2006/relationships/slide" Target="/ppt/slides/slide38.xml" Id="Rc5e176f897ec4504" /><Relationship Type="http://schemas.openxmlformats.org/officeDocument/2006/relationships/slide" Target="/ppt/slides/slide39.xml" Id="R4eea6b1ff3fb404a" /><Relationship Type="http://schemas.openxmlformats.org/officeDocument/2006/relationships/slide" Target="/ppt/slides/slide40.xml" Id="R95b62c6c42b747b7" /><Relationship Type="http://schemas.openxmlformats.org/officeDocument/2006/relationships/slide" Target="/ppt/slides/slide41.xml" Id="Rd0bd39efa0654139" /><Relationship Type="http://schemas.openxmlformats.org/officeDocument/2006/relationships/slide" Target="/ppt/slides/slide42.xml" Id="R8adfd3f0bf484d3d" /><Relationship Type="http://schemas.openxmlformats.org/officeDocument/2006/relationships/slide" Target="/ppt/slides/slide43.xml" Id="R06623264efa64074" /><Relationship Type="http://schemas.openxmlformats.org/officeDocument/2006/relationships/slide" Target="/ppt/slides/slide44.xml" Id="R5b89a676cf0e4504" /><Relationship Type="http://schemas.openxmlformats.org/officeDocument/2006/relationships/slide" Target="/ppt/slides/slide45.xml" Id="R5eff290b32d94cf9" /><Relationship Type="http://schemas.openxmlformats.org/officeDocument/2006/relationships/slide" Target="/ppt/slides/slide46.xml" Id="R358ea2d5d0d64f17" /><Relationship Type="http://schemas.openxmlformats.org/officeDocument/2006/relationships/slide" Target="/ppt/slides/slide47.xml" Id="R3e14b4f1dae54f56" /><Relationship Type="http://schemas.openxmlformats.org/officeDocument/2006/relationships/slide" Target="/ppt/slides/slide48.xml" Id="R73d53bdaf76a4aea" /><Relationship Type="http://schemas.openxmlformats.org/officeDocument/2006/relationships/slide" Target="/ppt/slides/slide49.xml" Id="R46cfca89bb33476b" /><Relationship Type="http://schemas.openxmlformats.org/officeDocument/2006/relationships/slide" Target="/ppt/slides/slide50.xml" Id="R4afd29bb808b4dd6" /><Relationship Type="http://schemas.openxmlformats.org/officeDocument/2006/relationships/slide" Target="/ppt/slides/slide51.xml" Id="Rccf7074bb24044f3" /><Relationship Type="http://schemas.openxmlformats.org/officeDocument/2006/relationships/slide" Target="/ppt/slides/slide52.xml" Id="R448fc5454e5d4f32" /><Relationship Type="http://schemas.openxmlformats.org/officeDocument/2006/relationships/slide" Target="/ppt/slides/slide53.xml" Id="Rd91ef8b36c434d35" /><Relationship Type="http://schemas.openxmlformats.org/officeDocument/2006/relationships/slide" Target="/ppt/slides/slide54.xml" Id="R2222ac2c38b94978" /><Relationship Type="http://schemas.openxmlformats.org/officeDocument/2006/relationships/slide" Target="/ppt/slides/slide55.xml" Id="R685ccd70800345c0" /><Relationship Type="http://schemas.openxmlformats.org/officeDocument/2006/relationships/slide" Target="/ppt/slides/slide56.xml" Id="R1809ffdf03cd420c" /><Relationship Type="http://schemas.openxmlformats.org/officeDocument/2006/relationships/slide" Target="/ppt/slides/slide57.xml" Id="R03502d69753b4dc2" /><Relationship Type="http://schemas.openxmlformats.org/officeDocument/2006/relationships/slide" Target="/ppt/slides/slide58.xml" Id="R44061cabbbef4222" /><Relationship Type="http://schemas.openxmlformats.org/officeDocument/2006/relationships/slide" Target="/ppt/slides/slide59.xml" Id="R3953947cccc949d2" /><Relationship Type="http://schemas.openxmlformats.org/officeDocument/2006/relationships/slide" Target="/ppt/slides/slide60.xml" Id="R233b827bc646491d" /><Relationship Type="http://schemas.openxmlformats.org/officeDocument/2006/relationships/slide" Target="/ppt/slides/slide61.xml" Id="Rfea57f15a92640de" /><Relationship Type="http://schemas.openxmlformats.org/officeDocument/2006/relationships/slide" Target="/ppt/slides/slide62.xml" Id="Rd991a7e8f7824b07" /><Relationship Type="http://schemas.openxmlformats.org/officeDocument/2006/relationships/slide" Target="/ppt/slides/slide63.xml" Id="R077dcc2ed2044243" /><Relationship Type="http://schemas.openxmlformats.org/officeDocument/2006/relationships/slide" Target="/ppt/slides/slide64.xml" Id="R69028c1452614aa7" /><Relationship Type="http://schemas.openxmlformats.org/officeDocument/2006/relationships/slide" Target="/ppt/slides/slide65.xml" Id="R189ce5a895d54c0f" /><Relationship Type="http://schemas.openxmlformats.org/officeDocument/2006/relationships/slide" Target="/ppt/slides/slide66.xml" Id="R5e1b07be136241d8" /><Relationship Type="http://schemas.openxmlformats.org/officeDocument/2006/relationships/slide" Target="/ppt/slides/slide67.xml" Id="R0c2a82158fd24008" /><Relationship Type="http://schemas.openxmlformats.org/officeDocument/2006/relationships/slide" Target="/ppt/slides/slide68.xml" Id="R4b0e853c5ab7432d" /><Relationship Type="http://schemas.openxmlformats.org/officeDocument/2006/relationships/slide" Target="/ppt/slides/slide69.xml" Id="Rb772836e40c04c98" /><Relationship Type="http://schemas.openxmlformats.org/officeDocument/2006/relationships/slide" Target="/ppt/slides/slide70.xml" Id="R5b36fe5c12ea42ee" /><Relationship Type="http://schemas.openxmlformats.org/officeDocument/2006/relationships/slide" Target="/ppt/slides/slide71.xml" Id="R7fd2e2fdb2f14c8c" /><Relationship Type="http://schemas.openxmlformats.org/officeDocument/2006/relationships/slide" Target="/ppt/slides/slide72.xml" Id="R271ad876f49646fc" /><Relationship Type="http://schemas.openxmlformats.org/officeDocument/2006/relationships/slide" Target="/ppt/slides/slide73.xml" Id="Rd4733e26041a429f" /><Relationship Type="http://schemas.openxmlformats.org/officeDocument/2006/relationships/slide" Target="/ppt/slides/slide74.xml" Id="Ra6c61328b8af405e" /><Relationship Type="http://schemas.openxmlformats.org/officeDocument/2006/relationships/slide" Target="/ppt/slides/slide75.xml" Id="R85689fe062504554" /><Relationship Type="http://schemas.openxmlformats.org/officeDocument/2006/relationships/slide" Target="/ppt/slides/slide76.xml" Id="Rf4e7ab79abef4709" /><Relationship Type="http://schemas.openxmlformats.org/officeDocument/2006/relationships/slide" Target="/ppt/slides/slide77.xml" Id="R9899e966dbb24fa3" /><Relationship Type="http://schemas.openxmlformats.org/officeDocument/2006/relationships/slide" Target="/ppt/slides/slide78.xml" Id="R2744d003517c4f2b" /><Relationship Type="http://schemas.openxmlformats.org/officeDocument/2006/relationships/slide" Target="/ppt/slides/slide79.xml" Id="Rf8ce1ff51a234f61" /><Relationship Type="http://schemas.openxmlformats.org/officeDocument/2006/relationships/slide" Target="/ppt/slides/slide80.xml" Id="R2b97ef7a0e1d4d9d" /><Relationship Type="http://schemas.openxmlformats.org/officeDocument/2006/relationships/slide" Target="/ppt/slides/slide81.xml" Id="R3067a52f45344a0f" /><Relationship Type="http://schemas.openxmlformats.org/officeDocument/2006/relationships/slide" Target="/ppt/slides/slide82.xml" Id="Rde9304e3127243f7" /><Relationship Type="http://schemas.openxmlformats.org/officeDocument/2006/relationships/slide" Target="/ppt/slides/slide83.xml" Id="Rfa1d2365023045f9" /><Relationship Type="http://schemas.openxmlformats.org/officeDocument/2006/relationships/slide" Target="/ppt/slides/slide84.xml" Id="Rf0c710633ccf44a7" /><Relationship Type="http://schemas.openxmlformats.org/officeDocument/2006/relationships/slide" Target="/ppt/slides/slide85.xml" Id="R2fd89bf373fd4098" /><Relationship Type="http://schemas.openxmlformats.org/officeDocument/2006/relationships/slide" Target="/ppt/slides/slide86.xml" Id="Rd62c0e1b8ff74e33" /><Relationship Type="http://schemas.openxmlformats.org/officeDocument/2006/relationships/slide" Target="/ppt/slides/slide87.xml" Id="Rd96ceb5fd8cf4dcb" /><Relationship Type="http://schemas.openxmlformats.org/officeDocument/2006/relationships/slide" Target="/ppt/slides/slide88.xml" Id="R35bf785eb49d47f7" /><Relationship Type="http://schemas.openxmlformats.org/officeDocument/2006/relationships/slide" Target="/ppt/slides/slide89.xml" Id="Rb925692c13f847d2" /><Relationship Type="http://schemas.openxmlformats.org/officeDocument/2006/relationships/slide" Target="/ppt/slides/slide90.xml" Id="Ra7349354ff3d480c" /><Relationship Type="http://schemas.openxmlformats.org/officeDocument/2006/relationships/slide" Target="/ppt/slides/slide91.xml" Id="R8df91289d2874bee" /><Relationship Type="http://schemas.openxmlformats.org/officeDocument/2006/relationships/slide" Target="/ppt/slides/slide92.xml" Id="R072bbf628a5644a5" /><Relationship Type="http://schemas.openxmlformats.org/officeDocument/2006/relationships/slide" Target="/ppt/slides/slide93.xml" Id="R4a008c0da6044672" /><Relationship Type="http://schemas.openxmlformats.org/officeDocument/2006/relationships/slide" Target="/ppt/slides/slide94.xml" Id="Re374fa3364b14271" /><Relationship Type="http://schemas.openxmlformats.org/officeDocument/2006/relationships/slide" Target="/ppt/slides/slide95.xml" Id="R77f8ba77275e4438" /><Relationship Type="http://schemas.openxmlformats.org/officeDocument/2006/relationships/slide" Target="/ppt/slides/slide96.xml" Id="R3e05c3dba6e8454f" /><Relationship Type="http://schemas.openxmlformats.org/officeDocument/2006/relationships/slide" Target="/ppt/slides/slide97.xml" Id="Ra80d449beb4c45c0" /><Relationship Type="http://schemas.openxmlformats.org/officeDocument/2006/relationships/slide" Target="/ppt/slides/slide98.xml" Id="Re8d92f5111574d6c" /><Relationship Type="http://schemas.openxmlformats.org/officeDocument/2006/relationships/slide" Target="/ppt/slides/slide99.xml" Id="Re458b8478a6f48c6" /><Relationship Type="http://schemas.openxmlformats.org/officeDocument/2006/relationships/slide" Target="/ppt/slides/slide100.xml" Id="R2ad4c7f5345e42e9" /><Relationship Type="http://schemas.openxmlformats.org/officeDocument/2006/relationships/slide" Target="/ppt/slides/slide101.xml" Id="R959baf21204a4ae3" /><Relationship Type="http://schemas.openxmlformats.org/officeDocument/2006/relationships/slide" Target="/ppt/slides/slide102.xml" Id="Rfac8d6ff95264820" /><Relationship Type="http://schemas.openxmlformats.org/officeDocument/2006/relationships/slide" Target="/ppt/slides/slide103.xml" Id="R8122203caf704416" /><Relationship Type="http://schemas.openxmlformats.org/officeDocument/2006/relationships/slide" Target="/ppt/slides/slide104.xml" Id="R343e26bd1676469c" /><Relationship Type="http://schemas.openxmlformats.org/officeDocument/2006/relationships/slide" Target="/ppt/slides/slide105.xml" Id="R9b2e80e6947a4aff" /><Relationship Type="http://schemas.openxmlformats.org/officeDocument/2006/relationships/slide" Target="/ppt/slides/slide106.xml" Id="R0cf661ae85944d3f" /><Relationship Type="http://schemas.openxmlformats.org/officeDocument/2006/relationships/slide" Target="/ppt/slides/slide107.xml" Id="Rcc5e8c14715b4df9" /><Relationship Type="http://schemas.openxmlformats.org/officeDocument/2006/relationships/slide" Target="/ppt/slides/slide108.xml" Id="R4f12411f92fa478a" /><Relationship Type="http://schemas.openxmlformats.org/officeDocument/2006/relationships/slide" Target="/ppt/slides/slide109.xml" Id="R3b1c39bb7ca44829" /><Relationship Type="http://schemas.openxmlformats.org/officeDocument/2006/relationships/slide" Target="/ppt/slides/slide110.xml" Id="Rc4b46f897f244a72" /><Relationship Type="http://schemas.openxmlformats.org/officeDocument/2006/relationships/slide" Target="/ppt/slides/slide111.xml" Id="R3a5cb05dd17b4cfc" /><Relationship Type="http://schemas.openxmlformats.org/officeDocument/2006/relationships/slide" Target="/ppt/slides/slide112.xml" Id="Rca448e9f3a9f47da" /><Relationship Type="http://schemas.openxmlformats.org/officeDocument/2006/relationships/slide" Target="/ppt/slides/slide113.xml" Id="Rd58ad947f3514ed7" /><Relationship Type="http://schemas.openxmlformats.org/officeDocument/2006/relationships/slide" Target="/ppt/slides/slide114.xml" Id="R4fd319ed3320404b" /><Relationship Type="http://schemas.openxmlformats.org/officeDocument/2006/relationships/slide" Target="/ppt/slides/slide115.xml" Id="R476716c1ad05428f" /><Relationship Type="http://schemas.openxmlformats.org/officeDocument/2006/relationships/slide" Target="/ppt/slides/slide116.xml" Id="R36268b29c17e4b25" /><Relationship Type="http://schemas.openxmlformats.org/officeDocument/2006/relationships/slide" Target="/ppt/slides/slide117.xml" Id="Rc523639b17fe4e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15f37757dd40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531c4996d143f9" /><Relationship Type="http://schemas.openxmlformats.org/officeDocument/2006/relationships/notesMaster" Target="/ppt/notesMasters/notesMaster1.xml" Id="R08a4177a14804e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85a5e694e14e1a" /><Relationship Type="http://schemas.openxmlformats.org/officeDocument/2006/relationships/notesMaster" Target="/ppt/notesMasters/notesMaster1.xml" Id="R828789a02a054a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427c27da00470c" /><Relationship Type="http://schemas.openxmlformats.org/officeDocument/2006/relationships/notesMaster" Target="/ppt/notesMasters/notesMaster1.xml" Id="Re0bfe21cdaf643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84ef78f84f48e1" /><Relationship Type="http://schemas.openxmlformats.org/officeDocument/2006/relationships/notesMaster" Target="/ppt/notesMasters/notesMaster1.xml" Id="Rca3c91e241344f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6e5a4f94994100" /><Relationship Type="http://schemas.openxmlformats.org/officeDocument/2006/relationships/notesMaster" Target="/ppt/notesMasters/notesMaster1.xml" Id="R6d575f1e79ab4e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b0aec0198844fd" /><Relationship Type="http://schemas.openxmlformats.org/officeDocument/2006/relationships/notesMaster" Target="/ppt/notesMasters/notesMaster1.xml" Id="R1429eb05b2984e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47403d729d4118" /><Relationship Type="http://schemas.openxmlformats.org/officeDocument/2006/relationships/notesMaster" Target="/ppt/notesMasters/notesMaster1.xml" Id="Rdda8167918af42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b3c51e70bc45a1" /><Relationship Type="http://schemas.openxmlformats.org/officeDocument/2006/relationships/notesMaster" Target="/ppt/notesMasters/notesMaster1.xml" Id="Rbfbc0c58132e4a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4e52e1bf3f4ca2" /><Relationship Type="http://schemas.openxmlformats.org/officeDocument/2006/relationships/notesMaster" Target="/ppt/notesMasters/notesMaster1.xml" Id="R3f37bd84613d42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b79a04fa924d05" /><Relationship Type="http://schemas.openxmlformats.org/officeDocument/2006/relationships/notesMaster" Target="/ppt/notesMasters/notesMaster1.xml" Id="R183141bc336a457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796bf4e3444085" /><Relationship Type="http://schemas.openxmlformats.org/officeDocument/2006/relationships/notesMaster" Target="/ppt/notesMasters/notesMaster1.xml" Id="Rc7925570025544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3322f6002644e2" /><Relationship Type="http://schemas.openxmlformats.org/officeDocument/2006/relationships/notesMaster" Target="/ppt/notesMasters/notesMaster1.xml" Id="Rba6e168beb004dd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868c42615a342b9" /><Relationship Type="http://schemas.openxmlformats.org/officeDocument/2006/relationships/notesMaster" Target="/ppt/notesMasters/notesMaster1.xml" Id="Raea5714700ad40a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ac26c244414fc9" /><Relationship Type="http://schemas.openxmlformats.org/officeDocument/2006/relationships/notesMaster" Target="/ppt/notesMasters/notesMaster1.xml" Id="R012df73d23854e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7eef774c6f4b95" /><Relationship Type="http://schemas.openxmlformats.org/officeDocument/2006/relationships/notesMaster" Target="/ppt/notesMasters/notesMaster1.xml" Id="R03c4bd7cd02a4c5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e4575a0f9be4ded" /><Relationship Type="http://schemas.openxmlformats.org/officeDocument/2006/relationships/notesMaster" Target="/ppt/notesMasters/notesMaster1.xml" Id="Re73c07e20b0547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735969607424c2c" /><Relationship Type="http://schemas.openxmlformats.org/officeDocument/2006/relationships/notesMaster" Target="/ppt/notesMasters/notesMaster1.xml" Id="R97df8dea525849c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6d14c3ff1f4acf" /><Relationship Type="http://schemas.openxmlformats.org/officeDocument/2006/relationships/notesMaster" Target="/ppt/notesMasters/notesMaster1.xml" Id="Rc13d8e676fde496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faa8dfac084587" /><Relationship Type="http://schemas.openxmlformats.org/officeDocument/2006/relationships/notesMaster" Target="/ppt/notesMasters/notesMaster1.xml" Id="Ra26aece2e1ad4e2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7ea771cca464175" /><Relationship Type="http://schemas.openxmlformats.org/officeDocument/2006/relationships/notesMaster" Target="/ppt/notesMasters/notesMaster1.xml" Id="R68ebb30868bc4d5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e41da9ae3934b59" /><Relationship Type="http://schemas.openxmlformats.org/officeDocument/2006/relationships/notesMaster" Target="/ppt/notesMasters/notesMaster1.xml" Id="R38d8d598f627420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d302a1e351d4e80" /><Relationship Type="http://schemas.openxmlformats.org/officeDocument/2006/relationships/notesMaster" Target="/ppt/notesMasters/notesMaster1.xml" Id="R104cf407fc09458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b77fa523e349e4" /><Relationship Type="http://schemas.openxmlformats.org/officeDocument/2006/relationships/notesMaster" Target="/ppt/notesMasters/notesMaster1.xml" Id="R3dec7f1f4da842b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6b416750cac4e7d" /><Relationship Type="http://schemas.openxmlformats.org/officeDocument/2006/relationships/notesMaster" Target="/ppt/notesMasters/notesMaster1.xml" Id="Rd89722c905ba424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8e02b2ab3ff4a4b" /><Relationship Type="http://schemas.openxmlformats.org/officeDocument/2006/relationships/notesMaster" Target="/ppt/notesMasters/notesMaster1.xml" Id="R5498e41293544f9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32fc6925b7948e1" /><Relationship Type="http://schemas.openxmlformats.org/officeDocument/2006/relationships/notesMaster" Target="/ppt/notesMasters/notesMaster1.xml" Id="Rc428d94118f14d6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fb27ae399154080" /><Relationship Type="http://schemas.openxmlformats.org/officeDocument/2006/relationships/notesMaster" Target="/ppt/notesMasters/notesMaster1.xml" Id="R9054898d63e8492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d0db655f0394cb5" /><Relationship Type="http://schemas.openxmlformats.org/officeDocument/2006/relationships/notesMaster" Target="/ppt/notesMasters/notesMaster1.xml" Id="R42d0f56e51f1480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f3703bea1474186" /><Relationship Type="http://schemas.openxmlformats.org/officeDocument/2006/relationships/notesMaster" Target="/ppt/notesMasters/notesMaster1.xml" Id="R4afe84240b97436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3a38501297a4d8e" /><Relationship Type="http://schemas.openxmlformats.org/officeDocument/2006/relationships/notesMaster" Target="/ppt/notesMasters/notesMaster1.xml" Id="Rff6eb204609b4bc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c37d8ce03bc421d" /><Relationship Type="http://schemas.openxmlformats.org/officeDocument/2006/relationships/notesMaster" Target="/ppt/notesMasters/notesMaster1.xml" Id="Raba758bfc427411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1257ea13b5f4f35" /><Relationship Type="http://schemas.openxmlformats.org/officeDocument/2006/relationships/notesMaster" Target="/ppt/notesMasters/notesMaster1.xml" Id="R469a679ed04248d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ebb8684610f4d5d" /><Relationship Type="http://schemas.openxmlformats.org/officeDocument/2006/relationships/notesMaster" Target="/ppt/notesMasters/notesMaster1.xml" Id="R03381caf5f17444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f101d6c15a14101" /><Relationship Type="http://schemas.openxmlformats.org/officeDocument/2006/relationships/notesMaster" Target="/ppt/notesMasters/notesMaster1.xml" Id="R029c41c3fe7e44b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9ef8f98b25f49da" /><Relationship Type="http://schemas.openxmlformats.org/officeDocument/2006/relationships/notesMaster" Target="/ppt/notesMasters/notesMaster1.xml" Id="R6ad0cec4c883440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d5f75add41d44e9" /><Relationship Type="http://schemas.openxmlformats.org/officeDocument/2006/relationships/notesMaster" Target="/ppt/notesMasters/notesMaster1.xml" Id="R1e0a3438df8c4f2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7b14f6cafb747e4" /><Relationship Type="http://schemas.openxmlformats.org/officeDocument/2006/relationships/notesMaster" Target="/ppt/notesMasters/notesMaster1.xml" Id="R997b8e7dfd5843d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432c8cb60ff4619" /><Relationship Type="http://schemas.openxmlformats.org/officeDocument/2006/relationships/notesMaster" Target="/ppt/notesMasters/notesMaster1.xml" Id="Rf48d4619055d437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61dcc94d9104f33" /><Relationship Type="http://schemas.openxmlformats.org/officeDocument/2006/relationships/notesMaster" Target="/ppt/notesMasters/notesMaster1.xml" Id="R46826821f31441c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356cdb779644fe2" /><Relationship Type="http://schemas.openxmlformats.org/officeDocument/2006/relationships/notesMaster" Target="/ppt/notesMasters/notesMaster1.xml" Id="Ra36f26dd37014a5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590b68604ad4c30" /><Relationship Type="http://schemas.openxmlformats.org/officeDocument/2006/relationships/notesMaster" Target="/ppt/notesMasters/notesMaster1.xml" Id="Rdb33b07b6c854ff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c754cb653364704" /><Relationship Type="http://schemas.openxmlformats.org/officeDocument/2006/relationships/notesMaster" Target="/ppt/notesMasters/notesMaster1.xml" Id="R3e75967b81c9435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58fb960751d46b4" /><Relationship Type="http://schemas.openxmlformats.org/officeDocument/2006/relationships/notesMaster" Target="/ppt/notesMasters/notesMaster1.xml" Id="Rc83b8c6090f247c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7077775cc55422f" /><Relationship Type="http://schemas.openxmlformats.org/officeDocument/2006/relationships/notesMaster" Target="/ppt/notesMasters/notesMaster1.xml" Id="Rd382d324f348406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41b22efaeed4b44" /><Relationship Type="http://schemas.openxmlformats.org/officeDocument/2006/relationships/notesMaster" Target="/ppt/notesMasters/notesMaster1.xml" Id="R7c281fe14ec5486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d5caddb389f486b" /><Relationship Type="http://schemas.openxmlformats.org/officeDocument/2006/relationships/notesMaster" Target="/ppt/notesMasters/notesMaster1.xml" Id="Ra5520a8735f742c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efae64c17774653" /><Relationship Type="http://schemas.openxmlformats.org/officeDocument/2006/relationships/notesMaster" Target="/ppt/notesMasters/notesMaster1.xml" Id="R0d915a83280c491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33771c2b25b47de" /><Relationship Type="http://schemas.openxmlformats.org/officeDocument/2006/relationships/notesMaster" Target="/ppt/notesMasters/notesMaster1.xml" Id="Rce3b6386d9d646f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3365cee6b874411" /><Relationship Type="http://schemas.openxmlformats.org/officeDocument/2006/relationships/notesMaster" Target="/ppt/notesMasters/notesMaster1.xml" Id="R31015c4be710456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e52f05ac06d4bb0" /><Relationship Type="http://schemas.openxmlformats.org/officeDocument/2006/relationships/notesMaster" Target="/ppt/notesMasters/notesMaster1.xml" Id="Rac02e2e151b544c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c199ed0934344ca" /><Relationship Type="http://schemas.openxmlformats.org/officeDocument/2006/relationships/notesMaster" Target="/ppt/notesMasters/notesMaster1.xml" Id="Rc0dc668f542b4e4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0b667430fce4be3" /><Relationship Type="http://schemas.openxmlformats.org/officeDocument/2006/relationships/notesMaster" Target="/ppt/notesMasters/notesMaster1.xml" Id="Re984ff8429fc4b9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df59251c2224068" /><Relationship Type="http://schemas.openxmlformats.org/officeDocument/2006/relationships/notesMaster" Target="/ppt/notesMasters/notesMaster1.xml" Id="R74d9ae4df2494a7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ee5d22e5dab4f8f" /><Relationship Type="http://schemas.openxmlformats.org/officeDocument/2006/relationships/notesMaster" Target="/ppt/notesMasters/notesMaster1.xml" Id="Rf05a287bbfac4fb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037ddacaeaf48f5" /><Relationship Type="http://schemas.openxmlformats.org/officeDocument/2006/relationships/notesMaster" Target="/ppt/notesMasters/notesMaster1.xml" Id="R296a13d8a438439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97816e6b5a84049" /><Relationship Type="http://schemas.openxmlformats.org/officeDocument/2006/relationships/notesMaster" Target="/ppt/notesMasters/notesMaster1.xml" Id="R86798116f9d94ce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e5a82dec8834071" /><Relationship Type="http://schemas.openxmlformats.org/officeDocument/2006/relationships/notesMaster" Target="/ppt/notesMasters/notesMaster1.xml" Id="R1808da9800d444f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f34dda2b0ad4dfa" /><Relationship Type="http://schemas.openxmlformats.org/officeDocument/2006/relationships/notesMaster" Target="/ppt/notesMasters/notesMaster1.xml" Id="R8fcecff7722147d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fa86c39ec6644fa" /><Relationship Type="http://schemas.openxmlformats.org/officeDocument/2006/relationships/notesMaster" Target="/ppt/notesMasters/notesMaster1.xml" Id="R75643883b1ea4b2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d0dcbc6f3cf4464" /><Relationship Type="http://schemas.openxmlformats.org/officeDocument/2006/relationships/notesMaster" Target="/ppt/notesMasters/notesMaster1.xml" Id="R77eff659de3e40e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08974c79d2b40bc" /><Relationship Type="http://schemas.openxmlformats.org/officeDocument/2006/relationships/notesMaster" Target="/ppt/notesMasters/notesMaster1.xml" Id="R602e1ab100cc480f"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e45070eb40b440c" /><Relationship Type="http://schemas.openxmlformats.org/officeDocument/2006/relationships/notesMaster" Target="/ppt/notesMasters/notesMaster1.xml" Id="R668472a17f404f3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915324c03a34126" /><Relationship Type="http://schemas.openxmlformats.org/officeDocument/2006/relationships/notesMaster" Target="/ppt/notesMasters/notesMaster1.xml" Id="Rcd9d3190cab9450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1da9bad8d9e4c4f" /><Relationship Type="http://schemas.openxmlformats.org/officeDocument/2006/relationships/notesMaster" Target="/ppt/notesMasters/notesMaster1.xml" Id="R6bb77c676eb7495f"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2df2176a3684c90" /><Relationship Type="http://schemas.openxmlformats.org/officeDocument/2006/relationships/notesMaster" Target="/ppt/notesMasters/notesMaster1.xml" Id="R37ec883270764167"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980a924effb4409a" /><Relationship Type="http://schemas.openxmlformats.org/officeDocument/2006/relationships/notesMaster" Target="/ppt/notesMasters/notesMaster1.xml" Id="R1b22d7a1ad434732"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121ad105a504a0e" /><Relationship Type="http://schemas.openxmlformats.org/officeDocument/2006/relationships/notesMaster" Target="/ppt/notesMasters/notesMaster1.xml" Id="Raf509f24095f413a"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a72f7ed36d14a59" /><Relationship Type="http://schemas.openxmlformats.org/officeDocument/2006/relationships/notesMaster" Target="/ppt/notesMasters/notesMaster1.xml" Id="Ra6667429be3e4fb7"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f9e8dda8a26e4721" /><Relationship Type="http://schemas.openxmlformats.org/officeDocument/2006/relationships/notesMaster" Target="/ppt/notesMasters/notesMaster1.xml" Id="R4b3db70f887c4398"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6aa8511c1cfd4fd9" /><Relationship Type="http://schemas.openxmlformats.org/officeDocument/2006/relationships/notesMaster" Target="/ppt/notesMasters/notesMaster1.xml" Id="R49964435242345ee"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70a5b23357c24d8e" /><Relationship Type="http://schemas.openxmlformats.org/officeDocument/2006/relationships/notesMaster" Target="/ppt/notesMasters/notesMaster1.xml" Id="Rb960af2d1f904d03"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d55fea473c004b38" /><Relationship Type="http://schemas.openxmlformats.org/officeDocument/2006/relationships/notesMaster" Target="/ppt/notesMasters/notesMaster1.xml" Id="Rfb82dda4c9b24290"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43d0dfae48de447a" /><Relationship Type="http://schemas.openxmlformats.org/officeDocument/2006/relationships/notesMaster" Target="/ppt/notesMasters/notesMaster1.xml" Id="Rcfd1664e6f22460a"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e2c2ac22ea0d445d" /><Relationship Type="http://schemas.openxmlformats.org/officeDocument/2006/relationships/notesMaster" Target="/ppt/notesMasters/notesMaster1.xml" Id="Rde529f779f1041f7"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a1de3222c1a64adc" /><Relationship Type="http://schemas.openxmlformats.org/officeDocument/2006/relationships/notesMaster" Target="/ppt/notesMasters/notesMaster1.xml" Id="R74a1548eb1374ae7"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a4ec0001378c4893" /><Relationship Type="http://schemas.openxmlformats.org/officeDocument/2006/relationships/notesMaster" Target="/ppt/notesMasters/notesMaster1.xml" Id="R194b5819fc954335"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cdb25a6ea90e4bd6" /><Relationship Type="http://schemas.openxmlformats.org/officeDocument/2006/relationships/notesMaster" Target="/ppt/notesMasters/notesMaster1.xml" Id="R6bef75c13f974f58"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890c251020224a81" /><Relationship Type="http://schemas.openxmlformats.org/officeDocument/2006/relationships/notesMaster" Target="/ppt/notesMasters/notesMaster1.xml" Id="R6c9bdf4d793c493b"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92174470e5a74927" /><Relationship Type="http://schemas.openxmlformats.org/officeDocument/2006/relationships/notesMaster" Target="/ppt/notesMasters/notesMaster1.xml" Id="Rd50228f170d04e53"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d3ccc1be10ea427a" /><Relationship Type="http://schemas.openxmlformats.org/officeDocument/2006/relationships/notesMaster" Target="/ppt/notesMasters/notesMaster1.xml" Id="R5ab9b9c11ece496e"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aaa5b8bea3a14e23" /><Relationship Type="http://schemas.openxmlformats.org/officeDocument/2006/relationships/notesMaster" Target="/ppt/notesMasters/notesMaster1.xml" Id="R37aeea312a4c4f03"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a5c913b9abad4c1f" /><Relationship Type="http://schemas.openxmlformats.org/officeDocument/2006/relationships/notesMaster" Target="/ppt/notesMasters/notesMaster1.xml" Id="R7c9a494f08a64f30"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a7f20da1a03c443b" /><Relationship Type="http://schemas.openxmlformats.org/officeDocument/2006/relationships/notesMaster" Target="/ppt/notesMasters/notesMaster1.xml" Id="Rc1a704d416c14739"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ecabe5abb3654783" /><Relationship Type="http://schemas.openxmlformats.org/officeDocument/2006/relationships/notesMaster" Target="/ppt/notesMasters/notesMaster1.xml" Id="R779dad0d46f94914"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891fc730cde143d1" /><Relationship Type="http://schemas.openxmlformats.org/officeDocument/2006/relationships/notesMaster" Target="/ppt/notesMasters/notesMaster1.xml" Id="R4dafb7a07d044664"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3c960979d78b4a34" /><Relationship Type="http://schemas.openxmlformats.org/officeDocument/2006/relationships/notesMaster" Target="/ppt/notesMasters/notesMaster1.xml" Id="R086d5a82891b490b"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41b3cde2442c40e4" /><Relationship Type="http://schemas.openxmlformats.org/officeDocument/2006/relationships/notesMaster" Target="/ppt/notesMasters/notesMaster1.xml" Id="Rc4b5bbfb93674879"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042090ac57e140d2" /><Relationship Type="http://schemas.openxmlformats.org/officeDocument/2006/relationships/notesMaster" Target="/ppt/notesMasters/notesMaster1.xml" Id="R2989e9b7f2114518"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7aa8fb8abf3848c8" /><Relationship Type="http://schemas.openxmlformats.org/officeDocument/2006/relationships/notesMaster" Target="/ppt/notesMasters/notesMaster1.xml" Id="R7b859e721e46463f"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54d8e3c2a5e44a68" /><Relationship Type="http://schemas.openxmlformats.org/officeDocument/2006/relationships/notesMaster" Target="/ppt/notesMasters/notesMaster1.xml" Id="R528c7f2b4d184b86"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910dcb8b59634286" /><Relationship Type="http://schemas.openxmlformats.org/officeDocument/2006/relationships/notesMaster" Target="/ppt/notesMasters/notesMaster1.xml" Id="Rba9a5675b4ed4a5a"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ba7dbf502b4d48bd" /><Relationship Type="http://schemas.openxmlformats.org/officeDocument/2006/relationships/notesMaster" Target="/ppt/notesMasters/notesMaster1.xml" Id="Rc6e294cd71344209"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539bd022c038444c" /><Relationship Type="http://schemas.openxmlformats.org/officeDocument/2006/relationships/notesMaster" Target="/ppt/notesMasters/notesMaster1.xml" Id="R21e8bf8b96f74669"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1a15fc768d934ede" /><Relationship Type="http://schemas.openxmlformats.org/officeDocument/2006/relationships/notesMaster" Target="/ppt/notesMasters/notesMaster1.xml" Id="R4960874d1be5406d"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70dfbc97b19c4356" /><Relationship Type="http://schemas.openxmlformats.org/officeDocument/2006/relationships/notesMaster" Target="/ppt/notesMasters/notesMaster1.xml" Id="R796c44cf5f6442f1"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27a255bae55f48e0" /><Relationship Type="http://schemas.openxmlformats.org/officeDocument/2006/relationships/notesMaster" Target="/ppt/notesMasters/notesMaster1.xml" Id="R242178b46d924633"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8168768dce9444c9" /><Relationship Type="http://schemas.openxmlformats.org/officeDocument/2006/relationships/notesMaster" Target="/ppt/notesMasters/notesMaster1.xml" Id="R74473d201e19416e"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13d6b3e4e9b54a6b" /><Relationship Type="http://schemas.openxmlformats.org/officeDocument/2006/relationships/notesMaster" Target="/ppt/notesMasters/notesMaster1.xml" Id="R6a0ccf0fa53e406b"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ea47a9eb7c5947de" /><Relationship Type="http://schemas.openxmlformats.org/officeDocument/2006/relationships/notesMaster" Target="/ppt/notesMasters/notesMaster1.xml" Id="Re789b373042b45f7"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add56d501faf4b8f" /><Relationship Type="http://schemas.openxmlformats.org/officeDocument/2006/relationships/notesMaster" Target="/ppt/notesMasters/notesMaster1.xml" Id="R7c02d67df33a4028"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cc40f2860803487b" /><Relationship Type="http://schemas.openxmlformats.org/officeDocument/2006/relationships/notesMaster" Target="/ppt/notesMasters/notesMaster1.xml" Id="R790bbc3fe6ca47e1"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4d27dac723714b83" /><Relationship Type="http://schemas.openxmlformats.org/officeDocument/2006/relationships/notesMaster" Target="/ppt/notesMasters/notesMaster1.xml" Id="Re523193936934d29"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cf16b3cbb5b74396" /><Relationship Type="http://schemas.openxmlformats.org/officeDocument/2006/relationships/notesMaster" Target="/ppt/notesMasters/notesMaster1.xml" Id="R8f4617c6abaf420f"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fb410dbeac79471a" /><Relationship Type="http://schemas.openxmlformats.org/officeDocument/2006/relationships/notesMaster" Target="/ppt/notesMasters/notesMaster1.xml" Id="Rb4dabfc03b76475b"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3dd7208b7d2940c4" /><Relationship Type="http://schemas.openxmlformats.org/officeDocument/2006/relationships/notesMaster" Target="/ppt/notesMasters/notesMaster1.xml" Id="R613ec488d7ee4995"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159059af21344cd4" /><Relationship Type="http://schemas.openxmlformats.org/officeDocument/2006/relationships/notesMaster" Target="/ppt/notesMasters/notesMaster1.xml" Id="R1067ddfe4e0f4e16"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dd7158ef2d9d453f" /><Relationship Type="http://schemas.openxmlformats.org/officeDocument/2006/relationships/notesMaster" Target="/ppt/notesMasters/notesMaster1.xml" Id="R1af7d359c4694618"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54066545e9474cff" /><Relationship Type="http://schemas.openxmlformats.org/officeDocument/2006/relationships/notesMaster" Target="/ppt/notesMasters/notesMaster1.xml" Id="Rda5563ac366e457b"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7361fad16b1f4785" /><Relationship Type="http://schemas.openxmlformats.org/officeDocument/2006/relationships/notesMaster" Target="/ppt/notesMasters/notesMaster1.xml" Id="Rafa6c3bf78f641d1"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fd6a382c8a21478f" /><Relationship Type="http://schemas.openxmlformats.org/officeDocument/2006/relationships/notesMaster" Target="/ppt/notesMasters/notesMaster1.xml" Id="R26ba66df0dcb4f70"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bb28810b0532404d" /><Relationship Type="http://schemas.openxmlformats.org/officeDocument/2006/relationships/notesMaster" Target="/ppt/notesMasters/notesMaster1.xml" Id="R9a70f9c739224ddd"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556e9e39444943c5" /><Relationship Type="http://schemas.openxmlformats.org/officeDocument/2006/relationships/notesMaster" Target="/ppt/notesMasters/notesMaster1.xml" Id="R76c881b5f9e642af"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2f4a4b83517c4283" /><Relationship Type="http://schemas.openxmlformats.org/officeDocument/2006/relationships/notesMaster" Target="/ppt/notesMasters/notesMaster1.xml" Id="R5c11d2602deb4b59"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5bd49c135edf4749" /><Relationship Type="http://schemas.openxmlformats.org/officeDocument/2006/relationships/notesMaster" Target="/ppt/notesMasters/notesMaster1.xml" Id="Rda4b2095535e4934"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a3e4d200238f418d" /><Relationship Type="http://schemas.openxmlformats.org/officeDocument/2006/relationships/notesMaster" Target="/ppt/notesMasters/notesMaster1.xml" Id="R0ed6a61e56854243"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0e5077cfa5924a5c" /><Relationship Type="http://schemas.openxmlformats.org/officeDocument/2006/relationships/notesMaster" Target="/ppt/notesMasters/notesMaster1.xml" Id="R699f3a320c5b4173"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092e40ac474c4007" /><Relationship Type="http://schemas.openxmlformats.org/officeDocument/2006/relationships/notesMaster" Target="/ppt/notesMasters/notesMaster1.xml" Id="Rbb430b4088414d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f7d061e03e4e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d5cf0cca354d38" /><Relationship Type="http://schemas.openxmlformats.org/officeDocument/2006/relationships/slideLayout" Target="/ppt/slideLayouts/slideLayout1.xml" Id="Re4781255b3af47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781255b3af47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acddce9dbb48ff" /><Relationship Type="http://schemas.openxmlformats.org/officeDocument/2006/relationships/notesSlide" Target="/ppt/notesSlides/notesSlide1.xml" Id="Rbbb482599f1043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c3c44c9c25474d" /><Relationship Type="http://schemas.openxmlformats.org/officeDocument/2006/relationships/notesSlide" Target="/ppt/notesSlides/notesSlide2.xml" Id="R229ec1e1f6764b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c5ef8a872249d8" /><Relationship Type="http://schemas.openxmlformats.org/officeDocument/2006/relationships/notesSlide" Target="/ppt/notesSlides/notesSlide3.xml" Id="R5e643e9065b64d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6344d117bb4072" /><Relationship Type="http://schemas.openxmlformats.org/officeDocument/2006/relationships/notesSlide" Target="/ppt/notesSlides/notesSlide4.xml" Id="Ra65c8c744c6c4f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9924d855864926" /><Relationship Type="http://schemas.openxmlformats.org/officeDocument/2006/relationships/notesSlide" Target="/ppt/notesSlides/notesSlide5.xml" Id="R356c29b6097342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8b859ecc944d8e" /><Relationship Type="http://schemas.openxmlformats.org/officeDocument/2006/relationships/notesSlide" Target="/ppt/notesSlides/notesSlide6.xml" Id="R463dcb68303e44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8707ab905c4683" /><Relationship Type="http://schemas.openxmlformats.org/officeDocument/2006/relationships/notesSlide" Target="/ppt/notesSlides/notesSlide7.xml" Id="Rf8f68e8872f34e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44ebd633af488c" /><Relationship Type="http://schemas.openxmlformats.org/officeDocument/2006/relationships/notesSlide" Target="/ppt/notesSlides/notesSlide8.xml" Id="Rbf510dd38a284e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b6a6f20b8964fbb" /><Relationship Type="http://schemas.openxmlformats.org/officeDocument/2006/relationships/notesSlide" Target="/ppt/notesSlides/notesSlide9.xml" Id="Raa393ab936f542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f1574e965964d14" /><Relationship Type="http://schemas.openxmlformats.org/officeDocument/2006/relationships/notesSlide" Target="/ppt/notesSlides/notesSlide10.xml" Id="Rb98201c48e284f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80def2dba314770" /><Relationship Type="http://schemas.openxmlformats.org/officeDocument/2006/relationships/notesSlide" Target="/ppt/notesSlides/notesSlide11.xml" Id="R38e566bb555b41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0c5273430304140" /><Relationship Type="http://schemas.openxmlformats.org/officeDocument/2006/relationships/notesSlide" Target="/ppt/notesSlides/notesSlide12.xml" Id="R3314a69f63b545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f104abf053d4fc2" /><Relationship Type="http://schemas.openxmlformats.org/officeDocument/2006/relationships/notesSlide" Target="/ppt/notesSlides/notesSlide13.xml" Id="R3488151d525f41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0df956cb9fd4067" /><Relationship Type="http://schemas.openxmlformats.org/officeDocument/2006/relationships/notesSlide" Target="/ppt/notesSlides/notesSlide14.xml" Id="R5d96e7b03de64c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76b86252b35480a" /><Relationship Type="http://schemas.openxmlformats.org/officeDocument/2006/relationships/notesSlide" Target="/ppt/notesSlides/notesSlide15.xml" Id="R6133bf40ea984b0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dc6aead49854dae" /><Relationship Type="http://schemas.openxmlformats.org/officeDocument/2006/relationships/notesSlide" Target="/ppt/notesSlides/notesSlide16.xml" Id="R9b426788fae1468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b992f5559a74f00" /><Relationship Type="http://schemas.openxmlformats.org/officeDocument/2006/relationships/notesSlide" Target="/ppt/notesSlides/notesSlide17.xml" Id="R822ed4b7ad2e4c5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9b2127042e4495d" /><Relationship Type="http://schemas.openxmlformats.org/officeDocument/2006/relationships/notesSlide" Target="/ppt/notesSlides/notesSlide18.xml" Id="R4a741f0836f24d1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9712783955d4605" /><Relationship Type="http://schemas.openxmlformats.org/officeDocument/2006/relationships/notesSlide" Target="/ppt/notesSlides/notesSlide19.xml" Id="Rf06cf0c99ca541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611662946504e72" /><Relationship Type="http://schemas.openxmlformats.org/officeDocument/2006/relationships/notesSlide" Target="/ppt/notesSlides/notesSlide20.xml" Id="R726cb51df802492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2975a3e6acc4f9a" /><Relationship Type="http://schemas.openxmlformats.org/officeDocument/2006/relationships/notesSlide" Target="/ppt/notesSlides/notesSlide21.xml" Id="R402018d593c1418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94b14ef9e474bba" /><Relationship Type="http://schemas.openxmlformats.org/officeDocument/2006/relationships/notesSlide" Target="/ppt/notesSlides/notesSlide22.xml" Id="Rbb92c0c36945432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d0f1af9b37144ac" /><Relationship Type="http://schemas.openxmlformats.org/officeDocument/2006/relationships/image" Target="/ppt/media/image.png" Id="Rc059a627671d4bf5" /><Relationship Type="http://schemas.openxmlformats.org/officeDocument/2006/relationships/notesSlide" Target="/ppt/notesSlides/notesSlide23.xml" Id="R81d899f73dee41a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347a933778b471b" /><Relationship Type="http://schemas.openxmlformats.org/officeDocument/2006/relationships/notesSlide" Target="/ppt/notesSlides/notesSlide24.xml" Id="R1e84ed13c1db4f9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f861bf6fd4a4e17" /><Relationship Type="http://schemas.openxmlformats.org/officeDocument/2006/relationships/notesSlide" Target="/ppt/notesSlides/notesSlide25.xml" Id="Rb6ef18745ab7410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c6f72cf2f7a46c1" /><Relationship Type="http://schemas.openxmlformats.org/officeDocument/2006/relationships/notesSlide" Target="/ppt/notesSlides/notesSlide26.xml" Id="R644833179df6470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d5df8caf0884569" /><Relationship Type="http://schemas.openxmlformats.org/officeDocument/2006/relationships/notesSlide" Target="/ppt/notesSlides/notesSlide27.xml" Id="Ra51ded8571834c8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2305273696e486f" /><Relationship Type="http://schemas.openxmlformats.org/officeDocument/2006/relationships/notesSlide" Target="/ppt/notesSlides/notesSlide28.xml" Id="R97a853e5e20b406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e6dce5fa3b44d9d" /><Relationship Type="http://schemas.openxmlformats.org/officeDocument/2006/relationships/notesSlide" Target="/ppt/notesSlides/notesSlide29.xml" Id="Rf5a9b25fdc44407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9c969465ff3453e" /><Relationship Type="http://schemas.openxmlformats.org/officeDocument/2006/relationships/notesSlide" Target="/ppt/notesSlides/notesSlide30.xml" Id="R371c93a5a0df40e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b1d08c20d844695" /><Relationship Type="http://schemas.openxmlformats.org/officeDocument/2006/relationships/notesSlide" Target="/ppt/notesSlides/notesSlide31.xml" Id="Ra5044857a9b7476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279cf2d8ab74623" /><Relationship Type="http://schemas.openxmlformats.org/officeDocument/2006/relationships/notesSlide" Target="/ppt/notesSlides/notesSlide32.xml" Id="R23f3b19a2c124e7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7b878e21cf24f55" /><Relationship Type="http://schemas.openxmlformats.org/officeDocument/2006/relationships/notesSlide" Target="/ppt/notesSlides/notesSlide33.xml" Id="R8912083994724ec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ff6d0ceed7b45ef" /><Relationship Type="http://schemas.openxmlformats.org/officeDocument/2006/relationships/notesSlide" Target="/ppt/notesSlides/notesSlide34.xml" Id="R465e3381f5c0424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9ccc8a2c98c4069" /><Relationship Type="http://schemas.openxmlformats.org/officeDocument/2006/relationships/notesSlide" Target="/ppt/notesSlides/notesSlide35.xml" Id="R62cfaaad835f4f3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7b6ddcd215742ae" /><Relationship Type="http://schemas.openxmlformats.org/officeDocument/2006/relationships/notesSlide" Target="/ppt/notesSlides/notesSlide36.xml" Id="Rde57996d87bd4e7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c407ceef49f4d41" /><Relationship Type="http://schemas.openxmlformats.org/officeDocument/2006/relationships/notesSlide" Target="/ppt/notesSlides/notesSlide37.xml" Id="R846d6f343be948c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9db14bf420f45f1" /><Relationship Type="http://schemas.openxmlformats.org/officeDocument/2006/relationships/image" Target="/ppt/media/image2.png" Id="Rf0b15f8295c34a33" /><Relationship Type="http://schemas.openxmlformats.org/officeDocument/2006/relationships/notesSlide" Target="/ppt/notesSlides/notesSlide38.xml" Id="R6826a2eec80d4c3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e58c16edb7a41e0" /><Relationship Type="http://schemas.openxmlformats.org/officeDocument/2006/relationships/image" Target="/ppt/media/image3.png" Id="R45a29b4fc29f4c3f" /><Relationship Type="http://schemas.openxmlformats.org/officeDocument/2006/relationships/notesSlide" Target="/ppt/notesSlides/notesSlide39.xml" Id="R02887ecce921437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e40229996be4806" /><Relationship Type="http://schemas.openxmlformats.org/officeDocument/2006/relationships/image" Target="/ppt/media/image4.png" Id="R2a8e4ba48a934402" /><Relationship Type="http://schemas.openxmlformats.org/officeDocument/2006/relationships/notesSlide" Target="/ppt/notesSlides/notesSlide40.xml" Id="Rce8f0e0407af44b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baa36ba7ccd4c12" /><Relationship Type="http://schemas.openxmlformats.org/officeDocument/2006/relationships/notesSlide" Target="/ppt/notesSlides/notesSlide41.xml" Id="R6a757c366411419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575c7f937ec4d7a" /><Relationship Type="http://schemas.openxmlformats.org/officeDocument/2006/relationships/notesSlide" Target="/ppt/notesSlides/notesSlide42.xml" Id="R804d33eade304f8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069cdb54d594648" /><Relationship Type="http://schemas.openxmlformats.org/officeDocument/2006/relationships/notesSlide" Target="/ppt/notesSlides/notesSlide43.xml" Id="R002d7ef1b9a5495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e4d17fbc5f64e34" /><Relationship Type="http://schemas.openxmlformats.org/officeDocument/2006/relationships/notesSlide" Target="/ppt/notesSlides/notesSlide44.xml" Id="R234a48177f9d4b3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8a403f617d74c3d" /><Relationship Type="http://schemas.openxmlformats.org/officeDocument/2006/relationships/notesSlide" Target="/ppt/notesSlides/notesSlide45.xml" Id="R96df047d064d49e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f7c6db873934ac0" /><Relationship Type="http://schemas.openxmlformats.org/officeDocument/2006/relationships/notesSlide" Target="/ppt/notesSlides/notesSlide46.xml" Id="Re3b40f6e6e494af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b328227c8244867" /><Relationship Type="http://schemas.openxmlformats.org/officeDocument/2006/relationships/notesSlide" Target="/ppt/notesSlides/notesSlide47.xml" Id="Reb5d5e30f3584d7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8fd85edaff684974" /><Relationship Type="http://schemas.openxmlformats.org/officeDocument/2006/relationships/notesSlide" Target="/ppt/notesSlides/notesSlide48.xml" Id="R5a1798f66d90461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3d46457d5574af9" /><Relationship Type="http://schemas.openxmlformats.org/officeDocument/2006/relationships/notesSlide" Target="/ppt/notesSlides/notesSlide49.xml" Id="R8b49aaa4a9794f5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c734dcd759c543fe" /><Relationship Type="http://schemas.openxmlformats.org/officeDocument/2006/relationships/notesSlide" Target="/ppt/notesSlides/notesSlide50.xml" Id="R93f0a776e6af49a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daa5bf0d3ca4ee1" /><Relationship Type="http://schemas.openxmlformats.org/officeDocument/2006/relationships/notesSlide" Target="/ppt/notesSlides/notesSlide51.xml" Id="R9392ac14ed314d0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bb363cb39fec46f3" /><Relationship Type="http://schemas.openxmlformats.org/officeDocument/2006/relationships/notesSlide" Target="/ppt/notesSlides/notesSlide52.xml" Id="Rc31392e0f7e34a2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67876044a1141ee" /><Relationship Type="http://schemas.openxmlformats.org/officeDocument/2006/relationships/notesSlide" Target="/ppt/notesSlides/notesSlide53.xml" Id="R6fd9946171db4d2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c6b15a29d6e848a1" /><Relationship Type="http://schemas.openxmlformats.org/officeDocument/2006/relationships/notesSlide" Target="/ppt/notesSlides/notesSlide54.xml" Id="Rcb19a7ae37c7474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55ae280137b74f2b" /><Relationship Type="http://schemas.openxmlformats.org/officeDocument/2006/relationships/notesSlide" Target="/ppt/notesSlides/notesSlide55.xml" Id="R3c9dad6181e64663"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9a14281e23934115" /><Relationship Type="http://schemas.openxmlformats.org/officeDocument/2006/relationships/notesSlide" Target="/ppt/notesSlides/notesSlide56.xml" Id="R1a6be9a06c7e461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696b033a7154f93" /><Relationship Type="http://schemas.openxmlformats.org/officeDocument/2006/relationships/image" Target="/ppt/media/image5.png" Id="Rdf925c240b1e40dd" /><Relationship Type="http://schemas.openxmlformats.org/officeDocument/2006/relationships/notesSlide" Target="/ppt/notesSlides/notesSlide57.xml" Id="R5b6a16212b2f47b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423e5d27dfbc4392" /><Relationship Type="http://schemas.openxmlformats.org/officeDocument/2006/relationships/image" Target="/ppt/media/image6.png" Id="R865a24790db14261" /><Relationship Type="http://schemas.openxmlformats.org/officeDocument/2006/relationships/notesSlide" Target="/ppt/notesSlides/notesSlide58.xml" Id="Rb48a7dc2c347452c"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57d64ef14b2644ef" /><Relationship Type="http://schemas.openxmlformats.org/officeDocument/2006/relationships/image" Target="/ppt/media/image7.png" Id="Re9f20037ffa4480d" /><Relationship Type="http://schemas.openxmlformats.org/officeDocument/2006/relationships/notesSlide" Target="/ppt/notesSlides/notesSlide59.xml" Id="R15fd6434973f4990"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9f781d27c00c4ca6" /><Relationship Type="http://schemas.openxmlformats.org/officeDocument/2006/relationships/notesSlide" Target="/ppt/notesSlides/notesSlide60.xml" Id="R1ca38a0cb8e14fd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5d1b32cda6744a6e" /><Relationship Type="http://schemas.openxmlformats.org/officeDocument/2006/relationships/notesSlide" Target="/ppt/notesSlides/notesSlide61.xml" Id="R79a8d9d6ec904307"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3a2545ac71f84f54" /><Relationship Type="http://schemas.openxmlformats.org/officeDocument/2006/relationships/notesSlide" Target="/ppt/notesSlides/notesSlide62.xml" Id="R54eea7a59925492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2a859466e5454ed1" /><Relationship Type="http://schemas.openxmlformats.org/officeDocument/2006/relationships/notesSlide" Target="/ppt/notesSlides/notesSlide63.xml" Id="Rd3cbba5cbd2d4508"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4178fef0252744b8" /><Relationship Type="http://schemas.openxmlformats.org/officeDocument/2006/relationships/notesSlide" Target="/ppt/notesSlides/notesSlide64.xml" Id="R1293d075533e4ad2"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6bc08c21e2444058" /><Relationship Type="http://schemas.openxmlformats.org/officeDocument/2006/relationships/notesSlide" Target="/ppt/notesSlides/notesSlide65.xml" Id="R976ac572432449fa"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b7783fbd5cf24404" /><Relationship Type="http://schemas.openxmlformats.org/officeDocument/2006/relationships/notesSlide" Target="/ppt/notesSlides/notesSlide66.xml" Id="R8e7e619c29ce4c7d"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d1807314ba4545ee" /><Relationship Type="http://schemas.openxmlformats.org/officeDocument/2006/relationships/notesSlide" Target="/ppt/notesSlides/notesSlide67.xml" Id="Rf00b21b889c4480f"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816ca76b6fd24d31" /><Relationship Type="http://schemas.openxmlformats.org/officeDocument/2006/relationships/notesSlide" Target="/ppt/notesSlides/notesSlide68.xml" Id="R36a250d3edcf47d0"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3d1ce97c25404291" /><Relationship Type="http://schemas.openxmlformats.org/officeDocument/2006/relationships/notesSlide" Target="/ppt/notesSlides/notesSlide69.xml" Id="Rc9e64906c2464fb6"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b0303de67a564457" /><Relationship Type="http://schemas.openxmlformats.org/officeDocument/2006/relationships/notesSlide" Target="/ppt/notesSlides/notesSlide70.xml" Id="Rec4e94e879f54665"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d5c9065ffee442f7" /><Relationship Type="http://schemas.openxmlformats.org/officeDocument/2006/relationships/notesSlide" Target="/ppt/notesSlides/notesSlide71.xml" Id="R508e231a21964f02"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2ae833a0ad264ed4" /><Relationship Type="http://schemas.openxmlformats.org/officeDocument/2006/relationships/notesSlide" Target="/ppt/notesSlides/notesSlide72.xml" Id="R645c40f42ecf414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2635b636ac9c45cd" /><Relationship Type="http://schemas.openxmlformats.org/officeDocument/2006/relationships/notesSlide" Target="/ppt/notesSlides/notesSlide73.xml" Id="Rf3f8870cfb504322"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378ef06e564541eb" /><Relationship Type="http://schemas.openxmlformats.org/officeDocument/2006/relationships/notesSlide" Target="/ppt/notesSlides/notesSlide74.xml" Id="Ree1e77a9a5e64c2d"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80e851dbbfe24c24" /><Relationship Type="http://schemas.openxmlformats.org/officeDocument/2006/relationships/notesSlide" Target="/ppt/notesSlides/notesSlide75.xml" Id="Rb3c8dd6d19314484"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65cedc00216748b8" /><Relationship Type="http://schemas.openxmlformats.org/officeDocument/2006/relationships/notesSlide" Target="/ppt/notesSlides/notesSlide76.xml" Id="Re11527f2c7c74d24"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061df8d56c0d4f6d" /><Relationship Type="http://schemas.openxmlformats.org/officeDocument/2006/relationships/notesSlide" Target="/ppt/notesSlides/notesSlide77.xml" Id="R1d307ad79e92404e"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ae79cb3da8584ee4" /><Relationship Type="http://schemas.openxmlformats.org/officeDocument/2006/relationships/notesSlide" Target="/ppt/notesSlides/notesSlide78.xml" Id="Rc081dff46c8a474f"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e528002ebd8444b3" /><Relationship Type="http://schemas.openxmlformats.org/officeDocument/2006/relationships/image" Target="/ppt/media/image8.png" Id="Rdee17489a48942df" /><Relationship Type="http://schemas.openxmlformats.org/officeDocument/2006/relationships/notesSlide" Target="/ppt/notesSlides/notesSlide79.xml" Id="Rf93fd447416b444e"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f5e56784e1db47b7" /><Relationship Type="http://schemas.openxmlformats.org/officeDocument/2006/relationships/notesSlide" Target="/ppt/notesSlides/notesSlide80.xml" Id="R966f0fd450e24be8"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dd027bc3344448e7" /><Relationship Type="http://schemas.openxmlformats.org/officeDocument/2006/relationships/notesSlide" Target="/ppt/notesSlides/notesSlide81.xml" Id="Rc21cd67f9fbb4979"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a5c8c743d36f40ba" /><Relationship Type="http://schemas.openxmlformats.org/officeDocument/2006/relationships/notesSlide" Target="/ppt/notesSlides/notesSlide82.xml" Id="Rccb6b14daf274bc4"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25652af48221492d" /><Relationship Type="http://schemas.openxmlformats.org/officeDocument/2006/relationships/notesSlide" Target="/ppt/notesSlides/notesSlide83.xml" Id="Re864a92d96534038"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1e9247a337bf440f" /><Relationship Type="http://schemas.openxmlformats.org/officeDocument/2006/relationships/notesSlide" Target="/ppt/notesSlides/notesSlide84.xml" Id="R7b587ac69dc2402c"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c8cfe435fb4a44d4" /><Relationship Type="http://schemas.openxmlformats.org/officeDocument/2006/relationships/notesSlide" Target="/ppt/notesSlides/notesSlide85.xml" Id="R734b767e55104622"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f525b383f43e4427" /><Relationship Type="http://schemas.openxmlformats.org/officeDocument/2006/relationships/image" Target="/ppt/media/image9.png" Id="Rf9c2ad4d78b745fc" /><Relationship Type="http://schemas.openxmlformats.org/officeDocument/2006/relationships/notesSlide" Target="/ppt/notesSlides/notesSlide86.xml" Id="R06f7e84a5da24cef"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c756c2c0852f44ce" /><Relationship Type="http://schemas.openxmlformats.org/officeDocument/2006/relationships/image" Target="/ppt/media/image10.png" Id="Rf3a2a523a3034554" /><Relationship Type="http://schemas.openxmlformats.org/officeDocument/2006/relationships/notesSlide" Target="/ppt/notesSlides/notesSlide87.xml" Id="Rea5b95d29fad4778"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b41a525853884674" /><Relationship Type="http://schemas.openxmlformats.org/officeDocument/2006/relationships/notesSlide" Target="/ppt/notesSlides/notesSlide88.xml" Id="R900bc94e01d04db2"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bdcfcba8febc481b" /><Relationship Type="http://schemas.openxmlformats.org/officeDocument/2006/relationships/image" Target="/ppt/media/image11.png" Id="Rb7da5412507b4fe3" /><Relationship Type="http://schemas.openxmlformats.org/officeDocument/2006/relationships/notesSlide" Target="/ppt/notesSlides/notesSlide89.xml" Id="Rab35f989df994c7a"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e11216e5819e4f1c" /><Relationship Type="http://schemas.openxmlformats.org/officeDocument/2006/relationships/image" Target="/ppt/media/image12.png" Id="Rc0953499469946f1" /><Relationship Type="http://schemas.openxmlformats.org/officeDocument/2006/relationships/notesSlide" Target="/ppt/notesSlides/notesSlide90.xml" Id="R6897b0c657bb4637"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45366757e5d648bd" /><Relationship Type="http://schemas.openxmlformats.org/officeDocument/2006/relationships/image" Target="/ppt/media/image13.png" Id="Ra1e24844f25744c2" /><Relationship Type="http://schemas.openxmlformats.org/officeDocument/2006/relationships/notesSlide" Target="/ppt/notesSlides/notesSlide91.xml" Id="R39022ccb140f4736"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8a132067261f45af" /><Relationship Type="http://schemas.openxmlformats.org/officeDocument/2006/relationships/image" Target="/ppt/media/image14.png" Id="R3013c1d60fd243c5" /><Relationship Type="http://schemas.openxmlformats.org/officeDocument/2006/relationships/notesSlide" Target="/ppt/notesSlides/notesSlide92.xml" Id="Rfff79adc6fad4dbd"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707e8c8144324be5" /><Relationship Type="http://schemas.openxmlformats.org/officeDocument/2006/relationships/image" Target="/ppt/media/image15.png" Id="Ra528290f04d348c8" /><Relationship Type="http://schemas.openxmlformats.org/officeDocument/2006/relationships/notesSlide" Target="/ppt/notesSlides/notesSlide93.xml" Id="R9366334b8aa64f65"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a4c22f534b004f84" /><Relationship Type="http://schemas.openxmlformats.org/officeDocument/2006/relationships/image" Target="/ppt/media/image16.png" Id="R81b5c59b2d264565" /><Relationship Type="http://schemas.openxmlformats.org/officeDocument/2006/relationships/notesSlide" Target="/ppt/notesSlides/notesSlide94.xml" Id="R3184494145db44d3"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fba43ec331cd4c75" /><Relationship Type="http://schemas.openxmlformats.org/officeDocument/2006/relationships/image" Target="/ppt/media/image17.png" Id="R5d37c42146b44601" /><Relationship Type="http://schemas.openxmlformats.org/officeDocument/2006/relationships/notesSlide" Target="/ppt/notesSlides/notesSlide95.xml" Id="Rff61ecdda8c34d55"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6d28ac98bd4e4f5a" /><Relationship Type="http://schemas.openxmlformats.org/officeDocument/2006/relationships/notesSlide" Target="/ppt/notesSlides/notesSlide96.xml" Id="R0eea862908014b7b"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788a3269e8614e03" /><Relationship Type="http://schemas.openxmlformats.org/officeDocument/2006/relationships/notesSlide" Target="/ppt/notesSlides/notesSlide97.xml" Id="R270e6e18e1a6420f"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fabc609463fa48b0" /><Relationship Type="http://schemas.openxmlformats.org/officeDocument/2006/relationships/notesSlide" Target="/ppt/notesSlides/notesSlide98.xml" Id="Re3c1a0ab9b4f4be6"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397ec08cff084e50" /><Relationship Type="http://schemas.openxmlformats.org/officeDocument/2006/relationships/notesSlide" Target="/ppt/notesSlides/notesSlide99.xml" Id="R18867e1ee2204e37"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a623316af28f4539" /><Relationship Type="http://schemas.openxmlformats.org/officeDocument/2006/relationships/notesSlide" Target="/ppt/notesSlides/notesSlide100.xml" Id="R9326b30614b940e9"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0ce91afa2e20440c" /><Relationship Type="http://schemas.openxmlformats.org/officeDocument/2006/relationships/notesSlide" Target="/ppt/notesSlides/notesSlide101.xml" Id="Rdfbb143eed704486"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626c24ac14a0443e" /><Relationship Type="http://schemas.openxmlformats.org/officeDocument/2006/relationships/notesSlide" Target="/ppt/notesSlides/notesSlide102.xml" Id="Rbe6bd4769a4943c1"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cdc00528e88e4e8e" /><Relationship Type="http://schemas.openxmlformats.org/officeDocument/2006/relationships/notesSlide" Target="/ppt/notesSlides/notesSlide103.xml" Id="Rd345bac8fd1f4a5c"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2478d25f816c4e4a" /><Relationship Type="http://schemas.openxmlformats.org/officeDocument/2006/relationships/notesSlide" Target="/ppt/notesSlides/notesSlide104.xml" Id="Rfe9de2ce89c84f24"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efa5c5d0e2ba4ae9" /><Relationship Type="http://schemas.openxmlformats.org/officeDocument/2006/relationships/notesSlide" Target="/ppt/notesSlides/notesSlide105.xml" Id="R2cb0582e0343414a"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c0c661cf9c7f4874" /><Relationship Type="http://schemas.openxmlformats.org/officeDocument/2006/relationships/notesSlide" Target="/ppt/notesSlides/notesSlide106.xml" Id="Rb84e383bfaeb4966"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7390c6ad87ac4e20" /><Relationship Type="http://schemas.openxmlformats.org/officeDocument/2006/relationships/notesSlide" Target="/ppt/notesSlides/notesSlide107.xml" Id="R935997c328a54284"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218d4729f2874081" /><Relationship Type="http://schemas.openxmlformats.org/officeDocument/2006/relationships/notesSlide" Target="/ppt/notesSlides/notesSlide108.xml" Id="Rf01b647d81ce4a7f"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9a6a5cc25b784121" /><Relationship Type="http://schemas.openxmlformats.org/officeDocument/2006/relationships/notesSlide" Target="/ppt/notesSlides/notesSlide109.xml" Id="Rb8ef8474ec4e47ee"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d91c6ae84afb4823" /><Relationship Type="http://schemas.openxmlformats.org/officeDocument/2006/relationships/notesSlide" Target="/ppt/notesSlides/notesSlide110.xml" Id="R3a8734ea2f714cf0"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6c34be2d1dd04bb5" /><Relationship Type="http://schemas.openxmlformats.org/officeDocument/2006/relationships/notesSlide" Target="/ppt/notesSlides/notesSlide111.xml" Id="R6471f030a2b64a51"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99287fe895a04a54" /><Relationship Type="http://schemas.openxmlformats.org/officeDocument/2006/relationships/notesSlide" Target="/ppt/notesSlides/notesSlide112.xml" Id="R2a6cde3830f94e0d"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973a7f46ad0b41ab" /><Relationship Type="http://schemas.openxmlformats.org/officeDocument/2006/relationships/notesSlide" Target="/ppt/notesSlides/notesSlide113.xml" Id="R16a0108b7f3742b1"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0dad37d4bb814a49" /><Relationship Type="http://schemas.openxmlformats.org/officeDocument/2006/relationships/notesSlide" Target="/ppt/notesSlides/notesSlide114.xml" Id="Ra163c12b8b1048bf"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d2eaff0e6b9b4a46" /><Relationship Type="http://schemas.openxmlformats.org/officeDocument/2006/relationships/notesSlide" Target="/ppt/notesSlides/notesSlide115.xml" Id="R4f3dcda7565c4133"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8dc62e68743946c1" /><Relationship Type="http://schemas.openxmlformats.org/officeDocument/2006/relationships/notesSlide" Target="/ppt/notesSlides/notesSlide116.xml" Id="R240ff9c7df354521"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d547286ef33344ee" /><Relationship Type="http://schemas.openxmlformats.org/officeDocument/2006/relationships/notesSlide" Target="/ppt/notesSlides/notesSlide117.xml" Id="R8745504fddaf493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61776E-896D-48CC-A377-C8460BA42F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CEA9B2-5CD4-43C8-B7A6-F04D19B0AA9E}"/>
              </a:ext>
            </a:extLst>
          </p:cNvPr>
          <p:cNvSpPr>
            <a:spLocks xmlns:a="http://schemas.openxmlformats.org/drawingml/2006/main" noGrp="1"/>
          </p:cNvSpPr>
          <p:nvPr/>
        </p:nvSpPr>
        <p:spPr>
          <a:xfrm xmlns:a="http://schemas.openxmlformats.org/drawingml/2006/main">
            <a:off x="685800" y="704850"/>
            <a:ext cx="10810875" cy="4762500"/>
          </a:xfrm>
          <a:prstGeom xmlns:a="http://schemas.openxmlformats.org/drawingml/2006/main" prst="roundRect">
            <a:avLst>
              <a:gd name="adj" fmla="val 3600"/>
            </a:avLst>
          </a:prstGeom>
          <a:solidFill xmlns:a="http://schemas.openxmlformats.org/drawingml/2006/main">
            <a:srgbClr val="123F34"/>
          </a:solidFill>
          <a:ln xmlns:a="http://schemas.openxmlformats.org/drawingml/2006/main" w="9525">
            <a:solidFill>
              <a:srgbClr val="2E6B59"/>
            </a:solidFill>
          </a:ln>
        </p:spPr>
      </p:sp>
      <p:sp>
        <p:nvSpPr>
          <p:cNvPr id="3" name="">
            <a:extLst xmlns:a="http://schemas.openxmlformats.org/drawingml/2006/main">
              <a:ext uri="{FF2B5EF4-FFF2-40B4-BE49-F238E27FC236}">
                <a16:creationId xmlns:a16="http://schemas.microsoft.com/office/drawing/2014/main" id="{7F43273D-EDC9-4F90-A02A-C7AE42E6DE9D}"/>
              </a:ext>
            </a:extLst>
          </p:cNvPr>
          <p:cNvSpPr>
            <a:spLocks xmlns:a="http://schemas.openxmlformats.org/drawingml/2006/main" noGrp="1"/>
          </p:cNvSpPr>
          <p:nvPr/>
        </p:nvSpPr>
        <p:spPr>
          <a:xfrm xmlns:a="http://schemas.openxmlformats.org/drawingml/2006/main">
            <a:off x="971550" y="11049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1169"/>
          </a:bodyPr>
          <a:lstStyle xmlns:a="http://schemas.openxmlformats.org/drawingml/2006/main"/>
          <a:p xmlns:a="http://schemas.openxmlformats.org/drawingml/2006/main">
            <a:pPr algn="l">
              <a:lnSpc>
                <a:spcPct val="112000"/>
              </a:lnSpc>
              <a:buNone/>
              <a:defRPr sz="1650" b="1">
                <a:solidFill>
                  <a:srgbClr val="D8A43A"/>
                </a:solidFill>
                <a:latin typeface="PingFang SC"/>
                <a:ea typeface="PingFang SC"/>
                <a:cs typeface="PingFang SC"/>
              </a:defRPr>
            </a:pPr>
            <a:r>
              <a:rPr sz="1650" b="1">
                <a:solidFill>
                  <a:srgbClr val="D8A43A"/>
                </a:solidFill>
                <a:latin typeface="PingFang SC"/>
                <a:ea typeface="PingFang SC"/>
                <a:cs typeface="PingFang SC"/>
              </a:rPr>
              <a:t>软件综合开发实训答辩</a:t>
            </a:r>
          </a:p>
        </p:txBody>
      </p:sp>
      <p:sp>
        <p:nvSpPr>
          <p:cNvPr id="4" name="">
            <a:extLst xmlns:a="http://schemas.openxmlformats.org/drawingml/2006/main">
              <a:ext uri="{FF2B5EF4-FFF2-40B4-BE49-F238E27FC236}">
                <a16:creationId xmlns:a16="http://schemas.microsoft.com/office/drawing/2014/main" id="{78F84F92-53EC-4972-8845-1A7CC1944D99}"/>
              </a:ext>
            </a:extLst>
          </p:cNvPr>
          <p:cNvSpPr>
            <a:spLocks xmlns:a="http://schemas.openxmlformats.org/drawingml/2006/main" noGrp="1"/>
          </p:cNvSpPr>
          <p:nvPr/>
        </p:nvSpPr>
        <p:spPr>
          <a:xfrm xmlns:a="http://schemas.openxmlformats.org/drawingml/2006/main">
            <a:off x="952500" y="1619250"/>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3600" b="1">
                <a:solidFill>
                  <a:srgbClr val="FFFFFF"/>
                </a:solidFill>
                <a:latin typeface="PingFang SC"/>
                <a:ea typeface="PingFang SC"/>
                <a:cs typeface="PingFang SC"/>
              </a:defRPr>
            </a:pPr>
            <a:r>
              <a:rPr sz="3600" b="1">
                <a:solidFill>
                  <a:srgbClr val="FFFFFF"/>
                </a:solidFill>
                <a:latin typeface="PingFang SC"/>
                <a:ea typeface="PingFang SC"/>
                <a:cs typeface="PingFang SC"/>
              </a:rPr>
              <a:t>锄大地 Android 棋牌游戏</a:t>
            </a:r>
          </a:p>
        </p:txBody>
      </p:sp>
      <p:sp>
        <p:nvSpPr>
          <p:cNvPr id="5" name="">
            <a:extLst xmlns:a="http://schemas.openxmlformats.org/drawingml/2006/main">
              <a:ext uri="{FF2B5EF4-FFF2-40B4-BE49-F238E27FC236}">
                <a16:creationId xmlns:a16="http://schemas.microsoft.com/office/drawing/2014/main" id="{AA8A21F6-29B6-4576-8BB9-CC572CD09CD7}"/>
              </a:ext>
            </a:extLst>
          </p:cNvPr>
          <p:cNvSpPr>
            <a:spLocks xmlns:a="http://schemas.openxmlformats.org/drawingml/2006/main" noGrp="1"/>
          </p:cNvSpPr>
          <p:nvPr/>
        </p:nvSpPr>
        <p:spPr>
          <a:xfrm xmlns:a="http://schemas.openxmlformats.org/drawingml/2006/main">
            <a:off x="990600" y="2571750"/>
            <a:ext cx="904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20000"/>
              </a:lnSpc>
              <a:buNone/>
              <a:defRPr sz="1800" b="0">
                <a:solidFill>
                  <a:srgbClr val="EAF5EF"/>
                </a:solidFill>
                <a:latin typeface="PingFang SC"/>
                <a:ea typeface="PingFang SC"/>
                <a:cs typeface="PingFang SC"/>
              </a:defRPr>
            </a:pPr>
            <a:r>
              <a:rPr sz="1800" b="0">
                <a:solidFill>
                  <a:srgbClr val="EAF5EF"/>
                </a:solidFill>
                <a:latin typeface="PingFang SC"/>
                <a:ea typeface="PingFang SC"/>
                <a:cs typeface="PingFang SC"/>
              </a:rPr>
              <a:t>内容与实验报告保持一致；同一小节内容集中排版，适合答辩连续讲述</a:t>
            </a:r>
          </a:p>
        </p:txBody>
      </p:sp>
      <p:sp>
        <p:nvSpPr>
          <p:cNvPr id="6" name="">
            <a:extLst xmlns:a="http://schemas.openxmlformats.org/drawingml/2006/main">
              <a:ext uri="{FF2B5EF4-FFF2-40B4-BE49-F238E27FC236}">
                <a16:creationId xmlns:a16="http://schemas.microsoft.com/office/drawing/2014/main" id="{04CE7F5E-FB62-4842-A5DA-87666E865E37}"/>
              </a:ext>
            </a:extLst>
          </p:cNvPr>
          <p:cNvSpPr>
            <a:spLocks xmlns:a="http://schemas.openxmlformats.org/drawingml/2006/main" noGrp="1"/>
          </p:cNvSpPr>
          <p:nvPr/>
        </p:nvSpPr>
        <p:spPr>
          <a:xfrm xmlns:a="http://schemas.openxmlformats.org/drawingml/2006/main">
            <a:off x="990600" y="3714750"/>
            <a:ext cx="963283" cy="2857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7" name="">
            <a:extLst xmlns:a="http://schemas.openxmlformats.org/drawingml/2006/main">
              <a:ext uri="{FF2B5EF4-FFF2-40B4-BE49-F238E27FC236}">
                <a16:creationId xmlns:a16="http://schemas.microsoft.com/office/drawing/2014/main" id="{E4A4BBDB-042D-454E-9D68-155009CDDBAC}"/>
              </a:ext>
            </a:extLst>
          </p:cNvPr>
          <p:cNvSpPr>
            <a:spLocks xmlns:a="http://schemas.openxmlformats.org/drawingml/2006/main" noGrp="1"/>
          </p:cNvSpPr>
          <p:nvPr/>
        </p:nvSpPr>
        <p:spPr>
          <a:xfrm xmlns:a="http://schemas.openxmlformats.org/drawingml/2006/main">
            <a:off x="1038225" y="3752850"/>
            <a:ext cx="868033"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83289"/>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项目</a:t>
            </a:r>
          </a:p>
        </p:txBody>
      </p:sp>
      <p:sp>
        <p:nvSpPr>
          <p:cNvPr id="8" name="">
            <a:extLst xmlns:a="http://schemas.openxmlformats.org/drawingml/2006/main">
              <a:ext uri="{FF2B5EF4-FFF2-40B4-BE49-F238E27FC236}">
                <a16:creationId xmlns:a16="http://schemas.microsoft.com/office/drawing/2014/main" id="{650FDBDA-ED22-4912-B918-1ACB2C326726}"/>
              </a:ext>
            </a:extLst>
          </p:cNvPr>
          <p:cNvSpPr>
            <a:spLocks xmlns:a="http://schemas.openxmlformats.org/drawingml/2006/main" noGrp="1"/>
          </p:cNvSpPr>
          <p:nvPr/>
        </p:nvSpPr>
        <p:spPr>
          <a:xfrm xmlns:a="http://schemas.openxmlformats.org/drawingml/2006/main">
            <a:off x="1953883" y="3714750"/>
            <a:ext cx="5418467" cy="2857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9" name="">
            <a:extLst xmlns:a="http://schemas.openxmlformats.org/drawingml/2006/main">
              <a:ext uri="{FF2B5EF4-FFF2-40B4-BE49-F238E27FC236}">
                <a16:creationId xmlns:a16="http://schemas.microsoft.com/office/drawing/2014/main" id="{DFAD8DF7-E5EB-4B27-A939-1B2A3AF3C33A}"/>
              </a:ext>
            </a:extLst>
          </p:cNvPr>
          <p:cNvSpPr>
            <a:spLocks xmlns:a="http://schemas.openxmlformats.org/drawingml/2006/main" noGrp="1"/>
          </p:cNvSpPr>
          <p:nvPr/>
        </p:nvSpPr>
        <p:spPr>
          <a:xfrm xmlns:a="http://schemas.openxmlformats.org/drawingml/2006/main">
            <a:off x="2001508" y="3752850"/>
            <a:ext cx="5323217"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83289"/>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说明</a:t>
            </a:r>
          </a:p>
        </p:txBody>
      </p:sp>
      <p:sp>
        <p:nvSpPr>
          <p:cNvPr id="10" name="">
            <a:extLst xmlns:a="http://schemas.openxmlformats.org/drawingml/2006/main">
              <a:ext uri="{FF2B5EF4-FFF2-40B4-BE49-F238E27FC236}">
                <a16:creationId xmlns:a16="http://schemas.microsoft.com/office/drawing/2014/main" id="{33B89114-3790-4CE5-AA3B-80BB714D1524}"/>
              </a:ext>
            </a:extLst>
          </p:cNvPr>
          <p:cNvSpPr>
            <a:spLocks xmlns:a="http://schemas.openxmlformats.org/drawingml/2006/main" noGrp="1"/>
          </p:cNvSpPr>
          <p:nvPr/>
        </p:nvSpPr>
        <p:spPr>
          <a:xfrm xmlns:a="http://schemas.openxmlformats.org/drawingml/2006/main">
            <a:off x="990600" y="4000500"/>
            <a:ext cx="963283"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1" name="">
            <a:extLst xmlns:a="http://schemas.openxmlformats.org/drawingml/2006/main">
              <a:ext uri="{FF2B5EF4-FFF2-40B4-BE49-F238E27FC236}">
                <a16:creationId xmlns:a16="http://schemas.microsoft.com/office/drawing/2014/main" id="{56491EF0-B118-41E2-B67D-6B704261228B}"/>
              </a:ext>
            </a:extLst>
          </p:cNvPr>
          <p:cNvSpPr>
            <a:spLocks xmlns:a="http://schemas.openxmlformats.org/drawingml/2006/main" noGrp="1"/>
          </p:cNvSpPr>
          <p:nvPr/>
        </p:nvSpPr>
        <p:spPr>
          <a:xfrm xmlns:a="http://schemas.openxmlformats.org/drawingml/2006/main">
            <a:off x="1038225" y="4029075"/>
            <a:ext cx="868033"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9206"/>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课程</a:t>
            </a:r>
          </a:p>
        </p:txBody>
      </p:sp>
      <p:sp>
        <p:nvSpPr>
          <p:cNvPr id="12" name="">
            <a:extLst xmlns:a="http://schemas.openxmlformats.org/drawingml/2006/main">
              <a:ext uri="{FF2B5EF4-FFF2-40B4-BE49-F238E27FC236}">
                <a16:creationId xmlns:a16="http://schemas.microsoft.com/office/drawing/2014/main" id="{2EDC4E97-C957-4BEF-AB18-AA70D61A1FCA}"/>
              </a:ext>
            </a:extLst>
          </p:cNvPr>
          <p:cNvSpPr>
            <a:spLocks xmlns:a="http://schemas.openxmlformats.org/drawingml/2006/main" noGrp="1"/>
          </p:cNvSpPr>
          <p:nvPr/>
        </p:nvSpPr>
        <p:spPr>
          <a:xfrm xmlns:a="http://schemas.openxmlformats.org/drawingml/2006/main">
            <a:off x="1953883" y="4000500"/>
            <a:ext cx="5418467"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3" name="">
            <a:extLst xmlns:a="http://schemas.openxmlformats.org/drawingml/2006/main">
              <a:ext uri="{FF2B5EF4-FFF2-40B4-BE49-F238E27FC236}">
                <a16:creationId xmlns:a16="http://schemas.microsoft.com/office/drawing/2014/main" id="{14EA1464-64A3-4DE0-A66C-0D18E4F3972D}"/>
              </a:ext>
            </a:extLst>
          </p:cNvPr>
          <p:cNvSpPr>
            <a:spLocks xmlns:a="http://schemas.openxmlformats.org/drawingml/2006/main" noGrp="1"/>
          </p:cNvSpPr>
          <p:nvPr/>
        </p:nvSpPr>
        <p:spPr>
          <a:xfrm xmlns:a="http://schemas.openxmlformats.org/drawingml/2006/main">
            <a:off x="2001508" y="4029075"/>
            <a:ext cx="532321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9206"/>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软件综合开发实训</a:t>
            </a:r>
          </a:p>
        </p:txBody>
      </p:sp>
      <p:sp>
        <p:nvSpPr>
          <p:cNvPr id="14" name="">
            <a:extLst xmlns:a="http://schemas.openxmlformats.org/drawingml/2006/main">
              <a:ext uri="{FF2B5EF4-FFF2-40B4-BE49-F238E27FC236}">
                <a16:creationId xmlns:a16="http://schemas.microsoft.com/office/drawing/2014/main" id="{FB999150-B52D-46A4-B586-6CB8BBDEF89B}"/>
              </a:ext>
            </a:extLst>
          </p:cNvPr>
          <p:cNvSpPr>
            <a:spLocks xmlns:a="http://schemas.openxmlformats.org/drawingml/2006/main" noGrp="1"/>
          </p:cNvSpPr>
          <p:nvPr/>
        </p:nvSpPr>
        <p:spPr>
          <a:xfrm xmlns:a="http://schemas.openxmlformats.org/drawingml/2006/main">
            <a:off x="990600" y="4286250"/>
            <a:ext cx="963283" cy="2857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5" name="">
            <a:extLst xmlns:a="http://schemas.openxmlformats.org/drawingml/2006/main">
              <a:ext uri="{FF2B5EF4-FFF2-40B4-BE49-F238E27FC236}">
                <a16:creationId xmlns:a16="http://schemas.microsoft.com/office/drawing/2014/main" id="{0F43B8AB-4412-4D6A-BE13-72516DF37A26}"/>
              </a:ext>
            </a:extLst>
          </p:cNvPr>
          <p:cNvSpPr>
            <a:spLocks xmlns:a="http://schemas.openxmlformats.org/drawingml/2006/main" noGrp="1"/>
          </p:cNvSpPr>
          <p:nvPr/>
        </p:nvSpPr>
        <p:spPr>
          <a:xfrm xmlns:a="http://schemas.openxmlformats.org/drawingml/2006/main">
            <a:off x="1038225" y="4314825"/>
            <a:ext cx="868033"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9206"/>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周期</a:t>
            </a:r>
          </a:p>
        </p:txBody>
      </p:sp>
      <p:sp>
        <p:nvSpPr>
          <p:cNvPr id="16" name="">
            <a:extLst xmlns:a="http://schemas.openxmlformats.org/drawingml/2006/main">
              <a:ext uri="{FF2B5EF4-FFF2-40B4-BE49-F238E27FC236}">
                <a16:creationId xmlns:a16="http://schemas.microsoft.com/office/drawing/2014/main" id="{649EF216-1B3B-462D-87CC-19FB8690E03D}"/>
              </a:ext>
            </a:extLst>
          </p:cNvPr>
          <p:cNvSpPr>
            <a:spLocks xmlns:a="http://schemas.openxmlformats.org/drawingml/2006/main" noGrp="1"/>
          </p:cNvSpPr>
          <p:nvPr/>
        </p:nvSpPr>
        <p:spPr>
          <a:xfrm xmlns:a="http://schemas.openxmlformats.org/drawingml/2006/main">
            <a:off x="1953883" y="4286250"/>
            <a:ext cx="5418467" cy="2857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16AC2711-5B68-44D9-9277-BC4ECE2D39AD}"/>
              </a:ext>
            </a:extLst>
          </p:cNvPr>
          <p:cNvSpPr>
            <a:spLocks xmlns:a="http://schemas.openxmlformats.org/drawingml/2006/main" noGrp="1"/>
          </p:cNvSpPr>
          <p:nvPr/>
        </p:nvSpPr>
        <p:spPr>
          <a:xfrm xmlns:a="http://schemas.openxmlformats.org/drawingml/2006/main">
            <a:off x="2001508" y="4314825"/>
            <a:ext cx="532321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9206"/>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5 周 UP 迭代开发</a:t>
            </a:r>
          </a:p>
        </p:txBody>
      </p:sp>
      <p:sp>
        <p:nvSpPr>
          <p:cNvPr id="18" name="">
            <a:extLst xmlns:a="http://schemas.openxmlformats.org/drawingml/2006/main">
              <a:ext uri="{FF2B5EF4-FFF2-40B4-BE49-F238E27FC236}">
                <a16:creationId xmlns:a16="http://schemas.microsoft.com/office/drawing/2014/main" id="{313B3017-12D8-4AA3-88EC-29527B7A38C6}"/>
              </a:ext>
            </a:extLst>
          </p:cNvPr>
          <p:cNvSpPr>
            <a:spLocks xmlns:a="http://schemas.openxmlformats.org/drawingml/2006/main" noGrp="1"/>
          </p:cNvSpPr>
          <p:nvPr/>
        </p:nvSpPr>
        <p:spPr>
          <a:xfrm xmlns:a="http://schemas.openxmlformats.org/drawingml/2006/main">
            <a:off x="990600" y="4572000"/>
            <a:ext cx="963283"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2C937017-F7F3-4238-8192-DD5A991C0301}"/>
              </a:ext>
            </a:extLst>
          </p:cNvPr>
          <p:cNvSpPr>
            <a:spLocks xmlns:a="http://schemas.openxmlformats.org/drawingml/2006/main" noGrp="1"/>
          </p:cNvSpPr>
          <p:nvPr/>
        </p:nvSpPr>
        <p:spPr>
          <a:xfrm xmlns:a="http://schemas.openxmlformats.org/drawingml/2006/main">
            <a:off x="1038225" y="4600575"/>
            <a:ext cx="868033"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9206"/>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交付</a:t>
            </a:r>
          </a:p>
        </p:txBody>
      </p:sp>
      <p:sp>
        <p:nvSpPr>
          <p:cNvPr id="20" name="">
            <a:extLst xmlns:a="http://schemas.openxmlformats.org/drawingml/2006/main">
              <a:ext uri="{FF2B5EF4-FFF2-40B4-BE49-F238E27FC236}">
                <a16:creationId xmlns:a16="http://schemas.microsoft.com/office/drawing/2014/main" id="{800373CC-BB31-4717-BB57-3E1E42980096}"/>
              </a:ext>
            </a:extLst>
          </p:cNvPr>
          <p:cNvSpPr>
            <a:spLocks xmlns:a="http://schemas.openxmlformats.org/drawingml/2006/main" noGrp="1"/>
          </p:cNvSpPr>
          <p:nvPr/>
        </p:nvSpPr>
        <p:spPr>
          <a:xfrm xmlns:a="http://schemas.openxmlformats.org/drawingml/2006/main">
            <a:off x="1953883" y="4572000"/>
            <a:ext cx="5418467"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1DDC0DA4-095A-4335-AD38-4E16A8775366}"/>
              </a:ext>
            </a:extLst>
          </p:cNvPr>
          <p:cNvSpPr>
            <a:spLocks xmlns:a="http://schemas.openxmlformats.org/drawingml/2006/main" noGrp="1"/>
          </p:cNvSpPr>
          <p:nvPr/>
        </p:nvSpPr>
        <p:spPr>
          <a:xfrm xmlns:a="http://schemas.openxmlformats.org/drawingml/2006/main">
            <a:off x="2001508" y="4600575"/>
            <a:ext cx="532321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9206"/>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源码、UML 七图、测试、Release 包、实验报告</a:t>
            </a:r>
          </a:p>
        </p:txBody>
      </p:sp>
    </p:spTree>
    <p:extLst>
      <p:ext uri="{BB962C8B-B14F-4D97-AF65-F5344CB8AC3E}">
        <p14:creationId xmlns:p14="http://schemas.microsoft.com/office/powerpoint/2010/main" val="71252624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E6A891A-9916-4951-B738-A616E0806D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0CF59A-17F1-492D-88BD-7A4C167DB649}"/>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6C5BDF8-75D7-492F-BE2A-61624480BFE0}"/>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D24B7FDB-1B39-4820-B1C2-08D7EE4A997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软件综合开发实训实验报告</a:t>
            </a:r>
          </a:p>
        </p:txBody>
      </p:sp>
      <p:sp>
        <p:nvSpPr>
          <p:cNvPr id="5" name="">
            <a:extLst xmlns:a="http://schemas.openxmlformats.org/drawingml/2006/main">
              <a:ext uri="{FF2B5EF4-FFF2-40B4-BE49-F238E27FC236}">
                <a16:creationId xmlns:a16="http://schemas.microsoft.com/office/drawing/2014/main" id="{E5258B25-98E5-42B1-B594-E9C07FDEBEF0}"/>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2</a:t>
            </a:r>
          </a:p>
        </p:txBody>
      </p:sp>
      <p:sp>
        <p:nvSpPr>
          <p:cNvPr id="6" name="">
            <a:extLst xmlns:a="http://schemas.openxmlformats.org/drawingml/2006/main">
              <a:ext uri="{FF2B5EF4-FFF2-40B4-BE49-F238E27FC236}">
                <a16:creationId xmlns:a16="http://schemas.microsoft.com/office/drawing/2014/main" id="{7779CF00-D81F-47DB-BA62-425E00DA3EF0}"/>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SECTION</a:t>
            </a:r>
          </a:p>
        </p:txBody>
      </p:sp>
      <p:sp>
        <p:nvSpPr>
          <p:cNvPr id="7" name="">
            <a:extLst xmlns:a="http://schemas.openxmlformats.org/drawingml/2006/main">
              <a:ext uri="{FF2B5EF4-FFF2-40B4-BE49-F238E27FC236}">
                <a16:creationId xmlns:a16="http://schemas.microsoft.com/office/drawing/2014/main" id="{AF1C4FBB-67A8-4778-B749-5249754EEE89}"/>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 实验概述</a:t>
            </a:r>
          </a:p>
        </p:txBody>
      </p:sp>
      <p:sp>
        <p:nvSpPr>
          <p:cNvPr id="8" name="">
            <a:extLst xmlns:a="http://schemas.openxmlformats.org/drawingml/2006/main">
              <a:ext uri="{FF2B5EF4-FFF2-40B4-BE49-F238E27FC236}">
                <a16:creationId xmlns:a16="http://schemas.microsoft.com/office/drawing/2014/main" id="{F30ACCBD-92DE-4157-B0E7-01D025844B67}"/>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9326441-5011-43E6-A4C6-2C3562BCD25C}"/>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课程名称：软件综合开发实训</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实验名称：锄大地扑克牌游戏</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项目名称：锄大地 Android 棋牌游戏</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面向班级：2026 软件工程（中澳班）</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开发周期：5 周开发迭代。项目阶段按照《软件开发综合实训提交时间节点 V0.0.1.xlsx》划分为开始、三次细化/构造迭代和交付。</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小组成员及主要职责：</a:t>
            </a:r>
          </a:p>
        </p:txBody>
      </p:sp>
      <p:sp>
        <p:nvSpPr>
          <p:cNvPr id="10" name="">
            <a:extLst xmlns:a="http://schemas.openxmlformats.org/drawingml/2006/main">
              <a:ext uri="{FF2B5EF4-FFF2-40B4-BE49-F238E27FC236}">
                <a16:creationId xmlns:a16="http://schemas.microsoft.com/office/drawing/2014/main" id="{56D0293C-5018-4A67-A43F-FBF13A4ED071}"/>
              </a:ext>
            </a:extLst>
          </p:cNvPr>
          <p:cNvSpPr>
            <a:spLocks xmlns:a="http://schemas.openxmlformats.org/drawingml/2006/main" noGrp="1"/>
          </p:cNvSpPr>
          <p:nvPr/>
        </p:nvSpPr>
        <p:spPr>
          <a:xfrm xmlns:a="http://schemas.openxmlformats.org/drawingml/2006/main">
            <a:off x="5191125" y="1905000"/>
            <a:ext cx="2279196"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84F2806A-0336-464B-89AB-9BDB9C5FA91F}"/>
              </a:ext>
            </a:extLst>
          </p:cNvPr>
          <p:cNvSpPr>
            <a:spLocks xmlns:a="http://schemas.openxmlformats.org/drawingml/2006/main" noGrp="1"/>
          </p:cNvSpPr>
          <p:nvPr/>
        </p:nvSpPr>
        <p:spPr>
          <a:xfrm xmlns:a="http://schemas.openxmlformats.org/drawingml/2006/main">
            <a:off x="5238750" y="1943100"/>
            <a:ext cx="218394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成员</a:t>
            </a:r>
          </a:p>
        </p:txBody>
      </p:sp>
      <p:sp>
        <p:nvSpPr>
          <p:cNvPr id="12" name="">
            <a:extLst xmlns:a="http://schemas.openxmlformats.org/drawingml/2006/main">
              <a:ext uri="{FF2B5EF4-FFF2-40B4-BE49-F238E27FC236}">
                <a16:creationId xmlns:a16="http://schemas.microsoft.com/office/drawing/2014/main" id="{89876519-7B83-4A56-84DF-DDB2AD9BC30F}"/>
              </a:ext>
            </a:extLst>
          </p:cNvPr>
          <p:cNvSpPr>
            <a:spLocks xmlns:a="http://schemas.openxmlformats.org/drawingml/2006/main" noGrp="1"/>
          </p:cNvSpPr>
          <p:nvPr/>
        </p:nvSpPr>
        <p:spPr>
          <a:xfrm xmlns:a="http://schemas.openxmlformats.org/drawingml/2006/main">
            <a:off x="7470321" y="1905000"/>
            <a:ext cx="4102554"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AE827AF4-3106-4918-9D32-53F88AEB16C6}"/>
              </a:ext>
            </a:extLst>
          </p:cNvPr>
          <p:cNvSpPr>
            <a:spLocks xmlns:a="http://schemas.openxmlformats.org/drawingml/2006/main" noGrp="1"/>
          </p:cNvSpPr>
          <p:nvPr/>
        </p:nvSpPr>
        <p:spPr>
          <a:xfrm xmlns:a="http://schemas.openxmlformats.org/drawingml/2006/main">
            <a:off x="7517946" y="1943100"/>
            <a:ext cx="400730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主要职责</a:t>
            </a:r>
          </a:p>
        </p:txBody>
      </p:sp>
      <p:sp>
        <p:nvSpPr>
          <p:cNvPr id="14" name="">
            <a:extLst xmlns:a="http://schemas.openxmlformats.org/drawingml/2006/main">
              <a:ext uri="{FF2B5EF4-FFF2-40B4-BE49-F238E27FC236}">
                <a16:creationId xmlns:a16="http://schemas.microsoft.com/office/drawing/2014/main" id="{545BBDD1-1A2A-42E2-B40D-F0DFC6E803B1}"/>
              </a:ext>
            </a:extLst>
          </p:cNvPr>
          <p:cNvSpPr>
            <a:spLocks xmlns:a="http://schemas.openxmlformats.org/drawingml/2006/main" noGrp="1"/>
          </p:cNvSpPr>
          <p:nvPr/>
        </p:nvSpPr>
        <p:spPr>
          <a:xfrm xmlns:a="http://schemas.openxmlformats.org/drawingml/2006/main">
            <a:off x="5191125" y="2305050"/>
            <a:ext cx="2279196"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5" name="">
            <a:extLst xmlns:a="http://schemas.openxmlformats.org/drawingml/2006/main">
              <a:ext uri="{FF2B5EF4-FFF2-40B4-BE49-F238E27FC236}">
                <a16:creationId xmlns:a16="http://schemas.microsoft.com/office/drawing/2014/main" id="{5405E950-7FF4-49B6-BFCD-7C19C225EC61}"/>
              </a:ext>
            </a:extLst>
          </p:cNvPr>
          <p:cNvSpPr>
            <a:spLocks xmlns:a="http://schemas.openxmlformats.org/drawingml/2006/main" noGrp="1"/>
          </p:cNvSpPr>
          <p:nvPr/>
        </p:nvSpPr>
        <p:spPr>
          <a:xfrm xmlns:a="http://schemas.openxmlformats.org/drawingml/2006/main">
            <a:off x="5238750" y="2333625"/>
            <a:ext cx="2183946"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Annakuliyev Sedar</a:t>
            </a:r>
          </a:p>
        </p:txBody>
      </p:sp>
      <p:sp>
        <p:nvSpPr>
          <p:cNvPr id="16" name="">
            <a:extLst xmlns:a="http://schemas.openxmlformats.org/drawingml/2006/main">
              <a:ext uri="{FF2B5EF4-FFF2-40B4-BE49-F238E27FC236}">
                <a16:creationId xmlns:a16="http://schemas.microsoft.com/office/drawing/2014/main" id="{9E3D628B-58CA-41F9-A48B-BD6389D81A1C}"/>
              </a:ext>
            </a:extLst>
          </p:cNvPr>
          <p:cNvSpPr>
            <a:spLocks xmlns:a="http://schemas.openxmlformats.org/drawingml/2006/main" noGrp="1"/>
          </p:cNvSpPr>
          <p:nvPr/>
        </p:nvSpPr>
        <p:spPr>
          <a:xfrm xmlns:a="http://schemas.openxmlformats.org/drawingml/2006/main">
            <a:off x="7470321" y="2305050"/>
            <a:ext cx="4102554"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DBBE6FD6-ED9B-4236-ACB2-E51DA9AD75B3}"/>
              </a:ext>
            </a:extLst>
          </p:cNvPr>
          <p:cNvSpPr>
            <a:spLocks xmlns:a="http://schemas.openxmlformats.org/drawingml/2006/main" noGrp="1"/>
          </p:cNvSpPr>
          <p:nvPr/>
        </p:nvSpPr>
        <p:spPr>
          <a:xfrm xmlns:a="http://schemas.openxmlformats.org/drawingml/2006/main">
            <a:off x="7517946" y="2333625"/>
            <a:ext cx="4007304"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ProcessOn UML 7 大图绘制、图形布局调整、建模文档整理</a:t>
            </a:r>
          </a:p>
        </p:txBody>
      </p:sp>
      <p:sp>
        <p:nvSpPr>
          <p:cNvPr id="18" name="">
            <a:extLst xmlns:a="http://schemas.openxmlformats.org/drawingml/2006/main">
              <a:ext uri="{FF2B5EF4-FFF2-40B4-BE49-F238E27FC236}">
                <a16:creationId xmlns:a16="http://schemas.microsoft.com/office/drawing/2014/main" id="{D1FAD12B-033E-4CB6-9A24-D493A4350C75}"/>
              </a:ext>
            </a:extLst>
          </p:cNvPr>
          <p:cNvSpPr>
            <a:spLocks xmlns:a="http://schemas.openxmlformats.org/drawingml/2006/main" noGrp="1"/>
          </p:cNvSpPr>
          <p:nvPr/>
        </p:nvSpPr>
        <p:spPr>
          <a:xfrm xmlns:a="http://schemas.openxmlformats.org/drawingml/2006/main">
            <a:off x="5191125" y="3517900"/>
            <a:ext cx="2279196" cy="12128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12FA8405-7180-4C42-98B3-2B3CE479694E}"/>
              </a:ext>
            </a:extLst>
          </p:cNvPr>
          <p:cNvSpPr>
            <a:spLocks xmlns:a="http://schemas.openxmlformats.org/drawingml/2006/main" noGrp="1"/>
          </p:cNvSpPr>
          <p:nvPr/>
        </p:nvSpPr>
        <p:spPr>
          <a:xfrm xmlns:a="http://schemas.openxmlformats.org/drawingml/2006/main">
            <a:off x="5238750" y="3546475"/>
            <a:ext cx="2183946"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莫均杰</a:t>
            </a:r>
          </a:p>
        </p:txBody>
      </p:sp>
      <p:sp>
        <p:nvSpPr>
          <p:cNvPr id="20" name="">
            <a:extLst xmlns:a="http://schemas.openxmlformats.org/drawingml/2006/main">
              <a:ext uri="{FF2B5EF4-FFF2-40B4-BE49-F238E27FC236}">
                <a16:creationId xmlns:a16="http://schemas.microsoft.com/office/drawing/2014/main" id="{C3643CB8-C63A-49AA-BF3E-0F1478AC931C}"/>
              </a:ext>
            </a:extLst>
          </p:cNvPr>
          <p:cNvSpPr>
            <a:spLocks xmlns:a="http://schemas.openxmlformats.org/drawingml/2006/main" noGrp="1"/>
          </p:cNvSpPr>
          <p:nvPr/>
        </p:nvSpPr>
        <p:spPr>
          <a:xfrm xmlns:a="http://schemas.openxmlformats.org/drawingml/2006/main">
            <a:off x="7470321" y="3517900"/>
            <a:ext cx="4102554" cy="12128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60CF6489-6FD1-4A96-A137-BEE3F66A80AC}"/>
              </a:ext>
            </a:extLst>
          </p:cNvPr>
          <p:cNvSpPr>
            <a:spLocks xmlns:a="http://schemas.openxmlformats.org/drawingml/2006/main" noGrp="1"/>
          </p:cNvSpPr>
          <p:nvPr/>
        </p:nvSpPr>
        <p:spPr>
          <a:xfrm xmlns:a="http://schemas.openxmlformats.org/drawingml/2006/main">
            <a:off x="7517946" y="3546475"/>
            <a:ext cx="4007304"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Android 主体代码编写、规则模块、AI 模块、蓝牙模块、UI 页面、发布集成</a:t>
            </a:r>
          </a:p>
        </p:txBody>
      </p:sp>
      <p:sp>
        <p:nvSpPr>
          <p:cNvPr id="22" name="">
            <a:extLst xmlns:a="http://schemas.openxmlformats.org/drawingml/2006/main">
              <a:ext uri="{FF2B5EF4-FFF2-40B4-BE49-F238E27FC236}">
                <a16:creationId xmlns:a16="http://schemas.microsoft.com/office/drawing/2014/main" id="{487DD943-B52C-4C82-8D17-065635A63772}"/>
              </a:ext>
            </a:extLst>
          </p:cNvPr>
          <p:cNvSpPr>
            <a:spLocks xmlns:a="http://schemas.openxmlformats.org/drawingml/2006/main" noGrp="1"/>
          </p:cNvSpPr>
          <p:nvPr/>
        </p:nvSpPr>
        <p:spPr>
          <a:xfrm xmlns:a="http://schemas.openxmlformats.org/drawingml/2006/main">
            <a:off x="5191125" y="4730750"/>
            <a:ext cx="2279196"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897D22A5-16FC-4C39-ABB4-FF55388B0FDE}"/>
              </a:ext>
            </a:extLst>
          </p:cNvPr>
          <p:cNvSpPr>
            <a:spLocks xmlns:a="http://schemas.openxmlformats.org/drawingml/2006/main" noGrp="1"/>
          </p:cNvSpPr>
          <p:nvPr/>
        </p:nvSpPr>
        <p:spPr>
          <a:xfrm xmlns:a="http://schemas.openxmlformats.org/drawingml/2006/main">
            <a:off x="5238750" y="4759325"/>
            <a:ext cx="2183946"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郭铭涛</a:t>
            </a:r>
          </a:p>
        </p:txBody>
      </p:sp>
      <p:sp>
        <p:nvSpPr>
          <p:cNvPr id="24" name="">
            <a:extLst xmlns:a="http://schemas.openxmlformats.org/drawingml/2006/main">
              <a:ext uri="{FF2B5EF4-FFF2-40B4-BE49-F238E27FC236}">
                <a16:creationId xmlns:a16="http://schemas.microsoft.com/office/drawing/2014/main" id="{EF34DECD-884B-44F4-A2D0-257D08D90283}"/>
              </a:ext>
            </a:extLst>
          </p:cNvPr>
          <p:cNvSpPr>
            <a:spLocks xmlns:a="http://schemas.openxmlformats.org/drawingml/2006/main" noGrp="1"/>
          </p:cNvSpPr>
          <p:nvPr/>
        </p:nvSpPr>
        <p:spPr>
          <a:xfrm xmlns:a="http://schemas.openxmlformats.org/drawingml/2006/main">
            <a:off x="7470321" y="4730750"/>
            <a:ext cx="4102554"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255612AB-EC59-482D-A467-778998E322D6}"/>
              </a:ext>
            </a:extLst>
          </p:cNvPr>
          <p:cNvSpPr>
            <a:spLocks xmlns:a="http://schemas.openxmlformats.org/drawingml/2006/main" noGrp="1"/>
          </p:cNvSpPr>
          <p:nvPr/>
        </p:nvSpPr>
        <p:spPr>
          <a:xfrm xmlns:a="http://schemas.openxmlformats.org/drawingml/2006/main">
            <a:off x="7517946" y="4759325"/>
            <a:ext cx="4007304"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单元测试、蓝牙模拟测试、运行验收、测试报告、录屏验证</a:t>
            </a:r>
          </a:p>
        </p:txBody>
      </p:sp>
    </p:spTree>
    <p:extLst>
      <p:ext uri="{BB962C8B-B14F-4D97-AF65-F5344CB8AC3E}">
        <p14:creationId xmlns:p14="http://schemas.microsoft.com/office/powerpoint/2010/main" val="159816324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2A877A6-FB81-42E7-A90C-140F1140B4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F27949-617C-4F7E-B68A-FD79BDCDD3E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6E6AC8-5B5D-4F24-8B82-2A5E2059D8A4}"/>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F9A355B8-EB8E-4869-8AD5-C447DB4FCF22}"/>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1. 实验概述</a:t>
            </a:r>
          </a:p>
        </p:txBody>
      </p:sp>
      <p:sp>
        <p:nvSpPr>
          <p:cNvPr id="5" name="">
            <a:extLst xmlns:a="http://schemas.openxmlformats.org/drawingml/2006/main">
              <a:ext uri="{FF2B5EF4-FFF2-40B4-BE49-F238E27FC236}">
                <a16:creationId xmlns:a16="http://schemas.microsoft.com/office/drawing/2014/main" id="{9BAC201B-93A4-4906-9FCE-45C87E33554E}"/>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3</a:t>
            </a:r>
          </a:p>
        </p:txBody>
      </p:sp>
      <p:sp>
        <p:nvSpPr>
          <p:cNvPr id="6" name="">
            <a:extLst xmlns:a="http://schemas.openxmlformats.org/drawingml/2006/main">
              <a:ext uri="{FF2B5EF4-FFF2-40B4-BE49-F238E27FC236}">
                <a16:creationId xmlns:a16="http://schemas.microsoft.com/office/drawing/2014/main" id="{EF73EC93-6FD8-4906-84B8-646A36239351}"/>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FE31BF3F-4049-4F57-8ADD-214DAAC64EC8}"/>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1.1 实验目的</a:t>
            </a:r>
          </a:p>
        </p:txBody>
      </p:sp>
      <p:sp>
        <p:nvSpPr>
          <p:cNvPr id="8" name="">
            <a:extLst xmlns:a="http://schemas.openxmlformats.org/drawingml/2006/main">
              <a:ext uri="{FF2B5EF4-FFF2-40B4-BE49-F238E27FC236}">
                <a16:creationId xmlns:a16="http://schemas.microsoft.com/office/drawing/2014/main" id="{A230AAF9-8B5B-4A46-94FE-AD973CE4EF60}"/>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23B7B79-ABDD-4ADB-9A9F-35AFA1C00D9E}"/>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本次实训围绕 Android 锄大地游戏完成软件开发全过程训练，主要目标包括：</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1. 理解软件开发过程，结合 UP 迭代开发方法完成需求分析、面向对象分析、面向对象设计和实现。</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2. 掌握 UML 建模方法，使用 ProcessOn UML 完成用例图、类图、顺序图、状态图、活动图、组件图和部署图。</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3. 熟悉 Android Studio、Gradle、Kotlin 和 Jetpack Compose 的开发流程。</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4. 实现完整的棋牌游戏功能，包括人机对局、多人蓝牙联机、南北玩法规则、AI 出牌策略、玩家成长、动画音效和发布包。</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5. 在开发过程中实践 SCRUM 敏捷协作，并如实记录 Codex/GPT-5 在代码实现、UML 图绘制、测试和文档整理中的主要参与情况。</a:t>
            </a:r>
          </a:p>
        </p:txBody>
      </p:sp>
    </p:spTree>
    <p:extLst>
      <p:ext uri="{BB962C8B-B14F-4D97-AF65-F5344CB8AC3E}">
        <p14:creationId xmlns:p14="http://schemas.microsoft.com/office/powerpoint/2010/main" val="95972879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5A0B787-A643-4885-883A-0DBABEEAE2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978E3C-2107-46F8-91F4-B79A4BBC3D52}"/>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D9CF0BD-F6A0-4868-A083-FB6E92D603CA}"/>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4AE7CC92-D590-4965-BD54-2CF233EEB1E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1. 实验概述</a:t>
            </a:r>
          </a:p>
        </p:txBody>
      </p:sp>
      <p:sp>
        <p:nvSpPr>
          <p:cNvPr id="5" name="">
            <a:extLst xmlns:a="http://schemas.openxmlformats.org/drawingml/2006/main">
              <a:ext uri="{FF2B5EF4-FFF2-40B4-BE49-F238E27FC236}">
                <a16:creationId xmlns:a16="http://schemas.microsoft.com/office/drawing/2014/main" id="{92F7A468-1DEF-4F90-A7ED-A1CC3B4C183C}"/>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4</a:t>
            </a:r>
          </a:p>
        </p:txBody>
      </p:sp>
      <p:sp>
        <p:nvSpPr>
          <p:cNvPr id="6" name="">
            <a:extLst xmlns:a="http://schemas.openxmlformats.org/drawingml/2006/main">
              <a:ext uri="{FF2B5EF4-FFF2-40B4-BE49-F238E27FC236}">
                <a16:creationId xmlns:a16="http://schemas.microsoft.com/office/drawing/2014/main" id="{9073C3E4-A679-436C-B0E4-A15CED5DB449}"/>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0801B06B-BF66-4B37-8560-202DDB98EF00}"/>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1.2 实验环境</a:t>
            </a:r>
          </a:p>
        </p:txBody>
      </p:sp>
      <p:sp>
        <p:nvSpPr>
          <p:cNvPr id="8" name="">
            <a:extLst xmlns:a="http://schemas.openxmlformats.org/drawingml/2006/main">
              <a:ext uri="{FF2B5EF4-FFF2-40B4-BE49-F238E27FC236}">
                <a16:creationId xmlns:a16="http://schemas.microsoft.com/office/drawing/2014/main" id="{2CCCBFB6-DEE5-4D71-A503-648CDCA089D6}"/>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3C8F5CA-F554-4DF9-B7FB-39813868FCAF}"/>
              </a:ext>
            </a:extLst>
          </p:cNvPr>
          <p:cNvSpPr>
            <a:spLocks xmlns:a="http://schemas.openxmlformats.org/drawingml/2006/main" noGrp="1"/>
          </p:cNvSpPr>
          <p:nvPr/>
        </p:nvSpPr>
        <p:spPr>
          <a:xfrm xmlns:a="http://schemas.openxmlformats.org/drawingml/2006/main">
            <a:off x="457200" y="1905000"/>
            <a:ext cx="44958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BCD38555-DB10-4E9B-93B9-C69FF4FB278E}"/>
              </a:ext>
            </a:extLst>
          </p:cNvPr>
          <p:cNvSpPr>
            <a:spLocks xmlns:a="http://schemas.openxmlformats.org/drawingml/2006/main" noGrp="1"/>
          </p:cNvSpPr>
          <p:nvPr/>
        </p:nvSpPr>
        <p:spPr>
          <a:xfrm xmlns:a="http://schemas.openxmlformats.org/drawingml/2006/main">
            <a:off x="504825" y="1943100"/>
            <a:ext cx="440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类型</a:t>
            </a:r>
          </a:p>
        </p:txBody>
      </p:sp>
      <p:sp>
        <p:nvSpPr>
          <p:cNvPr id="11" name="">
            <a:extLst xmlns:a="http://schemas.openxmlformats.org/drawingml/2006/main">
              <a:ext uri="{FF2B5EF4-FFF2-40B4-BE49-F238E27FC236}">
                <a16:creationId xmlns:a16="http://schemas.microsoft.com/office/drawing/2014/main" id="{66033510-345A-4229-9212-3ABA31CB53E8}"/>
              </a:ext>
            </a:extLst>
          </p:cNvPr>
          <p:cNvSpPr>
            <a:spLocks xmlns:a="http://schemas.openxmlformats.org/drawingml/2006/main" noGrp="1"/>
          </p:cNvSpPr>
          <p:nvPr/>
        </p:nvSpPr>
        <p:spPr>
          <a:xfrm xmlns:a="http://schemas.openxmlformats.org/drawingml/2006/main">
            <a:off x="4953000" y="1905000"/>
            <a:ext cx="67437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8A7DE629-B876-486C-A78F-F4CB5D2693DF}"/>
              </a:ext>
            </a:extLst>
          </p:cNvPr>
          <p:cNvSpPr>
            <a:spLocks xmlns:a="http://schemas.openxmlformats.org/drawingml/2006/main" noGrp="1"/>
          </p:cNvSpPr>
          <p:nvPr/>
        </p:nvSpPr>
        <p:spPr>
          <a:xfrm xmlns:a="http://schemas.openxmlformats.org/drawingml/2006/main">
            <a:off x="5000625" y="1943100"/>
            <a:ext cx="664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环境说明</a:t>
            </a:r>
          </a:p>
        </p:txBody>
      </p:sp>
      <p:sp>
        <p:nvSpPr>
          <p:cNvPr id="13" name="">
            <a:extLst xmlns:a="http://schemas.openxmlformats.org/drawingml/2006/main">
              <a:ext uri="{FF2B5EF4-FFF2-40B4-BE49-F238E27FC236}">
                <a16:creationId xmlns:a16="http://schemas.microsoft.com/office/drawing/2014/main" id="{10340AB1-ACC2-4615-937B-24D9AB571511}"/>
              </a:ext>
            </a:extLst>
          </p:cNvPr>
          <p:cNvSpPr>
            <a:spLocks xmlns:a="http://schemas.openxmlformats.org/drawingml/2006/main" noGrp="1"/>
          </p:cNvSpPr>
          <p:nvPr/>
        </p:nvSpPr>
        <p:spPr>
          <a:xfrm xmlns:a="http://schemas.openxmlformats.org/drawingml/2006/main">
            <a:off x="457200" y="2305050"/>
            <a:ext cx="449580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4" name="">
            <a:extLst xmlns:a="http://schemas.openxmlformats.org/drawingml/2006/main">
              <a:ext uri="{FF2B5EF4-FFF2-40B4-BE49-F238E27FC236}">
                <a16:creationId xmlns:a16="http://schemas.microsoft.com/office/drawing/2014/main" id="{ACE5376D-EDF2-4CE1-A4AF-F13917491655}"/>
              </a:ext>
            </a:extLst>
          </p:cNvPr>
          <p:cNvSpPr>
            <a:spLocks xmlns:a="http://schemas.openxmlformats.org/drawingml/2006/main" noGrp="1"/>
          </p:cNvSpPr>
          <p:nvPr/>
        </p:nvSpPr>
        <p:spPr>
          <a:xfrm xmlns:a="http://schemas.openxmlformats.org/drawingml/2006/main">
            <a:off x="504825" y="2333625"/>
            <a:ext cx="440055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硬件环境</a:t>
            </a:r>
          </a:p>
        </p:txBody>
      </p:sp>
      <p:sp>
        <p:nvSpPr>
          <p:cNvPr id="15" name="">
            <a:extLst xmlns:a="http://schemas.openxmlformats.org/drawingml/2006/main">
              <a:ext uri="{FF2B5EF4-FFF2-40B4-BE49-F238E27FC236}">
                <a16:creationId xmlns:a16="http://schemas.microsoft.com/office/drawing/2014/main" id="{516BD570-64C5-43F9-A587-CB0F464B1E98}"/>
              </a:ext>
            </a:extLst>
          </p:cNvPr>
          <p:cNvSpPr>
            <a:spLocks xmlns:a="http://schemas.openxmlformats.org/drawingml/2006/main" noGrp="1"/>
          </p:cNvSpPr>
          <p:nvPr/>
        </p:nvSpPr>
        <p:spPr>
          <a:xfrm xmlns:a="http://schemas.openxmlformats.org/drawingml/2006/main">
            <a:off x="4953000" y="2305050"/>
            <a:ext cx="674370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BBB574CA-37AB-4F3F-97EB-966B064BEFF4}"/>
              </a:ext>
            </a:extLst>
          </p:cNvPr>
          <p:cNvSpPr>
            <a:spLocks xmlns:a="http://schemas.openxmlformats.org/drawingml/2006/main" noGrp="1"/>
          </p:cNvSpPr>
          <p:nvPr/>
        </p:nvSpPr>
        <p:spPr>
          <a:xfrm xmlns:a="http://schemas.openxmlformats.org/drawingml/2006/main">
            <a:off x="5000625" y="2333625"/>
            <a:ext cx="664845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Android 4.4 以上系统手机或 Android 模拟器，蓝牙联机验收需要多台手机</a:t>
            </a:r>
          </a:p>
        </p:txBody>
      </p:sp>
      <p:sp>
        <p:nvSpPr>
          <p:cNvPr id="17" name="">
            <a:extLst xmlns:a="http://schemas.openxmlformats.org/drawingml/2006/main">
              <a:ext uri="{FF2B5EF4-FFF2-40B4-BE49-F238E27FC236}">
                <a16:creationId xmlns:a16="http://schemas.microsoft.com/office/drawing/2014/main" id="{92E863D7-D0D8-4318-9551-60E10DC4A4D6}"/>
              </a:ext>
            </a:extLst>
          </p:cNvPr>
          <p:cNvSpPr>
            <a:spLocks xmlns:a="http://schemas.openxmlformats.org/drawingml/2006/main" noGrp="1"/>
          </p:cNvSpPr>
          <p:nvPr/>
        </p:nvSpPr>
        <p:spPr>
          <a:xfrm xmlns:a="http://schemas.openxmlformats.org/drawingml/2006/main">
            <a:off x="457200" y="2911475"/>
            <a:ext cx="449580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30E2FBFC-44E6-413E-8F29-D9211D9FC1B5}"/>
              </a:ext>
            </a:extLst>
          </p:cNvPr>
          <p:cNvSpPr>
            <a:spLocks xmlns:a="http://schemas.openxmlformats.org/drawingml/2006/main" noGrp="1"/>
          </p:cNvSpPr>
          <p:nvPr/>
        </p:nvSpPr>
        <p:spPr>
          <a:xfrm xmlns:a="http://schemas.openxmlformats.org/drawingml/2006/main">
            <a:off x="504825" y="2940050"/>
            <a:ext cx="440055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开发工具</a:t>
            </a:r>
          </a:p>
        </p:txBody>
      </p:sp>
      <p:sp>
        <p:nvSpPr>
          <p:cNvPr id="19" name="">
            <a:extLst xmlns:a="http://schemas.openxmlformats.org/drawingml/2006/main">
              <a:ext uri="{FF2B5EF4-FFF2-40B4-BE49-F238E27FC236}">
                <a16:creationId xmlns:a16="http://schemas.microsoft.com/office/drawing/2014/main" id="{D9A5D1EE-F1D5-4A78-8B6D-640CF5055D28}"/>
              </a:ext>
            </a:extLst>
          </p:cNvPr>
          <p:cNvSpPr>
            <a:spLocks xmlns:a="http://schemas.openxmlformats.org/drawingml/2006/main" noGrp="1"/>
          </p:cNvSpPr>
          <p:nvPr/>
        </p:nvSpPr>
        <p:spPr>
          <a:xfrm xmlns:a="http://schemas.openxmlformats.org/drawingml/2006/main">
            <a:off x="4953000" y="2911475"/>
            <a:ext cx="674370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6FD31EBE-A81E-4C6A-8A31-37F599334E7F}"/>
              </a:ext>
            </a:extLst>
          </p:cNvPr>
          <p:cNvSpPr>
            <a:spLocks xmlns:a="http://schemas.openxmlformats.org/drawingml/2006/main" noGrp="1"/>
          </p:cNvSpPr>
          <p:nvPr/>
        </p:nvSpPr>
        <p:spPr>
          <a:xfrm xmlns:a="http://schemas.openxmlformats.org/drawingml/2006/main">
            <a:off x="5000625" y="2940050"/>
            <a:ext cx="664845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Android Studio、Gradle、Git、GitHub</a:t>
            </a:r>
          </a:p>
        </p:txBody>
      </p:sp>
      <p:sp>
        <p:nvSpPr>
          <p:cNvPr id="21" name="">
            <a:extLst xmlns:a="http://schemas.openxmlformats.org/drawingml/2006/main">
              <a:ext uri="{FF2B5EF4-FFF2-40B4-BE49-F238E27FC236}">
                <a16:creationId xmlns:a16="http://schemas.microsoft.com/office/drawing/2014/main" id="{7B8370DA-F16F-47F5-BF3B-A8606A630F6B}"/>
              </a:ext>
            </a:extLst>
          </p:cNvPr>
          <p:cNvSpPr>
            <a:spLocks xmlns:a="http://schemas.openxmlformats.org/drawingml/2006/main" noGrp="1"/>
          </p:cNvSpPr>
          <p:nvPr/>
        </p:nvSpPr>
        <p:spPr>
          <a:xfrm xmlns:a="http://schemas.openxmlformats.org/drawingml/2006/main">
            <a:off x="457200" y="3517900"/>
            <a:ext cx="449580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AEDB1D4F-2452-42EA-9279-8CE5F1F8611D}"/>
              </a:ext>
            </a:extLst>
          </p:cNvPr>
          <p:cNvSpPr>
            <a:spLocks xmlns:a="http://schemas.openxmlformats.org/drawingml/2006/main" noGrp="1"/>
          </p:cNvSpPr>
          <p:nvPr/>
        </p:nvSpPr>
        <p:spPr>
          <a:xfrm xmlns:a="http://schemas.openxmlformats.org/drawingml/2006/main">
            <a:off x="504825" y="3546475"/>
            <a:ext cx="440055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建模工具</a:t>
            </a:r>
          </a:p>
        </p:txBody>
      </p:sp>
      <p:sp>
        <p:nvSpPr>
          <p:cNvPr id="23" name="">
            <a:extLst xmlns:a="http://schemas.openxmlformats.org/drawingml/2006/main">
              <a:ext uri="{FF2B5EF4-FFF2-40B4-BE49-F238E27FC236}">
                <a16:creationId xmlns:a16="http://schemas.microsoft.com/office/drawing/2014/main" id="{32797B12-E4BD-424B-A2DB-95645724A231}"/>
              </a:ext>
            </a:extLst>
          </p:cNvPr>
          <p:cNvSpPr>
            <a:spLocks xmlns:a="http://schemas.openxmlformats.org/drawingml/2006/main" noGrp="1"/>
          </p:cNvSpPr>
          <p:nvPr/>
        </p:nvSpPr>
        <p:spPr>
          <a:xfrm xmlns:a="http://schemas.openxmlformats.org/drawingml/2006/main">
            <a:off x="4953000" y="3517900"/>
            <a:ext cx="674370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5EF7C3F1-8098-494B-AFA8-4BDAD1376369}"/>
              </a:ext>
            </a:extLst>
          </p:cNvPr>
          <p:cNvSpPr>
            <a:spLocks xmlns:a="http://schemas.openxmlformats.org/drawingml/2006/main" noGrp="1"/>
          </p:cNvSpPr>
          <p:nvPr/>
        </p:nvSpPr>
        <p:spPr>
          <a:xfrm xmlns:a="http://schemas.openxmlformats.org/drawingml/2006/main">
            <a:off x="5000625" y="3546475"/>
            <a:ext cx="664845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ProcessOn UML、PlantUML</a:t>
            </a:r>
          </a:p>
        </p:txBody>
      </p:sp>
      <p:sp>
        <p:nvSpPr>
          <p:cNvPr id="25" name="">
            <a:extLst xmlns:a="http://schemas.openxmlformats.org/drawingml/2006/main">
              <a:ext uri="{FF2B5EF4-FFF2-40B4-BE49-F238E27FC236}">
                <a16:creationId xmlns:a16="http://schemas.microsoft.com/office/drawing/2014/main" id="{0CA0F8E5-4D2B-4FD5-A4A5-48538A5CB9BF}"/>
              </a:ext>
            </a:extLst>
          </p:cNvPr>
          <p:cNvSpPr>
            <a:spLocks xmlns:a="http://schemas.openxmlformats.org/drawingml/2006/main" noGrp="1"/>
          </p:cNvSpPr>
          <p:nvPr/>
        </p:nvSpPr>
        <p:spPr>
          <a:xfrm xmlns:a="http://schemas.openxmlformats.org/drawingml/2006/main">
            <a:off x="457200" y="4124325"/>
            <a:ext cx="449580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FB77D77E-05B5-4C15-897B-7FAD0984673E}"/>
              </a:ext>
            </a:extLst>
          </p:cNvPr>
          <p:cNvSpPr>
            <a:spLocks xmlns:a="http://schemas.openxmlformats.org/drawingml/2006/main" noGrp="1"/>
          </p:cNvSpPr>
          <p:nvPr/>
        </p:nvSpPr>
        <p:spPr>
          <a:xfrm xmlns:a="http://schemas.openxmlformats.org/drawingml/2006/main">
            <a:off x="504825" y="4152900"/>
            <a:ext cx="440055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编程语言与框架</a:t>
            </a:r>
          </a:p>
        </p:txBody>
      </p:sp>
      <p:sp>
        <p:nvSpPr>
          <p:cNvPr id="27" name="">
            <a:extLst xmlns:a="http://schemas.openxmlformats.org/drawingml/2006/main">
              <a:ext uri="{FF2B5EF4-FFF2-40B4-BE49-F238E27FC236}">
                <a16:creationId xmlns:a16="http://schemas.microsoft.com/office/drawing/2014/main" id="{A49316AD-9B4D-4D9D-AFA0-754752311141}"/>
              </a:ext>
            </a:extLst>
          </p:cNvPr>
          <p:cNvSpPr>
            <a:spLocks xmlns:a="http://schemas.openxmlformats.org/drawingml/2006/main" noGrp="1"/>
          </p:cNvSpPr>
          <p:nvPr/>
        </p:nvSpPr>
        <p:spPr>
          <a:xfrm xmlns:a="http://schemas.openxmlformats.org/drawingml/2006/main">
            <a:off x="4953000" y="4124325"/>
            <a:ext cx="674370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65A3BED5-01FE-437E-B8E0-1E26F3DBE40F}"/>
              </a:ext>
            </a:extLst>
          </p:cNvPr>
          <p:cNvSpPr>
            <a:spLocks xmlns:a="http://schemas.openxmlformats.org/drawingml/2006/main" noGrp="1"/>
          </p:cNvSpPr>
          <p:nvPr/>
        </p:nvSpPr>
        <p:spPr>
          <a:xfrm xmlns:a="http://schemas.openxmlformats.org/drawingml/2006/main">
            <a:off x="5000625" y="4152900"/>
            <a:ext cx="664845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Kotlin、Jetpack Compose、Android SDK</a:t>
            </a:r>
          </a:p>
        </p:txBody>
      </p:sp>
      <p:sp>
        <p:nvSpPr>
          <p:cNvPr id="29" name="">
            <a:extLst xmlns:a="http://schemas.openxmlformats.org/drawingml/2006/main">
              <a:ext uri="{FF2B5EF4-FFF2-40B4-BE49-F238E27FC236}">
                <a16:creationId xmlns:a16="http://schemas.microsoft.com/office/drawing/2014/main" id="{A1571979-6015-4E38-91A7-ED54B7FA5EA1}"/>
              </a:ext>
            </a:extLst>
          </p:cNvPr>
          <p:cNvSpPr>
            <a:spLocks xmlns:a="http://schemas.openxmlformats.org/drawingml/2006/main" noGrp="1"/>
          </p:cNvSpPr>
          <p:nvPr/>
        </p:nvSpPr>
        <p:spPr>
          <a:xfrm xmlns:a="http://schemas.openxmlformats.org/drawingml/2006/main">
            <a:off x="457200" y="4730750"/>
            <a:ext cx="449580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0BA9CE5C-53E1-4286-9F1E-87D6A622F3D9}"/>
              </a:ext>
            </a:extLst>
          </p:cNvPr>
          <p:cNvSpPr>
            <a:spLocks xmlns:a="http://schemas.openxmlformats.org/drawingml/2006/main" noGrp="1"/>
          </p:cNvSpPr>
          <p:nvPr/>
        </p:nvSpPr>
        <p:spPr>
          <a:xfrm xmlns:a="http://schemas.openxmlformats.org/drawingml/2006/main">
            <a:off x="504825" y="4759325"/>
            <a:ext cx="440055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测试工具</a:t>
            </a:r>
          </a:p>
        </p:txBody>
      </p:sp>
      <p:sp>
        <p:nvSpPr>
          <p:cNvPr id="31" name="">
            <a:extLst xmlns:a="http://schemas.openxmlformats.org/drawingml/2006/main">
              <a:ext uri="{FF2B5EF4-FFF2-40B4-BE49-F238E27FC236}">
                <a16:creationId xmlns:a16="http://schemas.microsoft.com/office/drawing/2014/main" id="{EC9B506D-62BB-43A8-A812-410BEC610708}"/>
              </a:ext>
            </a:extLst>
          </p:cNvPr>
          <p:cNvSpPr>
            <a:spLocks xmlns:a="http://schemas.openxmlformats.org/drawingml/2006/main" noGrp="1"/>
          </p:cNvSpPr>
          <p:nvPr/>
        </p:nvSpPr>
        <p:spPr>
          <a:xfrm xmlns:a="http://schemas.openxmlformats.org/drawingml/2006/main">
            <a:off x="4953000" y="4730750"/>
            <a:ext cx="674370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82398472-86A3-4544-AEE6-0DFEA18BBBE4}"/>
              </a:ext>
            </a:extLst>
          </p:cNvPr>
          <p:cNvSpPr>
            <a:spLocks xmlns:a="http://schemas.openxmlformats.org/drawingml/2006/main" noGrp="1"/>
          </p:cNvSpPr>
          <p:nvPr/>
        </p:nvSpPr>
        <p:spPr>
          <a:xfrm xmlns:a="http://schemas.openxmlformats.org/drawingml/2006/main">
            <a:off x="5000625" y="4759325"/>
            <a:ext cx="664845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JUnit、Gradle Test、Android Instrumented Test、蓝牙模拟测试</a:t>
            </a:r>
          </a:p>
        </p:txBody>
      </p:sp>
      <p:sp>
        <p:nvSpPr>
          <p:cNvPr id="33" name="">
            <a:extLst xmlns:a="http://schemas.openxmlformats.org/drawingml/2006/main">
              <a:ext uri="{FF2B5EF4-FFF2-40B4-BE49-F238E27FC236}">
                <a16:creationId xmlns:a16="http://schemas.microsoft.com/office/drawing/2014/main" id="{C7C49194-06D0-42AA-BD48-70DC1B60F04D}"/>
              </a:ext>
            </a:extLst>
          </p:cNvPr>
          <p:cNvSpPr>
            <a:spLocks xmlns:a="http://schemas.openxmlformats.org/drawingml/2006/main" noGrp="1"/>
          </p:cNvSpPr>
          <p:nvPr/>
        </p:nvSpPr>
        <p:spPr>
          <a:xfrm xmlns:a="http://schemas.openxmlformats.org/drawingml/2006/main">
            <a:off x="457200" y="5337175"/>
            <a:ext cx="449580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478F3C57-4DC4-40C9-BA43-87FACE0F0AE8}"/>
              </a:ext>
            </a:extLst>
          </p:cNvPr>
          <p:cNvSpPr>
            <a:spLocks xmlns:a="http://schemas.openxmlformats.org/drawingml/2006/main" noGrp="1"/>
          </p:cNvSpPr>
          <p:nvPr/>
        </p:nvSpPr>
        <p:spPr>
          <a:xfrm xmlns:a="http://schemas.openxmlformats.org/drawingml/2006/main">
            <a:off x="504825" y="5365750"/>
            <a:ext cx="440055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AI 工具</a:t>
            </a:r>
          </a:p>
        </p:txBody>
      </p:sp>
      <p:sp>
        <p:nvSpPr>
          <p:cNvPr id="35" name="">
            <a:extLst xmlns:a="http://schemas.openxmlformats.org/drawingml/2006/main">
              <a:ext uri="{FF2B5EF4-FFF2-40B4-BE49-F238E27FC236}">
                <a16:creationId xmlns:a16="http://schemas.microsoft.com/office/drawing/2014/main" id="{C55CD8B9-CF4E-48DE-86DC-DECE0BAEF7AB}"/>
              </a:ext>
            </a:extLst>
          </p:cNvPr>
          <p:cNvSpPr>
            <a:spLocks xmlns:a="http://schemas.openxmlformats.org/drawingml/2006/main" noGrp="1"/>
          </p:cNvSpPr>
          <p:nvPr/>
        </p:nvSpPr>
        <p:spPr>
          <a:xfrm xmlns:a="http://schemas.openxmlformats.org/drawingml/2006/main">
            <a:off x="4953000" y="5337175"/>
            <a:ext cx="674370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A505B79F-9553-498E-B9AB-6C8EA4A9B838}"/>
              </a:ext>
            </a:extLst>
          </p:cNvPr>
          <p:cNvSpPr>
            <a:spLocks xmlns:a="http://schemas.openxmlformats.org/drawingml/2006/main" noGrp="1"/>
          </p:cNvSpPr>
          <p:nvPr/>
        </p:nvSpPr>
        <p:spPr>
          <a:xfrm xmlns:a="http://schemas.openxmlformats.org/drawingml/2006/main">
            <a:off x="5000625" y="5365750"/>
            <a:ext cx="664845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OpenAI Codex / GPT-5，用于需求拆解、主要代码实现、UML 草图/更新、测试补全和文档同步</a:t>
            </a:r>
          </a:p>
        </p:txBody>
      </p:sp>
    </p:spTree>
    <p:extLst>
      <p:ext uri="{BB962C8B-B14F-4D97-AF65-F5344CB8AC3E}">
        <p14:creationId xmlns:p14="http://schemas.microsoft.com/office/powerpoint/2010/main" val="120174368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5110D4-8ADE-45E0-A907-B5D6FA798C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B462B4-698B-4E2C-BC77-FE3E1FA94C9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26F13FB-5885-4ED6-AE6C-5C409895AFDD}"/>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B63E1C21-7B83-4CFD-AB2D-6A8F605DE3BA}"/>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1. 实验概述</a:t>
            </a:r>
          </a:p>
        </p:txBody>
      </p:sp>
      <p:sp>
        <p:nvSpPr>
          <p:cNvPr id="5" name="">
            <a:extLst xmlns:a="http://schemas.openxmlformats.org/drawingml/2006/main">
              <a:ext uri="{FF2B5EF4-FFF2-40B4-BE49-F238E27FC236}">
                <a16:creationId xmlns:a16="http://schemas.microsoft.com/office/drawing/2014/main" id="{F9E3491D-230D-4A88-82F3-57C7E181BD63}"/>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5</a:t>
            </a:r>
          </a:p>
        </p:txBody>
      </p:sp>
      <p:sp>
        <p:nvSpPr>
          <p:cNvPr id="6" name="">
            <a:extLst xmlns:a="http://schemas.openxmlformats.org/drawingml/2006/main">
              <a:ext uri="{FF2B5EF4-FFF2-40B4-BE49-F238E27FC236}">
                <a16:creationId xmlns:a16="http://schemas.microsoft.com/office/drawing/2014/main" id="{7C446B47-C51C-49DE-B083-5E33826C3A48}"/>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FF704399-AC5E-48D5-AFD0-A2AED0DCAC99}"/>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1.3 项目简介</a:t>
            </a:r>
          </a:p>
        </p:txBody>
      </p:sp>
      <p:sp>
        <p:nvSpPr>
          <p:cNvPr id="8" name="">
            <a:extLst xmlns:a="http://schemas.openxmlformats.org/drawingml/2006/main">
              <a:ext uri="{FF2B5EF4-FFF2-40B4-BE49-F238E27FC236}">
                <a16:creationId xmlns:a16="http://schemas.microsoft.com/office/drawing/2014/main" id="{4CFCF93B-0366-4433-88DF-E59FD15E9917}"/>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9CC78A9-1F92-4324-8790-07933ECFCF32}"/>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本项目是一款 Kotlin + Jetpack Compose 实现的 Android 锄大地棋牌游戏。系统支持本地人机对局、好友蓝牙多人房间、客户端断线人机托管、房主断线弹窗退出、南北规则切换、三档 AI 策略、玩家成长系统、开屏和牌桌动画、背景音乐、出牌音效、Release 签名包和完整 UML/文档交付。</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项目采用 MVC 思想分层：Model 层负责扑克牌、牌型、规则、状态和玩家档案；Controller 层负责回合推进、AI 决策、联机同步和成长结算；View 层使用 Jetpack Compose 实现开屏、大厅、规则、设置、教程、蓝牙房间、牌桌、结算和玩家中心等页面。</a:t>
            </a:r>
          </a:p>
        </p:txBody>
      </p:sp>
    </p:spTree>
    <p:extLst>
      <p:ext uri="{BB962C8B-B14F-4D97-AF65-F5344CB8AC3E}">
        <p14:creationId xmlns:p14="http://schemas.microsoft.com/office/powerpoint/2010/main" val="206403764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92FEB2-B4A9-4386-A228-DA9CC17454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6C5194-DCCC-4BE2-A74D-5F932F2380B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451205-F8BD-4ADA-873E-AD23E3640A32}"/>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9F315DEF-693A-4FA9-B97E-DF649A238399}"/>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1. 实验概述</a:t>
            </a:r>
          </a:p>
        </p:txBody>
      </p:sp>
      <p:sp>
        <p:nvSpPr>
          <p:cNvPr id="5" name="">
            <a:extLst xmlns:a="http://schemas.openxmlformats.org/drawingml/2006/main">
              <a:ext uri="{FF2B5EF4-FFF2-40B4-BE49-F238E27FC236}">
                <a16:creationId xmlns:a16="http://schemas.microsoft.com/office/drawing/2014/main" id="{EEB3865C-22CB-4080-B9E4-47D8F993F848}"/>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6</a:t>
            </a:r>
          </a:p>
        </p:txBody>
      </p:sp>
      <p:sp>
        <p:nvSpPr>
          <p:cNvPr id="6" name="">
            <a:extLst xmlns:a="http://schemas.openxmlformats.org/drawingml/2006/main">
              <a:ext uri="{FF2B5EF4-FFF2-40B4-BE49-F238E27FC236}">
                <a16:creationId xmlns:a16="http://schemas.microsoft.com/office/drawing/2014/main" id="{BD542B01-0095-4BE0-8B4C-8B2A35ABD36E}"/>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E59BD929-6603-4DA0-B676-CEC6D8448A5C}"/>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1.4 当前版本完整功能基线</a:t>
            </a:r>
          </a:p>
        </p:txBody>
      </p:sp>
      <p:sp>
        <p:nvSpPr>
          <p:cNvPr id="8" name="">
            <a:extLst xmlns:a="http://schemas.openxmlformats.org/drawingml/2006/main">
              <a:ext uri="{FF2B5EF4-FFF2-40B4-BE49-F238E27FC236}">
                <a16:creationId xmlns:a16="http://schemas.microsoft.com/office/drawing/2014/main" id="{FE5011CC-719E-4669-8664-735BF3739110}"/>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F690492-C8CB-4A27-95A1-13081BA68E90}"/>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 本报告内容与 docs/complete_project_documentation.md 保持同一技术口径，只是章节顺序按照 Excel 中的开始、细化迭代 1、细化迭代 2、细化迭代 3、交付五个阶段重新组织。当前版本已经从课程展示型界面改造成接近发布测试版的本地棋牌游戏，功能基线如下：</a:t>
            </a:r>
          </a:p>
          <a:p xmlns:a="http://schemas.openxmlformats.org/drawingml/2006/main">
            <a:r>
              <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1. 开屏页：使用修补后的 CC0 扑克牌素材作为背景，玩家必须点击 开始游戏 才进入大厅。</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2. 应用图标：使用 FreeIcons 的 Cards CC0 成品素材作为主体，并做 Android 桌面图标适配。</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3. 游戏大厅：显示玩家头像、昵称、等级、金币、战绩入口，以及人机对局、好友蓝牙对局、规则、设置、教程等入口。</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4. 人机对局：支持简单、普通、困难三种 AI 难度；开局前先入桌，点击 开始游戏 后播放发牌动画。</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5. 规则系统：支持北方规则与南方规则，保存后对后续人机和蓝牙对局生效。</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6. 蓝牙房间：支持创建房间、加入对局、四座位房间、人机补位、房主权威同步、结算后回原房间再开局。</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7. 蓝牙稳定性：支持客户端断线 AI 托管；房主断线时客户端弹窗提示并退出当前房间，需要重新创建或重新加入。当前版本没有实现自动断线重连。</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8. 玩家成长：支持金币、经验、等级、称号、战绩、成就、每日奖励、头像商店、自定义头像、改名消费、战绩重置。</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9. 动画与音效：包含开屏光效、大厅漂浮扑克牌、主视觉光效、按钮按压、牌桌发牌、手牌选中、出牌飞牌、结算动画、背景音乐、出牌音效与震动。</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10. 发布与仓库：项目已配置 HTTPS 远程仓库、release 签名、runRelease 运行配置和敏感文件忽略规则；签名私钥只保存在本机，不上传 GitHub。</a:t>
            </a:r>
          </a:p>
          <a:p xmlns:a="http://schemas.openxmlformats.org/drawingml/2006/main">
            <a:r>
              <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 开屏背景素材来自 Wikimedia Commons 的 The Cloisters Playing Cards 图片，页面标注为 CC0，可自由复制、修改和分发。项目内对原图右上空位做了补牌修复，保留原素材质感，同时避免竖屏开屏出现右上角缺牌观感。应用图标使用 FreeIcons 的 Cards 成品素材作为主体，页面标注 Public Domain / CC0，项目对素材做了深绿牌桌底、金色边框和桌面小尺寸适配。</a:t>
            </a:r>
          </a:p>
        </p:txBody>
      </p:sp>
    </p:spTree>
    <p:extLst>
      <p:ext uri="{BB962C8B-B14F-4D97-AF65-F5344CB8AC3E}">
        <p14:creationId xmlns:p14="http://schemas.microsoft.com/office/powerpoint/2010/main" val="148463917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8A51F3-3643-4D7A-B570-E3BDED3D062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250909-9904-4131-87FF-93EC1B5E40E2}"/>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DA1DC0F-3676-4137-BB9E-31D7BACB1926}"/>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FD89A75D-F79F-429F-AF9E-09AA7EC84A44}"/>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1. 实验概述</a:t>
            </a:r>
          </a:p>
        </p:txBody>
      </p:sp>
      <p:sp>
        <p:nvSpPr>
          <p:cNvPr id="5" name="">
            <a:extLst xmlns:a="http://schemas.openxmlformats.org/drawingml/2006/main">
              <a:ext uri="{FF2B5EF4-FFF2-40B4-BE49-F238E27FC236}">
                <a16:creationId xmlns:a16="http://schemas.microsoft.com/office/drawing/2014/main" id="{1530AACF-F41F-415E-86E3-91DCB93B3841}"/>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7</a:t>
            </a:r>
          </a:p>
        </p:txBody>
      </p:sp>
      <p:sp>
        <p:nvSpPr>
          <p:cNvPr id="6" name="">
            <a:extLst xmlns:a="http://schemas.openxmlformats.org/drawingml/2006/main">
              <a:ext uri="{FF2B5EF4-FFF2-40B4-BE49-F238E27FC236}">
                <a16:creationId xmlns:a16="http://schemas.microsoft.com/office/drawing/2014/main" id="{89426A01-9736-4CA8-AFE3-ABDF16AEFAE7}"/>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E3050E31-F383-4534-8BC0-6B610E8CF0F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1.5 实训要求总映射（1/2）</a:t>
            </a:r>
          </a:p>
        </p:txBody>
      </p:sp>
      <p:sp>
        <p:nvSpPr>
          <p:cNvPr id="8" name="">
            <a:extLst xmlns:a="http://schemas.openxmlformats.org/drawingml/2006/main">
              <a:ext uri="{FF2B5EF4-FFF2-40B4-BE49-F238E27FC236}">
                <a16:creationId xmlns:a16="http://schemas.microsoft.com/office/drawing/2014/main" id="{C7CB8E32-C593-47D0-8285-E9ADA2AD298E}"/>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486AEAE-8D14-4F60-B785-CC7EC21BC5EC}"/>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实训启动纲要中的 8 项要求在项目中的总体落点如下，后续各阶段会按 Excel 迭代顺序展开：</a:t>
            </a:r>
          </a:p>
        </p:txBody>
      </p:sp>
    </p:spTree>
    <p:extLst>
      <p:ext uri="{BB962C8B-B14F-4D97-AF65-F5344CB8AC3E}">
        <p14:creationId xmlns:p14="http://schemas.microsoft.com/office/powerpoint/2010/main" val="80281807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E6249A-81AE-4AAD-A712-3340B406F0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886CBA-31C1-4114-AF4A-5326D5350C6C}"/>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D3528F-2FDF-4A22-AED7-187BE7E62AD9}"/>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26A7945F-99A7-4599-A5B8-0C7AF3453211}"/>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1. 实验概述</a:t>
            </a:r>
          </a:p>
        </p:txBody>
      </p:sp>
      <p:sp>
        <p:nvSpPr>
          <p:cNvPr id="5" name="">
            <a:extLst xmlns:a="http://schemas.openxmlformats.org/drawingml/2006/main">
              <a:ext uri="{FF2B5EF4-FFF2-40B4-BE49-F238E27FC236}">
                <a16:creationId xmlns:a16="http://schemas.microsoft.com/office/drawing/2014/main" id="{F1964D40-8D89-4571-8D8F-BDD89020B6A2}"/>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8</a:t>
            </a:r>
          </a:p>
        </p:txBody>
      </p:sp>
      <p:sp>
        <p:nvSpPr>
          <p:cNvPr id="6" name="">
            <a:extLst xmlns:a="http://schemas.openxmlformats.org/drawingml/2006/main">
              <a:ext uri="{FF2B5EF4-FFF2-40B4-BE49-F238E27FC236}">
                <a16:creationId xmlns:a16="http://schemas.microsoft.com/office/drawing/2014/main" id="{902128CF-53E2-4DDF-8031-DE37B1DF0D51}"/>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2989163C-A29C-4F8B-BC37-3DDE659792B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1.5 实训要求总映射（2/2）</a:t>
            </a:r>
          </a:p>
        </p:txBody>
      </p:sp>
      <p:sp>
        <p:nvSpPr>
          <p:cNvPr id="8" name="">
            <a:extLst xmlns:a="http://schemas.openxmlformats.org/drawingml/2006/main">
              <a:ext uri="{FF2B5EF4-FFF2-40B4-BE49-F238E27FC236}">
                <a16:creationId xmlns:a16="http://schemas.microsoft.com/office/drawing/2014/main" id="{BCB06AF3-D6C6-4581-B1AD-C240FA5D2312}"/>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07E7918-2BFD-4190-9DC6-CC4DE3FDFAA1}"/>
              </a:ext>
            </a:extLst>
          </p:cNvPr>
          <p:cNvSpPr>
            <a:spLocks xmlns:a="http://schemas.openxmlformats.org/drawingml/2006/main" noGrp="1"/>
          </p:cNvSpPr>
          <p:nvPr/>
        </p:nvSpPr>
        <p:spPr>
          <a:xfrm xmlns:a="http://schemas.openxmlformats.org/drawingml/2006/main">
            <a:off x="45720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838C32F9-3F36-4AD8-8763-876FE7047A43}"/>
              </a:ext>
            </a:extLst>
          </p:cNvPr>
          <p:cNvSpPr>
            <a:spLocks xmlns:a="http://schemas.openxmlformats.org/drawingml/2006/main" noGrp="1"/>
          </p:cNvSpPr>
          <p:nvPr/>
        </p:nvSpPr>
        <p:spPr>
          <a:xfrm xmlns:a="http://schemas.openxmlformats.org/drawingml/2006/main">
            <a:off x="50482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实训要求</a:t>
            </a:r>
          </a:p>
        </p:txBody>
      </p:sp>
      <p:sp>
        <p:nvSpPr>
          <p:cNvPr id="11" name="">
            <a:extLst xmlns:a="http://schemas.openxmlformats.org/drawingml/2006/main">
              <a:ext uri="{FF2B5EF4-FFF2-40B4-BE49-F238E27FC236}">
                <a16:creationId xmlns:a16="http://schemas.microsoft.com/office/drawing/2014/main" id="{A626BCF8-53CB-4354-9DCC-988D5F54CF13}"/>
              </a:ext>
            </a:extLst>
          </p:cNvPr>
          <p:cNvSpPr>
            <a:spLocks xmlns:a="http://schemas.openxmlformats.org/drawingml/2006/main" noGrp="1"/>
          </p:cNvSpPr>
          <p:nvPr/>
        </p:nvSpPr>
        <p:spPr>
          <a:xfrm xmlns:a="http://schemas.openxmlformats.org/drawingml/2006/main">
            <a:off x="607695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15B83927-8A6C-452A-8EE6-49ED3A4252E5}"/>
              </a:ext>
            </a:extLst>
          </p:cNvPr>
          <p:cNvSpPr>
            <a:spLocks xmlns:a="http://schemas.openxmlformats.org/drawingml/2006/main" noGrp="1"/>
          </p:cNvSpPr>
          <p:nvPr/>
        </p:nvSpPr>
        <p:spPr>
          <a:xfrm xmlns:a="http://schemas.openxmlformats.org/drawingml/2006/main">
            <a:off x="612457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当前项目实现</a:t>
            </a:r>
          </a:p>
        </p:txBody>
      </p:sp>
      <p:sp>
        <p:nvSpPr>
          <p:cNvPr id="13" name="">
            <a:extLst xmlns:a="http://schemas.openxmlformats.org/drawingml/2006/main">
              <a:ext uri="{FF2B5EF4-FFF2-40B4-BE49-F238E27FC236}">
                <a16:creationId xmlns:a16="http://schemas.microsoft.com/office/drawing/2014/main" id="{DBC82C2E-8228-4D64-862B-815234D4A740}"/>
              </a:ext>
            </a:extLst>
          </p:cNvPr>
          <p:cNvSpPr>
            <a:spLocks xmlns:a="http://schemas.openxmlformats.org/drawingml/2006/main" noGrp="1"/>
          </p:cNvSpPr>
          <p:nvPr/>
        </p:nvSpPr>
        <p:spPr>
          <a:xfrm xmlns:a="http://schemas.openxmlformats.org/drawingml/2006/main">
            <a:off x="457200" y="2305050"/>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4" name="">
            <a:extLst xmlns:a="http://schemas.openxmlformats.org/drawingml/2006/main">
              <a:ext uri="{FF2B5EF4-FFF2-40B4-BE49-F238E27FC236}">
                <a16:creationId xmlns:a16="http://schemas.microsoft.com/office/drawing/2014/main" id="{F16D13B5-5CE3-4BF5-B370-42884495EE1E}"/>
              </a:ext>
            </a:extLst>
          </p:cNvPr>
          <p:cNvSpPr>
            <a:spLocks xmlns:a="http://schemas.openxmlformats.org/drawingml/2006/main" noGrp="1"/>
          </p:cNvSpPr>
          <p:nvPr/>
        </p:nvSpPr>
        <p:spPr>
          <a:xfrm xmlns:a="http://schemas.openxmlformats.org/drawingml/2006/main">
            <a:off x="504825" y="2333625"/>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ProcessOn UML 7 大图</a:t>
            </a:r>
          </a:p>
        </p:txBody>
      </p:sp>
      <p:sp>
        <p:nvSpPr>
          <p:cNvPr id="15" name="">
            <a:extLst xmlns:a="http://schemas.openxmlformats.org/drawingml/2006/main">
              <a:ext uri="{FF2B5EF4-FFF2-40B4-BE49-F238E27FC236}">
                <a16:creationId xmlns:a16="http://schemas.microsoft.com/office/drawing/2014/main" id="{5014AA4E-06AB-498B-BC78-D742D77356BE}"/>
              </a:ext>
            </a:extLst>
          </p:cNvPr>
          <p:cNvSpPr>
            <a:spLocks xmlns:a="http://schemas.openxmlformats.org/drawingml/2006/main" noGrp="1"/>
          </p:cNvSpPr>
          <p:nvPr/>
        </p:nvSpPr>
        <p:spPr>
          <a:xfrm xmlns:a="http://schemas.openxmlformats.org/drawingml/2006/main">
            <a:off x="6076950" y="2305050"/>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E0C9357A-962B-488F-B830-CF0F821CCE33}"/>
              </a:ext>
            </a:extLst>
          </p:cNvPr>
          <p:cNvSpPr>
            <a:spLocks xmlns:a="http://schemas.openxmlformats.org/drawingml/2006/main" noGrp="1"/>
          </p:cNvSpPr>
          <p:nvPr/>
        </p:nvSpPr>
        <p:spPr>
          <a:xfrm xmlns:a="http://schemas.openxmlformats.org/drawingml/2006/main">
            <a:off x="6124575" y="2333625"/>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使用 PlantUML 代码描述图结构，再导入或参照迁移到 ProcessOn UML，项目保留 .puml 与 .png</a:t>
            </a:r>
          </a:p>
        </p:txBody>
      </p:sp>
      <p:sp>
        <p:nvSpPr>
          <p:cNvPr id="17" name="">
            <a:extLst xmlns:a="http://schemas.openxmlformats.org/drawingml/2006/main">
              <a:ext uri="{FF2B5EF4-FFF2-40B4-BE49-F238E27FC236}">
                <a16:creationId xmlns:a16="http://schemas.microsoft.com/office/drawing/2014/main" id="{401E722F-536F-4243-8780-EC114A461C6D}"/>
              </a:ext>
            </a:extLst>
          </p:cNvPr>
          <p:cNvSpPr>
            <a:spLocks xmlns:a="http://schemas.openxmlformats.org/drawingml/2006/main" noGrp="1"/>
          </p:cNvSpPr>
          <p:nvPr/>
        </p:nvSpPr>
        <p:spPr>
          <a:xfrm xmlns:a="http://schemas.openxmlformats.org/drawingml/2006/main">
            <a:off x="457200" y="2759869"/>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2D8FC815-6B63-4EC5-AC1D-6B86A02AB4D0}"/>
              </a:ext>
            </a:extLst>
          </p:cNvPr>
          <p:cNvSpPr>
            <a:spLocks xmlns:a="http://schemas.openxmlformats.org/drawingml/2006/main" noGrp="1"/>
          </p:cNvSpPr>
          <p:nvPr/>
        </p:nvSpPr>
        <p:spPr>
          <a:xfrm xmlns:a="http://schemas.openxmlformats.org/drawingml/2006/main">
            <a:off x="504825" y="2788444"/>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需求分析和面向对象设计</a:t>
            </a:r>
          </a:p>
        </p:txBody>
      </p:sp>
      <p:sp>
        <p:nvSpPr>
          <p:cNvPr id="19" name="">
            <a:extLst xmlns:a="http://schemas.openxmlformats.org/drawingml/2006/main">
              <a:ext uri="{FF2B5EF4-FFF2-40B4-BE49-F238E27FC236}">
                <a16:creationId xmlns:a16="http://schemas.microsoft.com/office/drawing/2014/main" id="{284D5865-EB73-4D62-B99C-1E37F80EFC9A}"/>
              </a:ext>
            </a:extLst>
          </p:cNvPr>
          <p:cNvSpPr>
            <a:spLocks xmlns:a="http://schemas.openxmlformats.org/drawingml/2006/main" noGrp="1"/>
          </p:cNvSpPr>
          <p:nvPr/>
        </p:nvSpPr>
        <p:spPr>
          <a:xfrm xmlns:a="http://schemas.openxmlformats.org/drawingml/2006/main">
            <a:off x="6076950" y="2759869"/>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F532B150-AC83-4F29-B4E7-D9BB7A88ED37}"/>
              </a:ext>
            </a:extLst>
          </p:cNvPr>
          <p:cNvSpPr>
            <a:spLocks xmlns:a="http://schemas.openxmlformats.org/drawingml/2006/main" noGrp="1"/>
          </p:cNvSpPr>
          <p:nvPr/>
        </p:nvSpPr>
        <p:spPr>
          <a:xfrm xmlns:a="http://schemas.openxmlformats.org/drawingml/2006/main">
            <a:off x="6124575" y="2788444"/>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docs/requirements.md、docs/design.md、MVC 分层、领域模型、系统顺序和组件设计</a:t>
            </a:r>
          </a:p>
        </p:txBody>
      </p:sp>
      <p:sp>
        <p:nvSpPr>
          <p:cNvPr id="21" name="">
            <a:extLst xmlns:a="http://schemas.openxmlformats.org/drawingml/2006/main">
              <a:ext uri="{FF2B5EF4-FFF2-40B4-BE49-F238E27FC236}">
                <a16:creationId xmlns:a16="http://schemas.microsoft.com/office/drawing/2014/main" id="{3A3FABD9-228F-4CAF-B4FA-417D21D29E8F}"/>
              </a:ext>
            </a:extLst>
          </p:cNvPr>
          <p:cNvSpPr>
            <a:spLocks xmlns:a="http://schemas.openxmlformats.org/drawingml/2006/main" noGrp="1"/>
          </p:cNvSpPr>
          <p:nvPr/>
        </p:nvSpPr>
        <p:spPr>
          <a:xfrm xmlns:a="http://schemas.openxmlformats.org/drawingml/2006/main">
            <a:off x="457200" y="3214688"/>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8B482C23-F651-4735-9B4B-11D33C58108D}"/>
              </a:ext>
            </a:extLst>
          </p:cNvPr>
          <p:cNvSpPr>
            <a:spLocks xmlns:a="http://schemas.openxmlformats.org/drawingml/2006/main" noGrp="1"/>
          </p:cNvSpPr>
          <p:nvPr/>
        </p:nvSpPr>
        <p:spPr>
          <a:xfrm xmlns:a="http://schemas.openxmlformats.org/drawingml/2006/main">
            <a:off x="504825" y="3243263"/>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设计模式</a:t>
            </a:r>
          </a:p>
        </p:txBody>
      </p:sp>
      <p:sp>
        <p:nvSpPr>
          <p:cNvPr id="23" name="">
            <a:extLst xmlns:a="http://schemas.openxmlformats.org/drawingml/2006/main">
              <a:ext uri="{FF2B5EF4-FFF2-40B4-BE49-F238E27FC236}">
                <a16:creationId xmlns:a16="http://schemas.microsoft.com/office/drawing/2014/main" id="{92E9D107-7E7B-4F03-81B2-37C4450F7038}"/>
              </a:ext>
            </a:extLst>
          </p:cNvPr>
          <p:cNvSpPr>
            <a:spLocks xmlns:a="http://schemas.openxmlformats.org/drawingml/2006/main" noGrp="1"/>
          </p:cNvSpPr>
          <p:nvPr/>
        </p:nvSpPr>
        <p:spPr>
          <a:xfrm xmlns:a="http://schemas.openxmlformats.org/drawingml/2006/main">
            <a:off x="6076950" y="3214688"/>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0D427240-769B-4A67-9E37-4F9D73D6914D}"/>
              </a:ext>
            </a:extLst>
          </p:cNvPr>
          <p:cNvSpPr>
            <a:spLocks xmlns:a="http://schemas.openxmlformats.org/drawingml/2006/main" noGrp="1"/>
          </p:cNvSpPr>
          <p:nvPr/>
        </p:nvSpPr>
        <p:spPr>
          <a:xfrm xmlns:a="http://schemas.openxmlformats.org/drawingml/2006/main">
            <a:off x="6124575" y="3243263"/>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策略模式、MVC、接口隔离/适配器、主机权威同步、状态模式、命令对象、编解码器、仓储模式、事件驱动、托管恢复</a:t>
            </a:r>
          </a:p>
        </p:txBody>
      </p:sp>
      <p:sp>
        <p:nvSpPr>
          <p:cNvPr id="25" name="">
            <a:extLst xmlns:a="http://schemas.openxmlformats.org/drawingml/2006/main">
              <a:ext uri="{FF2B5EF4-FFF2-40B4-BE49-F238E27FC236}">
                <a16:creationId xmlns:a16="http://schemas.microsoft.com/office/drawing/2014/main" id="{7059DF6E-EFD7-4318-BDA9-469A704206D4}"/>
              </a:ext>
            </a:extLst>
          </p:cNvPr>
          <p:cNvSpPr>
            <a:spLocks xmlns:a="http://schemas.openxmlformats.org/drawingml/2006/main" noGrp="1"/>
          </p:cNvSpPr>
          <p:nvPr/>
        </p:nvSpPr>
        <p:spPr>
          <a:xfrm xmlns:a="http://schemas.openxmlformats.org/drawingml/2006/main">
            <a:off x="457200" y="3669506"/>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F02AC897-CCE5-4703-8023-04976806C965}"/>
              </a:ext>
            </a:extLst>
          </p:cNvPr>
          <p:cNvSpPr>
            <a:spLocks xmlns:a="http://schemas.openxmlformats.org/drawingml/2006/main" noGrp="1"/>
          </p:cNvSpPr>
          <p:nvPr/>
        </p:nvSpPr>
        <p:spPr>
          <a:xfrm xmlns:a="http://schemas.openxmlformats.org/drawingml/2006/main">
            <a:off x="504825" y="3698081"/>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UI 页面设计和切换</a:t>
            </a:r>
          </a:p>
        </p:txBody>
      </p:sp>
      <p:sp>
        <p:nvSpPr>
          <p:cNvPr id="27" name="">
            <a:extLst xmlns:a="http://schemas.openxmlformats.org/drawingml/2006/main">
              <a:ext uri="{FF2B5EF4-FFF2-40B4-BE49-F238E27FC236}">
                <a16:creationId xmlns:a16="http://schemas.microsoft.com/office/drawing/2014/main" id="{B3735BB3-8D6E-4CB6-90A8-EFA3E8B42F32}"/>
              </a:ext>
            </a:extLst>
          </p:cNvPr>
          <p:cNvSpPr>
            <a:spLocks xmlns:a="http://schemas.openxmlformats.org/drawingml/2006/main" noGrp="1"/>
          </p:cNvSpPr>
          <p:nvPr/>
        </p:nvSpPr>
        <p:spPr>
          <a:xfrm xmlns:a="http://schemas.openxmlformats.org/drawingml/2006/main">
            <a:off x="6076950" y="3669506"/>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4D9D46EB-955D-4139-AD4E-59AFD24B5F2B}"/>
              </a:ext>
            </a:extLst>
          </p:cNvPr>
          <p:cNvSpPr>
            <a:spLocks xmlns:a="http://schemas.openxmlformats.org/drawingml/2006/main" noGrp="1"/>
          </p:cNvSpPr>
          <p:nvPr/>
        </p:nvSpPr>
        <p:spPr>
          <a:xfrm xmlns:a="http://schemas.openxmlformats.org/drawingml/2006/main">
            <a:off x="6124575" y="3698081"/>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单 Activity + Compose，Screen 状态驱动开屏、大厅、人机、规则、蓝牙、牌桌、结算和玩家中心</a:t>
            </a:r>
          </a:p>
        </p:txBody>
      </p:sp>
      <p:sp>
        <p:nvSpPr>
          <p:cNvPr id="29" name="">
            <a:extLst xmlns:a="http://schemas.openxmlformats.org/drawingml/2006/main">
              <a:ext uri="{FF2B5EF4-FFF2-40B4-BE49-F238E27FC236}">
                <a16:creationId xmlns:a16="http://schemas.microsoft.com/office/drawing/2014/main" id="{EDBFF9EB-D84A-433F-BF17-4633FBD3F767}"/>
              </a:ext>
            </a:extLst>
          </p:cNvPr>
          <p:cNvSpPr>
            <a:spLocks xmlns:a="http://schemas.openxmlformats.org/drawingml/2006/main" noGrp="1"/>
          </p:cNvSpPr>
          <p:nvPr/>
        </p:nvSpPr>
        <p:spPr>
          <a:xfrm xmlns:a="http://schemas.openxmlformats.org/drawingml/2006/main">
            <a:off x="457200" y="4124325"/>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E0EED327-8CD2-47E1-B7F4-A5266DD0C4E7}"/>
              </a:ext>
            </a:extLst>
          </p:cNvPr>
          <p:cNvSpPr>
            <a:spLocks xmlns:a="http://schemas.openxmlformats.org/drawingml/2006/main" noGrp="1"/>
          </p:cNvSpPr>
          <p:nvPr/>
        </p:nvSpPr>
        <p:spPr>
          <a:xfrm xmlns:a="http://schemas.openxmlformats.org/drawingml/2006/main">
            <a:off x="504825" y="4152900"/>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多人蓝牙联机</a:t>
            </a:r>
          </a:p>
        </p:txBody>
      </p:sp>
      <p:sp>
        <p:nvSpPr>
          <p:cNvPr id="31" name="">
            <a:extLst xmlns:a="http://schemas.openxmlformats.org/drawingml/2006/main">
              <a:ext uri="{FF2B5EF4-FFF2-40B4-BE49-F238E27FC236}">
                <a16:creationId xmlns:a16="http://schemas.microsoft.com/office/drawing/2014/main" id="{99E9BE22-7700-4472-A31F-948969EDC5D9}"/>
              </a:ext>
            </a:extLst>
          </p:cNvPr>
          <p:cNvSpPr>
            <a:spLocks xmlns:a="http://schemas.openxmlformats.org/drawingml/2006/main" noGrp="1"/>
          </p:cNvSpPr>
          <p:nvPr/>
        </p:nvSpPr>
        <p:spPr>
          <a:xfrm xmlns:a="http://schemas.openxmlformats.org/drawingml/2006/main">
            <a:off x="6076950" y="4124325"/>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CBDC931A-231E-4D67-A517-63FC986B372F}"/>
              </a:ext>
            </a:extLst>
          </p:cNvPr>
          <p:cNvSpPr>
            <a:spLocks xmlns:a="http://schemas.openxmlformats.org/drawingml/2006/main" noGrp="1"/>
          </p:cNvSpPr>
          <p:nvPr/>
        </p:nvSpPr>
        <p:spPr>
          <a:xfrm xmlns:a="http://schemas.openxmlformats.org/drawingml/2006/main">
            <a:off x="6124575" y="4152900"/>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Classic Bluetooth RFCOMM，房主 C/S 四座位房间，房主权威快照同步、客户端断线托管和房主断线退出提示</a:t>
            </a:r>
          </a:p>
        </p:txBody>
      </p:sp>
      <p:sp>
        <p:nvSpPr>
          <p:cNvPr id="33" name="">
            <a:extLst xmlns:a="http://schemas.openxmlformats.org/drawingml/2006/main">
              <a:ext uri="{FF2B5EF4-FFF2-40B4-BE49-F238E27FC236}">
                <a16:creationId xmlns:a16="http://schemas.microsoft.com/office/drawing/2014/main" id="{2E49394E-E3E9-452C-8EBD-82A0EF43899B}"/>
              </a:ext>
            </a:extLst>
          </p:cNvPr>
          <p:cNvSpPr>
            <a:spLocks xmlns:a="http://schemas.openxmlformats.org/drawingml/2006/main" noGrp="1"/>
          </p:cNvSpPr>
          <p:nvPr/>
        </p:nvSpPr>
        <p:spPr>
          <a:xfrm xmlns:a="http://schemas.openxmlformats.org/drawingml/2006/main">
            <a:off x="457200" y="4579144"/>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0073D2B4-BD35-4083-A882-83FF9D3473D9}"/>
              </a:ext>
            </a:extLst>
          </p:cNvPr>
          <p:cNvSpPr>
            <a:spLocks xmlns:a="http://schemas.openxmlformats.org/drawingml/2006/main" noGrp="1"/>
          </p:cNvSpPr>
          <p:nvPr/>
        </p:nvSpPr>
        <p:spPr>
          <a:xfrm xmlns:a="http://schemas.openxmlformats.org/drawingml/2006/main">
            <a:off x="504825" y="4607719"/>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南北玩法</a:t>
            </a:r>
          </a:p>
        </p:txBody>
      </p:sp>
      <p:sp>
        <p:nvSpPr>
          <p:cNvPr id="35" name="">
            <a:extLst xmlns:a="http://schemas.openxmlformats.org/drawingml/2006/main">
              <a:ext uri="{FF2B5EF4-FFF2-40B4-BE49-F238E27FC236}">
                <a16:creationId xmlns:a16="http://schemas.microsoft.com/office/drawing/2014/main" id="{CB10871E-E2EB-4F08-BBD1-0A340BDD8D05}"/>
              </a:ext>
            </a:extLst>
          </p:cNvPr>
          <p:cNvSpPr>
            <a:spLocks xmlns:a="http://schemas.openxmlformats.org/drawingml/2006/main" noGrp="1"/>
          </p:cNvSpPr>
          <p:nvPr/>
        </p:nvSpPr>
        <p:spPr>
          <a:xfrm xmlns:a="http://schemas.openxmlformats.org/drawingml/2006/main">
            <a:off x="6076950" y="4579144"/>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B6F71C2B-2879-4796-8F19-9342ACEFF033}"/>
              </a:ext>
            </a:extLst>
          </p:cNvPr>
          <p:cNvSpPr>
            <a:spLocks xmlns:a="http://schemas.openxmlformats.org/drawingml/2006/main" noGrp="1"/>
          </p:cNvSpPr>
          <p:nvPr/>
        </p:nvSpPr>
        <p:spPr>
          <a:xfrm xmlns:a="http://schemas.openxmlformats.org/drawingml/2006/main">
            <a:off x="6124575" y="4607719"/>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NorthRuleSet 与 SouthRuleSet，规则设置保存后作用于后续人机和蓝牙对局</a:t>
            </a:r>
          </a:p>
        </p:txBody>
      </p:sp>
      <p:sp>
        <p:nvSpPr>
          <p:cNvPr id="37" name="">
            <a:extLst xmlns:a="http://schemas.openxmlformats.org/drawingml/2006/main">
              <a:ext uri="{FF2B5EF4-FFF2-40B4-BE49-F238E27FC236}">
                <a16:creationId xmlns:a16="http://schemas.microsoft.com/office/drawing/2014/main" id="{76D9FDBF-D074-470A-B3A1-67C7AF5F1B32}"/>
              </a:ext>
            </a:extLst>
          </p:cNvPr>
          <p:cNvSpPr>
            <a:spLocks xmlns:a="http://schemas.openxmlformats.org/drawingml/2006/main" noGrp="1"/>
          </p:cNvSpPr>
          <p:nvPr/>
        </p:nvSpPr>
        <p:spPr>
          <a:xfrm xmlns:a="http://schemas.openxmlformats.org/drawingml/2006/main">
            <a:off x="457200" y="5033963"/>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A8872D0B-76D8-43F2-8324-1E3D57DAF54E}"/>
              </a:ext>
            </a:extLst>
          </p:cNvPr>
          <p:cNvSpPr>
            <a:spLocks xmlns:a="http://schemas.openxmlformats.org/drawingml/2006/main" noGrp="1"/>
          </p:cNvSpPr>
          <p:nvPr/>
        </p:nvSpPr>
        <p:spPr>
          <a:xfrm xmlns:a="http://schemas.openxmlformats.org/drawingml/2006/main">
            <a:off x="504825" y="5062538"/>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AI 策略</a:t>
            </a:r>
          </a:p>
        </p:txBody>
      </p:sp>
      <p:sp>
        <p:nvSpPr>
          <p:cNvPr id="39" name="">
            <a:extLst xmlns:a="http://schemas.openxmlformats.org/drawingml/2006/main">
              <a:ext uri="{FF2B5EF4-FFF2-40B4-BE49-F238E27FC236}">
                <a16:creationId xmlns:a16="http://schemas.microsoft.com/office/drawing/2014/main" id="{7F134E12-73A1-41E8-BB34-D1793F9179FD}"/>
              </a:ext>
            </a:extLst>
          </p:cNvPr>
          <p:cNvSpPr>
            <a:spLocks xmlns:a="http://schemas.openxmlformats.org/drawingml/2006/main" noGrp="1"/>
          </p:cNvSpPr>
          <p:nvPr/>
        </p:nvSpPr>
        <p:spPr>
          <a:xfrm xmlns:a="http://schemas.openxmlformats.org/drawingml/2006/main">
            <a:off x="6076950" y="5033963"/>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F0F0F8D9-A427-4BD7-91F2-08D69806BB2E}"/>
              </a:ext>
            </a:extLst>
          </p:cNvPr>
          <p:cNvSpPr>
            <a:spLocks xmlns:a="http://schemas.openxmlformats.org/drawingml/2006/main" noGrp="1"/>
          </p:cNvSpPr>
          <p:nvPr/>
        </p:nvSpPr>
        <p:spPr>
          <a:xfrm xmlns:a="http://schemas.openxmlformats.org/drawingml/2006/main">
            <a:off x="6124575" y="5062538"/>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GreedyAiStrategy、HeuristicAiStrategy、MonteCarloRolloutAiStrategy 三档策略</a:t>
            </a:r>
          </a:p>
        </p:txBody>
      </p:sp>
      <p:sp>
        <p:nvSpPr>
          <p:cNvPr id="41" name="">
            <a:extLst xmlns:a="http://schemas.openxmlformats.org/drawingml/2006/main">
              <a:ext uri="{FF2B5EF4-FFF2-40B4-BE49-F238E27FC236}">
                <a16:creationId xmlns:a16="http://schemas.microsoft.com/office/drawing/2014/main" id="{22EB40BF-9C52-455D-A387-192996BE6267}"/>
              </a:ext>
            </a:extLst>
          </p:cNvPr>
          <p:cNvSpPr>
            <a:spLocks xmlns:a="http://schemas.openxmlformats.org/drawingml/2006/main" noGrp="1"/>
          </p:cNvSpPr>
          <p:nvPr/>
        </p:nvSpPr>
        <p:spPr>
          <a:xfrm xmlns:a="http://schemas.openxmlformats.org/drawingml/2006/main">
            <a:off x="457200" y="5488781"/>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707DB4C8-2DE1-4015-AEFE-9C6B4AAA1B65}"/>
              </a:ext>
            </a:extLst>
          </p:cNvPr>
          <p:cNvSpPr>
            <a:spLocks xmlns:a="http://schemas.openxmlformats.org/drawingml/2006/main" noGrp="1"/>
          </p:cNvSpPr>
          <p:nvPr/>
        </p:nvSpPr>
        <p:spPr>
          <a:xfrm xmlns:a="http://schemas.openxmlformats.org/drawingml/2006/main">
            <a:off x="504825" y="5517356"/>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AI 工具使用</a:t>
            </a:r>
          </a:p>
        </p:txBody>
      </p:sp>
      <p:sp>
        <p:nvSpPr>
          <p:cNvPr id="43" name="">
            <a:extLst xmlns:a="http://schemas.openxmlformats.org/drawingml/2006/main">
              <a:ext uri="{FF2B5EF4-FFF2-40B4-BE49-F238E27FC236}">
                <a16:creationId xmlns:a16="http://schemas.microsoft.com/office/drawing/2014/main" id="{2C9F0059-869C-4FD1-9588-BDE2E11E863C}"/>
              </a:ext>
            </a:extLst>
          </p:cNvPr>
          <p:cNvSpPr>
            <a:spLocks xmlns:a="http://schemas.openxmlformats.org/drawingml/2006/main" noGrp="1"/>
          </p:cNvSpPr>
          <p:nvPr/>
        </p:nvSpPr>
        <p:spPr>
          <a:xfrm xmlns:a="http://schemas.openxmlformats.org/drawingml/2006/main">
            <a:off x="6076950" y="5488781"/>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BDA4A303-735D-44A0-9BDB-DA595A103096}"/>
              </a:ext>
            </a:extLst>
          </p:cNvPr>
          <p:cNvSpPr>
            <a:spLocks xmlns:a="http://schemas.openxmlformats.org/drawingml/2006/main" noGrp="1"/>
          </p:cNvSpPr>
          <p:nvPr/>
        </p:nvSpPr>
        <p:spPr>
          <a:xfrm xmlns:a="http://schemas.openxmlformats.org/drawingml/2006/main">
            <a:off x="6124575" y="5517356"/>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代码实现、UML 图草拟/更新、测试场景和文档整理等大部分工作由 OpenAI Codex / GPT-5 完成，开发者在 Android Studio、ProcessOn 和真机环境中运行、调整和确认</a:t>
            </a:r>
          </a:p>
        </p:txBody>
      </p:sp>
    </p:spTree>
    <p:extLst>
      <p:ext uri="{BB962C8B-B14F-4D97-AF65-F5344CB8AC3E}">
        <p14:creationId xmlns:p14="http://schemas.microsoft.com/office/powerpoint/2010/main" val="87168500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8E83358-8351-47D8-8214-F3697E9C66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46B869-4EC2-45CE-A0B1-CF242CA3AF29}"/>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986383-E8D9-41B2-A0CC-B500034C6C22}"/>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5A765C2-2EC1-41C7-9049-0D6390D16479}"/>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软件综合开发实训实验报告</a:t>
            </a:r>
          </a:p>
        </p:txBody>
      </p:sp>
      <p:sp>
        <p:nvSpPr>
          <p:cNvPr id="5" name="">
            <a:extLst xmlns:a="http://schemas.openxmlformats.org/drawingml/2006/main">
              <a:ext uri="{FF2B5EF4-FFF2-40B4-BE49-F238E27FC236}">
                <a16:creationId xmlns:a16="http://schemas.microsoft.com/office/drawing/2014/main" id="{2E4F3046-4043-42ED-978D-1766C45A2849}"/>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9</a:t>
            </a:r>
          </a:p>
        </p:txBody>
      </p:sp>
      <p:sp>
        <p:nvSpPr>
          <p:cNvPr id="6" name="">
            <a:extLst xmlns:a="http://schemas.openxmlformats.org/drawingml/2006/main">
              <a:ext uri="{FF2B5EF4-FFF2-40B4-BE49-F238E27FC236}">
                <a16:creationId xmlns:a16="http://schemas.microsoft.com/office/drawing/2014/main" id="{E6501603-AF90-4147-9DC1-45406D72BCB0}"/>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SECTION</a:t>
            </a:r>
          </a:p>
        </p:txBody>
      </p:sp>
      <p:sp>
        <p:nvSpPr>
          <p:cNvPr id="7" name="">
            <a:extLst xmlns:a="http://schemas.openxmlformats.org/drawingml/2006/main">
              <a:ext uri="{FF2B5EF4-FFF2-40B4-BE49-F238E27FC236}">
                <a16:creationId xmlns:a16="http://schemas.microsoft.com/office/drawing/2014/main" id="{4E0ECFD2-39CE-4170-9141-FE3E8E953252}"/>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2. 阶段时间表</a:t>
            </a:r>
          </a:p>
        </p:txBody>
      </p:sp>
      <p:sp>
        <p:nvSpPr>
          <p:cNvPr id="8" name="">
            <a:extLst xmlns:a="http://schemas.openxmlformats.org/drawingml/2006/main">
              <a:ext uri="{FF2B5EF4-FFF2-40B4-BE49-F238E27FC236}">
                <a16:creationId xmlns:a16="http://schemas.microsoft.com/office/drawing/2014/main" id="{E6791AB0-F31E-4C21-814C-15B509340CEA}"/>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1A4F053-2A1B-4F58-A82D-B44D8397B2A3}"/>
              </a:ext>
            </a:extLst>
          </p:cNvPr>
          <p:cNvSpPr>
            <a:spLocks xmlns:a="http://schemas.openxmlformats.org/drawingml/2006/main" noGrp="1"/>
          </p:cNvSpPr>
          <p:nvPr/>
        </p:nvSpPr>
        <p:spPr>
          <a:xfrm xmlns:a="http://schemas.openxmlformats.org/drawingml/2006/main">
            <a:off x="457200" y="1905000"/>
            <a:ext cx="40686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3581F1E0-A4A7-48C9-9765-949BC559BF60}"/>
              </a:ext>
            </a:extLst>
          </p:cNvPr>
          <p:cNvSpPr>
            <a:spLocks xmlns:a="http://schemas.openxmlformats.org/drawingml/2006/main" noGrp="1"/>
          </p:cNvSpPr>
          <p:nvPr/>
        </p:nvSpPr>
        <p:spPr>
          <a:xfrm xmlns:a="http://schemas.openxmlformats.org/drawingml/2006/main">
            <a:off x="504825" y="1943100"/>
            <a:ext cx="31161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序号</a:t>
            </a:r>
          </a:p>
        </p:txBody>
      </p:sp>
      <p:sp>
        <p:nvSpPr>
          <p:cNvPr id="11" name="">
            <a:extLst xmlns:a="http://schemas.openxmlformats.org/drawingml/2006/main">
              <a:ext uri="{FF2B5EF4-FFF2-40B4-BE49-F238E27FC236}">
                <a16:creationId xmlns:a16="http://schemas.microsoft.com/office/drawing/2014/main" id="{1D9E67FD-6DA0-43C0-B6A4-126D39F26C5D}"/>
              </a:ext>
            </a:extLst>
          </p:cNvPr>
          <p:cNvSpPr>
            <a:spLocks xmlns:a="http://schemas.openxmlformats.org/drawingml/2006/main" noGrp="1"/>
          </p:cNvSpPr>
          <p:nvPr/>
        </p:nvSpPr>
        <p:spPr>
          <a:xfrm xmlns:a="http://schemas.openxmlformats.org/drawingml/2006/main">
            <a:off x="864060" y="1905000"/>
            <a:ext cx="2288586"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615084FC-9619-4CB8-8E6B-8D5B4569D1FE}"/>
              </a:ext>
            </a:extLst>
          </p:cNvPr>
          <p:cNvSpPr>
            <a:spLocks xmlns:a="http://schemas.openxmlformats.org/drawingml/2006/main" noGrp="1"/>
          </p:cNvSpPr>
          <p:nvPr/>
        </p:nvSpPr>
        <p:spPr>
          <a:xfrm xmlns:a="http://schemas.openxmlformats.org/drawingml/2006/main">
            <a:off x="911685" y="1943100"/>
            <a:ext cx="219333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项目阶段</a:t>
            </a:r>
          </a:p>
        </p:txBody>
      </p:sp>
      <p:sp>
        <p:nvSpPr>
          <p:cNvPr id="13" name="">
            <a:extLst xmlns:a="http://schemas.openxmlformats.org/drawingml/2006/main">
              <a:ext uri="{FF2B5EF4-FFF2-40B4-BE49-F238E27FC236}">
                <a16:creationId xmlns:a16="http://schemas.microsoft.com/office/drawing/2014/main" id="{B86D6531-D7EF-47BE-BE19-445E1FEEA7CE}"/>
              </a:ext>
            </a:extLst>
          </p:cNvPr>
          <p:cNvSpPr>
            <a:spLocks xmlns:a="http://schemas.openxmlformats.org/drawingml/2006/main" noGrp="1"/>
          </p:cNvSpPr>
          <p:nvPr/>
        </p:nvSpPr>
        <p:spPr>
          <a:xfrm xmlns:a="http://schemas.openxmlformats.org/drawingml/2006/main">
            <a:off x="3152646" y="1905000"/>
            <a:ext cx="2288586"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F4ABAEBE-4222-4967-9C17-B40F31B2EBA0}"/>
              </a:ext>
            </a:extLst>
          </p:cNvPr>
          <p:cNvSpPr>
            <a:spLocks xmlns:a="http://schemas.openxmlformats.org/drawingml/2006/main" noGrp="1"/>
          </p:cNvSpPr>
          <p:nvPr/>
        </p:nvSpPr>
        <p:spPr>
          <a:xfrm xmlns:a="http://schemas.openxmlformats.org/drawingml/2006/main">
            <a:off x="3200271" y="1943100"/>
            <a:ext cx="219333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项目开发内容</a:t>
            </a:r>
          </a:p>
        </p:txBody>
      </p:sp>
      <p:sp>
        <p:nvSpPr>
          <p:cNvPr id="15" name="">
            <a:extLst xmlns:a="http://schemas.openxmlformats.org/drawingml/2006/main">
              <a:ext uri="{FF2B5EF4-FFF2-40B4-BE49-F238E27FC236}">
                <a16:creationId xmlns:a16="http://schemas.microsoft.com/office/drawing/2014/main" id="{C14627ED-4AB3-44A2-8747-579243746CF6}"/>
              </a:ext>
            </a:extLst>
          </p:cNvPr>
          <p:cNvSpPr>
            <a:spLocks xmlns:a="http://schemas.openxmlformats.org/drawingml/2006/main" noGrp="1"/>
          </p:cNvSpPr>
          <p:nvPr/>
        </p:nvSpPr>
        <p:spPr>
          <a:xfrm xmlns:a="http://schemas.openxmlformats.org/drawingml/2006/main">
            <a:off x="5441232" y="1905000"/>
            <a:ext cx="2288586"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64A1C7C0-9326-4B39-9514-5B63536EE47E}"/>
              </a:ext>
            </a:extLst>
          </p:cNvPr>
          <p:cNvSpPr>
            <a:spLocks xmlns:a="http://schemas.openxmlformats.org/drawingml/2006/main" noGrp="1"/>
          </p:cNvSpPr>
          <p:nvPr/>
        </p:nvSpPr>
        <p:spPr>
          <a:xfrm xmlns:a="http://schemas.openxmlformats.org/drawingml/2006/main">
            <a:off x="5488857" y="1943100"/>
            <a:ext cx="219333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建模和规约文档内容</a:t>
            </a:r>
          </a:p>
        </p:txBody>
      </p:sp>
      <p:sp>
        <p:nvSpPr>
          <p:cNvPr id="17" name="">
            <a:extLst xmlns:a="http://schemas.openxmlformats.org/drawingml/2006/main">
              <a:ext uri="{FF2B5EF4-FFF2-40B4-BE49-F238E27FC236}">
                <a16:creationId xmlns:a16="http://schemas.microsoft.com/office/drawing/2014/main" id="{DF2291CE-CAE1-4D16-8B8D-84F0B139B397}"/>
              </a:ext>
            </a:extLst>
          </p:cNvPr>
          <p:cNvSpPr>
            <a:spLocks xmlns:a="http://schemas.openxmlformats.org/drawingml/2006/main" noGrp="1"/>
          </p:cNvSpPr>
          <p:nvPr/>
        </p:nvSpPr>
        <p:spPr>
          <a:xfrm xmlns:a="http://schemas.openxmlformats.org/drawingml/2006/main">
            <a:off x="7729818" y="1905000"/>
            <a:ext cx="223772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8" name="">
            <a:extLst xmlns:a="http://schemas.openxmlformats.org/drawingml/2006/main">
              <a:ext uri="{FF2B5EF4-FFF2-40B4-BE49-F238E27FC236}">
                <a16:creationId xmlns:a16="http://schemas.microsoft.com/office/drawing/2014/main" id="{770BFED9-6784-45DB-BB48-3C7879FA8C75}"/>
              </a:ext>
            </a:extLst>
          </p:cNvPr>
          <p:cNvSpPr>
            <a:spLocks xmlns:a="http://schemas.openxmlformats.org/drawingml/2006/main" noGrp="1"/>
          </p:cNvSpPr>
          <p:nvPr/>
        </p:nvSpPr>
        <p:spPr>
          <a:xfrm xmlns:a="http://schemas.openxmlformats.org/drawingml/2006/main">
            <a:off x="7777443" y="1943100"/>
            <a:ext cx="214247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提交时间</a:t>
            </a:r>
          </a:p>
        </p:txBody>
      </p:sp>
      <p:sp>
        <p:nvSpPr>
          <p:cNvPr id="19" name="">
            <a:extLst xmlns:a="http://schemas.openxmlformats.org/drawingml/2006/main">
              <a:ext uri="{FF2B5EF4-FFF2-40B4-BE49-F238E27FC236}">
                <a16:creationId xmlns:a16="http://schemas.microsoft.com/office/drawing/2014/main" id="{2E5B1D49-A0CA-49BF-B2F5-38F49CD0193B}"/>
              </a:ext>
            </a:extLst>
          </p:cNvPr>
          <p:cNvSpPr>
            <a:spLocks xmlns:a="http://schemas.openxmlformats.org/drawingml/2006/main" noGrp="1"/>
          </p:cNvSpPr>
          <p:nvPr/>
        </p:nvSpPr>
        <p:spPr>
          <a:xfrm xmlns:a="http://schemas.openxmlformats.org/drawingml/2006/main">
            <a:off x="9967546" y="1905000"/>
            <a:ext cx="1729154"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E6E1A12B-EBC5-4F5C-A6ED-94F77285638C}"/>
              </a:ext>
            </a:extLst>
          </p:cNvPr>
          <p:cNvSpPr>
            <a:spLocks xmlns:a="http://schemas.openxmlformats.org/drawingml/2006/main" noGrp="1"/>
          </p:cNvSpPr>
          <p:nvPr/>
        </p:nvSpPr>
        <p:spPr>
          <a:xfrm xmlns:a="http://schemas.openxmlformats.org/drawingml/2006/main">
            <a:off x="10015171" y="1943100"/>
            <a:ext cx="163390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汇报时间</a:t>
            </a:r>
          </a:p>
        </p:txBody>
      </p:sp>
      <p:sp>
        <p:nvSpPr>
          <p:cNvPr id="21" name="">
            <a:extLst xmlns:a="http://schemas.openxmlformats.org/drawingml/2006/main">
              <a:ext uri="{FF2B5EF4-FFF2-40B4-BE49-F238E27FC236}">
                <a16:creationId xmlns:a16="http://schemas.microsoft.com/office/drawing/2014/main" id="{758D7D1D-933B-4EA3-BF65-998BFA8D6631}"/>
              </a:ext>
            </a:extLst>
          </p:cNvPr>
          <p:cNvSpPr>
            <a:spLocks xmlns:a="http://schemas.openxmlformats.org/drawingml/2006/main" noGrp="1"/>
          </p:cNvSpPr>
          <p:nvPr/>
        </p:nvSpPr>
        <p:spPr>
          <a:xfrm xmlns:a="http://schemas.openxmlformats.org/drawingml/2006/main">
            <a:off x="457200" y="2305050"/>
            <a:ext cx="40686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C27D9BA6-F5E2-4005-AF47-B8028EA687EB}"/>
              </a:ext>
            </a:extLst>
          </p:cNvPr>
          <p:cNvSpPr>
            <a:spLocks xmlns:a="http://schemas.openxmlformats.org/drawingml/2006/main" noGrp="1"/>
          </p:cNvSpPr>
          <p:nvPr/>
        </p:nvSpPr>
        <p:spPr>
          <a:xfrm xmlns:a="http://schemas.openxmlformats.org/drawingml/2006/main">
            <a:off x="504825" y="2333625"/>
            <a:ext cx="31161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1</a:t>
            </a:r>
          </a:p>
        </p:txBody>
      </p:sp>
      <p:sp>
        <p:nvSpPr>
          <p:cNvPr id="23" name="">
            <a:extLst xmlns:a="http://schemas.openxmlformats.org/drawingml/2006/main">
              <a:ext uri="{FF2B5EF4-FFF2-40B4-BE49-F238E27FC236}">
                <a16:creationId xmlns:a16="http://schemas.microsoft.com/office/drawing/2014/main" id="{B1285C5D-E045-44D4-88F4-246F30007F92}"/>
              </a:ext>
            </a:extLst>
          </p:cNvPr>
          <p:cNvSpPr>
            <a:spLocks xmlns:a="http://schemas.openxmlformats.org/drawingml/2006/main" noGrp="1"/>
          </p:cNvSpPr>
          <p:nvPr/>
        </p:nvSpPr>
        <p:spPr>
          <a:xfrm xmlns:a="http://schemas.openxmlformats.org/drawingml/2006/main">
            <a:off x="864060" y="2305050"/>
            <a:ext cx="228858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4D354647-719A-46C7-B67D-3330B9BF9A57}"/>
              </a:ext>
            </a:extLst>
          </p:cNvPr>
          <p:cNvSpPr>
            <a:spLocks xmlns:a="http://schemas.openxmlformats.org/drawingml/2006/main" noGrp="1"/>
          </p:cNvSpPr>
          <p:nvPr/>
        </p:nvSpPr>
        <p:spPr>
          <a:xfrm xmlns:a="http://schemas.openxmlformats.org/drawingml/2006/main">
            <a:off x="911685" y="233362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开始（Inception）</a:t>
            </a:r>
          </a:p>
        </p:txBody>
      </p:sp>
      <p:sp>
        <p:nvSpPr>
          <p:cNvPr id="25" name="">
            <a:extLst xmlns:a="http://schemas.openxmlformats.org/drawingml/2006/main">
              <a:ext uri="{FF2B5EF4-FFF2-40B4-BE49-F238E27FC236}">
                <a16:creationId xmlns:a16="http://schemas.microsoft.com/office/drawing/2014/main" id="{6CDC5732-5335-419B-BCFE-5BCDA9B69441}"/>
              </a:ext>
            </a:extLst>
          </p:cNvPr>
          <p:cNvSpPr>
            <a:spLocks xmlns:a="http://schemas.openxmlformats.org/drawingml/2006/main" noGrp="1"/>
          </p:cNvSpPr>
          <p:nvPr/>
        </p:nvSpPr>
        <p:spPr>
          <a:xfrm xmlns:a="http://schemas.openxmlformats.org/drawingml/2006/main">
            <a:off x="3152646" y="2305050"/>
            <a:ext cx="228858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E5AB1B5C-37EB-48F6-B9D5-91EB304BB17E}"/>
              </a:ext>
            </a:extLst>
          </p:cNvPr>
          <p:cNvSpPr>
            <a:spLocks xmlns:a="http://schemas.openxmlformats.org/drawingml/2006/main" noGrp="1"/>
          </p:cNvSpPr>
          <p:nvPr/>
        </p:nvSpPr>
        <p:spPr>
          <a:xfrm xmlns:a="http://schemas.openxmlformats.org/drawingml/2006/main">
            <a:off x="3200271" y="233362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Android 开发框架、Java/Kotlin 开发、用例图 1、发牌/选牌/出牌用例</a:t>
            </a:r>
          </a:p>
        </p:txBody>
      </p:sp>
      <p:sp>
        <p:nvSpPr>
          <p:cNvPr id="27" name="">
            <a:extLst xmlns:a="http://schemas.openxmlformats.org/drawingml/2006/main">
              <a:ext uri="{FF2B5EF4-FFF2-40B4-BE49-F238E27FC236}">
                <a16:creationId xmlns:a16="http://schemas.microsoft.com/office/drawing/2014/main" id="{70DABE19-B574-4286-A6C0-4AD0CBC3084D}"/>
              </a:ext>
            </a:extLst>
          </p:cNvPr>
          <p:cNvSpPr>
            <a:spLocks xmlns:a="http://schemas.openxmlformats.org/drawingml/2006/main" noGrp="1"/>
          </p:cNvSpPr>
          <p:nvPr/>
        </p:nvSpPr>
        <p:spPr>
          <a:xfrm xmlns:a="http://schemas.openxmlformats.org/drawingml/2006/main">
            <a:off x="5441232" y="2305050"/>
            <a:ext cx="228858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2B1548C1-ED58-4910-9800-98F90C6C450E}"/>
              </a:ext>
            </a:extLst>
          </p:cNvPr>
          <p:cNvSpPr>
            <a:spLocks xmlns:a="http://schemas.openxmlformats.org/drawingml/2006/main" noGrp="1"/>
          </p:cNvSpPr>
          <p:nvPr/>
        </p:nvSpPr>
        <p:spPr>
          <a:xfrm xmlns:a="http://schemas.openxmlformats.org/drawingml/2006/main">
            <a:off x="5488857" y="233362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Use-Case Model、Vision、Supplementary Specification、Glossary、Iteration Plan</a:t>
            </a:r>
          </a:p>
        </p:txBody>
      </p:sp>
      <p:sp>
        <p:nvSpPr>
          <p:cNvPr id="29" name="">
            <a:extLst xmlns:a="http://schemas.openxmlformats.org/drawingml/2006/main">
              <a:ext uri="{FF2B5EF4-FFF2-40B4-BE49-F238E27FC236}">
                <a16:creationId xmlns:a16="http://schemas.microsoft.com/office/drawing/2014/main" id="{9011BA89-70F8-40B6-A423-8E1D411775CB}"/>
              </a:ext>
            </a:extLst>
          </p:cNvPr>
          <p:cNvSpPr>
            <a:spLocks xmlns:a="http://schemas.openxmlformats.org/drawingml/2006/main" noGrp="1"/>
          </p:cNvSpPr>
          <p:nvPr/>
        </p:nvSpPr>
        <p:spPr>
          <a:xfrm xmlns:a="http://schemas.openxmlformats.org/drawingml/2006/main">
            <a:off x="7729818" y="2305050"/>
            <a:ext cx="2237729"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3D629C49-CDD5-4389-AE45-F96FB5251305}"/>
              </a:ext>
            </a:extLst>
          </p:cNvPr>
          <p:cNvSpPr>
            <a:spLocks xmlns:a="http://schemas.openxmlformats.org/drawingml/2006/main" noGrp="1"/>
          </p:cNvSpPr>
          <p:nvPr/>
        </p:nvSpPr>
        <p:spPr>
          <a:xfrm xmlns:a="http://schemas.openxmlformats.org/drawingml/2006/main">
            <a:off x="7777443" y="2333625"/>
            <a:ext cx="2142479"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第 1 周周五晚</a:t>
            </a:r>
          </a:p>
        </p:txBody>
      </p:sp>
      <p:sp>
        <p:nvSpPr>
          <p:cNvPr id="31" name="">
            <a:extLst xmlns:a="http://schemas.openxmlformats.org/drawingml/2006/main">
              <a:ext uri="{FF2B5EF4-FFF2-40B4-BE49-F238E27FC236}">
                <a16:creationId xmlns:a16="http://schemas.microsoft.com/office/drawing/2014/main" id="{C9B95C9C-F383-4A1C-9814-E3ECA30285B4}"/>
              </a:ext>
            </a:extLst>
          </p:cNvPr>
          <p:cNvSpPr>
            <a:spLocks xmlns:a="http://schemas.openxmlformats.org/drawingml/2006/main" noGrp="1"/>
          </p:cNvSpPr>
          <p:nvPr/>
        </p:nvSpPr>
        <p:spPr>
          <a:xfrm xmlns:a="http://schemas.openxmlformats.org/drawingml/2006/main">
            <a:off x="9967546" y="2305050"/>
            <a:ext cx="1729154"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E871722A-28A4-4F73-A7D9-CED1501A8B37}"/>
              </a:ext>
            </a:extLst>
          </p:cNvPr>
          <p:cNvSpPr>
            <a:spLocks xmlns:a="http://schemas.openxmlformats.org/drawingml/2006/main" noGrp="1"/>
          </p:cNvSpPr>
          <p:nvPr/>
        </p:nvSpPr>
        <p:spPr>
          <a:xfrm xmlns:a="http://schemas.openxmlformats.org/drawingml/2006/main">
            <a:off x="10015171" y="2333625"/>
            <a:ext cx="1633904"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第 11 周</a:t>
            </a:r>
          </a:p>
        </p:txBody>
      </p:sp>
      <p:sp>
        <p:nvSpPr>
          <p:cNvPr id="33" name="">
            <a:extLst xmlns:a="http://schemas.openxmlformats.org/drawingml/2006/main">
              <a:ext uri="{FF2B5EF4-FFF2-40B4-BE49-F238E27FC236}">
                <a16:creationId xmlns:a16="http://schemas.microsoft.com/office/drawing/2014/main" id="{23172A49-70F8-41C1-9FA3-B0FD0215137B}"/>
              </a:ext>
            </a:extLst>
          </p:cNvPr>
          <p:cNvSpPr>
            <a:spLocks xmlns:a="http://schemas.openxmlformats.org/drawingml/2006/main" noGrp="1"/>
          </p:cNvSpPr>
          <p:nvPr/>
        </p:nvSpPr>
        <p:spPr>
          <a:xfrm xmlns:a="http://schemas.openxmlformats.org/drawingml/2006/main">
            <a:off x="457200" y="3032760"/>
            <a:ext cx="40686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21E47BFC-877D-47EF-AD99-3C6934D83CB0}"/>
              </a:ext>
            </a:extLst>
          </p:cNvPr>
          <p:cNvSpPr>
            <a:spLocks xmlns:a="http://schemas.openxmlformats.org/drawingml/2006/main" noGrp="1"/>
          </p:cNvSpPr>
          <p:nvPr/>
        </p:nvSpPr>
        <p:spPr>
          <a:xfrm xmlns:a="http://schemas.openxmlformats.org/drawingml/2006/main">
            <a:off x="504825" y="3061335"/>
            <a:ext cx="31161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2</a:t>
            </a:r>
          </a:p>
        </p:txBody>
      </p:sp>
      <p:sp>
        <p:nvSpPr>
          <p:cNvPr id="35" name="">
            <a:extLst xmlns:a="http://schemas.openxmlformats.org/drawingml/2006/main">
              <a:ext uri="{FF2B5EF4-FFF2-40B4-BE49-F238E27FC236}">
                <a16:creationId xmlns:a16="http://schemas.microsoft.com/office/drawing/2014/main" id="{FB65A373-0063-4A68-8322-36F8BA6332AD}"/>
              </a:ext>
            </a:extLst>
          </p:cNvPr>
          <p:cNvSpPr>
            <a:spLocks xmlns:a="http://schemas.openxmlformats.org/drawingml/2006/main" noGrp="1"/>
          </p:cNvSpPr>
          <p:nvPr/>
        </p:nvSpPr>
        <p:spPr>
          <a:xfrm xmlns:a="http://schemas.openxmlformats.org/drawingml/2006/main">
            <a:off x="864060" y="3032760"/>
            <a:ext cx="2288586"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05486F48-FD3E-41B0-9851-B685CD2BB1B2}"/>
              </a:ext>
            </a:extLst>
          </p:cNvPr>
          <p:cNvSpPr>
            <a:spLocks xmlns:a="http://schemas.openxmlformats.org/drawingml/2006/main" noGrp="1"/>
          </p:cNvSpPr>
          <p:nvPr/>
        </p:nvSpPr>
        <p:spPr>
          <a:xfrm xmlns:a="http://schemas.openxmlformats.org/drawingml/2006/main">
            <a:off x="911685" y="306133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细化迭代 1（Elaboration）/ 构造（Construction）</a:t>
            </a:r>
          </a:p>
        </p:txBody>
      </p:sp>
      <p:sp>
        <p:nvSpPr>
          <p:cNvPr id="37" name="">
            <a:extLst xmlns:a="http://schemas.openxmlformats.org/drawingml/2006/main">
              <a:ext uri="{FF2B5EF4-FFF2-40B4-BE49-F238E27FC236}">
                <a16:creationId xmlns:a16="http://schemas.microsoft.com/office/drawing/2014/main" id="{9169C8B6-DF27-46E8-BD35-12B80F7CEC12}"/>
              </a:ext>
            </a:extLst>
          </p:cNvPr>
          <p:cNvSpPr>
            <a:spLocks xmlns:a="http://schemas.openxmlformats.org/drawingml/2006/main" noGrp="1"/>
          </p:cNvSpPr>
          <p:nvPr/>
        </p:nvSpPr>
        <p:spPr>
          <a:xfrm xmlns:a="http://schemas.openxmlformats.org/drawingml/2006/main">
            <a:off x="3152646" y="3032760"/>
            <a:ext cx="2288586"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C98EC052-0FD1-4E57-989F-C4859328603D}"/>
              </a:ext>
            </a:extLst>
          </p:cNvPr>
          <p:cNvSpPr>
            <a:spLocks xmlns:a="http://schemas.openxmlformats.org/drawingml/2006/main" noGrp="1"/>
          </p:cNvSpPr>
          <p:nvPr/>
        </p:nvSpPr>
        <p:spPr>
          <a:xfrm xmlns:a="http://schemas.openxmlformats.org/drawingml/2006/main">
            <a:off x="3200271" y="306133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用例图 1、用例实现</a:t>
            </a:r>
          </a:p>
        </p:txBody>
      </p:sp>
      <p:sp>
        <p:nvSpPr>
          <p:cNvPr id="39" name="">
            <a:extLst xmlns:a="http://schemas.openxmlformats.org/drawingml/2006/main">
              <a:ext uri="{FF2B5EF4-FFF2-40B4-BE49-F238E27FC236}">
                <a16:creationId xmlns:a16="http://schemas.microsoft.com/office/drawing/2014/main" id="{1A35E8FE-ECC1-4E7C-AE4E-008386071A77}"/>
              </a:ext>
            </a:extLst>
          </p:cNvPr>
          <p:cNvSpPr>
            <a:spLocks xmlns:a="http://schemas.openxmlformats.org/drawingml/2006/main" noGrp="1"/>
          </p:cNvSpPr>
          <p:nvPr/>
        </p:nvSpPr>
        <p:spPr>
          <a:xfrm xmlns:a="http://schemas.openxmlformats.org/drawingml/2006/main">
            <a:off x="5441232" y="3032760"/>
            <a:ext cx="2288586"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C1012C7C-0297-4969-B720-A668CBDBCFA8}"/>
              </a:ext>
            </a:extLst>
          </p:cNvPr>
          <p:cNvSpPr>
            <a:spLocks xmlns:a="http://schemas.openxmlformats.org/drawingml/2006/main" noGrp="1"/>
          </p:cNvSpPr>
          <p:nvPr/>
        </p:nvSpPr>
        <p:spPr>
          <a:xfrm xmlns:a="http://schemas.openxmlformats.org/drawingml/2006/main">
            <a:off x="5488857" y="306133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Domain Models、System Sequence Diagrams、Operation Contracts、UML Package Diagrams、UML Interaction Diagrams、UML Class Diagrams</a:t>
            </a:r>
          </a:p>
        </p:txBody>
      </p:sp>
      <p:sp>
        <p:nvSpPr>
          <p:cNvPr id="41" name="">
            <a:extLst xmlns:a="http://schemas.openxmlformats.org/drawingml/2006/main">
              <a:ext uri="{FF2B5EF4-FFF2-40B4-BE49-F238E27FC236}">
                <a16:creationId xmlns:a16="http://schemas.microsoft.com/office/drawing/2014/main" id="{193D381F-6708-4773-876A-B4A4BE60BA25}"/>
              </a:ext>
            </a:extLst>
          </p:cNvPr>
          <p:cNvSpPr>
            <a:spLocks xmlns:a="http://schemas.openxmlformats.org/drawingml/2006/main" noGrp="1"/>
          </p:cNvSpPr>
          <p:nvPr/>
        </p:nvSpPr>
        <p:spPr>
          <a:xfrm xmlns:a="http://schemas.openxmlformats.org/drawingml/2006/main">
            <a:off x="7729818" y="3032760"/>
            <a:ext cx="2237729"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86B8B1C4-2612-4621-8348-DFA1BB457F17}"/>
              </a:ext>
            </a:extLst>
          </p:cNvPr>
          <p:cNvSpPr>
            <a:spLocks xmlns:a="http://schemas.openxmlformats.org/drawingml/2006/main" noGrp="1"/>
          </p:cNvSpPr>
          <p:nvPr/>
        </p:nvSpPr>
        <p:spPr>
          <a:xfrm xmlns:a="http://schemas.openxmlformats.org/drawingml/2006/main">
            <a:off x="7777443" y="3061335"/>
            <a:ext cx="2142479"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第 2 周周五晚</a:t>
            </a:r>
          </a:p>
        </p:txBody>
      </p:sp>
      <p:sp>
        <p:nvSpPr>
          <p:cNvPr id="43" name="">
            <a:extLst xmlns:a="http://schemas.openxmlformats.org/drawingml/2006/main">
              <a:ext uri="{FF2B5EF4-FFF2-40B4-BE49-F238E27FC236}">
                <a16:creationId xmlns:a16="http://schemas.microsoft.com/office/drawing/2014/main" id="{16866E4F-EC20-40E8-8C3C-259BFC35D080}"/>
              </a:ext>
            </a:extLst>
          </p:cNvPr>
          <p:cNvSpPr>
            <a:spLocks xmlns:a="http://schemas.openxmlformats.org/drawingml/2006/main" noGrp="1"/>
          </p:cNvSpPr>
          <p:nvPr/>
        </p:nvSpPr>
        <p:spPr>
          <a:xfrm xmlns:a="http://schemas.openxmlformats.org/drawingml/2006/main">
            <a:off x="9967546" y="3032760"/>
            <a:ext cx="1729154"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D965A9C7-904C-4220-87C4-0834432365AD}"/>
              </a:ext>
            </a:extLst>
          </p:cNvPr>
          <p:cNvSpPr>
            <a:spLocks xmlns:a="http://schemas.openxmlformats.org/drawingml/2006/main" noGrp="1"/>
          </p:cNvSpPr>
          <p:nvPr/>
        </p:nvSpPr>
        <p:spPr>
          <a:xfrm xmlns:a="http://schemas.openxmlformats.org/drawingml/2006/main">
            <a:off x="10015171" y="3061335"/>
            <a:ext cx="1633904"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第 12 周</a:t>
            </a:r>
          </a:p>
        </p:txBody>
      </p:sp>
      <p:sp>
        <p:nvSpPr>
          <p:cNvPr id="45" name="">
            <a:extLst xmlns:a="http://schemas.openxmlformats.org/drawingml/2006/main">
              <a:ext uri="{FF2B5EF4-FFF2-40B4-BE49-F238E27FC236}">
                <a16:creationId xmlns:a16="http://schemas.microsoft.com/office/drawing/2014/main" id="{EDEF44B5-2D61-4DC2-9D15-C1D742DEA708}"/>
              </a:ext>
            </a:extLst>
          </p:cNvPr>
          <p:cNvSpPr>
            <a:spLocks xmlns:a="http://schemas.openxmlformats.org/drawingml/2006/main" noGrp="1"/>
          </p:cNvSpPr>
          <p:nvPr/>
        </p:nvSpPr>
        <p:spPr>
          <a:xfrm xmlns:a="http://schemas.openxmlformats.org/drawingml/2006/main">
            <a:off x="457200" y="3760470"/>
            <a:ext cx="40686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2BDCD973-729E-46AF-91DA-41150D88ECD3}"/>
              </a:ext>
            </a:extLst>
          </p:cNvPr>
          <p:cNvSpPr>
            <a:spLocks xmlns:a="http://schemas.openxmlformats.org/drawingml/2006/main" noGrp="1"/>
          </p:cNvSpPr>
          <p:nvPr/>
        </p:nvSpPr>
        <p:spPr>
          <a:xfrm xmlns:a="http://schemas.openxmlformats.org/drawingml/2006/main">
            <a:off x="504825" y="3789045"/>
            <a:ext cx="31161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3</a:t>
            </a:r>
          </a:p>
        </p:txBody>
      </p:sp>
      <p:sp>
        <p:nvSpPr>
          <p:cNvPr id="47" name="">
            <a:extLst xmlns:a="http://schemas.openxmlformats.org/drawingml/2006/main">
              <a:ext uri="{FF2B5EF4-FFF2-40B4-BE49-F238E27FC236}">
                <a16:creationId xmlns:a16="http://schemas.microsoft.com/office/drawing/2014/main" id="{1871A8C0-39D8-4AC0-8EE2-841185778F46}"/>
              </a:ext>
            </a:extLst>
          </p:cNvPr>
          <p:cNvSpPr>
            <a:spLocks xmlns:a="http://schemas.openxmlformats.org/drawingml/2006/main" noGrp="1"/>
          </p:cNvSpPr>
          <p:nvPr/>
        </p:nvSpPr>
        <p:spPr>
          <a:xfrm xmlns:a="http://schemas.openxmlformats.org/drawingml/2006/main">
            <a:off x="864060" y="3760470"/>
            <a:ext cx="228858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B545E2B1-D763-432A-8BB3-D99F9273C9C8}"/>
              </a:ext>
            </a:extLst>
          </p:cNvPr>
          <p:cNvSpPr>
            <a:spLocks xmlns:a="http://schemas.openxmlformats.org/drawingml/2006/main" noGrp="1"/>
          </p:cNvSpPr>
          <p:nvPr/>
        </p:nvSpPr>
        <p:spPr>
          <a:xfrm xmlns:a="http://schemas.openxmlformats.org/drawingml/2006/main">
            <a:off x="911685" y="378904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细化迭代 2（Elaboration）/ 构造（Construction）</a:t>
            </a:r>
          </a:p>
        </p:txBody>
      </p:sp>
      <p:sp>
        <p:nvSpPr>
          <p:cNvPr id="49" name="">
            <a:extLst xmlns:a="http://schemas.openxmlformats.org/drawingml/2006/main">
              <a:ext uri="{FF2B5EF4-FFF2-40B4-BE49-F238E27FC236}">
                <a16:creationId xmlns:a16="http://schemas.microsoft.com/office/drawing/2014/main" id="{F1E84D54-5E6B-4756-A911-813BFE44C750}"/>
              </a:ext>
            </a:extLst>
          </p:cNvPr>
          <p:cNvSpPr>
            <a:spLocks xmlns:a="http://schemas.openxmlformats.org/drawingml/2006/main" noGrp="1"/>
          </p:cNvSpPr>
          <p:nvPr/>
        </p:nvSpPr>
        <p:spPr>
          <a:xfrm xmlns:a="http://schemas.openxmlformats.org/drawingml/2006/main">
            <a:off x="3152646" y="3760470"/>
            <a:ext cx="228858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C0C72CC8-0F85-466A-A878-4EDCEFE8CE88}"/>
              </a:ext>
            </a:extLst>
          </p:cNvPr>
          <p:cNvSpPr>
            <a:spLocks xmlns:a="http://schemas.openxmlformats.org/drawingml/2006/main" noGrp="1"/>
          </p:cNvSpPr>
          <p:nvPr/>
        </p:nvSpPr>
        <p:spPr>
          <a:xfrm xmlns:a="http://schemas.openxmlformats.org/drawingml/2006/main">
            <a:off x="3200271" y="378904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用例图 2、用例实现、出牌规则模块、蓝牙/WiFi 通信模块</a:t>
            </a:r>
          </a:p>
        </p:txBody>
      </p:sp>
      <p:sp>
        <p:nvSpPr>
          <p:cNvPr id="51" name="">
            <a:extLst xmlns:a="http://schemas.openxmlformats.org/drawingml/2006/main">
              <a:ext uri="{FF2B5EF4-FFF2-40B4-BE49-F238E27FC236}">
                <a16:creationId xmlns:a16="http://schemas.microsoft.com/office/drawing/2014/main" id="{8ADD7DDB-B02C-4B61-8FCD-859D8C58E266}"/>
              </a:ext>
            </a:extLst>
          </p:cNvPr>
          <p:cNvSpPr>
            <a:spLocks xmlns:a="http://schemas.openxmlformats.org/drawingml/2006/main" noGrp="1"/>
          </p:cNvSpPr>
          <p:nvPr/>
        </p:nvSpPr>
        <p:spPr>
          <a:xfrm xmlns:a="http://schemas.openxmlformats.org/drawingml/2006/main">
            <a:off x="5441232" y="3760470"/>
            <a:ext cx="228858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C9C87AD3-B42B-4844-A5A3-1D6CB616D549}"/>
              </a:ext>
            </a:extLst>
          </p:cNvPr>
          <p:cNvSpPr>
            <a:spLocks xmlns:a="http://schemas.openxmlformats.org/drawingml/2006/main" noGrp="1"/>
          </p:cNvSpPr>
          <p:nvPr/>
        </p:nvSpPr>
        <p:spPr>
          <a:xfrm xmlns:a="http://schemas.openxmlformats.org/drawingml/2006/main">
            <a:off x="5488857" y="378904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Applying GoF Design Patterns</a:t>
            </a:r>
          </a:p>
        </p:txBody>
      </p:sp>
      <p:sp>
        <p:nvSpPr>
          <p:cNvPr id="53" name="">
            <a:extLst xmlns:a="http://schemas.openxmlformats.org/drawingml/2006/main">
              <a:ext uri="{FF2B5EF4-FFF2-40B4-BE49-F238E27FC236}">
                <a16:creationId xmlns:a16="http://schemas.microsoft.com/office/drawing/2014/main" id="{D99A12AB-F3FD-44C3-8D65-774C7F839883}"/>
              </a:ext>
            </a:extLst>
          </p:cNvPr>
          <p:cNvSpPr>
            <a:spLocks xmlns:a="http://schemas.openxmlformats.org/drawingml/2006/main" noGrp="1"/>
          </p:cNvSpPr>
          <p:nvPr/>
        </p:nvSpPr>
        <p:spPr>
          <a:xfrm xmlns:a="http://schemas.openxmlformats.org/drawingml/2006/main">
            <a:off x="7729818" y="3760470"/>
            <a:ext cx="2237729"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B129A17F-48E2-4658-BFA6-9D12286B2154}"/>
              </a:ext>
            </a:extLst>
          </p:cNvPr>
          <p:cNvSpPr>
            <a:spLocks xmlns:a="http://schemas.openxmlformats.org/drawingml/2006/main" noGrp="1"/>
          </p:cNvSpPr>
          <p:nvPr/>
        </p:nvSpPr>
        <p:spPr>
          <a:xfrm xmlns:a="http://schemas.openxmlformats.org/drawingml/2006/main">
            <a:off x="7777443" y="3789045"/>
            <a:ext cx="2142479"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第 3 周周五晚</a:t>
            </a:r>
          </a:p>
        </p:txBody>
      </p:sp>
      <p:sp>
        <p:nvSpPr>
          <p:cNvPr id="55" name="">
            <a:extLst xmlns:a="http://schemas.openxmlformats.org/drawingml/2006/main">
              <a:ext uri="{FF2B5EF4-FFF2-40B4-BE49-F238E27FC236}">
                <a16:creationId xmlns:a16="http://schemas.microsoft.com/office/drawing/2014/main" id="{F17BEE61-187D-4893-A26A-1F2E05C344E1}"/>
              </a:ext>
            </a:extLst>
          </p:cNvPr>
          <p:cNvSpPr>
            <a:spLocks xmlns:a="http://schemas.openxmlformats.org/drawingml/2006/main" noGrp="1"/>
          </p:cNvSpPr>
          <p:nvPr/>
        </p:nvSpPr>
        <p:spPr>
          <a:xfrm xmlns:a="http://schemas.openxmlformats.org/drawingml/2006/main">
            <a:off x="9967546" y="3760470"/>
            <a:ext cx="1729154"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ADF26011-D014-4B2C-AD41-01A4DC87573F}"/>
              </a:ext>
            </a:extLst>
          </p:cNvPr>
          <p:cNvSpPr>
            <a:spLocks xmlns:a="http://schemas.openxmlformats.org/drawingml/2006/main" noGrp="1"/>
          </p:cNvSpPr>
          <p:nvPr/>
        </p:nvSpPr>
        <p:spPr>
          <a:xfrm xmlns:a="http://schemas.openxmlformats.org/drawingml/2006/main">
            <a:off x="10015171" y="3789045"/>
            <a:ext cx="1633904"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第 13 周</a:t>
            </a:r>
          </a:p>
        </p:txBody>
      </p:sp>
      <p:sp>
        <p:nvSpPr>
          <p:cNvPr id="57" name="">
            <a:extLst xmlns:a="http://schemas.openxmlformats.org/drawingml/2006/main">
              <a:ext uri="{FF2B5EF4-FFF2-40B4-BE49-F238E27FC236}">
                <a16:creationId xmlns:a16="http://schemas.microsoft.com/office/drawing/2014/main" id="{2E5BA7F8-701C-4E41-A2F1-F07C6C2F3E1D}"/>
              </a:ext>
            </a:extLst>
          </p:cNvPr>
          <p:cNvSpPr>
            <a:spLocks xmlns:a="http://schemas.openxmlformats.org/drawingml/2006/main" noGrp="1"/>
          </p:cNvSpPr>
          <p:nvPr/>
        </p:nvSpPr>
        <p:spPr>
          <a:xfrm xmlns:a="http://schemas.openxmlformats.org/drawingml/2006/main">
            <a:off x="457200" y="4488180"/>
            <a:ext cx="40686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8" name="">
            <a:extLst xmlns:a="http://schemas.openxmlformats.org/drawingml/2006/main">
              <a:ext uri="{FF2B5EF4-FFF2-40B4-BE49-F238E27FC236}">
                <a16:creationId xmlns:a16="http://schemas.microsoft.com/office/drawing/2014/main" id="{EDE31AF6-0355-4505-A2D3-D271DC012047}"/>
              </a:ext>
            </a:extLst>
          </p:cNvPr>
          <p:cNvSpPr>
            <a:spLocks xmlns:a="http://schemas.openxmlformats.org/drawingml/2006/main" noGrp="1"/>
          </p:cNvSpPr>
          <p:nvPr/>
        </p:nvSpPr>
        <p:spPr>
          <a:xfrm xmlns:a="http://schemas.openxmlformats.org/drawingml/2006/main">
            <a:off x="504825" y="4516755"/>
            <a:ext cx="31161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4</a:t>
            </a:r>
          </a:p>
        </p:txBody>
      </p:sp>
      <p:sp>
        <p:nvSpPr>
          <p:cNvPr id="59" name="">
            <a:extLst xmlns:a="http://schemas.openxmlformats.org/drawingml/2006/main">
              <a:ext uri="{FF2B5EF4-FFF2-40B4-BE49-F238E27FC236}">
                <a16:creationId xmlns:a16="http://schemas.microsoft.com/office/drawing/2014/main" id="{355BF711-C7A2-407B-974B-F192BD6EA5D5}"/>
              </a:ext>
            </a:extLst>
          </p:cNvPr>
          <p:cNvSpPr>
            <a:spLocks xmlns:a="http://schemas.openxmlformats.org/drawingml/2006/main" noGrp="1"/>
          </p:cNvSpPr>
          <p:nvPr/>
        </p:nvSpPr>
        <p:spPr>
          <a:xfrm xmlns:a="http://schemas.openxmlformats.org/drawingml/2006/main">
            <a:off x="864060" y="4488180"/>
            <a:ext cx="2288586"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0" name="">
            <a:extLst xmlns:a="http://schemas.openxmlformats.org/drawingml/2006/main">
              <a:ext uri="{FF2B5EF4-FFF2-40B4-BE49-F238E27FC236}">
                <a16:creationId xmlns:a16="http://schemas.microsoft.com/office/drawing/2014/main" id="{468238E3-58C0-47CD-AC30-7E2593D1558A}"/>
              </a:ext>
            </a:extLst>
          </p:cNvPr>
          <p:cNvSpPr>
            <a:spLocks xmlns:a="http://schemas.openxmlformats.org/drawingml/2006/main" noGrp="1"/>
          </p:cNvSpPr>
          <p:nvPr/>
        </p:nvSpPr>
        <p:spPr>
          <a:xfrm xmlns:a="http://schemas.openxmlformats.org/drawingml/2006/main">
            <a:off x="911685" y="451675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细化迭代 3（Elaboration）/ 构造（Construction）</a:t>
            </a:r>
          </a:p>
        </p:txBody>
      </p:sp>
      <p:sp>
        <p:nvSpPr>
          <p:cNvPr id="61" name="">
            <a:extLst xmlns:a="http://schemas.openxmlformats.org/drawingml/2006/main">
              <a:ext uri="{FF2B5EF4-FFF2-40B4-BE49-F238E27FC236}">
                <a16:creationId xmlns:a16="http://schemas.microsoft.com/office/drawing/2014/main" id="{69191D5F-F724-4667-AAC8-FC01C77C2397}"/>
              </a:ext>
            </a:extLst>
          </p:cNvPr>
          <p:cNvSpPr>
            <a:spLocks xmlns:a="http://schemas.openxmlformats.org/drawingml/2006/main" noGrp="1"/>
          </p:cNvSpPr>
          <p:nvPr/>
        </p:nvSpPr>
        <p:spPr>
          <a:xfrm xmlns:a="http://schemas.openxmlformats.org/drawingml/2006/main">
            <a:off x="3152646" y="4488180"/>
            <a:ext cx="2288586"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2" name="">
            <a:extLst xmlns:a="http://schemas.openxmlformats.org/drawingml/2006/main">
              <a:ext uri="{FF2B5EF4-FFF2-40B4-BE49-F238E27FC236}">
                <a16:creationId xmlns:a16="http://schemas.microsoft.com/office/drawing/2014/main" id="{7DBC1DFA-EEBC-4C88-8D0E-82BD7DA1E7D2}"/>
              </a:ext>
            </a:extLst>
          </p:cNvPr>
          <p:cNvSpPr>
            <a:spLocks xmlns:a="http://schemas.openxmlformats.org/drawingml/2006/main" noGrp="1"/>
          </p:cNvSpPr>
          <p:nvPr/>
        </p:nvSpPr>
        <p:spPr>
          <a:xfrm xmlns:a="http://schemas.openxmlformats.org/drawingml/2006/main">
            <a:off x="3200271" y="451675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用例图 3、用例实现、AI 算法模块</a:t>
            </a:r>
          </a:p>
        </p:txBody>
      </p:sp>
      <p:sp>
        <p:nvSpPr>
          <p:cNvPr id="63" name="">
            <a:extLst xmlns:a="http://schemas.openxmlformats.org/drawingml/2006/main">
              <a:ext uri="{FF2B5EF4-FFF2-40B4-BE49-F238E27FC236}">
                <a16:creationId xmlns:a16="http://schemas.microsoft.com/office/drawing/2014/main" id="{B588263B-3CFA-43D8-B9B6-2649654F2E67}"/>
              </a:ext>
            </a:extLst>
          </p:cNvPr>
          <p:cNvSpPr>
            <a:spLocks xmlns:a="http://schemas.openxmlformats.org/drawingml/2006/main" noGrp="1"/>
          </p:cNvSpPr>
          <p:nvPr/>
        </p:nvSpPr>
        <p:spPr>
          <a:xfrm xmlns:a="http://schemas.openxmlformats.org/drawingml/2006/main">
            <a:off x="5441232" y="4488180"/>
            <a:ext cx="2288586"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4" name="">
            <a:extLst xmlns:a="http://schemas.openxmlformats.org/drawingml/2006/main">
              <a:ext uri="{FF2B5EF4-FFF2-40B4-BE49-F238E27FC236}">
                <a16:creationId xmlns:a16="http://schemas.microsoft.com/office/drawing/2014/main" id="{4897B93A-FD41-4846-8999-483DB2DCE1F3}"/>
              </a:ext>
            </a:extLst>
          </p:cNvPr>
          <p:cNvSpPr>
            <a:spLocks xmlns:a="http://schemas.openxmlformats.org/drawingml/2006/main" noGrp="1"/>
          </p:cNvSpPr>
          <p:nvPr/>
        </p:nvSpPr>
        <p:spPr>
          <a:xfrm xmlns:a="http://schemas.openxmlformats.org/drawingml/2006/main">
            <a:off x="5488857" y="451675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UML State Machine Diagrams and Modeling、refine the above models</a:t>
            </a:r>
          </a:p>
        </p:txBody>
      </p:sp>
      <p:sp>
        <p:nvSpPr>
          <p:cNvPr id="65" name="">
            <a:extLst xmlns:a="http://schemas.openxmlformats.org/drawingml/2006/main">
              <a:ext uri="{FF2B5EF4-FFF2-40B4-BE49-F238E27FC236}">
                <a16:creationId xmlns:a16="http://schemas.microsoft.com/office/drawing/2014/main" id="{C01E0E66-D05C-49A9-9EDD-46813A2836AA}"/>
              </a:ext>
            </a:extLst>
          </p:cNvPr>
          <p:cNvSpPr>
            <a:spLocks xmlns:a="http://schemas.openxmlformats.org/drawingml/2006/main" noGrp="1"/>
          </p:cNvSpPr>
          <p:nvPr/>
        </p:nvSpPr>
        <p:spPr>
          <a:xfrm xmlns:a="http://schemas.openxmlformats.org/drawingml/2006/main">
            <a:off x="7729818" y="4488180"/>
            <a:ext cx="2237729"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6" name="">
            <a:extLst xmlns:a="http://schemas.openxmlformats.org/drawingml/2006/main">
              <a:ext uri="{FF2B5EF4-FFF2-40B4-BE49-F238E27FC236}">
                <a16:creationId xmlns:a16="http://schemas.microsoft.com/office/drawing/2014/main" id="{AF7A9547-B712-4A5D-B550-5DF84EA87DA2}"/>
              </a:ext>
            </a:extLst>
          </p:cNvPr>
          <p:cNvSpPr>
            <a:spLocks xmlns:a="http://schemas.openxmlformats.org/drawingml/2006/main" noGrp="1"/>
          </p:cNvSpPr>
          <p:nvPr/>
        </p:nvSpPr>
        <p:spPr>
          <a:xfrm xmlns:a="http://schemas.openxmlformats.org/drawingml/2006/main">
            <a:off x="7777443" y="4516755"/>
            <a:ext cx="2142479"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第 4 周周五晚</a:t>
            </a:r>
          </a:p>
        </p:txBody>
      </p:sp>
      <p:sp>
        <p:nvSpPr>
          <p:cNvPr id="67" name="">
            <a:extLst xmlns:a="http://schemas.openxmlformats.org/drawingml/2006/main">
              <a:ext uri="{FF2B5EF4-FFF2-40B4-BE49-F238E27FC236}">
                <a16:creationId xmlns:a16="http://schemas.microsoft.com/office/drawing/2014/main" id="{854D792C-36B3-4E65-A9B0-19589837EE34}"/>
              </a:ext>
            </a:extLst>
          </p:cNvPr>
          <p:cNvSpPr>
            <a:spLocks xmlns:a="http://schemas.openxmlformats.org/drawingml/2006/main" noGrp="1"/>
          </p:cNvSpPr>
          <p:nvPr/>
        </p:nvSpPr>
        <p:spPr>
          <a:xfrm xmlns:a="http://schemas.openxmlformats.org/drawingml/2006/main">
            <a:off x="9967546" y="4488180"/>
            <a:ext cx="1729154"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8" name="">
            <a:extLst xmlns:a="http://schemas.openxmlformats.org/drawingml/2006/main">
              <a:ext uri="{FF2B5EF4-FFF2-40B4-BE49-F238E27FC236}">
                <a16:creationId xmlns:a16="http://schemas.microsoft.com/office/drawing/2014/main" id="{5F344692-0F34-4125-B185-59AEFD4E9442}"/>
              </a:ext>
            </a:extLst>
          </p:cNvPr>
          <p:cNvSpPr>
            <a:spLocks xmlns:a="http://schemas.openxmlformats.org/drawingml/2006/main" noGrp="1"/>
          </p:cNvSpPr>
          <p:nvPr/>
        </p:nvSpPr>
        <p:spPr>
          <a:xfrm xmlns:a="http://schemas.openxmlformats.org/drawingml/2006/main">
            <a:off x="10015171" y="4516755"/>
            <a:ext cx="1633904"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第 14 周</a:t>
            </a:r>
          </a:p>
        </p:txBody>
      </p:sp>
      <p:sp>
        <p:nvSpPr>
          <p:cNvPr id="69" name="">
            <a:extLst xmlns:a="http://schemas.openxmlformats.org/drawingml/2006/main">
              <a:ext uri="{FF2B5EF4-FFF2-40B4-BE49-F238E27FC236}">
                <a16:creationId xmlns:a16="http://schemas.microsoft.com/office/drawing/2014/main" id="{5E7D7EF2-B129-46B1-BD62-EFA82273F566}"/>
              </a:ext>
            </a:extLst>
          </p:cNvPr>
          <p:cNvSpPr>
            <a:spLocks xmlns:a="http://schemas.openxmlformats.org/drawingml/2006/main" noGrp="1"/>
          </p:cNvSpPr>
          <p:nvPr/>
        </p:nvSpPr>
        <p:spPr>
          <a:xfrm xmlns:a="http://schemas.openxmlformats.org/drawingml/2006/main">
            <a:off x="457200" y="5215890"/>
            <a:ext cx="40686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70" name="">
            <a:extLst xmlns:a="http://schemas.openxmlformats.org/drawingml/2006/main">
              <a:ext uri="{FF2B5EF4-FFF2-40B4-BE49-F238E27FC236}">
                <a16:creationId xmlns:a16="http://schemas.microsoft.com/office/drawing/2014/main" id="{68A70B9C-2A7B-4AAB-B703-02F3E9C43307}"/>
              </a:ext>
            </a:extLst>
          </p:cNvPr>
          <p:cNvSpPr>
            <a:spLocks xmlns:a="http://schemas.openxmlformats.org/drawingml/2006/main" noGrp="1"/>
          </p:cNvSpPr>
          <p:nvPr/>
        </p:nvSpPr>
        <p:spPr>
          <a:xfrm xmlns:a="http://schemas.openxmlformats.org/drawingml/2006/main">
            <a:off x="504825" y="5244465"/>
            <a:ext cx="31161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5</a:t>
            </a:r>
          </a:p>
        </p:txBody>
      </p:sp>
      <p:sp>
        <p:nvSpPr>
          <p:cNvPr id="71" name="">
            <a:extLst xmlns:a="http://schemas.openxmlformats.org/drawingml/2006/main">
              <a:ext uri="{FF2B5EF4-FFF2-40B4-BE49-F238E27FC236}">
                <a16:creationId xmlns:a16="http://schemas.microsoft.com/office/drawing/2014/main" id="{543E26C9-11A1-4E28-9ECB-C6908CBA18FB}"/>
              </a:ext>
            </a:extLst>
          </p:cNvPr>
          <p:cNvSpPr>
            <a:spLocks xmlns:a="http://schemas.openxmlformats.org/drawingml/2006/main" noGrp="1"/>
          </p:cNvSpPr>
          <p:nvPr/>
        </p:nvSpPr>
        <p:spPr>
          <a:xfrm xmlns:a="http://schemas.openxmlformats.org/drawingml/2006/main">
            <a:off x="864060" y="5215890"/>
            <a:ext cx="228858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72" name="">
            <a:extLst xmlns:a="http://schemas.openxmlformats.org/drawingml/2006/main">
              <a:ext uri="{FF2B5EF4-FFF2-40B4-BE49-F238E27FC236}">
                <a16:creationId xmlns:a16="http://schemas.microsoft.com/office/drawing/2014/main" id="{3818348A-361F-4CE8-9C11-271C362B1228}"/>
              </a:ext>
            </a:extLst>
          </p:cNvPr>
          <p:cNvSpPr>
            <a:spLocks xmlns:a="http://schemas.openxmlformats.org/drawingml/2006/main" noGrp="1"/>
          </p:cNvSpPr>
          <p:nvPr/>
        </p:nvSpPr>
        <p:spPr>
          <a:xfrm xmlns:a="http://schemas.openxmlformats.org/drawingml/2006/main">
            <a:off x="911685" y="524446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交付（Transition）</a:t>
            </a:r>
          </a:p>
        </p:txBody>
      </p:sp>
      <p:sp>
        <p:nvSpPr>
          <p:cNvPr id="73" name="">
            <a:extLst xmlns:a="http://schemas.openxmlformats.org/drawingml/2006/main">
              <a:ext uri="{FF2B5EF4-FFF2-40B4-BE49-F238E27FC236}">
                <a16:creationId xmlns:a16="http://schemas.microsoft.com/office/drawing/2014/main" id="{B4B2AF4D-BFE6-4501-BEB9-AC3B0325CC45}"/>
              </a:ext>
            </a:extLst>
          </p:cNvPr>
          <p:cNvSpPr>
            <a:spLocks xmlns:a="http://schemas.openxmlformats.org/drawingml/2006/main" noGrp="1"/>
          </p:cNvSpPr>
          <p:nvPr/>
        </p:nvSpPr>
        <p:spPr>
          <a:xfrm xmlns:a="http://schemas.openxmlformats.org/drawingml/2006/main">
            <a:off x="3152646" y="5215890"/>
            <a:ext cx="228858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74" name="">
            <a:extLst xmlns:a="http://schemas.openxmlformats.org/drawingml/2006/main">
              <a:ext uri="{FF2B5EF4-FFF2-40B4-BE49-F238E27FC236}">
                <a16:creationId xmlns:a16="http://schemas.microsoft.com/office/drawing/2014/main" id="{264875C6-2A7B-4158-9E26-99636204853F}"/>
              </a:ext>
            </a:extLst>
          </p:cNvPr>
          <p:cNvSpPr>
            <a:spLocks xmlns:a="http://schemas.openxmlformats.org/drawingml/2006/main" noGrp="1"/>
          </p:cNvSpPr>
          <p:nvPr/>
        </p:nvSpPr>
        <p:spPr>
          <a:xfrm xmlns:a="http://schemas.openxmlformats.org/drawingml/2006/main">
            <a:off x="3200271" y="524446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系统集成</a:t>
            </a:r>
          </a:p>
        </p:txBody>
      </p:sp>
      <p:sp>
        <p:nvSpPr>
          <p:cNvPr id="75" name="">
            <a:extLst xmlns:a="http://schemas.openxmlformats.org/drawingml/2006/main">
              <a:ext uri="{FF2B5EF4-FFF2-40B4-BE49-F238E27FC236}">
                <a16:creationId xmlns:a16="http://schemas.microsoft.com/office/drawing/2014/main" id="{0FBC5163-819A-4675-8657-B4A258B84B54}"/>
              </a:ext>
            </a:extLst>
          </p:cNvPr>
          <p:cNvSpPr>
            <a:spLocks xmlns:a="http://schemas.openxmlformats.org/drawingml/2006/main" noGrp="1"/>
          </p:cNvSpPr>
          <p:nvPr/>
        </p:nvSpPr>
        <p:spPr>
          <a:xfrm xmlns:a="http://schemas.openxmlformats.org/drawingml/2006/main">
            <a:off x="5441232" y="5215890"/>
            <a:ext cx="228858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76" name="">
            <a:extLst xmlns:a="http://schemas.openxmlformats.org/drawingml/2006/main">
              <a:ext uri="{FF2B5EF4-FFF2-40B4-BE49-F238E27FC236}">
                <a16:creationId xmlns:a16="http://schemas.microsoft.com/office/drawing/2014/main" id="{CDFCBE44-9087-41BE-9E4E-F63027349E1A}"/>
              </a:ext>
            </a:extLst>
          </p:cNvPr>
          <p:cNvSpPr>
            <a:spLocks xmlns:a="http://schemas.openxmlformats.org/drawingml/2006/main" noGrp="1"/>
          </p:cNvSpPr>
          <p:nvPr/>
        </p:nvSpPr>
        <p:spPr>
          <a:xfrm xmlns:a="http://schemas.openxmlformats.org/drawingml/2006/main">
            <a:off x="5488857" y="5244465"/>
            <a:ext cx="219333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最后资料：文档和集成代码</a:t>
            </a:r>
          </a:p>
        </p:txBody>
      </p:sp>
      <p:sp>
        <p:nvSpPr>
          <p:cNvPr id="77" name="">
            <a:extLst xmlns:a="http://schemas.openxmlformats.org/drawingml/2006/main">
              <a:ext uri="{FF2B5EF4-FFF2-40B4-BE49-F238E27FC236}">
                <a16:creationId xmlns:a16="http://schemas.microsoft.com/office/drawing/2014/main" id="{9A3896BF-0E9D-46D2-BEAE-E5B6D3572C69}"/>
              </a:ext>
            </a:extLst>
          </p:cNvPr>
          <p:cNvSpPr>
            <a:spLocks xmlns:a="http://schemas.openxmlformats.org/drawingml/2006/main" noGrp="1"/>
          </p:cNvSpPr>
          <p:nvPr/>
        </p:nvSpPr>
        <p:spPr>
          <a:xfrm xmlns:a="http://schemas.openxmlformats.org/drawingml/2006/main">
            <a:off x="7729818" y="5215890"/>
            <a:ext cx="2237729"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78" name="">
            <a:extLst xmlns:a="http://schemas.openxmlformats.org/drawingml/2006/main">
              <a:ext uri="{FF2B5EF4-FFF2-40B4-BE49-F238E27FC236}">
                <a16:creationId xmlns:a16="http://schemas.microsoft.com/office/drawing/2014/main" id="{98206208-2B12-4791-8E71-6CC16C3B1B41}"/>
              </a:ext>
            </a:extLst>
          </p:cNvPr>
          <p:cNvSpPr>
            <a:spLocks xmlns:a="http://schemas.openxmlformats.org/drawingml/2006/main" noGrp="1"/>
          </p:cNvSpPr>
          <p:nvPr/>
        </p:nvSpPr>
        <p:spPr>
          <a:xfrm xmlns:a="http://schemas.openxmlformats.org/drawingml/2006/main">
            <a:off x="7777443" y="5244465"/>
            <a:ext cx="2142479"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第 5 周周五晚</a:t>
            </a:r>
          </a:p>
        </p:txBody>
      </p:sp>
      <p:sp>
        <p:nvSpPr>
          <p:cNvPr id="79" name="">
            <a:extLst xmlns:a="http://schemas.openxmlformats.org/drawingml/2006/main">
              <a:ext uri="{FF2B5EF4-FFF2-40B4-BE49-F238E27FC236}">
                <a16:creationId xmlns:a16="http://schemas.microsoft.com/office/drawing/2014/main" id="{430935FC-D32D-4823-835B-5FA616ACE248}"/>
              </a:ext>
            </a:extLst>
          </p:cNvPr>
          <p:cNvSpPr>
            <a:spLocks xmlns:a="http://schemas.openxmlformats.org/drawingml/2006/main" noGrp="1"/>
          </p:cNvSpPr>
          <p:nvPr/>
        </p:nvSpPr>
        <p:spPr>
          <a:xfrm xmlns:a="http://schemas.openxmlformats.org/drawingml/2006/main">
            <a:off x="9967546" y="5215890"/>
            <a:ext cx="1729154"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80" name="">
            <a:extLst xmlns:a="http://schemas.openxmlformats.org/drawingml/2006/main">
              <a:ext uri="{FF2B5EF4-FFF2-40B4-BE49-F238E27FC236}">
                <a16:creationId xmlns:a16="http://schemas.microsoft.com/office/drawing/2014/main" id="{6424C65C-2EEB-4A96-B032-F7588051B442}"/>
              </a:ext>
            </a:extLst>
          </p:cNvPr>
          <p:cNvSpPr>
            <a:spLocks xmlns:a="http://schemas.openxmlformats.org/drawingml/2006/main" noGrp="1"/>
          </p:cNvSpPr>
          <p:nvPr/>
        </p:nvSpPr>
        <p:spPr>
          <a:xfrm xmlns:a="http://schemas.openxmlformats.org/drawingml/2006/main">
            <a:off x="10015171" y="5244465"/>
            <a:ext cx="1633904"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第 15 周</a:t>
            </a:r>
          </a:p>
        </p:txBody>
      </p:sp>
    </p:spTree>
    <p:extLst>
      <p:ext uri="{BB962C8B-B14F-4D97-AF65-F5344CB8AC3E}">
        <p14:creationId xmlns:p14="http://schemas.microsoft.com/office/powerpoint/2010/main" val="146601640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FD94C9-69D5-47E8-8D03-860EA44C09C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A67656-3739-4FC4-8094-3D0A135563F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7E5F5C2-64AC-4B32-9D65-E0E25C1C1BD0}"/>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44537961-0579-46D6-B0B3-27D702EB9E49}"/>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3. 小组分工与协作方式</a:t>
            </a:r>
          </a:p>
        </p:txBody>
      </p:sp>
      <p:sp>
        <p:nvSpPr>
          <p:cNvPr id="5" name="">
            <a:extLst xmlns:a="http://schemas.openxmlformats.org/drawingml/2006/main">
              <a:ext uri="{FF2B5EF4-FFF2-40B4-BE49-F238E27FC236}">
                <a16:creationId xmlns:a16="http://schemas.microsoft.com/office/drawing/2014/main" id="{2BB5337F-F2CD-4F63-8CF3-BC1318F781DA}"/>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10</a:t>
            </a:r>
          </a:p>
        </p:txBody>
      </p:sp>
      <p:sp>
        <p:nvSpPr>
          <p:cNvPr id="6" name="">
            <a:extLst xmlns:a="http://schemas.openxmlformats.org/drawingml/2006/main">
              <a:ext uri="{FF2B5EF4-FFF2-40B4-BE49-F238E27FC236}">
                <a16:creationId xmlns:a16="http://schemas.microsoft.com/office/drawing/2014/main" id="{915C6904-5CD6-4EAE-9C3F-595A51272A41}"/>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E5DED256-B29C-4A4D-B17B-1C24424D5EB6}"/>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3.1 总体分工</a:t>
            </a:r>
          </a:p>
        </p:txBody>
      </p:sp>
      <p:sp>
        <p:nvSpPr>
          <p:cNvPr id="8" name="">
            <a:extLst xmlns:a="http://schemas.openxmlformats.org/drawingml/2006/main">
              <a:ext uri="{FF2B5EF4-FFF2-40B4-BE49-F238E27FC236}">
                <a16:creationId xmlns:a16="http://schemas.microsoft.com/office/drawing/2014/main" id="{84A5044D-96AA-40FC-8050-82DC41E5FF8B}"/>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06546CF-DD97-4354-97A5-F19600E730C8}"/>
              </a:ext>
            </a:extLst>
          </p:cNvPr>
          <p:cNvSpPr>
            <a:spLocks xmlns:a="http://schemas.openxmlformats.org/drawingml/2006/main" noGrp="1"/>
          </p:cNvSpPr>
          <p:nvPr/>
        </p:nvSpPr>
        <p:spPr>
          <a:xfrm xmlns:a="http://schemas.openxmlformats.org/drawingml/2006/main">
            <a:off x="457200" y="1905000"/>
            <a:ext cx="1756172"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962D0712-07E7-4A28-BB3E-0A579FF3C15B}"/>
              </a:ext>
            </a:extLst>
          </p:cNvPr>
          <p:cNvSpPr>
            <a:spLocks xmlns:a="http://schemas.openxmlformats.org/drawingml/2006/main" noGrp="1"/>
          </p:cNvSpPr>
          <p:nvPr/>
        </p:nvSpPr>
        <p:spPr>
          <a:xfrm xmlns:a="http://schemas.openxmlformats.org/drawingml/2006/main">
            <a:off x="504825" y="1943100"/>
            <a:ext cx="166092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成员</a:t>
            </a:r>
          </a:p>
        </p:txBody>
      </p:sp>
      <p:sp>
        <p:nvSpPr>
          <p:cNvPr id="11" name="">
            <a:extLst xmlns:a="http://schemas.openxmlformats.org/drawingml/2006/main">
              <a:ext uri="{FF2B5EF4-FFF2-40B4-BE49-F238E27FC236}">
                <a16:creationId xmlns:a16="http://schemas.microsoft.com/office/drawing/2014/main" id="{19D3B8EF-1444-4B58-9BEB-CA8887BAB7C9}"/>
              </a:ext>
            </a:extLst>
          </p:cNvPr>
          <p:cNvSpPr>
            <a:spLocks xmlns:a="http://schemas.openxmlformats.org/drawingml/2006/main" noGrp="1"/>
          </p:cNvSpPr>
          <p:nvPr/>
        </p:nvSpPr>
        <p:spPr>
          <a:xfrm xmlns:a="http://schemas.openxmlformats.org/drawingml/2006/main">
            <a:off x="2213372" y="1905000"/>
            <a:ext cx="316110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382A7C0A-82E9-44BB-AD0D-D9730669FB66}"/>
              </a:ext>
            </a:extLst>
          </p:cNvPr>
          <p:cNvSpPr>
            <a:spLocks xmlns:a="http://schemas.openxmlformats.org/drawingml/2006/main" noGrp="1"/>
          </p:cNvSpPr>
          <p:nvPr/>
        </p:nvSpPr>
        <p:spPr>
          <a:xfrm xmlns:a="http://schemas.openxmlformats.org/drawingml/2006/main">
            <a:off x="2260997" y="1943100"/>
            <a:ext cx="306585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负责内容</a:t>
            </a:r>
          </a:p>
        </p:txBody>
      </p:sp>
      <p:sp>
        <p:nvSpPr>
          <p:cNvPr id="13" name="">
            <a:extLst xmlns:a="http://schemas.openxmlformats.org/drawingml/2006/main">
              <a:ext uri="{FF2B5EF4-FFF2-40B4-BE49-F238E27FC236}">
                <a16:creationId xmlns:a16="http://schemas.microsoft.com/office/drawing/2014/main" id="{67F0E3FB-7883-4B78-B54F-CAE738AE3620}"/>
              </a:ext>
            </a:extLst>
          </p:cNvPr>
          <p:cNvSpPr>
            <a:spLocks xmlns:a="http://schemas.openxmlformats.org/drawingml/2006/main" noGrp="1"/>
          </p:cNvSpPr>
          <p:nvPr/>
        </p:nvSpPr>
        <p:spPr>
          <a:xfrm xmlns:a="http://schemas.openxmlformats.org/drawingml/2006/main">
            <a:off x="5374481" y="1905000"/>
            <a:ext cx="316110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E9E6DEA7-1F14-409C-8CE1-8F114F571636}"/>
              </a:ext>
            </a:extLst>
          </p:cNvPr>
          <p:cNvSpPr>
            <a:spLocks xmlns:a="http://schemas.openxmlformats.org/drawingml/2006/main" noGrp="1"/>
          </p:cNvSpPr>
          <p:nvPr/>
        </p:nvSpPr>
        <p:spPr>
          <a:xfrm xmlns:a="http://schemas.openxmlformats.org/drawingml/2006/main">
            <a:off x="5422106" y="1943100"/>
            <a:ext cx="306585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主要交付物</a:t>
            </a:r>
          </a:p>
        </p:txBody>
      </p:sp>
      <p:sp>
        <p:nvSpPr>
          <p:cNvPr id="15" name="">
            <a:extLst xmlns:a="http://schemas.openxmlformats.org/drawingml/2006/main">
              <a:ext uri="{FF2B5EF4-FFF2-40B4-BE49-F238E27FC236}">
                <a16:creationId xmlns:a16="http://schemas.microsoft.com/office/drawing/2014/main" id="{17BD26DB-7871-4998-AEF9-5F30916043BB}"/>
              </a:ext>
            </a:extLst>
          </p:cNvPr>
          <p:cNvSpPr>
            <a:spLocks xmlns:a="http://schemas.openxmlformats.org/drawingml/2006/main" noGrp="1"/>
          </p:cNvSpPr>
          <p:nvPr/>
        </p:nvSpPr>
        <p:spPr>
          <a:xfrm xmlns:a="http://schemas.openxmlformats.org/drawingml/2006/main">
            <a:off x="8535591" y="1905000"/>
            <a:ext cx="316110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BF94BA88-1C1E-4348-957C-B0FD856547B6}"/>
              </a:ext>
            </a:extLst>
          </p:cNvPr>
          <p:cNvSpPr>
            <a:spLocks xmlns:a="http://schemas.openxmlformats.org/drawingml/2006/main" noGrp="1"/>
          </p:cNvSpPr>
          <p:nvPr/>
        </p:nvSpPr>
        <p:spPr>
          <a:xfrm xmlns:a="http://schemas.openxmlformats.org/drawingml/2006/main">
            <a:off x="8583216" y="1943100"/>
            <a:ext cx="306585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答辩重点</a:t>
            </a:r>
          </a:p>
        </p:txBody>
      </p:sp>
      <p:sp>
        <p:nvSpPr>
          <p:cNvPr id="17" name="">
            <a:extLst xmlns:a="http://schemas.openxmlformats.org/drawingml/2006/main">
              <a:ext uri="{FF2B5EF4-FFF2-40B4-BE49-F238E27FC236}">
                <a16:creationId xmlns:a16="http://schemas.microsoft.com/office/drawing/2014/main" id="{EB3D8E58-0B60-4AF9-BE2C-1D8B7C6F0BDD}"/>
              </a:ext>
            </a:extLst>
          </p:cNvPr>
          <p:cNvSpPr>
            <a:spLocks xmlns:a="http://schemas.openxmlformats.org/drawingml/2006/main" noGrp="1"/>
          </p:cNvSpPr>
          <p:nvPr/>
        </p:nvSpPr>
        <p:spPr>
          <a:xfrm xmlns:a="http://schemas.openxmlformats.org/drawingml/2006/main">
            <a:off x="457200" y="2305050"/>
            <a:ext cx="1756172"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FFBB47F4-FCB6-479B-AB71-FE9493681CA7}"/>
              </a:ext>
            </a:extLst>
          </p:cNvPr>
          <p:cNvSpPr>
            <a:spLocks xmlns:a="http://schemas.openxmlformats.org/drawingml/2006/main" noGrp="1"/>
          </p:cNvSpPr>
          <p:nvPr/>
        </p:nvSpPr>
        <p:spPr>
          <a:xfrm xmlns:a="http://schemas.openxmlformats.org/drawingml/2006/main">
            <a:off x="504825" y="2333625"/>
            <a:ext cx="1660922"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Annakuliyev Sedar</a:t>
            </a:r>
          </a:p>
        </p:txBody>
      </p:sp>
      <p:sp>
        <p:nvSpPr>
          <p:cNvPr id="19" name="">
            <a:extLst xmlns:a="http://schemas.openxmlformats.org/drawingml/2006/main">
              <a:ext uri="{FF2B5EF4-FFF2-40B4-BE49-F238E27FC236}">
                <a16:creationId xmlns:a16="http://schemas.microsoft.com/office/drawing/2014/main" id="{7511BA21-2F4C-469F-AE6F-548121656522}"/>
              </a:ext>
            </a:extLst>
          </p:cNvPr>
          <p:cNvSpPr>
            <a:spLocks xmlns:a="http://schemas.openxmlformats.org/drawingml/2006/main" noGrp="1"/>
          </p:cNvSpPr>
          <p:nvPr/>
        </p:nvSpPr>
        <p:spPr>
          <a:xfrm xmlns:a="http://schemas.openxmlformats.org/drawingml/2006/main">
            <a:off x="2213372" y="2305050"/>
            <a:ext cx="3161109"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86B72963-5974-430A-B418-C7AFDC3FDF62}"/>
              </a:ext>
            </a:extLst>
          </p:cNvPr>
          <p:cNvSpPr>
            <a:spLocks xmlns:a="http://schemas.openxmlformats.org/drawingml/2006/main" noGrp="1"/>
          </p:cNvSpPr>
          <p:nvPr/>
        </p:nvSpPr>
        <p:spPr>
          <a:xfrm xmlns:a="http://schemas.openxmlformats.org/drawingml/2006/main">
            <a:off x="2260997" y="2333625"/>
            <a:ext cx="3065859"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UML 建模、ProcessOn 绘图、图形布局和建模文档整理</a:t>
            </a:r>
          </a:p>
        </p:txBody>
      </p:sp>
      <p:sp>
        <p:nvSpPr>
          <p:cNvPr id="21" name="">
            <a:extLst xmlns:a="http://schemas.openxmlformats.org/drawingml/2006/main">
              <a:ext uri="{FF2B5EF4-FFF2-40B4-BE49-F238E27FC236}">
                <a16:creationId xmlns:a16="http://schemas.microsoft.com/office/drawing/2014/main" id="{74BEA7C4-0FB8-4B6A-8F68-6B43767E056F}"/>
              </a:ext>
            </a:extLst>
          </p:cNvPr>
          <p:cNvSpPr>
            <a:spLocks xmlns:a="http://schemas.openxmlformats.org/drawingml/2006/main" noGrp="1"/>
          </p:cNvSpPr>
          <p:nvPr/>
        </p:nvSpPr>
        <p:spPr>
          <a:xfrm xmlns:a="http://schemas.openxmlformats.org/drawingml/2006/main">
            <a:off x="5374481" y="2305050"/>
            <a:ext cx="3161109"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2BD9AF6E-05B7-4802-92EC-4686BABDA406}"/>
              </a:ext>
            </a:extLst>
          </p:cNvPr>
          <p:cNvSpPr>
            <a:spLocks xmlns:a="http://schemas.openxmlformats.org/drawingml/2006/main" noGrp="1"/>
          </p:cNvSpPr>
          <p:nvPr/>
        </p:nvSpPr>
        <p:spPr>
          <a:xfrm xmlns:a="http://schemas.openxmlformats.org/drawingml/2006/main">
            <a:off x="5422106" y="2333625"/>
            <a:ext cx="3065859"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用例图、类图、顺序图、状态图、活动图、组件图、部署图，UML 建模说明</a:t>
            </a:r>
          </a:p>
        </p:txBody>
      </p:sp>
      <p:sp>
        <p:nvSpPr>
          <p:cNvPr id="23" name="">
            <a:extLst xmlns:a="http://schemas.openxmlformats.org/drawingml/2006/main">
              <a:ext uri="{FF2B5EF4-FFF2-40B4-BE49-F238E27FC236}">
                <a16:creationId xmlns:a16="http://schemas.microsoft.com/office/drawing/2014/main" id="{B93878B5-6D7B-46B4-9143-342E424C85D9}"/>
              </a:ext>
            </a:extLst>
          </p:cNvPr>
          <p:cNvSpPr>
            <a:spLocks xmlns:a="http://schemas.openxmlformats.org/drawingml/2006/main" noGrp="1"/>
          </p:cNvSpPr>
          <p:nvPr/>
        </p:nvSpPr>
        <p:spPr>
          <a:xfrm xmlns:a="http://schemas.openxmlformats.org/drawingml/2006/main">
            <a:off x="8535591" y="2305050"/>
            <a:ext cx="3161109"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0B94DC08-0863-414C-9703-86BA259B21C6}"/>
              </a:ext>
            </a:extLst>
          </p:cNvPr>
          <p:cNvSpPr>
            <a:spLocks xmlns:a="http://schemas.openxmlformats.org/drawingml/2006/main" noGrp="1"/>
          </p:cNvSpPr>
          <p:nvPr/>
        </p:nvSpPr>
        <p:spPr>
          <a:xfrm xmlns:a="http://schemas.openxmlformats.org/drawingml/2006/main">
            <a:off x="8583216" y="2333625"/>
            <a:ext cx="3065859"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UML 图含义、分析建模和设计建模关系、图与代码对应</a:t>
            </a:r>
          </a:p>
        </p:txBody>
      </p:sp>
      <p:sp>
        <p:nvSpPr>
          <p:cNvPr id="25" name="">
            <a:extLst xmlns:a="http://schemas.openxmlformats.org/drawingml/2006/main">
              <a:ext uri="{FF2B5EF4-FFF2-40B4-BE49-F238E27FC236}">
                <a16:creationId xmlns:a16="http://schemas.microsoft.com/office/drawing/2014/main" id="{9141C9AE-330B-4921-AB9E-08EEE10178A5}"/>
              </a:ext>
            </a:extLst>
          </p:cNvPr>
          <p:cNvSpPr>
            <a:spLocks xmlns:a="http://schemas.openxmlformats.org/drawingml/2006/main" noGrp="1"/>
          </p:cNvSpPr>
          <p:nvPr/>
        </p:nvSpPr>
        <p:spPr>
          <a:xfrm xmlns:a="http://schemas.openxmlformats.org/drawingml/2006/main">
            <a:off x="457200" y="3517900"/>
            <a:ext cx="1756172" cy="12128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A0CFCB03-75AF-42FD-A75A-90F9BCDBD6A1}"/>
              </a:ext>
            </a:extLst>
          </p:cNvPr>
          <p:cNvSpPr>
            <a:spLocks xmlns:a="http://schemas.openxmlformats.org/drawingml/2006/main" noGrp="1"/>
          </p:cNvSpPr>
          <p:nvPr/>
        </p:nvSpPr>
        <p:spPr>
          <a:xfrm xmlns:a="http://schemas.openxmlformats.org/drawingml/2006/main">
            <a:off x="504825" y="3546475"/>
            <a:ext cx="1660922"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莫均杰</a:t>
            </a:r>
          </a:p>
        </p:txBody>
      </p:sp>
      <p:sp>
        <p:nvSpPr>
          <p:cNvPr id="27" name="">
            <a:extLst xmlns:a="http://schemas.openxmlformats.org/drawingml/2006/main">
              <a:ext uri="{FF2B5EF4-FFF2-40B4-BE49-F238E27FC236}">
                <a16:creationId xmlns:a16="http://schemas.microsoft.com/office/drawing/2014/main" id="{062D981D-5670-46BF-A921-85711DAA7ED0}"/>
              </a:ext>
            </a:extLst>
          </p:cNvPr>
          <p:cNvSpPr>
            <a:spLocks xmlns:a="http://schemas.openxmlformats.org/drawingml/2006/main" noGrp="1"/>
          </p:cNvSpPr>
          <p:nvPr/>
        </p:nvSpPr>
        <p:spPr>
          <a:xfrm xmlns:a="http://schemas.openxmlformats.org/drawingml/2006/main">
            <a:off x="2213372" y="3517900"/>
            <a:ext cx="3161109" cy="12128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CA525DCA-8863-461D-AA24-06079F0CC358}"/>
              </a:ext>
            </a:extLst>
          </p:cNvPr>
          <p:cNvSpPr>
            <a:spLocks xmlns:a="http://schemas.openxmlformats.org/drawingml/2006/main" noGrp="1"/>
          </p:cNvSpPr>
          <p:nvPr/>
        </p:nvSpPr>
        <p:spPr>
          <a:xfrm xmlns:a="http://schemas.openxmlformats.org/drawingml/2006/main">
            <a:off x="2260997" y="3546475"/>
            <a:ext cx="3065859"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主体代码、架构设计、游戏规则、AI、蓝牙、UI、Release 集成</a:t>
            </a:r>
          </a:p>
        </p:txBody>
      </p:sp>
      <p:sp>
        <p:nvSpPr>
          <p:cNvPr id="29" name="">
            <a:extLst xmlns:a="http://schemas.openxmlformats.org/drawingml/2006/main">
              <a:ext uri="{FF2B5EF4-FFF2-40B4-BE49-F238E27FC236}">
                <a16:creationId xmlns:a16="http://schemas.microsoft.com/office/drawing/2014/main" id="{2B27F1DB-A0B2-45C1-894F-4A5583626F69}"/>
              </a:ext>
            </a:extLst>
          </p:cNvPr>
          <p:cNvSpPr>
            <a:spLocks xmlns:a="http://schemas.openxmlformats.org/drawingml/2006/main" noGrp="1"/>
          </p:cNvSpPr>
          <p:nvPr/>
        </p:nvSpPr>
        <p:spPr>
          <a:xfrm xmlns:a="http://schemas.openxmlformats.org/drawingml/2006/main">
            <a:off x="5374481" y="3517900"/>
            <a:ext cx="3161109" cy="12128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8ABA599B-7284-4878-B140-759667E3E59B}"/>
              </a:ext>
            </a:extLst>
          </p:cNvPr>
          <p:cNvSpPr>
            <a:spLocks xmlns:a="http://schemas.openxmlformats.org/drawingml/2006/main" noGrp="1"/>
          </p:cNvSpPr>
          <p:nvPr/>
        </p:nvSpPr>
        <p:spPr>
          <a:xfrm xmlns:a="http://schemas.openxmlformats.org/drawingml/2006/main">
            <a:off x="5422106" y="3546475"/>
            <a:ext cx="3065859"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Kotlin/Compose 项目代码、规则模块、AI 策略、蓝牙房间、玩家中心、Release APK/AAB</a:t>
            </a:r>
          </a:p>
        </p:txBody>
      </p:sp>
      <p:sp>
        <p:nvSpPr>
          <p:cNvPr id="31" name="">
            <a:extLst xmlns:a="http://schemas.openxmlformats.org/drawingml/2006/main">
              <a:ext uri="{FF2B5EF4-FFF2-40B4-BE49-F238E27FC236}">
                <a16:creationId xmlns:a16="http://schemas.microsoft.com/office/drawing/2014/main" id="{9C6A0D20-F591-4ABB-B4C5-F54E00FD79F3}"/>
              </a:ext>
            </a:extLst>
          </p:cNvPr>
          <p:cNvSpPr>
            <a:spLocks xmlns:a="http://schemas.openxmlformats.org/drawingml/2006/main" noGrp="1"/>
          </p:cNvSpPr>
          <p:nvPr/>
        </p:nvSpPr>
        <p:spPr>
          <a:xfrm xmlns:a="http://schemas.openxmlformats.org/drawingml/2006/main">
            <a:off x="8535591" y="3517900"/>
            <a:ext cx="3161109" cy="12128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C6B6FC30-28EB-4DDD-92A1-16316D1CDCFA}"/>
              </a:ext>
            </a:extLst>
          </p:cNvPr>
          <p:cNvSpPr>
            <a:spLocks xmlns:a="http://schemas.openxmlformats.org/drawingml/2006/main" noGrp="1"/>
          </p:cNvSpPr>
          <p:nvPr/>
        </p:nvSpPr>
        <p:spPr>
          <a:xfrm xmlns:a="http://schemas.openxmlformats.org/drawingml/2006/main">
            <a:off x="8583216" y="3546475"/>
            <a:ext cx="3065859"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MVC 分层、设计模式、南北规则、多人蓝牙、AI 策略、发布流程</a:t>
            </a:r>
          </a:p>
        </p:txBody>
      </p:sp>
      <p:sp>
        <p:nvSpPr>
          <p:cNvPr id="33" name="">
            <a:extLst xmlns:a="http://schemas.openxmlformats.org/drawingml/2006/main">
              <a:ext uri="{FF2B5EF4-FFF2-40B4-BE49-F238E27FC236}">
                <a16:creationId xmlns:a16="http://schemas.microsoft.com/office/drawing/2014/main" id="{01A0ECD7-F568-4A2E-AF50-A1800348998F}"/>
              </a:ext>
            </a:extLst>
          </p:cNvPr>
          <p:cNvSpPr>
            <a:spLocks xmlns:a="http://schemas.openxmlformats.org/drawingml/2006/main" noGrp="1"/>
          </p:cNvSpPr>
          <p:nvPr/>
        </p:nvSpPr>
        <p:spPr>
          <a:xfrm xmlns:a="http://schemas.openxmlformats.org/drawingml/2006/main">
            <a:off x="457200" y="4730750"/>
            <a:ext cx="1756172"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E45B297F-63C1-40C1-9974-7946EA214C91}"/>
              </a:ext>
            </a:extLst>
          </p:cNvPr>
          <p:cNvSpPr>
            <a:spLocks xmlns:a="http://schemas.openxmlformats.org/drawingml/2006/main" noGrp="1"/>
          </p:cNvSpPr>
          <p:nvPr/>
        </p:nvSpPr>
        <p:spPr>
          <a:xfrm xmlns:a="http://schemas.openxmlformats.org/drawingml/2006/main">
            <a:off x="504825" y="4759325"/>
            <a:ext cx="1660922"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郭铭涛</a:t>
            </a:r>
          </a:p>
        </p:txBody>
      </p:sp>
      <p:sp>
        <p:nvSpPr>
          <p:cNvPr id="35" name="">
            <a:extLst xmlns:a="http://schemas.openxmlformats.org/drawingml/2006/main">
              <a:ext uri="{FF2B5EF4-FFF2-40B4-BE49-F238E27FC236}">
                <a16:creationId xmlns:a16="http://schemas.microsoft.com/office/drawing/2014/main" id="{125CBD66-A028-418E-9AFE-18AB217739DB}"/>
              </a:ext>
            </a:extLst>
          </p:cNvPr>
          <p:cNvSpPr>
            <a:spLocks xmlns:a="http://schemas.openxmlformats.org/drawingml/2006/main" noGrp="1"/>
          </p:cNvSpPr>
          <p:nvPr/>
        </p:nvSpPr>
        <p:spPr>
          <a:xfrm xmlns:a="http://schemas.openxmlformats.org/drawingml/2006/main">
            <a:off x="2213372" y="4730750"/>
            <a:ext cx="3161109"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CBF47101-2B9E-4779-ABBC-F5B5E8034C12}"/>
              </a:ext>
            </a:extLst>
          </p:cNvPr>
          <p:cNvSpPr>
            <a:spLocks xmlns:a="http://schemas.openxmlformats.org/drawingml/2006/main" noGrp="1"/>
          </p:cNvSpPr>
          <p:nvPr/>
        </p:nvSpPr>
        <p:spPr>
          <a:xfrm xmlns:a="http://schemas.openxmlformats.org/drawingml/2006/main">
            <a:off x="2260997" y="4759325"/>
            <a:ext cx="3065859"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测试设计、自动化测试、模拟蓝牙测试、运行验收、测试报告和录屏验证</a:t>
            </a:r>
          </a:p>
        </p:txBody>
      </p:sp>
      <p:sp>
        <p:nvSpPr>
          <p:cNvPr id="37" name="">
            <a:extLst xmlns:a="http://schemas.openxmlformats.org/drawingml/2006/main">
              <a:ext uri="{FF2B5EF4-FFF2-40B4-BE49-F238E27FC236}">
                <a16:creationId xmlns:a16="http://schemas.microsoft.com/office/drawing/2014/main" id="{9F18E1B1-E70F-443D-8754-8AE34791966B}"/>
              </a:ext>
            </a:extLst>
          </p:cNvPr>
          <p:cNvSpPr>
            <a:spLocks xmlns:a="http://schemas.openxmlformats.org/drawingml/2006/main" noGrp="1"/>
          </p:cNvSpPr>
          <p:nvPr/>
        </p:nvSpPr>
        <p:spPr>
          <a:xfrm xmlns:a="http://schemas.openxmlformats.org/drawingml/2006/main">
            <a:off x="5374481" y="4730750"/>
            <a:ext cx="3161109"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7D6BD509-A985-42E5-BEC2-3D2D9CF0D612}"/>
              </a:ext>
            </a:extLst>
          </p:cNvPr>
          <p:cNvSpPr>
            <a:spLocks xmlns:a="http://schemas.openxmlformats.org/drawingml/2006/main" noGrp="1"/>
          </p:cNvSpPr>
          <p:nvPr/>
        </p:nvSpPr>
        <p:spPr>
          <a:xfrm xmlns:a="http://schemas.openxmlformats.org/drawingml/2006/main">
            <a:off x="5422106" y="4759325"/>
            <a:ext cx="3065859"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单元测试、模拟测试、测试报告、手动验收表、演示录屏</a:t>
            </a:r>
          </a:p>
        </p:txBody>
      </p:sp>
      <p:sp>
        <p:nvSpPr>
          <p:cNvPr id="39" name="">
            <a:extLst xmlns:a="http://schemas.openxmlformats.org/drawingml/2006/main">
              <a:ext uri="{FF2B5EF4-FFF2-40B4-BE49-F238E27FC236}">
                <a16:creationId xmlns:a16="http://schemas.microsoft.com/office/drawing/2014/main" id="{2B2A0889-8B21-4ED8-915B-B754DF273C6A}"/>
              </a:ext>
            </a:extLst>
          </p:cNvPr>
          <p:cNvSpPr>
            <a:spLocks xmlns:a="http://schemas.openxmlformats.org/drawingml/2006/main" noGrp="1"/>
          </p:cNvSpPr>
          <p:nvPr/>
        </p:nvSpPr>
        <p:spPr>
          <a:xfrm xmlns:a="http://schemas.openxmlformats.org/drawingml/2006/main">
            <a:off x="8535591" y="4730750"/>
            <a:ext cx="3161109"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8D00E48F-DDC1-44B7-B56C-090B38E3D80A}"/>
              </a:ext>
            </a:extLst>
          </p:cNvPr>
          <p:cNvSpPr>
            <a:spLocks xmlns:a="http://schemas.openxmlformats.org/drawingml/2006/main" noGrp="1"/>
          </p:cNvSpPr>
          <p:nvPr/>
        </p:nvSpPr>
        <p:spPr>
          <a:xfrm xmlns:a="http://schemas.openxmlformats.org/drawingml/2006/main">
            <a:off x="8583216" y="4759325"/>
            <a:ext cx="3065859"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测试覆盖、测试方法、蓝牙风险、Release 验收、录屏展示</a:t>
            </a:r>
          </a:p>
        </p:txBody>
      </p:sp>
    </p:spTree>
    <p:extLst>
      <p:ext uri="{BB962C8B-B14F-4D97-AF65-F5344CB8AC3E}">
        <p14:creationId xmlns:p14="http://schemas.microsoft.com/office/powerpoint/2010/main" val="19567100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394EF4-BCCE-49C7-84F3-8BC2CCA27D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8EBC94-08A8-42B5-B402-7235CD613FF5}"/>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1C6131-D6B2-4D1F-8EE0-B7120D29273D}"/>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9B665C47-8D12-4DE7-8187-29B0FEBDE782}"/>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3. 小组分工与协作方式</a:t>
            </a:r>
          </a:p>
        </p:txBody>
      </p:sp>
      <p:sp>
        <p:nvSpPr>
          <p:cNvPr id="5" name="">
            <a:extLst xmlns:a="http://schemas.openxmlformats.org/drawingml/2006/main">
              <a:ext uri="{FF2B5EF4-FFF2-40B4-BE49-F238E27FC236}">
                <a16:creationId xmlns:a16="http://schemas.microsoft.com/office/drawing/2014/main" id="{B11C0C90-99E7-4E94-B771-DDC4A2A078A1}"/>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11</a:t>
            </a:r>
          </a:p>
        </p:txBody>
      </p:sp>
      <p:sp>
        <p:nvSpPr>
          <p:cNvPr id="6" name="">
            <a:extLst xmlns:a="http://schemas.openxmlformats.org/drawingml/2006/main">
              <a:ext uri="{FF2B5EF4-FFF2-40B4-BE49-F238E27FC236}">
                <a16:creationId xmlns:a16="http://schemas.microsoft.com/office/drawing/2014/main" id="{2680CD11-FA2B-476E-80A7-3D1AEBD7E8C6}"/>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FE505B3A-3B3E-48B5-AC6D-C93AA96A1922}"/>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3.2 阶段分工执行情况</a:t>
            </a:r>
          </a:p>
        </p:txBody>
      </p:sp>
      <p:sp>
        <p:nvSpPr>
          <p:cNvPr id="8" name="">
            <a:extLst xmlns:a="http://schemas.openxmlformats.org/drawingml/2006/main">
              <a:ext uri="{FF2B5EF4-FFF2-40B4-BE49-F238E27FC236}">
                <a16:creationId xmlns:a16="http://schemas.microsoft.com/office/drawing/2014/main" id="{03E869B0-847B-45FF-827F-D5C2E3DFF4DF}"/>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CF10B4C-C3F6-4410-A016-93D7E92679B3}"/>
              </a:ext>
            </a:extLst>
          </p:cNvPr>
          <p:cNvSpPr>
            <a:spLocks xmlns:a="http://schemas.openxmlformats.org/drawingml/2006/main" noGrp="1"/>
          </p:cNvSpPr>
          <p:nvPr/>
        </p:nvSpPr>
        <p:spPr>
          <a:xfrm xmlns:a="http://schemas.openxmlformats.org/drawingml/2006/main">
            <a:off x="457200" y="1905000"/>
            <a:ext cx="1696528"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792D0A18-111D-4843-AE24-AC8A82B42A5A}"/>
              </a:ext>
            </a:extLst>
          </p:cNvPr>
          <p:cNvSpPr>
            <a:spLocks xmlns:a="http://schemas.openxmlformats.org/drawingml/2006/main" noGrp="1"/>
          </p:cNvSpPr>
          <p:nvPr/>
        </p:nvSpPr>
        <p:spPr>
          <a:xfrm xmlns:a="http://schemas.openxmlformats.org/drawingml/2006/main">
            <a:off x="504825" y="1943100"/>
            <a:ext cx="160127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阶段</a:t>
            </a:r>
          </a:p>
        </p:txBody>
      </p:sp>
      <p:sp>
        <p:nvSpPr>
          <p:cNvPr id="11" name="">
            <a:extLst xmlns:a="http://schemas.openxmlformats.org/drawingml/2006/main">
              <a:ext uri="{FF2B5EF4-FFF2-40B4-BE49-F238E27FC236}">
                <a16:creationId xmlns:a16="http://schemas.microsoft.com/office/drawing/2014/main" id="{03EADEBA-F8F1-4AC5-ABF8-14BBAAEE21B6}"/>
              </a:ext>
            </a:extLst>
          </p:cNvPr>
          <p:cNvSpPr>
            <a:spLocks xmlns:a="http://schemas.openxmlformats.org/drawingml/2006/main" noGrp="1"/>
          </p:cNvSpPr>
          <p:nvPr/>
        </p:nvSpPr>
        <p:spPr>
          <a:xfrm xmlns:a="http://schemas.openxmlformats.org/drawingml/2006/main">
            <a:off x="2153728" y="1905000"/>
            <a:ext cx="3180991"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E0D8882B-40EA-4D97-93F3-A79056917D62}"/>
              </a:ext>
            </a:extLst>
          </p:cNvPr>
          <p:cNvSpPr>
            <a:spLocks xmlns:a="http://schemas.openxmlformats.org/drawingml/2006/main" noGrp="1"/>
          </p:cNvSpPr>
          <p:nvPr/>
        </p:nvSpPr>
        <p:spPr>
          <a:xfrm xmlns:a="http://schemas.openxmlformats.org/drawingml/2006/main">
            <a:off x="2201353" y="1943100"/>
            <a:ext cx="308574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Annakuliyev Sedar</a:t>
            </a:r>
          </a:p>
        </p:txBody>
      </p:sp>
      <p:sp>
        <p:nvSpPr>
          <p:cNvPr id="13" name="">
            <a:extLst xmlns:a="http://schemas.openxmlformats.org/drawingml/2006/main">
              <a:ext uri="{FF2B5EF4-FFF2-40B4-BE49-F238E27FC236}">
                <a16:creationId xmlns:a16="http://schemas.microsoft.com/office/drawing/2014/main" id="{BAFBED8B-BE85-462B-AF4A-F0FE78B7700E}"/>
              </a:ext>
            </a:extLst>
          </p:cNvPr>
          <p:cNvSpPr>
            <a:spLocks xmlns:a="http://schemas.openxmlformats.org/drawingml/2006/main" noGrp="1"/>
          </p:cNvSpPr>
          <p:nvPr/>
        </p:nvSpPr>
        <p:spPr>
          <a:xfrm xmlns:a="http://schemas.openxmlformats.org/drawingml/2006/main">
            <a:off x="5334719" y="1905000"/>
            <a:ext cx="3180991"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13D31144-5B7D-4FB9-92AD-9117528737A0}"/>
              </a:ext>
            </a:extLst>
          </p:cNvPr>
          <p:cNvSpPr>
            <a:spLocks xmlns:a="http://schemas.openxmlformats.org/drawingml/2006/main" noGrp="1"/>
          </p:cNvSpPr>
          <p:nvPr/>
        </p:nvSpPr>
        <p:spPr>
          <a:xfrm xmlns:a="http://schemas.openxmlformats.org/drawingml/2006/main">
            <a:off x="5382344" y="1943100"/>
            <a:ext cx="308574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莫均杰</a:t>
            </a:r>
          </a:p>
        </p:txBody>
      </p:sp>
      <p:sp>
        <p:nvSpPr>
          <p:cNvPr id="15" name="">
            <a:extLst xmlns:a="http://schemas.openxmlformats.org/drawingml/2006/main">
              <a:ext uri="{FF2B5EF4-FFF2-40B4-BE49-F238E27FC236}">
                <a16:creationId xmlns:a16="http://schemas.microsoft.com/office/drawing/2014/main" id="{53F8B3C7-E381-485C-8CBE-4AB00F09CB22}"/>
              </a:ext>
            </a:extLst>
          </p:cNvPr>
          <p:cNvSpPr>
            <a:spLocks xmlns:a="http://schemas.openxmlformats.org/drawingml/2006/main" noGrp="1"/>
          </p:cNvSpPr>
          <p:nvPr/>
        </p:nvSpPr>
        <p:spPr>
          <a:xfrm xmlns:a="http://schemas.openxmlformats.org/drawingml/2006/main">
            <a:off x="8515709" y="1905000"/>
            <a:ext cx="3180991"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6EB63A06-72D2-4DB9-9BA5-BBCADEA678B1}"/>
              </a:ext>
            </a:extLst>
          </p:cNvPr>
          <p:cNvSpPr>
            <a:spLocks xmlns:a="http://schemas.openxmlformats.org/drawingml/2006/main" noGrp="1"/>
          </p:cNvSpPr>
          <p:nvPr/>
        </p:nvSpPr>
        <p:spPr>
          <a:xfrm xmlns:a="http://schemas.openxmlformats.org/drawingml/2006/main">
            <a:off x="8563334" y="1943100"/>
            <a:ext cx="308574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郭铭涛</a:t>
            </a:r>
          </a:p>
        </p:txBody>
      </p:sp>
      <p:sp>
        <p:nvSpPr>
          <p:cNvPr id="17" name="">
            <a:extLst xmlns:a="http://schemas.openxmlformats.org/drawingml/2006/main">
              <a:ext uri="{FF2B5EF4-FFF2-40B4-BE49-F238E27FC236}">
                <a16:creationId xmlns:a16="http://schemas.microsoft.com/office/drawing/2014/main" id="{A445C269-991D-44F6-9331-2838E795E16B}"/>
              </a:ext>
            </a:extLst>
          </p:cNvPr>
          <p:cNvSpPr>
            <a:spLocks xmlns:a="http://schemas.openxmlformats.org/drawingml/2006/main" noGrp="1"/>
          </p:cNvSpPr>
          <p:nvPr/>
        </p:nvSpPr>
        <p:spPr>
          <a:xfrm xmlns:a="http://schemas.openxmlformats.org/drawingml/2006/main">
            <a:off x="457200" y="2305050"/>
            <a:ext cx="1696528"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D03A556A-5A9B-47A2-8775-F678D859B5A4}"/>
              </a:ext>
            </a:extLst>
          </p:cNvPr>
          <p:cNvSpPr>
            <a:spLocks xmlns:a="http://schemas.openxmlformats.org/drawingml/2006/main" noGrp="1"/>
          </p:cNvSpPr>
          <p:nvPr/>
        </p:nvSpPr>
        <p:spPr>
          <a:xfrm xmlns:a="http://schemas.openxmlformats.org/drawingml/2006/main">
            <a:off x="504825" y="2333625"/>
            <a:ext cx="1601278"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开始</a:t>
            </a:r>
          </a:p>
        </p:txBody>
      </p:sp>
      <p:sp>
        <p:nvSpPr>
          <p:cNvPr id="19" name="">
            <a:extLst xmlns:a="http://schemas.openxmlformats.org/drawingml/2006/main">
              <a:ext uri="{FF2B5EF4-FFF2-40B4-BE49-F238E27FC236}">
                <a16:creationId xmlns:a16="http://schemas.microsoft.com/office/drawing/2014/main" id="{FE48558D-8395-4C19-BF02-C536BEC876A8}"/>
              </a:ext>
            </a:extLst>
          </p:cNvPr>
          <p:cNvSpPr>
            <a:spLocks xmlns:a="http://schemas.openxmlformats.org/drawingml/2006/main" noGrp="1"/>
          </p:cNvSpPr>
          <p:nvPr/>
        </p:nvSpPr>
        <p:spPr>
          <a:xfrm xmlns:a="http://schemas.openxmlformats.org/drawingml/2006/main">
            <a:off x="2153728" y="2305050"/>
            <a:ext cx="318099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6958F0BF-8D57-467E-B212-178B5DDAB45F}"/>
              </a:ext>
            </a:extLst>
          </p:cNvPr>
          <p:cNvSpPr>
            <a:spLocks xmlns:a="http://schemas.openxmlformats.org/drawingml/2006/main" noGrp="1"/>
          </p:cNvSpPr>
          <p:nvPr/>
        </p:nvSpPr>
        <p:spPr>
          <a:xfrm xmlns:a="http://schemas.openxmlformats.org/drawingml/2006/main">
            <a:off x="2201353" y="233362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整理核心参与者和初版用例图</a:t>
            </a:r>
          </a:p>
        </p:txBody>
      </p:sp>
      <p:sp>
        <p:nvSpPr>
          <p:cNvPr id="21" name="">
            <a:extLst xmlns:a="http://schemas.openxmlformats.org/drawingml/2006/main">
              <a:ext uri="{FF2B5EF4-FFF2-40B4-BE49-F238E27FC236}">
                <a16:creationId xmlns:a16="http://schemas.microsoft.com/office/drawing/2014/main" id="{052F47AB-9841-4CE1-877D-857A6510F435}"/>
              </a:ext>
            </a:extLst>
          </p:cNvPr>
          <p:cNvSpPr>
            <a:spLocks xmlns:a="http://schemas.openxmlformats.org/drawingml/2006/main" noGrp="1"/>
          </p:cNvSpPr>
          <p:nvPr/>
        </p:nvSpPr>
        <p:spPr>
          <a:xfrm xmlns:a="http://schemas.openxmlformats.org/drawingml/2006/main">
            <a:off x="5334719" y="2305050"/>
            <a:ext cx="318099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2B87E623-F74A-4C43-B9D0-61EF8D9DB1EE}"/>
              </a:ext>
            </a:extLst>
          </p:cNvPr>
          <p:cNvSpPr>
            <a:spLocks xmlns:a="http://schemas.openxmlformats.org/drawingml/2006/main" noGrp="1"/>
          </p:cNvSpPr>
          <p:nvPr/>
        </p:nvSpPr>
        <p:spPr>
          <a:xfrm xmlns:a="http://schemas.openxmlformats.org/drawingml/2006/main">
            <a:off x="5382344" y="233362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搭建 Android 项目环境，确定 Kotlin + Compose 技术路线</a:t>
            </a:r>
          </a:p>
        </p:txBody>
      </p:sp>
      <p:sp>
        <p:nvSpPr>
          <p:cNvPr id="23" name="">
            <a:extLst xmlns:a="http://schemas.openxmlformats.org/drawingml/2006/main">
              <a:ext uri="{FF2B5EF4-FFF2-40B4-BE49-F238E27FC236}">
                <a16:creationId xmlns:a16="http://schemas.microsoft.com/office/drawing/2014/main" id="{150696AF-1A5D-4C9E-8FCF-F23A91E90782}"/>
              </a:ext>
            </a:extLst>
          </p:cNvPr>
          <p:cNvSpPr>
            <a:spLocks xmlns:a="http://schemas.openxmlformats.org/drawingml/2006/main" noGrp="1"/>
          </p:cNvSpPr>
          <p:nvPr/>
        </p:nvSpPr>
        <p:spPr>
          <a:xfrm xmlns:a="http://schemas.openxmlformats.org/drawingml/2006/main">
            <a:off x="8515709" y="2305050"/>
            <a:ext cx="318099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B5CE8E6A-686D-47CE-B0A4-D5BBBFEBB40B}"/>
              </a:ext>
            </a:extLst>
          </p:cNvPr>
          <p:cNvSpPr>
            <a:spLocks xmlns:a="http://schemas.openxmlformats.org/drawingml/2006/main" noGrp="1"/>
          </p:cNvSpPr>
          <p:nvPr/>
        </p:nvSpPr>
        <p:spPr>
          <a:xfrm xmlns:a="http://schemas.openxmlformats.org/drawingml/2006/main">
            <a:off x="8563334" y="233362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协助确认用例边界和基础验收场景</a:t>
            </a:r>
          </a:p>
        </p:txBody>
      </p:sp>
      <p:sp>
        <p:nvSpPr>
          <p:cNvPr id="25" name="">
            <a:extLst xmlns:a="http://schemas.openxmlformats.org/drawingml/2006/main">
              <a:ext uri="{FF2B5EF4-FFF2-40B4-BE49-F238E27FC236}">
                <a16:creationId xmlns:a16="http://schemas.microsoft.com/office/drawing/2014/main" id="{83A871B4-1B46-4DD2-A148-80D7F56BE3F0}"/>
              </a:ext>
            </a:extLst>
          </p:cNvPr>
          <p:cNvSpPr>
            <a:spLocks xmlns:a="http://schemas.openxmlformats.org/drawingml/2006/main" noGrp="1"/>
          </p:cNvSpPr>
          <p:nvPr/>
        </p:nvSpPr>
        <p:spPr>
          <a:xfrm xmlns:a="http://schemas.openxmlformats.org/drawingml/2006/main">
            <a:off x="457200" y="3032760"/>
            <a:ext cx="1696528"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3F0A47B4-3666-4086-BF94-D2D321296779}"/>
              </a:ext>
            </a:extLst>
          </p:cNvPr>
          <p:cNvSpPr>
            <a:spLocks xmlns:a="http://schemas.openxmlformats.org/drawingml/2006/main" noGrp="1"/>
          </p:cNvSpPr>
          <p:nvPr/>
        </p:nvSpPr>
        <p:spPr>
          <a:xfrm xmlns:a="http://schemas.openxmlformats.org/drawingml/2006/main">
            <a:off x="504825" y="3061335"/>
            <a:ext cx="1601278"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细化迭代 1</a:t>
            </a:r>
          </a:p>
        </p:txBody>
      </p:sp>
      <p:sp>
        <p:nvSpPr>
          <p:cNvPr id="27" name="">
            <a:extLst xmlns:a="http://schemas.openxmlformats.org/drawingml/2006/main">
              <a:ext uri="{FF2B5EF4-FFF2-40B4-BE49-F238E27FC236}">
                <a16:creationId xmlns:a16="http://schemas.microsoft.com/office/drawing/2014/main" id="{B53B49FA-7DF7-4BAF-92AD-233D5AEF420C}"/>
              </a:ext>
            </a:extLst>
          </p:cNvPr>
          <p:cNvSpPr>
            <a:spLocks xmlns:a="http://schemas.openxmlformats.org/drawingml/2006/main" noGrp="1"/>
          </p:cNvSpPr>
          <p:nvPr/>
        </p:nvSpPr>
        <p:spPr>
          <a:xfrm xmlns:a="http://schemas.openxmlformats.org/drawingml/2006/main">
            <a:off x="2153728" y="3032760"/>
            <a:ext cx="318099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5372A70F-244D-47DD-B418-6E746B0F9CC7}"/>
              </a:ext>
            </a:extLst>
          </p:cNvPr>
          <p:cNvSpPr>
            <a:spLocks xmlns:a="http://schemas.openxmlformats.org/drawingml/2006/main" noGrp="1"/>
          </p:cNvSpPr>
          <p:nvPr/>
        </p:nvSpPr>
        <p:spPr>
          <a:xfrm xmlns:a="http://schemas.openxmlformats.org/drawingml/2006/main">
            <a:off x="2201353" y="306133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绘制类图、顺序图、包图和交互关系</a:t>
            </a:r>
          </a:p>
        </p:txBody>
      </p:sp>
      <p:sp>
        <p:nvSpPr>
          <p:cNvPr id="29" name="">
            <a:extLst xmlns:a="http://schemas.openxmlformats.org/drawingml/2006/main">
              <a:ext uri="{FF2B5EF4-FFF2-40B4-BE49-F238E27FC236}">
                <a16:creationId xmlns:a16="http://schemas.microsoft.com/office/drawing/2014/main" id="{C591D41A-781B-4E42-BE19-39DF46F3663E}"/>
              </a:ext>
            </a:extLst>
          </p:cNvPr>
          <p:cNvSpPr>
            <a:spLocks xmlns:a="http://schemas.openxmlformats.org/drawingml/2006/main" noGrp="1"/>
          </p:cNvSpPr>
          <p:nvPr/>
        </p:nvSpPr>
        <p:spPr>
          <a:xfrm xmlns:a="http://schemas.openxmlformats.org/drawingml/2006/main">
            <a:off x="5334719" y="3032760"/>
            <a:ext cx="318099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E54631F8-BDC3-4B1E-9532-E96DC12E1268}"/>
              </a:ext>
            </a:extLst>
          </p:cNvPr>
          <p:cNvSpPr>
            <a:spLocks xmlns:a="http://schemas.openxmlformats.org/drawingml/2006/main" noGrp="1"/>
          </p:cNvSpPr>
          <p:nvPr/>
        </p:nvSpPr>
        <p:spPr>
          <a:xfrm xmlns:a="http://schemas.openxmlformats.org/drawingml/2006/main">
            <a:off x="5382344" y="306133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完成 MVC 分层设计，建立 Model、Controller、View 基础结构</a:t>
            </a:r>
          </a:p>
        </p:txBody>
      </p:sp>
      <p:sp>
        <p:nvSpPr>
          <p:cNvPr id="31" name="">
            <a:extLst xmlns:a="http://schemas.openxmlformats.org/drawingml/2006/main">
              <a:ext uri="{FF2B5EF4-FFF2-40B4-BE49-F238E27FC236}">
                <a16:creationId xmlns:a16="http://schemas.microsoft.com/office/drawing/2014/main" id="{9D9BEF8F-9E48-44E8-94C8-85C2A317BB71}"/>
              </a:ext>
            </a:extLst>
          </p:cNvPr>
          <p:cNvSpPr>
            <a:spLocks xmlns:a="http://schemas.openxmlformats.org/drawingml/2006/main" noGrp="1"/>
          </p:cNvSpPr>
          <p:nvPr/>
        </p:nvSpPr>
        <p:spPr>
          <a:xfrm xmlns:a="http://schemas.openxmlformats.org/drawingml/2006/main">
            <a:off x="8515709" y="3032760"/>
            <a:ext cx="318099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F91A10F3-B25D-42F4-AE8A-1D1E5FA20B3D}"/>
              </a:ext>
            </a:extLst>
          </p:cNvPr>
          <p:cNvSpPr>
            <a:spLocks xmlns:a="http://schemas.openxmlformats.org/drawingml/2006/main" noGrp="1"/>
          </p:cNvSpPr>
          <p:nvPr/>
        </p:nvSpPr>
        <p:spPr>
          <a:xfrm xmlns:a="http://schemas.openxmlformats.org/drawingml/2006/main">
            <a:off x="8563334" y="306133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准备牌型、首出、过牌等规则测试思路</a:t>
            </a:r>
          </a:p>
        </p:txBody>
      </p:sp>
      <p:sp>
        <p:nvSpPr>
          <p:cNvPr id="33" name="">
            <a:extLst xmlns:a="http://schemas.openxmlformats.org/drawingml/2006/main">
              <a:ext uri="{FF2B5EF4-FFF2-40B4-BE49-F238E27FC236}">
                <a16:creationId xmlns:a16="http://schemas.microsoft.com/office/drawing/2014/main" id="{6F39E4F7-FD05-48DF-99A9-30A7F7129715}"/>
              </a:ext>
            </a:extLst>
          </p:cNvPr>
          <p:cNvSpPr>
            <a:spLocks xmlns:a="http://schemas.openxmlformats.org/drawingml/2006/main" noGrp="1"/>
          </p:cNvSpPr>
          <p:nvPr/>
        </p:nvSpPr>
        <p:spPr>
          <a:xfrm xmlns:a="http://schemas.openxmlformats.org/drawingml/2006/main">
            <a:off x="457200" y="3760470"/>
            <a:ext cx="1696528"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46836C43-74DC-40C7-B1DB-6FE00CE5F9FD}"/>
              </a:ext>
            </a:extLst>
          </p:cNvPr>
          <p:cNvSpPr>
            <a:spLocks xmlns:a="http://schemas.openxmlformats.org/drawingml/2006/main" noGrp="1"/>
          </p:cNvSpPr>
          <p:nvPr/>
        </p:nvSpPr>
        <p:spPr>
          <a:xfrm xmlns:a="http://schemas.openxmlformats.org/drawingml/2006/main">
            <a:off x="504825" y="3789045"/>
            <a:ext cx="1601278"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细化迭代 2</a:t>
            </a:r>
          </a:p>
        </p:txBody>
      </p:sp>
      <p:sp>
        <p:nvSpPr>
          <p:cNvPr id="35" name="">
            <a:extLst xmlns:a="http://schemas.openxmlformats.org/drawingml/2006/main">
              <a:ext uri="{FF2B5EF4-FFF2-40B4-BE49-F238E27FC236}">
                <a16:creationId xmlns:a16="http://schemas.microsoft.com/office/drawing/2014/main" id="{C0199980-B2D4-4AA1-8684-1DA044003884}"/>
              </a:ext>
            </a:extLst>
          </p:cNvPr>
          <p:cNvSpPr>
            <a:spLocks xmlns:a="http://schemas.openxmlformats.org/drawingml/2006/main" noGrp="1"/>
          </p:cNvSpPr>
          <p:nvPr/>
        </p:nvSpPr>
        <p:spPr>
          <a:xfrm xmlns:a="http://schemas.openxmlformats.org/drawingml/2006/main">
            <a:off x="2153728" y="3760470"/>
            <a:ext cx="318099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8BE1F8D0-5636-430B-9AE9-DDC141B32258}"/>
              </a:ext>
            </a:extLst>
          </p:cNvPr>
          <p:cNvSpPr>
            <a:spLocks xmlns:a="http://schemas.openxmlformats.org/drawingml/2006/main" noGrp="1"/>
          </p:cNvSpPr>
          <p:nvPr/>
        </p:nvSpPr>
        <p:spPr>
          <a:xfrm xmlns:a="http://schemas.openxmlformats.org/drawingml/2006/main">
            <a:off x="2201353" y="378904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更新蓝牙、规则相关 UML 元素</a:t>
            </a:r>
          </a:p>
        </p:txBody>
      </p:sp>
      <p:sp>
        <p:nvSpPr>
          <p:cNvPr id="37" name="">
            <a:extLst xmlns:a="http://schemas.openxmlformats.org/drawingml/2006/main">
              <a:ext uri="{FF2B5EF4-FFF2-40B4-BE49-F238E27FC236}">
                <a16:creationId xmlns:a16="http://schemas.microsoft.com/office/drawing/2014/main" id="{7D60BE86-B652-40CC-8E7C-B2D727F42512}"/>
              </a:ext>
            </a:extLst>
          </p:cNvPr>
          <p:cNvSpPr>
            <a:spLocks xmlns:a="http://schemas.openxmlformats.org/drawingml/2006/main" noGrp="1"/>
          </p:cNvSpPr>
          <p:nvPr/>
        </p:nvSpPr>
        <p:spPr>
          <a:xfrm xmlns:a="http://schemas.openxmlformats.org/drawingml/2006/main">
            <a:off x="5334719" y="3760470"/>
            <a:ext cx="318099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DD8A93A8-338B-4077-B75C-45127B24C720}"/>
              </a:ext>
            </a:extLst>
          </p:cNvPr>
          <p:cNvSpPr>
            <a:spLocks xmlns:a="http://schemas.openxmlformats.org/drawingml/2006/main" noGrp="1"/>
          </p:cNvSpPr>
          <p:nvPr/>
        </p:nvSpPr>
        <p:spPr>
          <a:xfrm xmlns:a="http://schemas.openxmlformats.org/drawingml/2006/main">
            <a:off x="5382344" y="378904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实现南北规则、牌型识别、蓝牙房间和消息协议</a:t>
            </a:r>
          </a:p>
        </p:txBody>
      </p:sp>
      <p:sp>
        <p:nvSpPr>
          <p:cNvPr id="39" name="">
            <a:extLst xmlns:a="http://schemas.openxmlformats.org/drawingml/2006/main">
              <a:ext uri="{FF2B5EF4-FFF2-40B4-BE49-F238E27FC236}">
                <a16:creationId xmlns:a16="http://schemas.microsoft.com/office/drawing/2014/main" id="{13B1BCE3-529C-4C7B-A4AE-50BEADAC7F7A}"/>
              </a:ext>
            </a:extLst>
          </p:cNvPr>
          <p:cNvSpPr>
            <a:spLocks xmlns:a="http://schemas.openxmlformats.org/drawingml/2006/main" noGrp="1"/>
          </p:cNvSpPr>
          <p:nvPr/>
        </p:nvSpPr>
        <p:spPr>
          <a:xfrm xmlns:a="http://schemas.openxmlformats.org/drawingml/2006/main">
            <a:off x="8515709" y="3760470"/>
            <a:ext cx="318099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AA4DA44E-F931-49C7-84F8-3EFCC1275340}"/>
              </a:ext>
            </a:extLst>
          </p:cNvPr>
          <p:cNvSpPr>
            <a:spLocks xmlns:a="http://schemas.openxmlformats.org/drawingml/2006/main" noGrp="1"/>
          </p:cNvSpPr>
          <p:nvPr/>
        </p:nvSpPr>
        <p:spPr>
          <a:xfrm xmlns:a="http://schemas.openxmlformats.org/drawingml/2006/main">
            <a:off x="8563334" y="378904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编写规则测试、消息编解码测试、房间座位测试</a:t>
            </a:r>
          </a:p>
        </p:txBody>
      </p:sp>
      <p:sp>
        <p:nvSpPr>
          <p:cNvPr id="41" name="">
            <a:extLst xmlns:a="http://schemas.openxmlformats.org/drawingml/2006/main">
              <a:ext uri="{FF2B5EF4-FFF2-40B4-BE49-F238E27FC236}">
                <a16:creationId xmlns:a16="http://schemas.microsoft.com/office/drawing/2014/main" id="{2E6D3609-CA07-4450-B215-92AD716A67F6}"/>
              </a:ext>
            </a:extLst>
          </p:cNvPr>
          <p:cNvSpPr>
            <a:spLocks xmlns:a="http://schemas.openxmlformats.org/drawingml/2006/main" noGrp="1"/>
          </p:cNvSpPr>
          <p:nvPr/>
        </p:nvSpPr>
        <p:spPr>
          <a:xfrm xmlns:a="http://schemas.openxmlformats.org/drawingml/2006/main">
            <a:off x="457200" y="4488180"/>
            <a:ext cx="1696528"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7FDE464B-726C-4228-A513-64ED1A89AD93}"/>
              </a:ext>
            </a:extLst>
          </p:cNvPr>
          <p:cNvSpPr>
            <a:spLocks xmlns:a="http://schemas.openxmlformats.org/drawingml/2006/main" noGrp="1"/>
          </p:cNvSpPr>
          <p:nvPr/>
        </p:nvSpPr>
        <p:spPr>
          <a:xfrm xmlns:a="http://schemas.openxmlformats.org/drawingml/2006/main">
            <a:off x="504825" y="4516755"/>
            <a:ext cx="1601278"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细化迭代 3</a:t>
            </a:r>
          </a:p>
        </p:txBody>
      </p:sp>
      <p:sp>
        <p:nvSpPr>
          <p:cNvPr id="43" name="">
            <a:extLst xmlns:a="http://schemas.openxmlformats.org/drawingml/2006/main">
              <a:ext uri="{FF2B5EF4-FFF2-40B4-BE49-F238E27FC236}">
                <a16:creationId xmlns:a16="http://schemas.microsoft.com/office/drawing/2014/main" id="{D8F3AF49-720A-4B60-ABAB-40B84243BCB4}"/>
              </a:ext>
            </a:extLst>
          </p:cNvPr>
          <p:cNvSpPr>
            <a:spLocks xmlns:a="http://schemas.openxmlformats.org/drawingml/2006/main" noGrp="1"/>
          </p:cNvSpPr>
          <p:nvPr/>
        </p:nvSpPr>
        <p:spPr>
          <a:xfrm xmlns:a="http://schemas.openxmlformats.org/drawingml/2006/main">
            <a:off x="2153728" y="4488180"/>
            <a:ext cx="318099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4DDCC506-BC1F-45A2-B420-09F23DE45065}"/>
              </a:ext>
            </a:extLst>
          </p:cNvPr>
          <p:cNvSpPr>
            <a:spLocks xmlns:a="http://schemas.openxmlformats.org/drawingml/2006/main" noGrp="1"/>
          </p:cNvSpPr>
          <p:nvPr/>
        </p:nvSpPr>
        <p:spPr>
          <a:xfrm xmlns:a="http://schemas.openxmlformats.org/drawingml/2006/main">
            <a:off x="2201353" y="451675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绘制状态图，补充 AI、玩家成长与牌局状态转换</a:t>
            </a:r>
          </a:p>
        </p:txBody>
      </p:sp>
      <p:sp>
        <p:nvSpPr>
          <p:cNvPr id="45" name="">
            <a:extLst xmlns:a="http://schemas.openxmlformats.org/drawingml/2006/main">
              <a:ext uri="{FF2B5EF4-FFF2-40B4-BE49-F238E27FC236}">
                <a16:creationId xmlns:a16="http://schemas.microsoft.com/office/drawing/2014/main" id="{24F3463D-0194-41E8-9FD8-238D6A4A7C26}"/>
              </a:ext>
            </a:extLst>
          </p:cNvPr>
          <p:cNvSpPr>
            <a:spLocks xmlns:a="http://schemas.openxmlformats.org/drawingml/2006/main" noGrp="1"/>
          </p:cNvSpPr>
          <p:nvPr/>
        </p:nvSpPr>
        <p:spPr>
          <a:xfrm xmlns:a="http://schemas.openxmlformats.org/drawingml/2006/main">
            <a:off x="5334719" y="4488180"/>
            <a:ext cx="318099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29682A77-6C1B-4238-906D-F33D199CE9AB}"/>
              </a:ext>
            </a:extLst>
          </p:cNvPr>
          <p:cNvSpPr>
            <a:spLocks xmlns:a="http://schemas.openxmlformats.org/drawingml/2006/main" noGrp="1"/>
          </p:cNvSpPr>
          <p:nvPr/>
        </p:nvSpPr>
        <p:spPr>
          <a:xfrm xmlns:a="http://schemas.openxmlformats.org/drawingml/2006/main">
            <a:off x="5382344" y="451675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实现三档 AI 策略、牌桌 UI 状态切换和玩家成长系统</a:t>
            </a:r>
          </a:p>
        </p:txBody>
      </p:sp>
      <p:sp>
        <p:nvSpPr>
          <p:cNvPr id="47" name="">
            <a:extLst xmlns:a="http://schemas.openxmlformats.org/drawingml/2006/main">
              <a:ext uri="{FF2B5EF4-FFF2-40B4-BE49-F238E27FC236}">
                <a16:creationId xmlns:a16="http://schemas.microsoft.com/office/drawing/2014/main" id="{A485BE50-E93E-481C-9881-617E272006EF}"/>
              </a:ext>
            </a:extLst>
          </p:cNvPr>
          <p:cNvSpPr>
            <a:spLocks xmlns:a="http://schemas.openxmlformats.org/drawingml/2006/main" noGrp="1"/>
          </p:cNvSpPr>
          <p:nvPr/>
        </p:nvSpPr>
        <p:spPr>
          <a:xfrm xmlns:a="http://schemas.openxmlformats.org/drawingml/2006/main">
            <a:off x="8515709" y="4488180"/>
            <a:ext cx="318099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4A716831-A619-4549-BA3E-B1C374A35F46}"/>
              </a:ext>
            </a:extLst>
          </p:cNvPr>
          <p:cNvSpPr>
            <a:spLocks xmlns:a="http://schemas.openxmlformats.org/drawingml/2006/main" noGrp="1"/>
          </p:cNvSpPr>
          <p:nvPr/>
        </p:nvSpPr>
        <p:spPr>
          <a:xfrm xmlns:a="http://schemas.openxmlformats.org/drawingml/2006/main">
            <a:off x="8563334" y="451675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测试 AI 合法动作、随机多局完成、玩家成长和动画 key 稳定性</a:t>
            </a:r>
          </a:p>
        </p:txBody>
      </p:sp>
      <p:sp>
        <p:nvSpPr>
          <p:cNvPr id="49" name="">
            <a:extLst xmlns:a="http://schemas.openxmlformats.org/drawingml/2006/main">
              <a:ext uri="{FF2B5EF4-FFF2-40B4-BE49-F238E27FC236}">
                <a16:creationId xmlns:a16="http://schemas.microsoft.com/office/drawing/2014/main" id="{EB905C74-EA51-49A7-8FD7-44A77DE5EC04}"/>
              </a:ext>
            </a:extLst>
          </p:cNvPr>
          <p:cNvSpPr>
            <a:spLocks xmlns:a="http://schemas.openxmlformats.org/drawingml/2006/main" noGrp="1"/>
          </p:cNvSpPr>
          <p:nvPr/>
        </p:nvSpPr>
        <p:spPr>
          <a:xfrm xmlns:a="http://schemas.openxmlformats.org/drawingml/2006/main">
            <a:off x="457200" y="5215890"/>
            <a:ext cx="1696528"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E2CFDF8F-EC73-49E5-B3B2-12562648A771}"/>
              </a:ext>
            </a:extLst>
          </p:cNvPr>
          <p:cNvSpPr>
            <a:spLocks xmlns:a="http://schemas.openxmlformats.org/drawingml/2006/main" noGrp="1"/>
          </p:cNvSpPr>
          <p:nvPr/>
        </p:nvSpPr>
        <p:spPr>
          <a:xfrm xmlns:a="http://schemas.openxmlformats.org/drawingml/2006/main">
            <a:off x="504825" y="5244465"/>
            <a:ext cx="1601278"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交付</a:t>
            </a:r>
          </a:p>
        </p:txBody>
      </p:sp>
      <p:sp>
        <p:nvSpPr>
          <p:cNvPr id="51" name="">
            <a:extLst xmlns:a="http://schemas.openxmlformats.org/drawingml/2006/main">
              <a:ext uri="{FF2B5EF4-FFF2-40B4-BE49-F238E27FC236}">
                <a16:creationId xmlns:a16="http://schemas.microsoft.com/office/drawing/2014/main" id="{13AF7D05-198D-4FDD-8FAD-4D9E905A579F}"/>
              </a:ext>
            </a:extLst>
          </p:cNvPr>
          <p:cNvSpPr>
            <a:spLocks xmlns:a="http://schemas.openxmlformats.org/drawingml/2006/main" noGrp="1"/>
          </p:cNvSpPr>
          <p:nvPr/>
        </p:nvSpPr>
        <p:spPr>
          <a:xfrm xmlns:a="http://schemas.openxmlformats.org/drawingml/2006/main">
            <a:off x="2153728" y="5215890"/>
            <a:ext cx="318099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2E060A33-E5DF-4E9B-8D5D-FCBF2585EBA9}"/>
              </a:ext>
            </a:extLst>
          </p:cNvPr>
          <p:cNvSpPr>
            <a:spLocks xmlns:a="http://schemas.openxmlformats.org/drawingml/2006/main" noGrp="1"/>
          </p:cNvSpPr>
          <p:nvPr/>
        </p:nvSpPr>
        <p:spPr>
          <a:xfrm xmlns:a="http://schemas.openxmlformats.org/drawingml/2006/main">
            <a:off x="2201353" y="524446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核对 UML 图与最终代码一致</a:t>
            </a:r>
          </a:p>
        </p:txBody>
      </p:sp>
      <p:sp>
        <p:nvSpPr>
          <p:cNvPr id="53" name="">
            <a:extLst xmlns:a="http://schemas.openxmlformats.org/drawingml/2006/main">
              <a:ext uri="{FF2B5EF4-FFF2-40B4-BE49-F238E27FC236}">
                <a16:creationId xmlns:a16="http://schemas.microsoft.com/office/drawing/2014/main" id="{19B66D20-9E84-4A32-81FA-64FCB0858C2C}"/>
              </a:ext>
            </a:extLst>
          </p:cNvPr>
          <p:cNvSpPr>
            <a:spLocks xmlns:a="http://schemas.openxmlformats.org/drawingml/2006/main" noGrp="1"/>
          </p:cNvSpPr>
          <p:nvPr/>
        </p:nvSpPr>
        <p:spPr>
          <a:xfrm xmlns:a="http://schemas.openxmlformats.org/drawingml/2006/main">
            <a:off x="5334719" y="5215890"/>
            <a:ext cx="318099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AA4036F4-2A73-4AA2-9340-30C633065532}"/>
              </a:ext>
            </a:extLst>
          </p:cNvPr>
          <p:cNvSpPr>
            <a:spLocks xmlns:a="http://schemas.openxmlformats.org/drawingml/2006/main" noGrp="1"/>
          </p:cNvSpPr>
          <p:nvPr/>
        </p:nvSpPr>
        <p:spPr>
          <a:xfrm xmlns:a="http://schemas.openxmlformats.org/drawingml/2006/main">
            <a:off x="5382344" y="524446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集成音效动画、Release 签名包、GitHub 托管和最终文档</a:t>
            </a:r>
          </a:p>
        </p:txBody>
      </p:sp>
      <p:sp>
        <p:nvSpPr>
          <p:cNvPr id="55" name="">
            <a:extLst xmlns:a="http://schemas.openxmlformats.org/drawingml/2006/main">
              <a:ext uri="{FF2B5EF4-FFF2-40B4-BE49-F238E27FC236}">
                <a16:creationId xmlns:a16="http://schemas.microsoft.com/office/drawing/2014/main" id="{E3D115D8-88EC-4B09-A92A-0922B8DFEAAE}"/>
              </a:ext>
            </a:extLst>
          </p:cNvPr>
          <p:cNvSpPr>
            <a:spLocks xmlns:a="http://schemas.openxmlformats.org/drawingml/2006/main" noGrp="1"/>
          </p:cNvSpPr>
          <p:nvPr/>
        </p:nvSpPr>
        <p:spPr>
          <a:xfrm xmlns:a="http://schemas.openxmlformats.org/drawingml/2006/main">
            <a:off x="8515709" y="5215890"/>
            <a:ext cx="318099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305277E2-2380-4CE0-8FBE-555CDC3CFD45}"/>
              </a:ext>
            </a:extLst>
          </p:cNvPr>
          <p:cNvSpPr>
            <a:spLocks xmlns:a="http://schemas.openxmlformats.org/drawingml/2006/main" noGrp="1"/>
          </p:cNvSpPr>
          <p:nvPr/>
        </p:nvSpPr>
        <p:spPr>
          <a:xfrm xmlns:a="http://schemas.openxmlformats.org/drawingml/2006/main">
            <a:off x="8563334" y="5244465"/>
            <a:ext cx="308574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执行单元测试、构建测试、真机/模拟器验收</a:t>
            </a:r>
          </a:p>
        </p:txBody>
      </p:sp>
    </p:spTree>
    <p:extLst>
      <p:ext uri="{BB962C8B-B14F-4D97-AF65-F5344CB8AC3E}">
        <p14:creationId xmlns:p14="http://schemas.microsoft.com/office/powerpoint/2010/main" val="197255304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3C140E-4CFF-4440-9F7F-D4BF4E30EE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B7A35D-ACF1-4ACB-AA14-A2D6163EC5A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481F92E-C4CF-41F8-9DBF-AD20939E67BF}"/>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D30C9753-055E-49EA-84D1-1AC808A8F04A}"/>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3. 小组分工与协作方式</a:t>
            </a:r>
          </a:p>
        </p:txBody>
      </p:sp>
      <p:sp>
        <p:nvSpPr>
          <p:cNvPr id="5" name="">
            <a:extLst xmlns:a="http://schemas.openxmlformats.org/drawingml/2006/main">
              <a:ext uri="{FF2B5EF4-FFF2-40B4-BE49-F238E27FC236}">
                <a16:creationId xmlns:a16="http://schemas.microsoft.com/office/drawing/2014/main" id="{FC2D7CBB-E137-404D-B1F3-C4E31D12E394}"/>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12</a:t>
            </a:r>
          </a:p>
        </p:txBody>
      </p:sp>
      <p:sp>
        <p:nvSpPr>
          <p:cNvPr id="6" name="">
            <a:extLst xmlns:a="http://schemas.openxmlformats.org/drawingml/2006/main">
              <a:ext uri="{FF2B5EF4-FFF2-40B4-BE49-F238E27FC236}">
                <a16:creationId xmlns:a16="http://schemas.microsoft.com/office/drawing/2014/main" id="{79186301-8FAB-4415-A59B-1B3A307C07BC}"/>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AA6B24E8-DCA2-4416-B0CE-A81EF143D9DD}"/>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3.3 SCRUM 协作说明（1/2）</a:t>
            </a:r>
          </a:p>
        </p:txBody>
      </p:sp>
      <p:sp>
        <p:nvSpPr>
          <p:cNvPr id="8" name="">
            <a:extLst xmlns:a="http://schemas.openxmlformats.org/drawingml/2006/main">
              <a:ext uri="{FF2B5EF4-FFF2-40B4-BE49-F238E27FC236}">
                <a16:creationId xmlns:a16="http://schemas.microsoft.com/office/drawing/2014/main" id="{B6B7F24D-2D13-4CE6-8F8F-9D0FA5ED1843}"/>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00C20FB-AE24-4B22-BDFD-77799CDC31A6}"/>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小组按照周迭代推进，每周确定一个 Sprint 目标，并在阶段提交前整理对应文档和代码成果。协作过程以“需求和建模先行、功能实现跟进、测试与文档同步补齐”为原则。遇到蓝牙真机数量不足、南北规则地区差异、动画性能和文档同步等风险时，采用模拟测试、规则封装、Compose 性能检查和最终检查表逐项核对的方式降低风险。</a:t>
            </a:r>
          </a:p>
        </p:txBody>
      </p:sp>
    </p:spTree>
    <p:extLst>
      <p:ext uri="{BB962C8B-B14F-4D97-AF65-F5344CB8AC3E}">
        <p14:creationId xmlns:p14="http://schemas.microsoft.com/office/powerpoint/2010/main" val="49215507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BA32993-A83D-495B-ABDD-490390EDB9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FAD5C5-EE39-4B4D-AF68-14EA0D840172}"/>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3D99049-4D11-4EA7-986C-58BE9D06E34D}"/>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7D7A7AAD-CDDE-4287-AE29-B330AB458D86}"/>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3. 小组分工与协作方式</a:t>
            </a:r>
          </a:p>
        </p:txBody>
      </p:sp>
      <p:sp>
        <p:nvSpPr>
          <p:cNvPr id="5" name="">
            <a:extLst xmlns:a="http://schemas.openxmlformats.org/drawingml/2006/main">
              <a:ext uri="{FF2B5EF4-FFF2-40B4-BE49-F238E27FC236}">
                <a16:creationId xmlns:a16="http://schemas.microsoft.com/office/drawing/2014/main" id="{0B2A1366-9190-4D7D-B2C0-1C7939C631AF}"/>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13</a:t>
            </a:r>
          </a:p>
        </p:txBody>
      </p:sp>
      <p:sp>
        <p:nvSpPr>
          <p:cNvPr id="6" name="">
            <a:extLst xmlns:a="http://schemas.openxmlformats.org/drawingml/2006/main">
              <a:ext uri="{FF2B5EF4-FFF2-40B4-BE49-F238E27FC236}">
                <a16:creationId xmlns:a16="http://schemas.microsoft.com/office/drawing/2014/main" id="{C5686F80-F6C2-4A17-9A5F-E1E06667E5ED}"/>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08E82264-EE36-4C86-A079-2391F7DA0E04}"/>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3.3 SCRUM 协作说明（2/2）</a:t>
            </a:r>
          </a:p>
        </p:txBody>
      </p:sp>
      <p:sp>
        <p:nvSpPr>
          <p:cNvPr id="8" name="">
            <a:extLst xmlns:a="http://schemas.openxmlformats.org/drawingml/2006/main">
              <a:ext uri="{FF2B5EF4-FFF2-40B4-BE49-F238E27FC236}">
                <a16:creationId xmlns:a16="http://schemas.microsoft.com/office/drawing/2014/main" id="{95AC447D-1DE2-4E1A-B18C-4EDF6EC3CD3A}"/>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31B03A2-F098-44F6-B251-E13A8B00D1EE}"/>
              </a:ext>
            </a:extLst>
          </p:cNvPr>
          <p:cNvSpPr>
            <a:spLocks xmlns:a="http://schemas.openxmlformats.org/drawingml/2006/main" noGrp="1"/>
          </p:cNvSpPr>
          <p:nvPr/>
        </p:nvSpPr>
        <p:spPr>
          <a:xfrm xmlns:a="http://schemas.openxmlformats.org/drawingml/2006/main">
            <a:off x="457200" y="1905000"/>
            <a:ext cx="37465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D137249D-F6FB-4483-A8E5-8E54E125644D}"/>
              </a:ext>
            </a:extLst>
          </p:cNvPr>
          <p:cNvSpPr>
            <a:spLocks xmlns:a="http://schemas.openxmlformats.org/drawingml/2006/main" noGrp="1"/>
          </p:cNvSpPr>
          <p:nvPr/>
        </p:nvSpPr>
        <p:spPr>
          <a:xfrm xmlns:a="http://schemas.openxmlformats.org/drawingml/2006/main">
            <a:off x="504825" y="1943100"/>
            <a:ext cx="365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Sprint</a:t>
            </a:r>
          </a:p>
        </p:txBody>
      </p:sp>
      <p:sp>
        <p:nvSpPr>
          <p:cNvPr id="11" name="">
            <a:extLst xmlns:a="http://schemas.openxmlformats.org/drawingml/2006/main">
              <a:ext uri="{FF2B5EF4-FFF2-40B4-BE49-F238E27FC236}">
                <a16:creationId xmlns:a16="http://schemas.microsoft.com/office/drawing/2014/main" id="{09B20126-2C56-4A6A-924D-E4E2320CE816}"/>
              </a:ext>
            </a:extLst>
          </p:cNvPr>
          <p:cNvSpPr>
            <a:spLocks xmlns:a="http://schemas.openxmlformats.org/drawingml/2006/main" noGrp="1"/>
          </p:cNvSpPr>
          <p:nvPr/>
        </p:nvSpPr>
        <p:spPr>
          <a:xfrm xmlns:a="http://schemas.openxmlformats.org/drawingml/2006/main">
            <a:off x="4203700" y="1905000"/>
            <a:ext cx="37465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68FB7BD4-E12F-49D3-93A6-AD12BE47D7EB}"/>
              </a:ext>
            </a:extLst>
          </p:cNvPr>
          <p:cNvSpPr>
            <a:spLocks xmlns:a="http://schemas.openxmlformats.org/drawingml/2006/main" noGrp="1"/>
          </p:cNvSpPr>
          <p:nvPr/>
        </p:nvSpPr>
        <p:spPr>
          <a:xfrm xmlns:a="http://schemas.openxmlformats.org/drawingml/2006/main">
            <a:off x="4251325" y="1943100"/>
            <a:ext cx="365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目标</a:t>
            </a:r>
          </a:p>
        </p:txBody>
      </p:sp>
      <p:sp>
        <p:nvSpPr>
          <p:cNvPr id="13" name="">
            <a:extLst xmlns:a="http://schemas.openxmlformats.org/drawingml/2006/main">
              <a:ext uri="{FF2B5EF4-FFF2-40B4-BE49-F238E27FC236}">
                <a16:creationId xmlns:a16="http://schemas.microsoft.com/office/drawing/2014/main" id="{0CFD7E88-10D7-4997-8B37-ABF556668A63}"/>
              </a:ext>
            </a:extLst>
          </p:cNvPr>
          <p:cNvSpPr>
            <a:spLocks xmlns:a="http://schemas.openxmlformats.org/drawingml/2006/main" noGrp="1"/>
          </p:cNvSpPr>
          <p:nvPr/>
        </p:nvSpPr>
        <p:spPr>
          <a:xfrm xmlns:a="http://schemas.openxmlformats.org/drawingml/2006/main">
            <a:off x="7950200" y="1905000"/>
            <a:ext cx="37465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9BAB1F6E-CAA1-46C3-AE4E-54A8CE2C844C}"/>
              </a:ext>
            </a:extLst>
          </p:cNvPr>
          <p:cNvSpPr>
            <a:spLocks xmlns:a="http://schemas.openxmlformats.org/drawingml/2006/main" noGrp="1"/>
          </p:cNvSpPr>
          <p:nvPr/>
        </p:nvSpPr>
        <p:spPr>
          <a:xfrm xmlns:a="http://schemas.openxmlformats.org/drawingml/2006/main">
            <a:off x="7997825" y="1943100"/>
            <a:ext cx="365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主要产出</a:t>
            </a:r>
          </a:p>
        </p:txBody>
      </p:sp>
      <p:sp>
        <p:nvSpPr>
          <p:cNvPr id="15" name="">
            <a:extLst xmlns:a="http://schemas.openxmlformats.org/drawingml/2006/main">
              <a:ext uri="{FF2B5EF4-FFF2-40B4-BE49-F238E27FC236}">
                <a16:creationId xmlns:a16="http://schemas.microsoft.com/office/drawing/2014/main" id="{2C00C3A8-4FF2-4CAA-A1D1-E51DF3FE6393}"/>
              </a:ext>
            </a:extLst>
          </p:cNvPr>
          <p:cNvSpPr>
            <a:spLocks xmlns:a="http://schemas.openxmlformats.org/drawingml/2006/main" noGrp="1"/>
          </p:cNvSpPr>
          <p:nvPr/>
        </p:nvSpPr>
        <p:spPr>
          <a:xfrm xmlns:a="http://schemas.openxmlformats.org/drawingml/2006/main">
            <a:off x="457200" y="2305050"/>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8CA942D4-3939-43F2-BE4D-EEDC58713BC9}"/>
              </a:ext>
            </a:extLst>
          </p:cNvPr>
          <p:cNvSpPr>
            <a:spLocks xmlns:a="http://schemas.openxmlformats.org/drawingml/2006/main" noGrp="1"/>
          </p:cNvSpPr>
          <p:nvPr/>
        </p:nvSpPr>
        <p:spPr>
          <a:xfrm xmlns:a="http://schemas.openxmlformats.org/drawingml/2006/main">
            <a:off x="504825" y="2333625"/>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Sprint 1</a:t>
            </a:r>
          </a:p>
        </p:txBody>
      </p:sp>
      <p:sp>
        <p:nvSpPr>
          <p:cNvPr id="17" name="">
            <a:extLst xmlns:a="http://schemas.openxmlformats.org/drawingml/2006/main">
              <a:ext uri="{FF2B5EF4-FFF2-40B4-BE49-F238E27FC236}">
                <a16:creationId xmlns:a16="http://schemas.microsoft.com/office/drawing/2014/main" id="{F6803C7F-2E7E-45EB-9EF7-242CEC426E5A}"/>
              </a:ext>
            </a:extLst>
          </p:cNvPr>
          <p:cNvSpPr>
            <a:spLocks xmlns:a="http://schemas.openxmlformats.org/drawingml/2006/main" noGrp="1"/>
          </p:cNvSpPr>
          <p:nvPr/>
        </p:nvSpPr>
        <p:spPr>
          <a:xfrm xmlns:a="http://schemas.openxmlformats.org/drawingml/2006/main">
            <a:off x="4203700" y="2305050"/>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3BFD37EB-4B93-4D10-B814-1BE307609D0C}"/>
              </a:ext>
            </a:extLst>
          </p:cNvPr>
          <p:cNvSpPr>
            <a:spLocks xmlns:a="http://schemas.openxmlformats.org/drawingml/2006/main" noGrp="1"/>
          </p:cNvSpPr>
          <p:nvPr/>
        </p:nvSpPr>
        <p:spPr>
          <a:xfrm xmlns:a="http://schemas.openxmlformats.org/drawingml/2006/main">
            <a:off x="4251325" y="2333625"/>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需求分析和 UML 建模</a:t>
            </a:r>
          </a:p>
        </p:txBody>
      </p:sp>
      <p:sp>
        <p:nvSpPr>
          <p:cNvPr id="19" name="">
            <a:extLst xmlns:a="http://schemas.openxmlformats.org/drawingml/2006/main">
              <a:ext uri="{FF2B5EF4-FFF2-40B4-BE49-F238E27FC236}">
                <a16:creationId xmlns:a16="http://schemas.microsoft.com/office/drawing/2014/main" id="{C1D2F73E-568E-43C0-82AC-EF4D0FFF779F}"/>
              </a:ext>
            </a:extLst>
          </p:cNvPr>
          <p:cNvSpPr>
            <a:spLocks xmlns:a="http://schemas.openxmlformats.org/drawingml/2006/main" noGrp="1"/>
          </p:cNvSpPr>
          <p:nvPr/>
        </p:nvSpPr>
        <p:spPr>
          <a:xfrm xmlns:a="http://schemas.openxmlformats.org/drawingml/2006/main">
            <a:off x="7950200" y="2305050"/>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AFDF1636-70BA-41EF-8674-A3041E41A139}"/>
              </a:ext>
            </a:extLst>
          </p:cNvPr>
          <p:cNvSpPr>
            <a:spLocks xmlns:a="http://schemas.openxmlformats.org/drawingml/2006/main" noGrp="1"/>
          </p:cNvSpPr>
          <p:nvPr/>
        </p:nvSpPr>
        <p:spPr>
          <a:xfrm xmlns:a="http://schemas.openxmlformats.org/drawingml/2006/main">
            <a:off x="7997825" y="2333625"/>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需求说明、用例图、类图、状态图</a:t>
            </a:r>
          </a:p>
        </p:txBody>
      </p:sp>
      <p:sp>
        <p:nvSpPr>
          <p:cNvPr id="21" name="">
            <a:extLst xmlns:a="http://schemas.openxmlformats.org/drawingml/2006/main">
              <a:ext uri="{FF2B5EF4-FFF2-40B4-BE49-F238E27FC236}">
                <a16:creationId xmlns:a16="http://schemas.microsoft.com/office/drawing/2014/main" id="{8BDF8FB0-154A-43B9-A176-74675FA12789}"/>
              </a:ext>
            </a:extLst>
          </p:cNvPr>
          <p:cNvSpPr>
            <a:spLocks xmlns:a="http://schemas.openxmlformats.org/drawingml/2006/main" noGrp="1"/>
          </p:cNvSpPr>
          <p:nvPr/>
        </p:nvSpPr>
        <p:spPr>
          <a:xfrm xmlns:a="http://schemas.openxmlformats.org/drawingml/2006/main">
            <a:off x="457200" y="2824843"/>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ED9F0B68-2AE5-4EAD-83FE-15E00644FB51}"/>
              </a:ext>
            </a:extLst>
          </p:cNvPr>
          <p:cNvSpPr>
            <a:spLocks xmlns:a="http://schemas.openxmlformats.org/drawingml/2006/main" noGrp="1"/>
          </p:cNvSpPr>
          <p:nvPr/>
        </p:nvSpPr>
        <p:spPr>
          <a:xfrm xmlns:a="http://schemas.openxmlformats.org/drawingml/2006/main">
            <a:off x="504825" y="2853418"/>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Sprint 2</a:t>
            </a:r>
          </a:p>
        </p:txBody>
      </p:sp>
      <p:sp>
        <p:nvSpPr>
          <p:cNvPr id="23" name="">
            <a:extLst xmlns:a="http://schemas.openxmlformats.org/drawingml/2006/main">
              <a:ext uri="{FF2B5EF4-FFF2-40B4-BE49-F238E27FC236}">
                <a16:creationId xmlns:a16="http://schemas.microsoft.com/office/drawing/2014/main" id="{F730483D-386A-4645-BC58-E064901CF533}"/>
              </a:ext>
            </a:extLst>
          </p:cNvPr>
          <p:cNvSpPr>
            <a:spLocks xmlns:a="http://schemas.openxmlformats.org/drawingml/2006/main" noGrp="1"/>
          </p:cNvSpPr>
          <p:nvPr/>
        </p:nvSpPr>
        <p:spPr>
          <a:xfrm xmlns:a="http://schemas.openxmlformats.org/drawingml/2006/main">
            <a:off x="4203700" y="2824843"/>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74DDCFA2-3749-49FA-B6C4-237711F93E7C}"/>
              </a:ext>
            </a:extLst>
          </p:cNvPr>
          <p:cNvSpPr>
            <a:spLocks xmlns:a="http://schemas.openxmlformats.org/drawingml/2006/main" noGrp="1"/>
          </p:cNvSpPr>
          <p:nvPr/>
        </p:nvSpPr>
        <p:spPr>
          <a:xfrm xmlns:a="http://schemas.openxmlformats.org/drawingml/2006/main">
            <a:off x="4251325" y="2853418"/>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核心规则和人机对局</a:t>
            </a:r>
          </a:p>
        </p:txBody>
      </p:sp>
      <p:sp>
        <p:nvSpPr>
          <p:cNvPr id="25" name="">
            <a:extLst xmlns:a="http://schemas.openxmlformats.org/drawingml/2006/main">
              <a:ext uri="{FF2B5EF4-FFF2-40B4-BE49-F238E27FC236}">
                <a16:creationId xmlns:a16="http://schemas.microsoft.com/office/drawing/2014/main" id="{619B430C-DBD2-4D49-A682-54F8C29B9B82}"/>
              </a:ext>
            </a:extLst>
          </p:cNvPr>
          <p:cNvSpPr>
            <a:spLocks xmlns:a="http://schemas.openxmlformats.org/drawingml/2006/main" noGrp="1"/>
          </p:cNvSpPr>
          <p:nvPr/>
        </p:nvSpPr>
        <p:spPr>
          <a:xfrm xmlns:a="http://schemas.openxmlformats.org/drawingml/2006/main">
            <a:off x="7950200" y="2824843"/>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2B5EEA37-9B48-4BF1-B1D1-965821C0426A}"/>
              </a:ext>
            </a:extLst>
          </p:cNvPr>
          <p:cNvSpPr>
            <a:spLocks xmlns:a="http://schemas.openxmlformats.org/drawingml/2006/main" noGrp="1"/>
          </p:cNvSpPr>
          <p:nvPr/>
        </p:nvSpPr>
        <p:spPr>
          <a:xfrm xmlns:a="http://schemas.openxmlformats.org/drawingml/2006/main">
            <a:off x="7997825" y="2853418"/>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牌型识别、南北规则、GameController、AI 策略</a:t>
            </a:r>
          </a:p>
        </p:txBody>
      </p:sp>
      <p:sp>
        <p:nvSpPr>
          <p:cNvPr id="27" name="">
            <a:extLst xmlns:a="http://schemas.openxmlformats.org/drawingml/2006/main">
              <a:ext uri="{FF2B5EF4-FFF2-40B4-BE49-F238E27FC236}">
                <a16:creationId xmlns:a16="http://schemas.microsoft.com/office/drawing/2014/main" id="{A5319369-EE1F-470F-982C-FE2D31440B38}"/>
              </a:ext>
            </a:extLst>
          </p:cNvPr>
          <p:cNvSpPr>
            <a:spLocks xmlns:a="http://schemas.openxmlformats.org/drawingml/2006/main" noGrp="1"/>
          </p:cNvSpPr>
          <p:nvPr/>
        </p:nvSpPr>
        <p:spPr>
          <a:xfrm xmlns:a="http://schemas.openxmlformats.org/drawingml/2006/main">
            <a:off x="457200" y="3344636"/>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4C82B085-7D01-4C86-A5F6-694E383C41D3}"/>
              </a:ext>
            </a:extLst>
          </p:cNvPr>
          <p:cNvSpPr>
            <a:spLocks xmlns:a="http://schemas.openxmlformats.org/drawingml/2006/main" noGrp="1"/>
          </p:cNvSpPr>
          <p:nvPr/>
        </p:nvSpPr>
        <p:spPr>
          <a:xfrm xmlns:a="http://schemas.openxmlformats.org/drawingml/2006/main">
            <a:off x="504825" y="3373211"/>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Sprint 3</a:t>
            </a:r>
          </a:p>
        </p:txBody>
      </p:sp>
      <p:sp>
        <p:nvSpPr>
          <p:cNvPr id="29" name="">
            <a:extLst xmlns:a="http://schemas.openxmlformats.org/drawingml/2006/main">
              <a:ext uri="{FF2B5EF4-FFF2-40B4-BE49-F238E27FC236}">
                <a16:creationId xmlns:a16="http://schemas.microsoft.com/office/drawing/2014/main" id="{F1A9C69F-91B5-4D35-A87A-5285F44A7B81}"/>
              </a:ext>
            </a:extLst>
          </p:cNvPr>
          <p:cNvSpPr>
            <a:spLocks xmlns:a="http://schemas.openxmlformats.org/drawingml/2006/main" noGrp="1"/>
          </p:cNvSpPr>
          <p:nvPr/>
        </p:nvSpPr>
        <p:spPr>
          <a:xfrm xmlns:a="http://schemas.openxmlformats.org/drawingml/2006/main">
            <a:off x="4203700" y="3344636"/>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FDD8773A-96C7-402C-ACD3-444EC3A42307}"/>
              </a:ext>
            </a:extLst>
          </p:cNvPr>
          <p:cNvSpPr>
            <a:spLocks xmlns:a="http://schemas.openxmlformats.org/drawingml/2006/main" noGrp="1"/>
          </p:cNvSpPr>
          <p:nvPr/>
        </p:nvSpPr>
        <p:spPr>
          <a:xfrm xmlns:a="http://schemas.openxmlformats.org/drawingml/2006/main">
            <a:off x="4251325" y="3373211"/>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蓝牙联机和房间</a:t>
            </a:r>
          </a:p>
        </p:txBody>
      </p:sp>
      <p:sp>
        <p:nvSpPr>
          <p:cNvPr id="31" name="">
            <a:extLst xmlns:a="http://schemas.openxmlformats.org/drawingml/2006/main">
              <a:ext uri="{FF2B5EF4-FFF2-40B4-BE49-F238E27FC236}">
                <a16:creationId xmlns:a16="http://schemas.microsoft.com/office/drawing/2014/main" id="{8CBFC0A6-BB7B-41F2-BCD2-0C8D15787D19}"/>
              </a:ext>
            </a:extLst>
          </p:cNvPr>
          <p:cNvSpPr>
            <a:spLocks xmlns:a="http://schemas.openxmlformats.org/drawingml/2006/main" noGrp="1"/>
          </p:cNvSpPr>
          <p:nvPr/>
        </p:nvSpPr>
        <p:spPr>
          <a:xfrm xmlns:a="http://schemas.openxmlformats.org/drawingml/2006/main">
            <a:off x="7950200" y="3344636"/>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FB275CC9-CDE8-44C8-A786-6CACE3D4F326}"/>
              </a:ext>
            </a:extLst>
          </p:cNvPr>
          <p:cNvSpPr>
            <a:spLocks xmlns:a="http://schemas.openxmlformats.org/drawingml/2006/main" noGrp="1"/>
          </p:cNvSpPr>
          <p:nvPr/>
        </p:nvSpPr>
        <p:spPr>
          <a:xfrm xmlns:a="http://schemas.openxmlformats.org/drawingml/2006/main">
            <a:off x="7997825" y="3373211"/>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创建/加入房间、四座位、消息协议、房主权威同步</a:t>
            </a:r>
          </a:p>
        </p:txBody>
      </p:sp>
      <p:sp>
        <p:nvSpPr>
          <p:cNvPr id="33" name="">
            <a:extLst xmlns:a="http://schemas.openxmlformats.org/drawingml/2006/main">
              <a:ext uri="{FF2B5EF4-FFF2-40B4-BE49-F238E27FC236}">
                <a16:creationId xmlns:a16="http://schemas.microsoft.com/office/drawing/2014/main" id="{FDC39DBF-3325-458D-87FD-1F6E4DFF09C2}"/>
              </a:ext>
            </a:extLst>
          </p:cNvPr>
          <p:cNvSpPr>
            <a:spLocks xmlns:a="http://schemas.openxmlformats.org/drawingml/2006/main" noGrp="1"/>
          </p:cNvSpPr>
          <p:nvPr/>
        </p:nvSpPr>
        <p:spPr>
          <a:xfrm xmlns:a="http://schemas.openxmlformats.org/drawingml/2006/main">
            <a:off x="457200" y="3864429"/>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1A890858-BCC4-427F-BBC8-7365CD457697}"/>
              </a:ext>
            </a:extLst>
          </p:cNvPr>
          <p:cNvSpPr>
            <a:spLocks xmlns:a="http://schemas.openxmlformats.org/drawingml/2006/main" noGrp="1"/>
          </p:cNvSpPr>
          <p:nvPr/>
        </p:nvSpPr>
        <p:spPr>
          <a:xfrm xmlns:a="http://schemas.openxmlformats.org/drawingml/2006/main">
            <a:off x="504825" y="3893004"/>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Sprint 4</a:t>
            </a:r>
          </a:p>
        </p:txBody>
      </p:sp>
      <p:sp>
        <p:nvSpPr>
          <p:cNvPr id="35" name="">
            <a:extLst xmlns:a="http://schemas.openxmlformats.org/drawingml/2006/main">
              <a:ext uri="{FF2B5EF4-FFF2-40B4-BE49-F238E27FC236}">
                <a16:creationId xmlns:a16="http://schemas.microsoft.com/office/drawing/2014/main" id="{8C1BD6A7-3A98-4A83-BD47-C67658821D5B}"/>
              </a:ext>
            </a:extLst>
          </p:cNvPr>
          <p:cNvSpPr>
            <a:spLocks xmlns:a="http://schemas.openxmlformats.org/drawingml/2006/main" noGrp="1"/>
          </p:cNvSpPr>
          <p:nvPr/>
        </p:nvSpPr>
        <p:spPr>
          <a:xfrm xmlns:a="http://schemas.openxmlformats.org/drawingml/2006/main">
            <a:off x="4203700" y="3864429"/>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79FEA6B9-DBE1-4B02-8728-073E35AD5C39}"/>
              </a:ext>
            </a:extLst>
          </p:cNvPr>
          <p:cNvSpPr>
            <a:spLocks xmlns:a="http://schemas.openxmlformats.org/drawingml/2006/main" noGrp="1"/>
          </p:cNvSpPr>
          <p:nvPr/>
        </p:nvSpPr>
        <p:spPr>
          <a:xfrm xmlns:a="http://schemas.openxmlformats.org/drawingml/2006/main">
            <a:off x="4251325" y="3893004"/>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发布版 UI 和动画</a:t>
            </a:r>
          </a:p>
        </p:txBody>
      </p:sp>
      <p:sp>
        <p:nvSpPr>
          <p:cNvPr id="37" name="">
            <a:extLst xmlns:a="http://schemas.openxmlformats.org/drawingml/2006/main">
              <a:ext uri="{FF2B5EF4-FFF2-40B4-BE49-F238E27FC236}">
                <a16:creationId xmlns:a16="http://schemas.microsoft.com/office/drawing/2014/main" id="{30ED8847-A9FC-4C1A-9DA7-410607A266A7}"/>
              </a:ext>
            </a:extLst>
          </p:cNvPr>
          <p:cNvSpPr>
            <a:spLocks xmlns:a="http://schemas.openxmlformats.org/drawingml/2006/main" noGrp="1"/>
          </p:cNvSpPr>
          <p:nvPr/>
        </p:nvSpPr>
        <p:spPr>
          <a:xfrm xmlns:a="http://schemas.openxmlformats.org/drawingml/2006/main">
            <a:off x="7950200" y="3864429"/>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8EDF9D42-4AF6-4B2A-B340-640EBFDF691E}"/>
              </a:ext>
            </a:extLst>
          </p:cNvPr>
          <p:cNvSpPr>
            <a:spLocks xmlns:a="http://schemas.openxmlformats.org/drawingml/2006/main" noGrp="1"/>
          </p:cNvSpPr>
          <p:nvPr/>
        </p:nvSpPr>
        <p:spPr>
          <a:xfrm xmlns:a="http://schemas.openxmlformats.org/drawingml/2006/main">
            <a:off x="7997825" y="3893004"/>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大厅、牌桌、结算、音乐、动效和设置</a:t>
            </a:r>
          </a:p>
        </p:txBody>
      </p:sp>
      <p:sp>
        <p:nvSpPr>
          <p:cNvPr id="39" name="">
            <a:extLst xmlns:a="http://schemas.openxmlformats.org/drawingml/2006/main">
              <a:ext uri="{FF2B5EF4-FFF2-40B4-BE49-F238E27FC236}">
                <a16:creationId xmlns:a16="http://schemas.microsoft.com/office/drawing/2014/main" id="{8662EE6E-B964-4181-A00A-E79BFADFA456}"/>
              </a:ext>
            </a:extLst>
          </p:cNvPr>
          <p:cNvSpPr>
            <a:spLocks xmlns:a="http://schemas.openxmlformats.org/drawingml/2006/main" noGrp="1"/>
          </p:cNvSpPr>
          <p:nvPr/>
        </p:nvSpPr>
        <p:spPr>
          <a:xfrm xmlns:a="http://schemas.openxmlformats.org/drawingml/2006/main">
            <a:off x="457200" y="4384221"/>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17D029B6-B49E-44FB-B8B3-609DCE523346}"/>
              </a:ext>
            </a:extLst>
          </p:cNvPr>
          <p:cNvSpPr>
            <a:spLocks xmlns:a="http://schemas.openxmlformats.org/drawingml/2006/main" noGrp="1"/>
          </p:cNvSpPr>
          <p:nvPr/>
        </p:nvSpPr>
        <p:spPr>
          <a:xfrm xmlns:a="http://schemas.openxmlformats.org/drawingml/2006/main">
            <a:off x="504825" y="4412796"/>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Sprint 5</a:t>
            </a:r>
          </a:p>
        </p:txBody>
      </p:sp>
      <p:sp>
        <p:nvSpPr>
          <p:cNvPr id="41" name="">
            <a:extLst xmlns:a="http://schemas.openxmlformats.org/drawingml/2006/main">
              <a:ext uri="{FF2B5EF4-FFF2-40B4-BE49-F238E27FC236}">
                <a16:creationId xmlns:a16="http://schemas.microsoft.com/office/drawing/2014/main" id="{2EAF38F8-575D-4EFE-9512-53D5C472F242}"/>
              </a:ext>
            </a:extLst>
          </p:cNvPr>
          <p:cNvSpPr>
            <a:spLocks xmlns:a="http://schemas.openxmlformats.org/drawingml/2006/main" noGrp="1"/>
          </p:cNvSpPr>
          <p:nvPr/>
        </p:nvSpPr>
        <p:spPr>
          <a:xfrm xmlns:a="http://schemas.openxmlformats.org/drawingml/2006/main">
            <a:off x="4203700" y="4384221"/>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66859C2C-958A-4B64-B77A-3EE70E3BCDE2}"/>
              </a:ext>
            </a:extLst>
          </p:cNvPr>
          <p:cNvSpPr>
            <a:spLocks xmlns:a="http://schemas.openxmlformats.org/drawingml/2006/main" noGrp="1"/>
          </p:cNvSpPr>
          <p:nvPr/>
        </p:nvSpPr>
        <p:spPr>
          <a:xfrm xmlns:a="http://schemas.openxmlformats.org/drawingml/2006/main">
            <a:off x="4251325" y="4412796"/>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测试、文档和交付</a:t>
            </a:r>
          </a:p>
        </p:txBody>
      </p:sp>
      <p:sp>
        <p:nvSpPr>
          <p:cNvPr id="43" name="">
            <a:extLst xmlns:a="http://schemas.openxmlformats.org/drawingml/2006/main">
              <a:ext uri="{FF2B5EF4-FFF2-40B4-BE49-F238E27FC236}">
                <a16:creationId xmlns:a16="http://schemas.microsoft.com/office/drawing/2014/main" id="{C2B638B4-5D97-4E21-B3C7-DFC1F77ECA0D}"/>
              </a:ext>
            </a:extLst>
          </p:cNvPr>
          <p:cNvSpPr>
            <a:spLocks xmlns:a="http://schemas.openxmlformats.org/drawingml/2006/main" noGrp="1"/>
          </p:cNvSpPr>
          <p:nvPr/>
        </p:nvSpPr>
        <p:spPr>
          <a:xfrm xmlns:a="http://schemas.openxmlformats.org/drawingml/2006/main">
            <a:off x="7950200" y="4384221"/>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ACC31692-1696-46CF-A77C-2889F3942CE5}"/>
              </a:ext>
            </a:extLst>
          </p:cNvPr>
          <p:cNvSpPr>
            <a:spLocks xmlns:a="http://schemas.openxmlformats.org/drawingml/2006/main" noGrp="1"/>
          </p:cNvSpPr>
          <p:nvPr/>
        </p:nvSpPr>
        <p:spPr>
          <a:xfrm xmlns:a="http://schemas.openxmlformats.org/drawingml/2006/main">
            <a:off x="7997825" y="4412796"/>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单元测试、模拟蓝牙测试、UML 更新、测试报告</a:t>
            </a:r>
          </a:p>
        </p:txBody>
      </p:sp>
      <p:sp>
        <p:nvSpPr>
          <p:cNvPr id="45" name="">
            <a:extLst xmlns:a="http://schemas.openxmlformats.org/drawingml/2006/main">
              <a:ext uri="{FF2B5EF4-FFF2-40B4-BE49-F238E27FC236}">
                <a16:creationId xmlns:a16="http://schemas.microsoft.com/office/drawing/2014/main" id="{1F621D55-8BD1-43F0-99BB-45A667D46C4E}"/>
              </a:ext>
            </a:extLst>
          </p:cNvPr>
          <p:cNvSpPr>
            <a:spLocks xmlns:a="http://schemas.openxmlformats.org/drawingml/2006/main" noGrp="1"/>
          </p:cNvSpPr>
          <p:nvPr/>
        </p:nvSpPr>
        <p:spPr>
          <a:xfrm xmlns:a="http://schemas.openxmlformats.org/drawingml/2006/main">
            <a:off x="457200" y="4904014"/>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C5DD7031-C0DF-4750-A5D2-B947A6F8A5A6}"/>
              </a:ext>
            </a:extLst>
          </p:cNvPr>
          <p:cNvSpPr>
            <a:spLocks xmlns:a="http://schemas.openxmlformats.org/drawingml/2006/main" noGrp="1"/>
          </p:cNvSpPr>
          <p:nvPr/>
        </p:nvSpPr>
        <p:spPr>
          <a:xfrm xmlns:a="http://schemas.openxmlformats.org/drawingml/2006/main">
            <a:off x="504825" y="4932589"/>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Sprint 6</a:t>
            </a:r>
          </a:p>
        </p:txBody>
      </p:sp>
      <p:sp>
        <p:nvSpPr>
          <p:cNvPr id="47" name="">
            <a:extLst xmlns:a="http://schemas.openxmlformats.org/drawingml/2006/main">
              <a:ext uri="{FF2B5EF4-FFF2-40B4-BE49-F238E27FC236}">
                <a16:creationId xmlns:a16="http://schemas.microsoft.com/office/drawing/2014/main" id="{5730AE21-F061-4498-8DC9-4DFF8B5CF030}"/>
              </a:ext>
            </a:extLst>
          </p:cNvPr>
          <p:cNvSpPr>
            <a:spLocks xmlns:a="http://schemas.openxmlformats.org/drawingml/2006/main" noGrp="1"/>
          </p:cNvSpPr>
          <p:nvPr/>
        </p:nvSpPr>
        <p:spPr>
          <a:xfrm xmlns:a="http://schemas.openxmlformats.org/drawingml/2006/main">
            <a:off x="4203700" y="4904014"/>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9AC9B4AD-841D-4665-A03F-F36FBA880042}"/>
              </a:ext>
            </a:extLst>
          </p:cNvPr>
          <p:cNvSpPr>
            <a:spLocks xmlns:a="http://schemas.openxmlformats.org/drawingml/2006/main" noGrp="1"/>
          </p:cNvSpPr>
          <p:nvPr/>
        </p:nvSpPr>
        <p:spPr>
          <a:xfrm xmlns:a="http://schemas.openxmlformats.org/drawingml/2006/main">
            <a:off x="4251325" y="4932589"/>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细化迭代 3：AI、玩家中心和体验完善</a:t>
            </a:r>
          </a:p>
        </p:txBody>
      </p:sp>
      <p:sp>
        <p:nvSpPr>
          <p:cNvPr id="49" name="">
            <a:extLst xmlns:a="http://schemas.openxmlformats.org/drawingml/2006/main">
              <a:ext uri="{FF2B5EF4-FFF2-40B4-BE49-F238E27FC236}">
                <a16:creationId xmlns:a16="http://schemas.microsoft.com/office/drawing/2014/main" id="{5A567A1B-9EBD-4C3A-902E-CCDA7AB889EC}"/>
              </a:ext>
            </a:extLst>
          </p:cNvPr>
          <p:cNvSpPr>
            <a:spLocks xmlns:a="http://schemas.openxmlformats.org/drawingml/2006/main" noGrp="1"/>
          </p:cNvSpPr>
          <p:nvPr/>
        </p:nvSpPr>
        <p:spPr>
          <a:xfrm xmlns:a="http://schemas.openxmlformats.org/drawingml/2006/main">
            <a:off x="7950200" y="4904014"/>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8B883C6C-3B8F-487E-8AB8-E23514590C9E}"/>
              </a:ext>
            </a:extLst>
          </p:cNvPr>
          <p:cNvSpPr>
            <a:spLocks xmlns:a="http://schemas.openxmlformats.org/drawingml/2006/main" noGrp="1"/>
          </p:cNvSpPr>
          <p:nvPr/>
        </p:nvSpPr>
        <p:spPr>
          <a:xfrm xmlns:a="http://schemas.openxmlformats.org/drawingml/2006/main">
            <a:off x="7997825" y="4932589"/>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三档 AI、状态建模、成长系统、头像商店、金币消费确认</a:t>
            </a:r>
          </a:p>
        </p:txBody>
      </p:sp>
      <p:sp>
        <p:nvSpPr>
          <p:cNvPr id="51" name="">
            <a:extLst xmlns:a="http://schemas.openxmlformats.org/drawingml/2006/main">
              <a:ext uri="{FF2B5EF4-FFF2-40B4-BE49-F238E27FC236}">
                <a16:creationId xmlns:a16="http://schemas.microsoft.com/office/drawing/2014/main" id="{440FA0B1-E99C-4FE1-BA65-75BCD2A5B28B}"/>
              </a:ext>
            </a:extLst>
          </p:cNvPr>
          <p:cNvSpPr>
            <a:spLocks xmlns:a="http://schemas.openxmlformats.org/drawingml/2006/main" noGrp="1"/>
          </p:cNvSpPr>
          <p:nvPr/>
        </p:nvSpPr>
        <p:spPr>
          <a:xfrm xmlns:a="http://schemas.openxmlformats.org/drawingml/2006/main">
            <a:off x="457200" y="5423807"/>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7FB19DF4-DB75-417F-B265-F5B847F8CB2D}"/>
              </a:ext>
            </a:extLst>
          </p:cNvPr>
          <p:cNvSpPr>
            <a:spLocks xmlns:a="http://schemas.openxmlformats.org/drawingml/2006/main" noGrp="1"/>
          </p:cNvSpPr>
          <p:nvPr/>
        </p:nvSpPr>
        <p:spPr>
          <a:xfrm xmlns:a="http://schemas.openxmlformats.org/drawingml/2006/main">
            <a:off x="504825" y="5452382"/>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Sprint 7</a:t>
            </a:r>
          </a:p>
        </p:txBody>
      </p:sp>
      <p:sp>
        <p:nvSpPr>
          <p:cNvPr id="53" name="">
            <a:extLst xmlns:a="http://schemas.openxmlformats.org/drawingml/2006/main">
              <a:ext uri="{FF2B5EF4-FFF2-40B4-BE49-F238E27FC236}">
                <a16:creationId xmlns:a16="http://schemas.microsoft.com/office/drawing/2014/main" id="{16AC5618-50BA-4FB1-B590-47DA1F40998A}"/>
              </a:ext>
            </a:extLst>
          </p:cNvPr>
          <p:cNvSpPr>
            <a:spLocks xmlns:a="http://schemas.openxmlformats.org/drawingml/2006/main" noGrp="1"/>
          </p:cNvSpPr>
          <p:nvPr/>
        </p:nvSpPr>
        <p:spPr>
          <a:xfrm xmlns:a="http://schemas.openxmlformats.org/drawingml/2006/main">
            <a:off x="4203700" y="5423807"/>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6366BF37-3DA3-4F75-991A-9CE5D24CB9A8}"/>
              </a:ext>
            </a:extLst>
          </p:cNvPr>
          <p:cNvSpPr>
            <a:spLocks xmlns:a="http://schemas.openxmlformats.org/drawingml/2006/main" noGrp="1"/>
          </p:cNvSpPr>
          <p:nvPr/>
        </p:nvSpPr>
        <p:spPr>
          <a:xfrm xmlns:a="http://schemas.openxmlformats.org/drawingml/2006/main">
            <a:off x="4251325" y="5452382"/>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发布收尾和蓝牙稳定性增强</a:t>
            </a:r>
          </a:p>
        </p:txBody>
      </p:sp>
      <p:sp>
        <p:nvSpPr>
          <p:cNvPr id="55" name="">
            <a:extLst xmlns:a="http://schemas.openxmlformats.org/drawingml/2006/main">
              <a:ext uri="{FF2B5EF4-FFF2-40B4-BE49-F238E27FC236}">
                <a16:creationId xmlns:a16="http://schemas.microsoft.com/office/drawing/2014/main" id="{C071B533-F154-463E-83DE-44214DFFFD17}"/>
              </a:ext>
            </a:extLst>
          </p:cNvPr>
          <p:cNvSpPr>
            <a:spLocks xmlns:a="http://schemas.openxmlformats.org/drawingml/2006/main" noGrp="1"/>
          </p:cNvSpPr>
          <p:nvPr/>
        </p:nvSpPr>
        <p:spPr>
          <a:xfrm xmlns:a="http://schemas.openxmlformats.org/drawingml/2006/main">
            <a:off x="7950200" y="5423807"/>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6A68B314-7018-4EA9-8021-698A55567BD0}"/>
              </a:ext>
            </a:extLst>
          </p:cNvPr>
          <p:cNvSpPr>
            <a:spLocks xmlns:a="http://schemas.openxmlformats.org/drawingml/2006/main" noGrp="1"/>
          </p:cNvSpPr>
          <p:nvPr/>
        </p:nvSpPr>
        <p:spPr>
          <a:xfrm xmlns:a="http://schemas.openxmlformats.org/drawingml/2006/main">
            <a:off x="7997825" y="5452382"/>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TransportEvent、客户端断线 AI 托管、房主断线退出提示、Release 包、GitHub 上传准备</a:t>
            </a:r>
          </a:p>
        </p:txBody>
      </p:sp>
    </p:spTree>
    <p:extLst>
      <p:ext uri="{BB962C8B-B14F-4D97-AF65-F5344CB8AC3E}">
        <p14:creationId xmlns:p14="http://schemas.microsoft.com/office/powerpoint/2010/main" val="34270642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4233CD-F825-4BA7-8FD6-930E7C2779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CBA5B4-1966-4000-9E42-30CE5C30811C}"/>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3D3FFF-F192-4F84-9E5F-90004BDD45CA}"/>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06D864DD-ABDF-4A90-BDAB-BD4B69C29D8C}"/>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3. 小组分工与协作方式</a:t>
            </a:r>
          </a:p>
        </p:txBody>
      </p:sp>
      <p:sp>
        <p:nvSpPr>
          <p:cNvPr id="5" name="">
            <a:extLst xmlns:a="http://schemas.openxmlformats.org/drawingml/2006/main">
              <a:ext uri="{FF2B5EF4-FFF2-40B4-BE49-F238E27FC236}">
                <a16:creationId xmlns:a16="http://schemas.microsoft.com/office/drawing/2014/main" id="{28D8F8D4-EAC6-48A5-88C2-8E25F3838880}"/>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14</a:t>
            </a:r>
          </a:p>
        </p:txBody>
      </p:sp>
      <p:sp>
        <p:nvSpPr>
          <p:cNvPr id="6" name="">
            <a:extLst xmlns:a="http://schemas.openxmlformats.org/drawingml/2006/main">
              <a:ext uri="{FF2B5EF4-FFF2-40B4-BE49-F238E27FC236}">
                <a16:creationId xmlns:a16="http://schemas.microsoft.com/office/drawing/2014/main" id="{8ED96A7A-CFF8-4487-809C-FD3CF02EFE3D}"/>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25728EE-76D5-4837-8184-5829F801759C}"/>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3.4 UML 图与阶段产物总映射（1/3）</a:t>
            </a:r>
          </a:p>
        </p:txBody>
      </p:sp>
      <p:sp>
        <p:nvSpPr>
          <p:cNvPr id="8" name="">
            <a:extLst xmlns:a="http://schemas.openxmlformats.org/drawingml/2006/main">
              <a:ext uri="{FF2B5EF4-FFF2-40B4-BE49-F238E27FC236}">
                <a16:creationId xmlns:a16="http://schemas.microsoft.com/office/drawing/2014/main" id="{DDD0603C-42B9-4D5A-B12A-9024C637CF92}"/>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3606F11-55D5-42A2-B1C1-75C020CF3DD4}"/>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本项目的 UML 图不是集中到最后一次性补画，而是按照 UP 迭代阶段逐步形成并在交付阶段统一校对。开发者先使用 PlantUML 文本描述图结构，便于在 Android Studio 中预览、版本管理和随代码修改；随后将 PlantUML 内容导入或参照迁移到 ProcessOn UML，调整布局后作为正式报告图。下表把项目内 7 类 UML 图对应到 Excel 阶段、阶段产物和代码验证点。</a:t>
            </a:r>
          </a:p>
        </p:txBody>
      </p:sp>
    </p:spTree>
    <p:extLst>
      <p:ext uri="{BB962C8B-B14F-4D97-AF65-F5344CB8AC3E}">
        <p14:creationId xmlns:p14="http://schemas.microsoft.com/office/powerpoint/2010/main" val="701230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283E268-7EC1-48B4-A499-D92720441A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39AC63-75B6-42DC-932A-4F018F7DACA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B41CC9-9B08-40B0-B4F5-31FC77E0C9B5}"/>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34EDA444-A1BF-49E7-AD1C-E9D9F493C34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3. 小组分工与协作方式</a:t>
            </a:r>
          </a:p>
        </p:txBody>
      </p:sp>
      <p:sp>
        <p:nvSpPr>
          <p:cNvPr id="5" name="">
            <a:extLst xmlns:a="http://schemas.openxmlformats.org/drawingml/2006/main">
              <a:ext uri="{FF2B5EF4-FFF2-40B4-BE49-F238E27FC236}">
                <a16:creationId xmlns:a16="http://schemas.microsoft.com/office/drawing/2014/main" id="{2959E8CD-F5CF-4752-962F-D93C7B33657D}"/>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15</a:t>
            </a:r>
          </a:p>
        </p:txBody>
      </p:sp>
      <p:sp>
        <p:nvSpPr>
          <p:cNvPr id="6" name="">
            <a:extLst xmlns:a="http://schemas.openxmlformats.org/drawingml/2006/main">
              <a:ext uri="{FF2B5EF4-FFF2-40B4-BE49-F238E27FC236}">
                <a16:creationId xmlns:a16="http://schemas.microsoft.com/office/drawing/2014/main" id="{45A6EDCD-6650-4D4F-8586-19589C502141}"/>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42295C0F-FAF4-4258-B6A8-7228DABDD1F9}"/>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3.4 UML 图与阶段产物总映射（2/3）</a:t>
            </a:r>
          </a:p>
        </p:txBody>
      </p:sp>
      <p:sp>
        <p:nvSpPr>
          <p:cNvPr id="8" name="">
            <a:extLst xmlns:a="http://schemas.openxmlformats.org/drawingml/2006/main">
              <a:ext uri="{FF2B5EF4-FFF2-40B4-BE49-F238E27FC236}">
                <a16:creationId xmlns:a16="http://schemas.microsoft.com/office/drawing/2014/main" id="{95AE2813-A288-4F9D-91A3-76410825285C}"/>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895E009-F337-45B9-8096-D35AA20AB1D7}"/>
              </a:ext>
            </a:extLst>
          </p:cNvPr>
          <p:cNvSpPr>
            <a:spLocks xmlns:a="http://schemas.openxmlformats.org/drawingml/2006/main" noGrp="1"/>
          </p:cNvSpPr>
          <p:nvPr/>
        </p:nvSpPr>
        <p:spPr>
          <a:xfrm xmlns:a="http://schemas.openxmlformats.org/drawingml/2006/main">
            <a:off x="457200" y="1905000"/>
            <a:ext cx="22479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4F0291E8-8EAF-417F-AA0A-572F2DFB9DD4}"/>
              </a:ext>
            </a:extLst>
          </p:cNvPr>
          <p:cNvSpPr>
            <a:spLocks xmlns:a="http://schemas.openxmlformats.org/drawingml/2006/main" noGrp="1"/>
          </p:cNvSpPr>
          <p:nvPr/>
        </p:nvSpPr>
        <p:spPr>
          <a:xfrm xmlns:a="http://schemas.openxmlformats.org/drawingml/2006/main">
            <a:off x="504825" y="1943100"/>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UML 图</a:t>
            </a:r>
          </a:p>
        </p:txBody>
      </p:sp>
      <p:sp>
        <p:nvSpPr>
          <p:cNvPr id="11" name="">
            <a:extLst xmlns:a="http://schemas.openxmlformats.org/drawingml/2006/main">
              <a:ext uri="{FF2B5EF4-FFF2-40B4-BE49-F238E27FC236}">
                <a16:creationId xmlns:a16="http://schemas.microsoft.com/office/drawing/2014/main" id="{65D4435E-E8C6-4F09-9925-B4202667AA0F}"/>
              </a:ext>
            </a:extLst>
          </p:cNvPr>
          <p:cNvSpPr>
            <a:spLocks xmlns:a="http://schemas.openxmlformats.org/drawingml/2006/main" noGrp="1"/>
          </p:cNvSpPr>
          <p:nvPr/>
        </p:nvSpPr>
        <p:spPr>
          <a:xfrm xmlns:a="http://schemas.openxmlformats.org/drawingml/2006/main">
            <a:off x="2705100" y="1905000"/>
            <a:ext cx="22479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28C7444B-84D6-4C70-A9AB-B5C18E23F1B1}"/>
              </a:ext>
            </a:extLst>
          </p:cNvPr>
          <p:cNvSpPr>
            <a:spLocks xmlns:a="http://schemas.openxmlformats.org/drawingml/2006/main" noGrp="1"/>
          </p:cNvSpPr>
          <p:nvPr/>
        </p:nvSpPr>
        <p:spPr>
          <a:xfrm xmlns:a="http://schemas.openxmlformats.org/drawingml/2006/main">
            <a:off x="2752725" y="1943100"/>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阶段归属</a:t>
            </a:r>
          </a:p>
        </p:txBody>
      </p:sp>
      <p:sp>
        <p:nvSpPr>
          <p:cNvPr id="13" name="">
            <a:extLst xmlns:a="http://schemas.openxmlformats.org/drawingml/2006/main">
              <a:ext uri="{FF2B5EF4-FFF2-40B4-BE49-F238E27FC236}">
                <a16:creationId xmlns:a16="http://schemas.microsoft.com/office/drawing/2014/main" id="{F6E75033-D140-4C65-AB3F-939378C31F2E}"/>
              </a:ext>
            </a:extLst>
          </p:cNvPr>
          <p:cNvSpPr>
            <a:spLocks xmlns:a="http://schemas.openxmlformats.org/drawingml/2006/main" noGrp="1"/>
          </p:cNvSpPr>
          <p:nvPr/>
        </p:nvSpPr>
        <p:spPr>
          <a:xfrm xmlns:a="http://schemas.openxmlformats.org/drawingml/2006/main">
            <a:off x="4953000" y="1905000"/>
            <a:ext cx="22479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8EC9411A-7DE5-4967-A6FC-243231887D69}"/>
              </a:ext>
            </a:extLst>
          </p:cNvPr>
          <p:cNvSpPr>
            <a:spLocks xmlns:a="http://schemas.openxmlformats.org/drawingml/2006/main" noGrp="1"/>
          </p:cNvSpPr>
          <p:nvPr/>
        </p:nvSpPr>
        <p:spPr>
          <a:xfrm xmlns:a="http://schemas.openxmlformats.org/drawingml/2006/main">
            <a:off x="5000625" y="1943100"/>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阶段产物定位</a:t>
            </a:r>
          </a:p>
        </p:txBody>
      </p:sp>
      <p:sp>
        <p:nvSpPr>
          <p:cNvPr id="15" name="">
            <a:extLst xmlns:a="http://schemas.openxmlformats.org/drawingml/2006/main">
              <a:ext uri="{FF2B5EF4-FFF2-40B4-BE49-F238E27FC236}">
                <a16:creationId xmlns:a16="http://schemas.microsoft.com/office/drawing/2014/main" id="{AB95022E-3B16-42DB-8124-16DB8316053F}"/>
              </a:ext>
            </a:extLst>
          </p:cNvPr>
          <p:cNvSpPr>
            <a:spLocks xmlns:a="http://schemas.openxmlformats.org/drawingml/2006/main" noGrp="1"/>
          </p:cNvSpPr>
          <p:nvPr/>
        </p:nvSpPr>
        <p:spPr>
          <a:xfrm xmlns:a="http://schemas.openxmlformats.org/drawingml/2006/main">
            <a:off x="7200900" y="1905000"/>
            <a:ext cx="22479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59C72A7A-A659-4C5C-8938-5806B76BEA31}"/>
              </a:ext>
            </a:extLst>
          </p:cNvPr>
          <p:cNvSpPr>
            <a:spLocks xmlns:a="http://schemas.openxmlformats.org/drawingml/2006/main" noGrp="1"/>
          </p:cNvSpPr>
          <p:nvPr/>
        </p:nvSpPr>
        <p:spPr>
          <a:xfrm xmlns:a="http://schemas.openxmlformats.org/drawingml/2006/main">
            <a:off x="7248525" y="1943100"/>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主要表达内容</a:t>
            </a:r>
          </a:p>
        </p:txBody>
      </p:sp>
      <p:sp>
        <p:nvSpPr>
          <p:cNvPr id="17" name="">
            <a:extLst xmlns:a="http://schemas.openxmlformats.org/drawingml/2006/main">
              <a:ext uri="{FF2B5EF4-FFF2-40B4-BE49-F238E27FC236}">
                <a16:creationId xmlns:a16="http://schemas.microsoft.com/office/drawing/2014/main" id="{2CA86B0A-1625-4DC8-B239-B6B030073277}"/>
              </a:ext>
            </a:extLst>
          </p:cNvPr>
          <p:cNvSpPr>
            <a:spLocks xmlns:a="http://schemas.openxmlformats.org/drawingml/2006/main" noGrp="1"/>
          </p:cNvSpPr>
          <p:nvPr/>
        </p:nvSpPr>
        <p:spPr>
          <a:xfrm xmlns:a="http://schemas.openxmlformats.org/drawingml/2006/main">
            <a:off x="9448800" y="1905000"/>
            <a:ext cx="22479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8" name="">
            <a:extLst xmlns:a="http://schemas.openxmlformats.org/drawingml/2006/main">
              <a:ext uri="{FF2B5EF4-FFF2-40B4-BE49-F238E27FC236}">
                <a16:creationId xmlns:a16="http://schemas.microsoft.com/office/drawing/2014/main" id="{932C5BFF-0FBE-4A33-8CCF-3F196CC2B0B2}"/>
              </a:ext>
            </a:extLst>
          </p:cNvPr>
          <p:cNvSpPr>
            <a:spLocks xmlns:a="http://schemas.openxmlformats.org/drawingml/2006/main" noGrp="1"/>
          </p:cNvSpPr>
          <p:nvPr/>
        </p:nvSpPr>
        <p:spPr>
          <a:xfrm xmlns:a="http://schemas.openxmlformats.org/drawingml/2006/main">
            <a:off x="9496425" y="1943100"/>
            <a:ext cx="2152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对应代码/文档</a:t>
            </a:r>
          </a:p>
        </p:txBody>
      </p:sp>
      <p:sp>
        <p:nvSpPr>
          <p:cNvPr id="19" name="">
            <a:extLst xmlns:a="http://schemas.openxmlformats.org/drawingml/2006/main">
              <a:ext uri="{FF2B5EF4-FFF2-40B4-BE49-F238E27FC236}">
                <a16:creationId xmlns:a16="http://schemas.microsoft.com/office/drawing/2014/main" id="{05CED1A0-2BA0-4FF9-9769-673F987C7B62}"/>
              </a:ext>
            </a:extLst>
          </p:cNvPr>
          <p:cNvSpPr>
            <a:spLocks xmlns:a="http://schemas.openxmlformats.org/drawingml/2006/main" noGrp="1"/>
          </p:cNvSpPr>
          <p:nvPr/>
        </p:nvSpPr>
        <p:spPr>
          <a:xfrm xmlns:a="http://schemas.openxmlformats.org/drawingml/2006/main">
            <a:off x="457200" y="2305050"/>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84E2042D-A637-45DA-8F26-F153DCD20404}"/>
              </a:ext>
            </a:extLst>
          </p:cNvPr>
          <p:cNvSpPr>
            <a:spLocks xmlns:a="http://schemas.openxmlformats.org/drawingml/2006/main" noGrp="1"/>
          </p:cNvSpPr>
          <p:nvPr/>
        </p:nvSpPr>
        <p:spPr>
          <a:xfrm xmlns:a="http://schemas.openxmlformats.org/drawingml/2006/main">
            <a:off x="504825" y="2333625"/>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用例图 use_case.png</a:t>
            </a:r>
          </a:p>
        </p:txBody>
      </p:sp>
      <p:sp>
        <p:nvSpPr>
          <p:cNvPr id="21" name="">
            <a:extLst xmlns:a="http://schemas.openxmlformats.org/drawingml/2006/main">
              <a:ext uri="{FF2B5EF4-FFF2-40B4-BE49-F238E27FC236}">
                <a16:creationId xmlns:a16="http://schemas.microsoft.com/office/drawing/2014/main" id="{3D99CB81-DF5A-48A7-A838-033DC0DCBE94}"/>
              </a:ext>
            </a:extLst>
          </p:cNvPr>
          <p:cNvSpPr>
            <a:spLocks xmlns:a="http://schemas.openxmlformats.org/drawingml/2006/main" noGrp="1"/>
          </p:cNvSpPr>
          <p:nvPr/>
        </p:nvSpPr>
        <p:spPr>
          <a:xfrm xmlns:a="http://schemas.openxmlformats.org/drawingml/2006/main">
            <a:off x="2705100" y="2305050"/>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7F9EEC51-C79D-4069-A219-7063760609AE}"/>
              </a:ext>
            </a:extLst>
          </p:cNvPr>
          <p:cNvSpPr>
            <a:spLocks xmlns:a="http://schemas.openxmlformats.org/drawingml/2006/main" noGrp="1"/>
          </p:cNvSpPr>
          <p:nvPr/>
        </p:nvSpPr>
        <p:spPr>
          <a:xfrm xmlns:a="http://schemas.openxmlformats.org/drawingml/2006/main">
            <a:off x="2752725" y="2333625"/>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阶段 1：开始</a:t>
            </a:r>
          </a:p>
        </p:txBody>
      </p:sp>
      <p:sp>
        <p:nvSpPr>
          <p:cNvPr id="23" name="">
            <a:extLst xmlns:a="http://schemas.openxmlformats.org/drawingml/2006/main">
              <a:ext uri="{FF2B5EF4-FFF2-40B4-BE49-F238E27FC236}">
                <a16:creationId xmlns:a16="http://schemas.microsoft.com/office/drawing/2014/main" id="{F166548A-0EB3-422A-A5B3-664CBCD78050}"/>
              </a:ext>
            </a:extLst>
          </p:cNvPr>
          <p:cNvSpPr>
            <a:spLocks xmlns:a="http://schemas.openxmlformats.org/drawingml/2006/main" noGrp="1"/>
          </p:cNvSpPr>
          <p:nvPr/>
        </p:nvSpPr>
        <p:spPr>
          <a:xfrm xmlns:a="http://schemas.openxmlformats.org/drawingml/2006/main">
            <a:off x="4953000" y="2305050"/>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42EB0010-E9E8-480E-8C9B-C2F6A4A0BC1B}"/>
              </a:ext>
            </a:extLst>
          </p:cNvPr>
          <p:cNvSpPr>
            <a:spLocks xmlns:a="http://schemas.openxmlformats.org/drawingml/2006/main" noGrp="1"/>
          </p:cNvSpPr>
          <p:nvPr/>
        </p:nvSpPr>
        <p:spPr>
          <a:xfrm xmlns:a="http://schemas.openxmlformats.org/drawingml/2006/main">
            <a:off x="5000625" y="2333625"/>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Use-Case Model、项目愿景和核心用例边界</a:t>
            </a:r>
          </a:p>
        </p:txBody>
      </p:sp>
      <p:sp>
        <p:nvSpPr>
          <p:cNvPr id="25" name="">
            <a:extLst xmlns:a="http://schemas.openxmlformats.org/drawingml/2006/main">
              <a:ext uri="{FF2B5EF4-FFF2-40B4-BE49-F238E27FC236}">
                <a16:creationId xmlns:a16="http://schemas.microsoft.com/office/drawing/2014/main" id="{A6CB1BF5-4278-4DFE-80FE-777170C3BA1F}"/>
              </a:ext>
            </a:extLst>
          </p:cNvPr>
          <p:cNvSpPr>
            <a:spLocks xmlns:a="http://schemas.openxmlformats.org/drawingml/2006/main" noGrp="1"/>
          </p:cNvSpPr>
          <p:nvPr/>
        </p:nvSpPr>
        <p:spPr>
          <a:xfrm xmlns:a="http://schemas.openxmlformats.org/drawingml/2006/main">
            <a:off x="7200900" y="2305050"/>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C80062DD-E2BE-4168-AA07-ACD944EFDE3A}"/>
              </a:ext>
            </a:extLst>
          </p:cNvPr>
          <p:cNvSpPr>
            <a:spLocks xmlns:a="http://schemas.openxmlformats.org/drawingml/2006/main" noGrp="1"/>
          </p:cNvSpPr>
          <p:nvPr/>
        </p:nvSpPr>
        <p:spPr>
          <a:xfrm xmlns:a="http://schemas.openxmlformats.org/drawingml/2006/main">
            <a:off x="7248525" y="2333625"/>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玩家、房主、加入者、人机参与者，以及大厅、人机对局、好友蓝牙、规则设置、玩家中心、结算等用例</a:t>
            </a:r>
          </a:p>
        </p:txBody>
      </p:sp>
      <p:sp>
        <p:nvSpPr>
          <p:cNvPr id="27" name="">
            <a:extLst xmlns:a="http://schemas.openxmlformats.org/drawingml/2006/main">
              <a:ext uri="{FF2B5EF4-FFF2-40B4-BE49-F238E27FC236}">
                <a16:creationId xmlns:a16="http://schemas.microsoft.com/office/drawing/2014/main" id="{120AEB48-8538-4E67-8963-90BA02A1D418}"/>
              </a:ext>
            </a:extLst>
          </p:cNvPr>
          <p:cNvSpPr>
            <a:spLocks xmlns:a="http://schemas.openxmlformats.org/drawingml/2006/main" noGrp="1"/>
          </p:cNvSpPr>
          <p:nvPr/>
        </p:nvSpPr>
        <p:spPr>
          <a:xfrm xmlns:a="http://schemas.openxmlformats.org/drawingml/2006/main">
            <a:off x="9448800" y="2305050"/>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3D73BF75-42D2-4516-9CB0-CC810CB314F3}"/>
              </a:ext>
            </a:extLst>
          </p:cNvPr>
          <p:cNvSpPr>
            <a:spLocks xmlns:a="http://schemas.openxmlformats.org/drawingml/2006/main" noGrp="1"/>
          </p:cNvSpPr>
          <p:nvPr/>
        </p:nvSpPr>
        <p:spPr>
          <a:xfrm xmlns:a="http://schemas.openxmlformats.org/drawingml/2006/main">
            <a:off x="9496425" y="2333625"/>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docs/requirements.md、view/ChudadiApp.kt</a:t>
            </a:r>
          </a:p>
        </p:txBody>
      </p:sp>
      <p:sp>
        <p:nvSpPr>
          <p:cNvPr id="29" name="">
            <a:extLst xmlns:a="http://schemas.openxmlformats.org/drawingml/2006/main">
              <a:ext uri="{FF2B5EF4-FFF2-40B4-BE49-F238E27FC236}">
                <a16:creationId xmlns:a16="http://schemas.microsoft.com/office/drawing/2014/main" id="{6ADD596D-5FBA-4847-BC2C-2E5F3957B78B}"/>
              </a:ext>
            </a:extLst>
          </p:cNvPr>
          <p:cNvSpPr>
            <a:spLocks xmlns:a="http://schemas.openxmlformats.org/drawingml/2006/main" noGrp="1"/>
          </p:cNvSpPr>
          <p:nvPr/>
        </p:nvSpPr>
        <p:spPr>
          <a:xfrm xmlns:a="http://schemas.openxmlformats.org/drawingml/2006/main">
            <a:off x="457200" y="2824843"/>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1B3A0815-F941-415C-8512-04ECD3E72AB8}"/>
              </a:ext>
            </a:extLst>
          </p:cNvPr>
          <p:cNvSpPr>
            <a:spLocks xmlns:a="http://schemas.openxmlformats.org/drawingml/2006/main" noGrp="1"/>
          </p:cNvSpPr>
          <p:nvPr/>
        </p:nvSpPr>
        <p:spPr>
          <a:xfrm xmlns:a="http://schemas.openxmlformats.org/drawingml/2006/main">
            <a:off x="504825" y="2853418"/>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类图 class_diagram.png</a:t>
            </a:r>
          </a:p>
        </p:txBody>
      </p:sp>
      <p:sp>
        <p:nvSpPr>
          <p:cNvPr id="31" name="">
            <a:extLst xmlns:a="http://schemas.openxmlformats.org/drawingml/2006/main">
              <a:ext uri="{FF2B5EF4-FFF2-40B4-BE49-F238E27FC236}">
                <a16:creationId xmlns:a16="http://schemas.microsoft.com/office/drawing/2014/main" id="{01FC85BC-C519-4BA2-AD9C-35FFF9432373}"/>
              </a:ext>
            </a:extLst>
          </p:cNvPr>
          <p:cNvSpPr>
            <a:spLocks xmlns:a="http://schemas.openxmlformats.org/drawingml/2006/main" noGrp="1"/>
          </p:cNvSpPr>
          <p:nvPr/>
        </p:nvSpPr>
        <p:spPr>
          <a:xfrm xmlns:a="http://schemas.openxmlformats.org/drawingml/2006/main">
            <a:off x="2705100" y="2824843"/>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ECAB8FA3-0FC9-4F5F-B50B-3D2D4C257453}"/>
              </a:ext>
            </a:extLst>
          </p:cNvPr>
          <p:cNvSpPr>
            <a:spLocks xmlns:a="http://schemas.openxmlformats.org/drawingml/2006/main" noGrp="1"/>
          </p:cNvSpPr>
          <p:nvPr/>
        </p:nvSpPr>
        <p:spPr>
          <a:xfrm xmlns:a="http://schemas.openxmlformats.org/drawingml/2006/main">
            <a:off x="2752725" y="2853418"/>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阶段 2：细化迭代 1</a:t>
            </a:r>
          </a:p>
        </p:txBody>
      </p:sp>
      <p:sp>
        <p:nvSpPr>
          <p:cNvPr id="33" name="">
            <a:extLst xmlns:a="http://schemas.openxmlformats.org/drawingml/2006/main">
              <a:ext uri="{FF2B5EF4-FFF2-40B4-BE49-F238E27FC236}">
                <a16:creationId xmlns:a16="http://schemas.microsoft.com/office/drawing/2014/main" id="{1588D457-B338-473F-AF43-407B62A8F15C}"/>
              </a:ext>
            </a:extLst>
          </p:cNvPr>
          <p:cNvSpPr>
            <a:spLocks xmlns:a="http://schemas.openxmlformats.org/drawingml/2006/main" noGrp="1"/>
          </p:cNvSpPr>
          <p:nvPr/>
        </p:nvSpPr>
        <p:spPr>
          <a:xfrm xmlns:a="http://schemas.openxmlformats.org/drawingml/2006/main">
            <a:off x="4953000" y="2824843"/>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00BF9083-9E33-4A50-AAFB-08A250854CA4}"/>
              </a:ext>
            </a:extLst>
          </p:cNvPr>
          <p:cNvSpPr>
            <a:spLocks xmlns:a="http://schemas.openxmlformats.org/drawingml/2006/main" noGrp="1"/>
          </p:cNvSpPr>
          <p:nvPr/>
        </p:nvSpPr>
        <p:spPr>
          <a:xfrm xmlns:a="http://schemas.openxmlformats.org/drawingml/2006/main">
            <a:off x="5000625" y="2853418"/>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Domain Model、Design Model、UML Class Diagram</a:t>
            </a:r>
          </a:p>
        </p:txBody>
      </p:sp>
      <p:sp>
        <p:nvSpPr>
          <p:cNvPr id="35" name="">
            <a:extLst xmlns:a="http://schemas.openxmlformats.org/drawingml/2006/main">
              <a:ext uri="{FF2B5EF4-FFF2-40B4-BE49-F238E27FC236}">
                <a16:creationId xmlns:a16="http://schemas.microsoft.com/office/drawing/2014/main" id="{7ED2BC76-61A9-4C42-9EC8-CBCF364D7BFF}"/>
              </a:ext>
            </a:extLst>
          </p:cNvPr>
          <p:cNvSpPr>
            <a:spLocks xmlns:a="http://schemas.openxmlformats.org/drawingml/2006/main" noGrp="1"/>
          </p:cNvSpPr>
          <p:nvPr/>
        </p:nvSpPr>
        <p:spPr>
          <a:xfrm xmlns:a="http://schemas.openxmlformats.org/drawingml/2006/main">
            <a:off x="7200900" y="2824843"/>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E7689738-6CF2-45AC-A082-DED8E28B23F4}"/>
              </a:ext>
            </a:extLst>
          </p:cNvPr>
          <p:cNvSpPr>
            <a:spLocks xmlns:a="http://schemas.openxmlformats.org/drawingml/2006/main" noGrp="1"/>
          </p:cNvSpPr>
          <p:nvPr/>
        </p:nvSpPr>
        <p:spPr>
          <a:xfrm xmlns:a="http://schemas.openxmlformats.org/drawingml/2006/main">
            <a:off x="7248525" y="2853418"/>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Card、GameState、RuleSet、GameController、AiStrategy、GameTransport、ProfileController 等类和接口关系</a:t>
            </a:r>
          </a:p>
        </p:txBody>
      </p:sp>
      <p:sp>
        <p:nvSpPr>
          <p:cNvPr id="37" name="">
            <a:extLst xmlns:a="http://schemas.openxmlformats.org/drawingml/2006/main">
              <a:ext uri="{FF2B5EF4-FFF2-40B4-BE49-F238E27FC236}">
                <a16:creationId xmlns:a16="http://schemas.microsoft.com/office/drawing/2014/main" id="{C3484ED9-A8CE-407C-80AF-D4162BF6BF95}"/>
              </a:ext>
            </a:extLst>
          </p:cNvPr>
          <p:cNvSpPr>
            <a:spLocks xmlns:a="http://schemas.openxmlformats.org/drawingml/2006/main" noGrp="1"/>
          </p:cNvSpPr>
          <p:nvPr/>
        </p:nvSpPr>
        <p:spPr>
          <a:xfrm xmlns:a="http://schemas.openxmlformats.org/drawingml/2006/main">
            <a:off x="9448800" y="2824843"/>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1F001561-B888-4678-A24A-BE26E8CB3F3A}"/>
              </a:ext>
            </a:extLst>
          </p:cNvPr>
          <p:cNvSpPr>
            <a:spLocks xmlns:a="http://schemas.openxmlformats.org/drawingml/2006/main" noGrp="1"/>
          </p:cNvSpPr>
          <p:nvPr/>
        </p:nvSpPr>
        <p:spPr>
          <a:xfrm xmlns:a="http://schemas.openxmlformats.org/drawingml/2006/main">
            <a:off x="9496425" y="2853418"/>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model/、controller/、transport/、profile/</a:t>
            </a:r>
          </a:p>
        </p:txBody>
      </p:sp>
      <p:sp>
        <p:nvSpPr>
          <p:cNvPr id="39" name="">
            <a:extLst xmlns:a="http://schemas.openxmlformats.org/drawingml/2006/main">
              <a:ext uri="{FF2B5EF4-FFF2-40B4-BE49-F238E27FC236}">
                <a16:creationId xmlns:a16="http://schemas.microsoft.com/office/drawing/2014/main" id="{CB641466-2825-4A39-A0AB-6EE40563958D}"/>
              </a:ext>
            </a:extLst>
          </p:cNvPr>
          <p:cNvSpPr>
            <a:spLocks xmlns:a="http://schemas.openxmlformats.org/drawingml/2006/main" noGrp="1"/>
          </p:cNvSpPr>
          <p:nvPr/>
        </p:nvSpPr>
        <p:spPr>
          <a:xfrm xmlns:a="http://schemas.openxmlformats.org/drawingml/2006/main">
            <a:off x="457200" y="3344636"/>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79EBA997-A592-4C7D-B082-B1771D5DBDFC}"/>
              </a:ext>
            </a:extLst>
          </p:cNvPr>
          <p:cNvSpPr>
            <a:spLocks xmlns:a="http://schemas.openxmlformats.org/drawingml/2006/main" noGrp="1"/>
          </p:cNvSpPr>
          <p:nvPr/>
        </p:nvSpPr>
        <p:spPr>
          <a:xfrm xmlns:a="http://schemas.openxmlformats.org/drawingml/2006/main">
            <a:off x="504825" y="3373211"/>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顺序图 sequence_game_turn.png</a:t>
            </a:r>
          </a:p>
        </p:txBody>
      </p:sp>
      <p:sp>
        <p:nvSpPr>
          <p:cNvPr id="41" name="">
            <a:extLst xmlns:a="http://schemas.openxmlformats.org/drawingml/2006/main">
              <a:ext uri="{FF2B5EF4-FFF2-40B4-BE49-F238E27FC236}">
                <a16:creationId xmlns:a16="http://schemas.microsoft.com/office/drawing/2014/main" id="{9F815EE5-E9AC-4182-AEB8-BD8E6A685AE5}"/>
              </a:ext>
            </a:extLst>
          </p:cNvPr>
          <p:cNvSpPr>
            <a:spLocks xmlns:a="http://schemas.openxmlformats.org/drawingml/2006/main" noGrp="1"/>
          </p:cNvSpPr>
          <p:nvPr/>
        </p:nvSpPr>
        <p:spPr>
          <a:xfrm xmlns:a="http://schemas.openxmlformats.org/drawingml/2006/main">
            <a:off x="2705100" y="3344636"/>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14F329C1-82DF-454F-B729-C62DFF99B17F}"/>
              </a:ext>
            </a:extLst>
          </p:cNvPr>
          <p:cNvSpPr>
            <a:spLocks xmlns:a="http://schemas.openxmlformats.org/drawingml/2006/main" noGrp="1"/>
          </p:cNvSpPr>
          <p:nvPr/>
        </p:nvSpPr>
        <p:spPr>
          <a:xfrm xmlns:a="http://schemas.openxmlformats.org/drawingml/2006/main">
            <a:off x="2752725" y="3373211"/>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阶段 2 和阶段 3</a:t>
            </a:r>
          </a:p>
        </p:txBody>
      </p:sp>
      <p:sp>
        <p:nvSpPr>
          <p:cNvPr id="43" name="">
            <a:extLst xmlns:a="http://schemas.openxmlformats.org/drawingml/2006/main">
              <a:ext uri="{FF2B5EF4-FFF2-40B4-BE49-F238E27FC236}">
                <a16:creationId xmlns:a16="http://schemas.microsoft.com/office/drawing/2014/main" id="{B5C0407B-FC8A-411A-989D-28840BBE220F}"/>
              </a:ext>
            </a:extLst>
          </p:cNvPr>
          <p:cNvSpPr>
            <a:spLocks xmlns:a="http://schemas.openxmlformats.org/drawingml/2006/main" noGrp="1"/>
          </p:cNvSpPr>
          <p:nvPr/>
        </p:nvSpPr>
        <p:spPr>
          <a:xfrm xmlns:a="http://schemas.openxmlformats.org/drawingml/2006/main">
            <a:off x="4953000" y="3344636"/>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77311FD2-0A73-4AA8-8813-B485C8DD0C33}"/>
              </a:ext>
            </a:extLst>
          </p:cNvPr>
          <p:cNvSpPr>
            <a:spLocks xmlns:a="http://schemas.openxmlformats.org/drawingml/2006/main" noGrp="1"/>
          </p:cNvSpPr>
          <p:nvPr/>
        </p:nvSpPr>
        <p:spPr>
          <a:xfrm xmlns:a="http://schemas.openxmlformats.org/drawingml/2006/main">
            <a:off x="5000625" y="3373211"/>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System Sequence Diagram、Interaction Diagram</a:t>
            </a:r>
          </a:p>
        </p:txBody>
      </p:sp>
      <p:sp>
        <p:nvSpPr>
          <p:cNvPr id="45" name="">
            <a:extLst xmlns:a="http://schemas.openxmlformats.org/drawingml/2006/main">
              <a:ext uri="{FF2B5EF4-FFF2-40B4-BE49-F238E27FC236}">
                <a16:creationId xmlns:a16="http://schemas.microsoft.com/office/drawing/2014/main" id="{4F099F41-488B-4991-8910-D3FE1153AA08}"/>
              </a:ext>
            </a:extLst>
          </p:cNvPr>
          <p:cNvSpPr>
            <a:spLocks xmlns:a="http://schemas.openxmlformats.org/drawingml/2006/main" noGrp="1"/>
          </p:cNvSpPr>
          <p:nvPr/>
        </p:nvSpPr>
        <p:spPr>
          <a:xfrm xmlns:a="http://schemas.openxmlformats.org/drawingml/2006/main">
            <a:off x="7200900" y="3344636"/>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DA5C0774-9CE9-4F45-BFE4-71971CD16FFA}"/>
              </a:ext>
            </a:extLst>
          </p:cNvPr>
          <p:cNvSpPr>
            <a:spLocks xmlns:a="http://schemas.openxmlformats.org/drawingml/2006/main" noGrp="1"/>
          </p:cNvSpPr>
          <p:nvPr/>
        </p:nvSpPr>
        <p:spPr>
          <a:xfrm xmlns:a="http://schemas.openxmlformats.org/drawingml/2006/main">
            <a:off x="7248525" y="3373211"/>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玩家出牌、Controller 校验、状态更新、蓝牙客户端请求、房主校验、广播快照、客户端断线托管和房主断线退出顺序</a:t>
            </a:r>
          </a:p>
        </p:txBody>
      </p:sp>
      <p:sp>
        <p:nvSpPr>
          <p:cNvPr id="47" name="">
            <a:extLst xmlns:a="http://schemas.openxmlformats.org/drawingml/2006/main">
              <a:ext uri="{FF2B5EF4-FFF2-40B4-BE49-F238E27FC236}">
                <a16:creationId xmlns:a16="http://schemas.microsoft.com/office/drawing/2014/main" id="{ABF90B3F-665D-4564-A3C4-78C4F7EE853D}"/>
              </a:ext>
            </a:extLst>
          </p:cNvPr>
          <p:cNvSpPr>
            <a:spLocks xmlns:a="http://schemas.openxmlformats.org/drawingml/2006/main" noGrp="1"/>
          </p:cNvSpPr>
          <p:nvPr/>
        </p:nvSpPr>
        <p:spPr>
          <a:xfrm xmlns:a="http://schemas.openxmlformats.org/drawingml/2006/main">
            <a:off x="9448800" y="3344636"/>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54A282CA-43C0-46DE-80AD-443013020947}"/>
              </a:ext>
            </a:extLst>
          </p:cNvPr>
          <p:cNvSpPr>
            <a:spLocks xmlns:a="http://schemas.openxmlformats.org/drawingml/2006/main" noGrp="1"/>
          </p:cNvSpPr>
          <p:nvPr/>
        </p:nvSpPr>
        <p:spPr>
          <a:xfrm xmlns:a="http://schemas.openxmlformats.org/drawingml/2006/main">
            <a:off x="9496425" y="3373211"/>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GameController.kt、GameMessage.kt、BluetoothTransports.kt</a:t>
            </a:r>
          </a:p>
        </p:txBody>
      </p:sp>
      <p:sp>
        <p:nvSpPr>
          <p:cNvPr id="49" name="">
            <a:extLst xmlns:a="http://schemas.openxmlformats.org/drawingml/2006/main">
              <a:ext uri="{FF2B5EF4-FFF2-40B4-BE49-F238E27FC236}">
                <a16:creationId xmlns:a16="http://schemas.microsoft.com/office/drawing/2014/main" id="{7E5FF977-D316-4CC4-A7A0-B5E5AA878F47}"/>
              </a:ext>
            </a:extLst>
          </p:cNvPr>
          <p:cNvSpPr>
            <a:spLocks xmlns:a="http://schemas.openxmlformats.org/drawingml/2006/main" noGrp="1"/>
          </p:cNvSpPr>
          <p:nvPr/>
        </p:nvSpPr>
        <p:spPr>
          <a:xfrm xmlns:a="http://schemas.openxmlformats.org/drawingml/2006/main">
            <a:off x="457200" y="3864429"/>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31CF2751-29C7-4492-BBBD-4C244408120D}"/>
              </a:ext>
            </a:extLst>
          </p:cNvPr>
          <p:cNvSpPr>
            <a:spLocks xmlns:a="http://schemas.openxmlformats.org/drawingml/2006/main" noGrp="1"/>
          </p:cNvSpPr>
          <p:nvPr/>
        </p:nvSpPr>
        <p:spPr>
          <a:xfrm xmlns:a="http://schemas.openxmlformats.org/drawingml/2006/main">
            <a:off x="504825" y="3893004"/>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活动图 activity_play.png</a:t>
            </a:r>
          </a:p>
        </p:txBody>
      </p:sp>
      <p:sp>
        <p:nvSpPr>
          <p:cNvPr id="51" name="">
            <a:extLst xmlns:a="http://schemas.openxmlformats.org/drawingml/2006/main">
              <a:ext uri="{FF2B5EF4-FFF2-40B4-BE49-F238E27FC236}">
                <a16:creationId xmlns:a16="http://schemas.microsoft.com/office/drawing/2014/main" id="{D02F9116-D410-4530-BBA7-2F2560653D8D}"/>
              </a:ext>
            </a:extLst>
          </p:cNvPr>
          <p:cNvSpPr>
            <a:spLocks xmlns:a="http://schemas.openxmlformats.org/drawingml/2006/main" noGrp="1"/>
          </p:cNvSpPr>
          <p:nvPr/>
        </p:nvSpPr>
        <p:spPr>
          <a:xfrm xmlns:a="http://schemas.openxmlformats.org/drawingml/2006/main">
            <a:off x="2705100" y="3864429"/>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C023909B-42D0-4ED0-A9F8-C727C588E553}"/>
              </a:ext>
            </a:extLst>
          </p:cNvPr>
          <p:cNvSpPr>
            <a:spLocks xmlns:a="http://schemas.openxmlformats.org/drawingml/2006/main" noGrp="1"/>
          </p:cNvSpPr>
          <p:nvPr/>
        </p:nvSpPr>
        <p:spPr>
          <a:xfrm xmlns:a="http://schemas.openxmlformats.org/drawingml/2006/main">
            <a:off x="2752725" y="3893004"/>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阶段 3：细化迭代 2</a:t>
            </a:r>
          </a:p>
        </p:txBody>
      </p:sp>
      <p:sp>
        <p:nvSpPr>
          <p:cNvPr id="53" name="">
            <a:extLst xmlns:a="http://schemas.openxmlformats.org/drawingml/2006/main">
              <a:ext uri="{FF2B5EF4-FFF2-40B4-BE49-F238E27FC236}">
                <a16:creationId xmlns:a16="http://schemas.microsoft.com/office/drawing/2014/main" id="{0E0885AB-5AEE-4353-9F47-9BCD9784FBE9}"/>
              </a:ext>
            </a:extLst>
          </p:cNvPr>
          <p:cNvSpPr>
            <a:spLocks xmlns:a="http://schemas.openxmlformats.org/drawingml/2006/main" noGrp="1"/>
          </p:cNvSpPr>
          <p:nvPr/>
        </p:nvSpPr>
        <p:spPr>
          <a:xfrm xmlns:a="http://schemas.openxmlformats.org/drawingml/2006/main">
            <a:off x="4953000" y="3864429"/>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444AF03A-980B-4CFB-9918-4966579F38E5}"/>
              </a:ext>
            </a:extLst>
          </p:cNvPr>
          <p:cNvSpPr>
            <a:spLocks xmlns:a="http://schemas.openxmlformats.org/drawingml/2006/main" noGrp="1"/>
          </p:cNvSpPr>
          <p:nvPr/>
        </p:nvSpPr>
        <p:spPr>
          <a:xfrm xmlns:a="http://schemas.openxmlformats.org/drawingml/2006/main">
            <a:off x="5000625" y="3893004"/>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用例实现流程、操作契约流程化表达</a:t>
            </a:r>
          </a:p>
        </p:txBody>
      </p:sp>
      <p:sp>
        <p:nvSpPr>
          <p:cNvPr id="55" name="">
            <a:extLst xmlns:a="http://schemas.openxmlformats.org/drawingml/2006/main">
              <a:ext uri="{FF2B5EF4-FFF2-40B4-BE49-F238E27FC236}">
                <a16:creationId xmlns:a16="http://schemas.microsoft.com/office/drawing/2014/main" id="{9A36CED2-49A2-454C-ABFB-1969447314BE}"/>
              </a:ext>
            </a:extLst>
          </p:cNvPr>
          <p:cNvSpPr>
            <a:spLocks xmlns:a="http://schemas.openxmlformats.org/drawingml/2006/main" noGrp="1"/>
          </p:cNvSpPr>
          <p:nvPr/>
        </p:nvSpPr>
        <p:spPr>
          <a:xfrm xmlns:a="http://schemas.openxmlformats.org/drawingml/2006/main">
            <a:off x="7200900" y="3864429"/>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F6FE30FF-4C14-4968-BDC0-E429BF2666A9}"/>
              </a:ext>
            </a:extLst>
          </p:cNvPr>
          <p:cNvSpPr>
            <a:spLocks xmlns:a="http://schemas.openxmlformats.org/drawingml/2006/main" noGrp="1"/>
          </p:cNvSpPr>
          <p:nvPr/>
        </p:nvSpPr>
        <p:spPr>
          <a:xfrm xmlns:a="http://schemas.openxmlformats.org/drawingml/2006/main">
            <a:off x="7248525" y="3893004"/>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开局、发牌、选择牌、出牌/不出、非法出牌提示、蓝牙等待确认、结算和再来一局</a:t>
            </a:r>
          </a:p>
        </p:txBody>
      </p:sp>
      <p:sp>
        <p:nvSpPr>
          <p:cNvPr id="57" name="">
            <a:extLst xmlns:a="http://schemas.openxmlformats.org/drawingml/2006/main">
              <a:ext uri="{FF2B5EF4-FFF2-40B4-BE49-F238E27FC236}">
                <a16:creationId xmlns:a16="http://schemas.microsoft.com/office/drawing/2014/main" id="{7B0E737D-429C-4A70-A65E-E7D40E3D9868}"/>
              </a:ext>
            </a:extLst>
          </p:cNvPr>
          <p:cNvSpPr>
            <a:spLocks xmlns:a="http://schemas.openxmlformats.org/drawingml/2006/main" noGrp="1"/>
          </p:cNvSpPr>
          <p:nvPr/>
        </p:nvSpPr>
        <p:spPr>
          <a:xfrm xmlns:a="http://schemas.openxmlformats.org/drawingml/2006/main">
            <a:off x="9448800" y="3864429"/>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8" name="">
            <a:extLst xmlns:a="http://schemas.openxmlformats.org/drawingml/2006/main">
              <a:ext uri="{FF2B5EF4-FFF2-40B4-BE49-F238E27FC236}">
                <a16:creationId xmlns:a16="http://schemas.microsoft.com/office/drawing/2014/main" id="{392F562C-30BA-4B8F-986A-B97303280443}"/>
              </a:ext>
            </a:extLst>
          </p:cNvPr>
          <p:cNvSpPr>
            <a:spLocks xmlns:a="http://schemas.openxmlformats.org/drawingml/2006/main" noGrp="1"/>
          </p:cNvSpPr>
          <p:nvPr/>
        </p:nvSpPr>
        <p:spPr>
          <a:xfrm xmlns:a="http://schemas.openxmlformats.org/drawingml/2006/main">
            <a:off x="9496425" y="3893004"/>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PlayerActionPolicy.kt、ChudadiApp.kt</a:t>
            </a:r>
          </a:p>
        </p:txBody>
      </p:sp>
      <p:sp>
        <p:nvSpPr>
          <p:cNvPr id="59" name="">
            <a:extLst xmlns:a="http://schemas.openxmlformats.org/drawingml/2006/main">
              <a:ext uri="{FF2B5EF4-FFF2-40B4-BE49-F238E27FC236}">
                <a16:creationId xmlns:a16="http://schemas.microsoft.com/office/drawing/2014/main" id="{6DB501BD-B56A-4D72-B0C9-0996FE22300A}"/>
              </a:ext>
            </a:extLst>
          </p:cNvPr>
          <p:cNvSpPr>
            <a:spLocks xmlns:a="http://schemas.openxmlformats.org/drawingml/2006/main" noGrp="1"/>
          </p:cNvSpPr>
          <p:nvPr/>
        </p:nvSpPr>
        <p:spPr>
          <a:xfrm xmlns:a="http://schemas.openxmlformats.org/drawingml/2006/main">
            <a:off x="457200" y="4384221"/>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0" name="">
            <a:extLst xmlns:a="http://schemas.openxmlformats.org/drawingml/2006/main">
              <a:ext uri="{FF2B5EF4-FFF2-40B4-BE49-F238E27FC236}">
                <a16:creationId xmlns:a16="http://schemas.microsoft.com/office/drawing/2014/main" id="{3D40CA5A-A1EB-41DD-82A9-ACD9512B4642}"/>
              </a:ext>
            </a:extLst>
          </p:cNvPr>
          <p:cNvSpPr>
            <a:spLocks xmlns:a="http://schemas.openxmlformats.org/drawingml/2006/main" noGrp="1"/>
          </p:cNvSpPr>
          <p:nvPr/>
        </p:nvSpPr>
        <p:spPr>
          <a:xfrm xmlns:a="http://schemas.openxmlformats.org/drawingml/2006/main">
            <a:off x="504825" y="4412796"/>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状态图 state_game.png</a:t>
            </a:r>
          </a:p>
        </p:txBody>
      </p:sp>
      <p:sp>
        <p:nvSpPr>
          <p:cNvPr id="61" name="">
            <a:extLst xmlns:a="http://schemas.openxmlformats.org/drawingml/2006/main">
              <a:ext uri="{FF2B5EF4-FFF2-40B4-BE49-F238E27FC236}">
                <a16:creationId xmlns:a16="http://schemas.microsoft.com/office/drawing/2014/main" id="{9CBBE048-71CF-424F-B89D-FC4C4786AB14}"/>
              </a:ext>
            </a:extLst>
          </p:cNvPr>
          <p:cNvSpPr>
            <a:spLocks xmlns:a="http://schemas.openxmlformats.org/drawingml/2006/main" noGrp="1"/>
          </p:cNvSpPr>
          <p:nvPr/>
        </p:nvSpPr>
        <p:spPr>
          <a:xfrm xmlns:a="http://schemas.openxmlformats.org/drawingml/2006/main">
            <a:off x="2705100" y="4384221"/>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2" name="">
            <a:extLst xmlns:a="http://schemas.openxmlformats.org/drawingml/2006/main">
              <a:ext uri="{FF2B5EF4-FFF2-40B4-BE49-F238E27FC236}">
                <a16:creationId xmlns:a16="http://schemas.microsoft.com/office/drawing/2014/main" id="{B13538D6-5C20-4D4A-80B0-61B661BF2411}"/>
              </a:ext>
            </a:extLst>
          </p:cNvPr>
          <p:cNvSpPr>
            <a:spLocks xmlns:a="http://schemas.openxmlformats.org/drawingml/2006/main" noGrp="1"/>
          </p:cNvSpPr>
          <p:nvPr/>
        </p:nvSpPr>
        <p:spPr>
          <a:xfrm xmlns:a="http://schemas.openxmlformats.org/drawingml/2006/main">
            <a:off x="2752725" y="4412796"/>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阶段 4：细化迭代 3</a:t>
            </a:r>
          </a:p>
        </p:txBody>
      </p:sp>
      <p:sp>
        <p:nvSpPr>
          <p:cNvPr id="63" name="">
            <a:extLst xmlns:a="http://schemas.openxmlformats.org/drawingml/2006/main">
              <a:ext uri="{FF2B5EF4-FFF2-40B4-BE49-F238E27FC236}">
                <a16:creationId xmlns:a16="http://schemas.microsoft.com/office/drawing/2014/main" id="{E6478CA9-36AC-4087-AE23-2D2E502DCF52}"/>
              </a:ext>
            </a:extLst>
          </p:cNvPr>
          <p:cNvSpPr>
            <a:spLocks xmlns:a="http://schemas.openxmlformats.org/drawingml/2006/main" noGrp="1"/>
          </p:cNvSpPr>
          <p:nvPr/>
        </p:nvSpPr>
        <p:spPr>
          <a:xfrm xmlns:a="http://schemas.openxmlformats.org/drawingml/2006/main">
            <a:off x="4953000" y="4384221"/>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4" name="">
            <a:extLst xmlns:a="http://schemas.openxmlformats.org/drawingml/2006/main">
              <a:ext uri="{FF2B5EF4-FFF2-40B4-BE49-F238E27FC236}">
                <a16:creationId xmlns:a16="http://schemas.microsoft.com/office/drawing/2014/main" id="{AAC973AA-744E-4971-9DAC-CB0D842558BA}"/>
              </a:ext>
            </a:extLst>
          </p:cNvPr>
          <p:cNvSpPr>
            <a:spLocks xmlns:a="http://schemas.openxmlformats.org/drawingml/2006/main" noGrp="1"/>
          </p:cNvSpPr>
          <p:nvPr/>
        </p:nvSpPr>
        <p:spPr>
          <a:xfrm xmlns:a="http://schemas.openxmlformats.org/drawingml/2006/main">
            <a:off x="5000625" y="4412796"/>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UML State Machine Diagram、状态建模</a:t>
            </a:r>
          </a:p>
        </p:txBody>
      </p:sp>
      <p:sp>
        <p:nvSpPr>
          <p:cNvPr id="65" name="">
            <a:extLst xmlns:a="http://schemas.openxmlformats.org/drawingml/2006/main">
              <a:ext uri="{FF2B5EF4-FFF2-40B4-BE49-F238E27FC236}">
                <a16:creationId xmlns:a16="http://schemas.microsoft.com/office/drawing/2014/main" id="{3774B59C-34DB-4487-B223-DE614D679187}"/>
              </a:ext>
            </a:extLst>
          </p:cNvPr>
          <p:cNvSpPr>
            <a:spLocks xmlns:a="http://schemas.openxmlformats.org/drawingml/2006/main" noGrp="1"/>
          </p:cNvSpPr>
          <p:nvPr/>
        </p:nvSpPr>
        <p:spPr>
          <a:xfrm xmlns:a="http://schemas.openxmlformats.org/drawingml/2006/main">
            <a:off x="7200900" y="4384221"/>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6" name="">
            <a:extLst xmlns:a="http://schemas.openxmlformats.org/drawingml/2006/main">
              <a:ext uri="{FF2B5EF4-FFF2-40B4-BE49-F238E27FC236}">
                <a16:creationId xmlns:a16="http://schemas.microsoft.com/office/drawing/2014/main" id="{B7673ED5-D619-45F9-B3FE-512D4BD44C6A}"/>
              </a:ext>
            </a:extLst>
          </p:cNvPr>
          <p:cNvSpPr>
            <a:spLocks xmlns:a="http://schemas.openxmlformats.org/drawingml/2006/main" noGrp="1"/>
          </p:cNvSpPr>
          <p:nvPr/>
        </p:nvSpPr>
        <p:spPr>
          <a:xfrm xmlns:a="http://schemas.openxmlformats.org/drawingml/2006/main">
            <a:off x="7248525" y="4412796"/>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Splash、Lobby、Nearby、ReadyToStart、Dealing、Playing、Paused、Result、断线托管等状态转换</a:t>
            </a:r>
          </a:p>
        </p:txBody>
      </p:sp>
      <p:sp>
        <p:nvSpPr>
          <p:cNvPr id="67" name="">
            <a:extLst xmlns:a="http://schemas.openxmlformats.org/drawingml/2006/main">
              <a:ext uri="{FF2B5EF4-FFF2-40B4-BE49-F238E27FC236}">
                <a16:creationId xmlns:a16="http://schemas.microsoft.com/office/drawing/2014/main" id="{D2836EEE-A76A-4276-9FF2-DEF2EA26545C}"/>
              </a:ext>
            </a:extLst>
          </p:cNvPr>
          <p:cNvSpPr>
            <a:spLocks xmlns:a="http://schemas.openxmlformats.org/drawingml/2006/main" noGrp="1"/>
          </p:cNvSpPr>
          <p:nvPr/>
        </p:nvSpPr>
        <p:spPr>
          <a:xfrm xmlns:a="http://schemas.openxmlformats.org/drawingml/2006/main">
            <a:off x="9448800" y="4384221"/>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8" name="">
            <a:extLst xmlns:a="http://schemas.openxmlformats.org/drawingml/2006/main">
              <a:ext uri="{FF2B5EF4-FFF2-40B4-BE49-F238E27FC236}">
                <a16:creationId xmlns:a16="http://schemas.microsoft.com/office/drawing/2014/main" id="{11BC356B-98BA-4296-AB28-D6BCF167FD4F}"/>
              </a:ext>
            </a:extLst>
          </p:cNvPr>
          <p:cNvSpPr>
            <a:spLocks xmlns:a="http://schemas.openxmlformats.org/drawingml/2006/main" noGrp="1"/>
          </p:cNvSpPr>
          <p:nvPr/>
        </p:nvSpPr>
        <p:spPr>
          <a:xfrm xmlns:a="http://schemas.openxmlformats.org/drawingml/2006/main">
            <a:off x="9496425" y="4412796"/>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Screen、GameStartPhase、BluetoothEntryMode</a:t>
            </a:r>
          </a:p>
        </p:txBody>
      </p:sp>
      <p:sp>
        <p:nvSpPr>
          <p:cNvPr id="69" name="">
            <a:extLst xmlns:a="http://schemas.openxmlformats.org/drawingml/2006/main">
              <a:ext uri="{FF2B5EF4-FFF2-40B4-BE49-F238E27FC236}">
                <a16:creationId xmlns:a16="http://schemas.microsoft.com/office/drawing/2014/main" id="{1FEE6ADF-06A8-492B-A154-B250AC326BC9}"/>
              </a:ext>
            </a:extLst>
          </p:cNvPr>
          <p:cNvSpPr>
            <a:spLocks xmlns:a="http://schemas.openxmlformats.org/drawingml/2006/main" noGrp="1"/>
          </p:cNvSpPr>
          <p:nvPr/>
        </p:nvSpPr>
        <p:spPr>
          <a:xfrm xmlns:a="http://schemas.openxmlformats.org/drawingml/2006/main">
            <a:off x="457200" y="4904014"/>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0" name="">
            <a:extLst xmlns:a="http://schemas.openxmlformats.org/drawingml/2006/main">
              <a:ext uri="{FF2B5EF4-FFF2-40B4-BE49-F238E27FC236}">
                <a16:creationId xmlns:a16="http://schemas.microsoft.com/office/drawing/2014/main" id="{C1DC3D6F-2F78-4007-AC14-7397F86C92CB}"/>
              </a:ext>
            </a:extLst>
          </p:cNvPr>
          <p:cNvSpPr>
            <a:spLocks xmlns:a="http://schemas.openxmlformats.org/drawingml/2006/main" noGrp="1"/>
          </p:cNvSpPr>
          <p:nvPr/>
        </p:nvSpPr>
        <p:spPr>
          <a:xfrm xmlns:a="http://schemas.openxmlformats.org/drawingml/2006/main">
            <a:off x="504825" y="4932589"/>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组件图 component_diagram.png</a:t>
            </a:r>
          </a:p>
        </p:txBody>
      </p:sp>
      <p:sp>
        <p:nvSpPr>
          <p:cNvPr id="71" name="">
            <a:extLst xmlns:a="http://schemas.openxmlformats.org/drawingml/2006/main">
              <a:ext uri="{FF2B5EF4-FFF2-40B4-BE49-F238E27FC236}">
                <a16:creationId xmlns:a16="http://schemas.microsoft.com/office/drawing/2014/main" id="{259F4456-F019-45A3-AA90-4765F2A26512}"/>
              </a:ext>
            </a:extLst>
          </p:cNvPr>
          <p:cNvSpPr>
            <a:spLocks xmlns:a="http://schemas.openxmlformats.org/drawingml/2006/main" noGrp="1"/>
          </p:cNvSpPr>
          <p:nvPr/>
        </p:nvSpPr>
        <p:spPr>
          <a:xfrm xmlns:a="http://schemas.openxmlformats.org/drawingml/2006/main">
            <a:off x="2705100" y="4904014"/>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2" name="">
            <a:extLst xmlns:a="http://schemas.openxmlformats.org/drawingml/2006/main">
              <a:ext uri="{FF2B5EF4-FFF2-40B4-BE49-F238E27FC236}">
                <a16:creationId xmlns:a16="http://schemas.microsoft.com/office/drawing/2014/main" id="{F138179D-AC76-461B-A60D-99449663F9F2}"/>
              </a:ext>
            </a:extLst>
          </p:cNvPr>
          <p:cNvSpPr>
            <a:spLocks xmlns:a="http://schemas.openxmlformats.org/drawingml/2006/main" noGrp="1"/>
          </p:cNvSpPr>
          <p:nvPr/>
        </p:nvSpPr>
        <p:spPr>
          <a:xfrm xmlns:a="http://schemas.openxmlformats.org/drawingml/2006/main">
            <a:off x="2752725" y="4932589"/>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阶段 2 和阶段 5</a:t>
            </a:r>
          </a:p>
        </p:txBody>
      </p:sp>
      <p:sp>
        <p:nvSpPr>
          <p:cNvPr id="73" name="">
            <a:extLst xmlns:a="http://schemas.openxmlformats.org/drawingml/2006/main">
              <a:ext uri="{FF2B5EF4-FFF2-40B4-BE49-F238E27FC236}">
                <a16:creationId xmlns:a16="http://schemas.microsoft.com/office/drawing/2014/main" id="{886A2048-D79F-4199-9737-7A1FE7476D4F}"/>
              </a:ext>
            </a:extLst>
          </p:cNvPr>
          <p:cNvSpPr>
            <a:spLocks xmlns:a="http://schemas.openxmlformats.org/drawingml/2006/main" noGrp="1"/>
          </p:cNvSpPr>
          <p:nvPr/>
        </p:nvSpPr>
        <p:spPr>
          <a:xfrm xmlns:a="http://schemas.openxmlformats.org/drawingml/2006/main">
            <a:off x="4953000" y="4904014"/>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4" name="">
            <a:extLst xmlns:a="http://schemas.openxmlformats.org/drawingml/2006/main">
              <a:ext uri="{FF2B5EF4-FFF2-40B4-BE49-F238E27FC236}">
                <a16:creationId xmlns:a16="http://schemas.microsoft.com/office/drawing/2014/main" id="{458D42E0-CB90-4937-929B-2DD87FDD7C1B}"/>
              </a:ext>
            </a:extLst>
          </p:cNvPr>
          <p:cNvSpPr>
            <a:spLocks xmlns:a="http://schemas.openxmlformats.org/drawingml/2006/main" noGrp="1"/>
          </p:cNvSpPr>
          <p:nvPr/>
        </p:nvSpPr>
        <p:spPr>
          <a:xfrm xmlns:a="http://schemas.openxmlformats.org/drawingml/2006/main">
            <a:off x="5000625" y="4932589"/>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UML Package/Component Diagram、模块依赖说明</a:t>
            </a:r>
          </a:p>
        </p:txBody>
      </p:sp>
      <p:sp>
        <p:nvSpPr>
          <p:cNvPr id="75" name="">
            <a:extLst xmlns:a="http://schemas.openxmlformats.org/drawingml/2006/main">
              <a:ext uri="{FF2B5EF4-FFF2-40B4-BE49-F238E27FC236}">
                <a16:creationId xmlns:a16="http://schemas.microsoft.com/office/drawing/2014/main" id="{0E005724-02E6-4B08-B62E-A135D2A756A6}"/>
              </a:ext>
            </a:extLst>
          </p:cNvPr>
          <p:cNvSpPr>
            <a:spLocks xmlns:a="http://schemas.openxmlformats.org/drawingml/2006/main" noGrp="1"/>
          </p:cNvSpPr>
          <p:nvPr/>
        </p:nvSpPr>
        <p:spPr>
          <a:xfrm xmlns:a="http://schemas.openxmlformats.org/drawingml/2006/main">
            <a:off x="7200900" y="4904014"/>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6" name="">
            <a:extLst xmlns:a="http://schemas.openxmlformats.org/drawingml/2006/main">
              <a:ext uri="{FF2B5EF4-FFF2-40B4-BE49-F238E27FC236}">
                <a16:creationId xmlns:a16="http://schemas.microsoft.com/office/drawing/2014/main" id="{7927E5DA-CAEA-432E-89FA-7D1C54868E28}"/>
              </a:ext>
            </a:extLst>
          </p:cNvPr>
          <p:cNvSpPr>
            <a:spLocks xmlns:a="http://schemas.openxmlformats.org/drawingml/2006/main" noGrp="1"/>
          </p:cNvSpPr>
          <p:nvPr/>
        </p:nvSpPr>
        <p:spPr>
          <a:xfrm xmlns:a="http://schemas.openxmlformats.org/drawingml/2006/main">
            <a:off x="7248525" y="4932589"/>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View、Controller、Model、Transport、Profile、Audio、Android Bluetooth API、SharedPreferences 等组件依赖</a:t>
            </a:r>
          </a:p>
        </p:txBody>
      </p:sp>
      <p:sp>
        <p:nvSpPr>
          <p:cNvPr id="77" name="">
            <a:extLst xmlns:a="http://schemas.openxmlformats.org/drawingml/2006/main">
              <a:ext uri="{FF2B5EF4-FFF2-40B4-BE49-F238E27FC236}">
                <a16:creationId xmlns:a16="http://schemas.microsoft.com/office/drawing/2014/main" id="{345CBDDA-1453-40C0-95C9-900B7BB35A52}"/>
              </a:ext>
            </a:extLst>
          </p:cNvPr>
          <p:cNvSpPr>
            <a:spLocks xmlns:a="http://schemas.openxmlformats.org/drawingml/2006/main" noGrp="1"/>
          </p:cNvSpPr>
          <p:nvPr/>
        </p:nvSpPr>
        <p:spPr>
          <a:xfrm xmlns:a="http://schemas.openxmlformats.org/drawingml/2006/main">
            <a:off x="9448800" y="4904014"/>
            <a:ext cx="22479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8" name="">
            <a:extLst xmlns:a="http://schemas.openxmlformats.org/drawingml/2006/main">
              <a:ext uri="{FF2B5EF4-FFF2-40B4-BE49-F238E27FC236}">
                <a16:creationId xmlns:a16="http://schemas.microsoft.com/office/drawing/2014/main" id="{C38016CC-BEC4-4FF9-831B-07227917E47A}"/>
              </a:ext>
            </a:extLst>
          </p:cNvPr>
          <p:cNvSpPr>
            <a:spLocks xmlns:a="http://schemas.openxmlformats.org/drawingml/2006/main" noGrp="1"/>
          </p:cNvSpPr>
          <p:nvPr/>
        </p:nvSpPr>
        <p:spPr>
          <a:xfrm xmlns:a="http://schemas.openxmlformats.org/drawingml/2006/main">
            <a:off x="9496425" y="4932589"/>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docs/design.md、源码包结构</a:t>
            </a:r>
          </a:p>
        </p:txBody>
      </p:sp>
      <p:sp>
        <p:nvSpPr>
          <p:cNvPr id="79" name="">
            <a:extLst xmlns:a="http://schemas.openxmlformats.org/drawingml/2006/main">
              <a:ext uri="{FF2B5EF4-FFF2-40B4-BE49-F238E27FC236}">
                <a16:creationId xmlns:a16="http://schemas.microsoft.com/office/drawing/2014/main" id="{5EBBBC89-C8E3-493C-9AEC-CAB6808C7764}"/>
              </a:ext>
            </a:extLst>
          </p:cNvPr>
          <p:cNvSpPr>
            <a:spLocks xmlns:a="http://schemas.openxmlformats.org/drawingml/2006/main" noGrp="1"/>
          </p:cNvSpPr>
          <p:nvPr/>
        </p:nvSpPr>
        <p:spPr>
          <a:xfrm xmlns:a="http://schemas.openxmlformats.org/drawingml/2006/main">
            <a:off x="457200" y="5423807"/>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80" name="">
            <a:extLst xmlns:a="http://schemas.openxmlformats.org/drawingml/2006/main">
              <a:ext uri="{FF2B5EF4-FFF2-40B4-BE49-F238E27FC236}">
                <a16:creationId xmlns:a16="http://schemas.microsoft.com/office/drawing/2014/main" id="{9871402E-6148-4EAB-A477-33D3F632435E}"/>
              </a:ext>
            </a:extLst>
          </p:cNvPr>
          <p:cNvSpPr>
            <a:spLocks xmlns:a="http://schemas.openxmlformats.org/drawingml/2006/main" noGrp="1"/>
          </p:cNvSpPr>
          <p:nvPr/>
        </p:nvSpPr>
        <p:spPr>
          <a:xfrm xmlns:a="http://schemas.openxmlformats.org/drawingml/2006/main">
            <a:off x="504825" y="5452382"/>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部署图 deployment_diagram.png</a:t>
            </a:r>
          </a:p>
        </p:txBody>
      </p:sp>
      <p:sp>
        <p:nvSpPr>
          <p:cNvPr id="81" name="">
            <a:extLst xmlns:a="http://schemas.openxmlformats.org/drawingml/2006/main">
              <a:ext uri="{FF2B5EF4-FFF2-40B4-BE49-F238E27FC236}">
                <a16:creationId xmlns:a16="http://schemas.microsoft.com/office/drawing/2014/main" id="{E048704C-946B-440D-A310-E40B8E5702D9}"/>
              </a:ext>
            </a:extLst>
          </p:cNvPr>
          <p:cNvSpPr>
            <a:spLocks xmlns:a="http://schemas.openxmlformats.org/drawingml/2006/main" noGrp="1"/>
          </p:cNvSpPr>
          <p:nvPr/>
        </p:nvSpPr>
        <p:spPr>
          <a:xfrm xmlns:a="http://schemas.openxmlformats.org/drawingml/2006/main">
            <a:off x="2705100" y="5423807"/>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82" name="">
            <a:extLst xmlns:a="http://schemas.openxmlformats.org/drawingml/2006/main">
              <a:ext uri="{FF2B5EF4-FFF2-40B4-BE49-F238E27FC236}">
                <a16:creationId xmlns:a16="http://schemas.microsoft.com/office/drawing/2014/main" id="{2B498343-78A8-42C7-A503-643C0FD72E08}"/>
              </a:ext>
            </a:extLst>
          </p:cNvPr>
          <p:cNvSpPr>
            <a:spLocks xmlns:a="http://schemas.openxmlformats.org/drawingml/2006/main" noGrp="1"/>
          </p:cNvSpPr>
          <p:nvPr/>
        </p:nvSpPr>
        <p:spPr>
          <a:xfrm xmlns:a="http://schemas.openxmlformats.org/drawingml/2006/main">
            <a:off x="2752725" y="5452382"/>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阶段 3 和阶段 5</a:t>
            </a:r>
          </a:p>
        </p:txBody>
      </p:sp>
      <p:sp>
        <p:nvSpPr>
          <p:cNvPr id="83" name="">
            <a:extLst xmlns:a="http://schemas.openxmlformats.org/drawingml/2006/main">
              <a:ext uri="{FF2B5EF4-FFF2-40B4-BE49-F238E27FC236}">
                <a16:creationId xmlns:a16="http://schemas.microsoft.com/office/drawing/2014/main" id="{1D5F72DB-BEE4-4046-923B-518D868D8D67}"/>
              </a:ext>
            </a:extLst>
          </p:cNvPr>
          <p:cNvSpPr>
            <a:spLocks xmlns:a="http://schemas.openxmlformats.org/drawingml/2006/main" noGrp="1"/>
          </p:cNvSpPr>
          <p:nvPr/>
        </p:nvSpPr>
        <p:spPr>
          <a:xfrm xmlns:a="http://schemas.openxmlformats.org/drawingml/2006/main">
            <a:off x="4953000" y="5423807"/>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84" name="">
            <a:extLst xmlns:a="http://schemas.openxmlformats.org/drawingml/2006/main">
              <a:ext uri="{FF2B5EF4-FFF2-40B4-BE49-F238E27FC236}">
                <a16:creationId xmlns:a16="http://schemas.microsoft.com/office/drawing/2014/main" id="{484F2593-91B6-4EE7-BA98-8CDC280F5F2B}"/>
              </a:ext>
            </a:extLst>
          </p:cNvPr>
          <p:cNvSpPr>
            <a:spLocks xmlns:a="http://schemas.openxmlformats.org/drawingml/2006/main" noGrp="1"/>
          </p:cNvSpPr>
          <p:nvPr/>
        </p:nvSpPr>
        <p:spPr>
          <a:xfrm xmlns:a="http://schemas.openxmlformats.org/drawingml/2006/main">
            <a:off x="5000625" y="5452382"/>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Deployment Model、联机和测试环境说明</a:t>
            </a:r>
          </a:p>
        </p:txBody>
      </p:sp>
      <p:sp>
        <p:nvSpPr>
          <p:cNvPr id="85" name="">
            <a:extLst xmlns:a="http://schemas.openxmlformats.org/drawingml/2006/main">
              <a:ext uri="{FF2B5EF4-FFF2-40B4-BE49-F238E27FC236}">
                <a16:creationId xmlns:a16="http://schemas.microsoft.com/office/drawing/2014/main" id="{CD14A009-E0AF-4DBB-8943-1EB20AF700D8}"/>
              </a:ext>
            </a:extLst>
          </p:cNvPr>
          <p:cNvSpPr>
            <a:spLocks xmlns:a="http://schemas.openxmlformats.org/drawingml/2006/main" noGrp="1"/>
          </p:cNvSpPr>
          <p:nvPr/>
        </p:nvSpPr>
        <p:spPr>
          <a:xfrm xmlns:a="http://schemas.openxmlformats.org/drawingml/2006/main">
            <a:off x="7200900" y="5423807"/>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86" name="">
            <a:extLst xmlns:a="http://schemas.openxmlformats.org/drawingml/2006/main">
              <a:ext uri="{FF2B5EF4-FFF2-40B4-BE49-F238E27FC236}">
                <a16:creationId xmlns:a16="http://schemas.microsoft.com/office/drawing/2014/main" id="{9DB2856B-9D79-4BE1-A32A-0C425BE371BB}"/>
              </a:ext>
            </a:extLst>
          </p:cNvPr>
          <p:cNvSpPr>
            <a:spLocks xmlns:a="http://schemas.openxmlformats.org/drawingml/2006/main" noGrp="1"/>
          </p:cNvSpPr>
          <p:nvPr/>
        </p:nvSpPr>
        <p:spPr>
          <a:xfrm xmlns:a="http://schemas.openxmlformats.org/drawingml/2006/main">
            <a:off x="7248525" y="5452382"/>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房主手机、加入者手机、Classic Bluetooth RFCOMM、Android Studio、Gradle、真机/模拟器测试环境</a:t>
            </a:r>
          </a:p>
        </p:txBody>
      </p:sp>
      <p:sp>
        <p:nvSpPr>
          <p:cNvPr id="87" name="">
            <a:extLst xmlns:a="http://schemas.openxmlformats.org/drawingml/2006/main">
              <a:ext uri="{FF2B5EF4-FFF2-40B4-BE49-F238E27FC236}">
                <a16:creationId xmlns:a16="http://schemas.microsoft.com/office/drawing/2014/main" id="{0128E9B3-FA26-429E-93E7-94881CBD1FE8}"/>
              </a:ext>
            </a:extLst>
          </p:cNvPr>
          <p:cNvSpPr>
            <a:spLocks xmlns:a="http://schemas.openxmlformats.org/drawingml/2006/main" noGrp="1"/>
          </p:cNvSpPr>
          <p:nvPr/>
        </p:nvSpPr>
        <p:spPr>
          <a:xfrm xmlns:a="http://schemas.openxmlformats.org/drawingml/2006/main">
            <a:off x="9448800" y="5423807"/>
            <a:ext cx="22479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88" name="">
            <a:extLst xmlns:a="http://schemas.openxmlformats.org/drawingml/2006/main">
              <a:ext uri="{FF2B5EF4-FFF2-40B4-BE49-F238E27FC236}">
                <a16:creationId xmlns:a16="http://schemas.microsoft.com/office/drawing/2014/main" id="{AD9562FC-A511-4584-B4C3-A29FEEE2E46F}"/>
              </a:ext>
            </a:extLst>
          </p:cNvPr>
          <p:cNvSpPr>
            <a:spLocks xmlns:a="http://schemas.openxmlformats.org/drawingml/2006/main" noGrp="1"/>
          </p:cNvSpPr>
          <p:nvPr/>
        </p:nvSpPr>
        <p:spPr>
          <a:xfrm xmlns:a="http://schemas.openxmlformats.org/drawingml/2006/main">
            <a:off x="9496425" y="5452382"/>
            <a:ext cx="21526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BluetoothHostTransport、BluetoothClientTransport、release_testing.md</a:t>
            </a:r>
          </a:p>
        </p:txBody>
      </p:sp>
    </p:spTree>
    <p:extLst>
      <p:ext uri="{BB962C8B-B14F-4D97-AF65-F5344CB8AC3E}">
        <p14:creationId xmlns:p14="http://schemas.microsoft.com/office/powerpoint/2010/main" val="22914825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24E5AE-0FAE-4BAA-A2F2-82C092D83F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481D82-AFD2-453B-BE15-6E53B0BF8FB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27E12D-259B-4637-8AC3-26D5C62DF3B8}"/>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22B8DDC7-EF75-49B5-9042-0F00DA6B8D2E}"/>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3. 小组分工与协作方式</a:t>
            </a:r>
          </a:p>
        </p:txBody>
      </p:sp>
      <p:sp>
        <p:nvSpPr>
          <p:cNvPr id="5" name="">
            <a:extLst xmlns:a="http://schemas.openxmlformats.org/drawingml/2006/main">
              <a:ext uri="{FF2B5EF4-FFF2-40B4-BE49-F238E27FC236}">
                <a16:creationId xmlns:a16="http://schemas.microsoft.com/office/drawing/2014/main" id="{E89C681C-8D7F-49B5-BC58-A18F4650CEF7}"/>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16</a:t>
            </a:r>
          </a:p>
        </p:txBody>
      </p:sp>
      <p:sp>
        <p:nvSpPr>
          <p:cNvPr id="6" name="">
            <a:extLst xmlns:a="http://schemas.openxmlformats.org/drawingml/2006/main">
              <a:ext uri="{FF2B5EF4-FFF2-40B4-BE49-F238E27FC236}">
                <a16:creationId xmlns:a16="http://schemas.microsoft.com/office/drawing/2014/main" id="{DB52D153-3959-41F2-8692-78CCC8335679}"/>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A05F3CFC-0C58-49B0-8C97-72C932CB5910}"/>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3.4 UML 图与阶段产物总映射（3/3）</a:t>
            </a:r>
          </a:p>
        </p:txBody>
      </p:sp>
      <p:sp>
        <p:nvSpPr>
          <p:cNvPr id="8" name="">
            <a:extLst xmlns:a="http://schemas.openxmlformats.org/drawingml/2006/main">
              <a:ext uri="{FF2B5EF4-FFF2-40B4-BE49-F238E27FC236}">
                <a16:creationId xmlns:a16="http://schemas.microsoft.com/office/drawing/2014/main" id="{7692E85F-180D-444B-889A-8ACB643EE948}"/>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B782D10-CC8C-41BF-A534-636C739C88C9}"/>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阶段产物关系可以概括为：开始阶段先确定“要做什么”，用例图作为需求入口；细化迭代 1 把用例转成领域对象、类关系和交互流程；细化迭代 2 将规则和蓝牙通信落地，用顺序图、活动图和部署图解释多人联机；细化迭代 3 用状态图约束 AI、玩家成长、动画、暂停和结算状态；交付阶段用组件图、部署图和 ProcessOn 汇总图证明最终系统结构、运行环境和文档一致。</a:t>
            </a:r>
          </a:p>
        </p:txBody>
      </p:sp>
    </p:spTree>
    <p:extLst>
      <p:ext uri="{BB962C8B-B14F-4D97-AF65-F5344CB8AC3E}">
        <p14:creationId xmlns:p14="http://schemas.microsoft.com/office/powerpoint/2010/main" val="87717487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5BA99D-E0EC-4016-B71C-315719C3D5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7E9FC3-0C0A-4E0B-A467-557FECEE9F5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BF09ACD-C5C0-4904-823C-4EE8BFCC7B4D}"/>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0C0B31D4-92EB-4FEF-8BC1-5ABC12D3CA0A}"/>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4. 阶段 1：开始（Inception）</a:t>
            </a:r>
          </a:p>
        </p:txBody>
      </p:sp>
      <p:sp>
        <p:nvSpPr>
          <p:cNvPr id="5" name="">
            <a:extLst xmlns:a="http://schemas.openxmlformats.org/drawingml/2006/main">
              <a:ext uri="{FF2B5EF4-FFF2-40B4-BE49-F238E27FC236}">
                <a16:creationId xmlns:a16="http://schemas.microsoft.com/office/drawing/2014/main" id="{C54F7043-ACBF-42E7-A92A-AD461759A41D}"/>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17</a:t>
            </a:r>
          </a:p>
        </p:txBody>
      </p:sp>
      <p:sp>
        <p:nvSpPr>
          <p:cNvPr id="6" name="">
            <a:extLst xmlns:a="http://schemas.openxmlformats.org/drawingml/2006/main">
              <a:ext uri="{FF2B5EF4-FFF2-40B4-BE49-F238E27FC236}">
                <a16:creationId xmlns:a16="http://schemas.microsoft.com/office/drawing/2014/main" id="{64F5A9BF-F424-4142-AE2A-4DE2E7C4E57C}"/>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0F47A88A-24BA-47FD-91C4-0C8E03C35EF7}"/>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4.1 阶段目标</a:t>
            </a:r>
          </a:p>
        </p:txBody>
      </p:sp>
      <p:sp>
        <p:nvSpPr>
          <p:cNvPr id="8" name="">
            <a:extLst xmlns:a="http://schemas.openxmlformats.org/drawingml/2006/main">
              <a:ext uri="{FF2B5EF4-FFF2-40B4-BE49-F238E27FC236}">
                <a16:creationId xmlns:a16="http://schemas.microsoft.com/office/drawing/2014/main" id="{EEB22C6E-42BC-4AA7-8A93-D427AFF2D859}"/>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06D5542-0188-46DE-84B7-AF895FC0BA4D}"/>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开始阶段的目标是完成开发环境配置、明确项目愿景、确定核心用例和基础迭代计划。根据实训启动纲要，项目需要实现 Android 锄大地扑克牌游戏，并体现 UML 建模、Android 开发、多人蓝牙连接、南北规则、AI 策略和 AI 工具使用。</a:t>
            </a:r>
          </a:p>
        </p:txBody>
      </p:sp>
    </p:spTree>
    <p:extLst>
      <p:ext uri="{BB962C8B-B14F-4D97-AF65-F5344CB8AC3E}">
        <p14:creationId xmlns:p14="http://schemas.microsoft.com/office/powerpoint/2010/main" val="195531175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13C1B5-2D21-47CB-A28C-FD98CE4760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551FC7-ABC2-4106-8FA9-27F67B0867F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E2BE52-1E0C-49C4-B886-9BD4DFF47165}"/>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5592269A-499F-4E8F-8527-8ABF69668A2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4. 阶段 1：开始（Inception）</a:t>
            </a:r>
          </a:p>
        </p:txBody>
      </p:sp>
      <p:sp>
        <p:nvSpPr>
          <p:cNvPr id="5" name="">
            <a:extLst xmlns:a="http://schemas.openxmlformats.org/drawingml/2006/main">
              <a:ext uri="{FF2B5EF4-FFF2-40B4-BE49-F238E27FC236}">
                <a16:creationId xmlns:a16="http://schemas.microsoft.com/office/drawing/2014/main" id="{A61D9D9B-5E12-4776-8D6E-5BD2D4F05854}"/>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18</a:t>
            </a:r>
          </a:p>
        </p:txBody>
      </p:sp>
      <p:sp>
        <p:nvSpPr>
          <p:cNvPr id="6" name="">
            <a:extLst xmlns:a="http://schemas.openxmlformats.org/drawingml/2006/main">
              <a:ext uri="{FF2B5EF4-FFF2-40B4-BE49-F238E27FC236}">
                <a16:creationId xmlns:a16="http://schemas.microsoft.com/office/drawing/2014/main" id="{494AB356-BEB6-44FD-99F3-C28D4AA70D8A}"/>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42E08B8-95A7-4D5D-AD39-732C742C87D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4.2 开发内容</a:t>
            </a:r>
          </a:p>
        </p:txBody>
      </p:sp>
      <p:sp>
        <p:nvSpPr>
          <p:cNvPr id="8" name="">
            <a:extLst xmlns:a="http://schemas.openxmlformats.org/drawingml/2006/main">
              <a:ext uri="{FF2B5EF4-FFF2-40B4-BE49-F238E27FC236}">
                <a16:creationId xmlns:a16="http://schemas.microsoft.com/office/drawing/2014/main" id="{17FE36D0-2EE7-4CB0-8D34-5070EBDF3C8E}"/>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4F1C2C2-2510-4803-8BCE-43A2912D207A}"/>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0183"/>
          </a:bodyPr>
          <a:lstStyle xmlns:a="http://schemas.openxmlformats.org/drawingml/2006/main"/>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本阶段完成 Android Studio 和 Gradle 环境配置，建立 Kotlin + Jetpack Compose 项目基础，确认应用主入口、资源目录和构建脚本。项目入口为 app/src/main/java/com/example/uml_chudadi/MainActivity.kt，主界面集中在 app/src/main/java/com/example/uml_chudadi/view/ChudadiApp.kt。</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需求分析时，将游戏拆分为以下核心用例：</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1. 玩家启动 App 并进入大厅。</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2. 玩家选择规则，包括北方规则和南方规则。</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3. 玩家进入人机对局，选择简单、普通、困难 AI。</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4. 玩家创建或加入好友蓝牙房间。</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5. 房主添加人机补位并开始四人对局。</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6. 玩家完成发牌、选牌、出牌、不出、提示、结算和再来一局。</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7. 玩家进入玩家中心，查看等级、金币、战绩、成就和头像。</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按照 Excel 中“Android 开发框架、Java 开发、用例图 1、发牌/选牌/出牌用例”的要求，本阶段没有直接堆叠大量界面，而是先确定项目边界和主流程：</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本阶段还确定“玩家界面”和“实训交付材料”分离：App 内展示正式棋牌游戏文案，不出现实训、评分、UML、MVC 等课程词汇；课程要求放在 docs/ 下，通过文档和 UML 体现。</a:t>
            </a:r>
          </a:p>
        </p:txBody>
      </p:sp>
      <p:sp>
        <p:nvSpPr>
          <p:cNvPr id="10" name="">
            <a:extLst xmlns:a="http://schemas.openxmlformats.org/drawingml/2006/main">
              <a:ext uri="{FF2B5EF4-FFF2-40B4-BE49-F238E27FC236}">
                <a16:creationId xmlns:a16="http://schemas.microsoft.com/office/drawing/2014/main" id="{1FE2B9A5-5701-4E3A-9DD3-FA169B3D2BFA}"/>
              </a:ext>
            </a:extLst>
          </p:cNvPr>
          <p:cNvSpPr>
            <a:spLocks xmlns:a="http://schemas.openxmlformats.org/drawingml/2006/main" noGrp="1"/>
          </p:cNvSpPr>
          <p:nvPr/>
        </p:nvSpPr>
        <p:spPr>
          <a:xfrm xmlns:a="http://schemas.openxmlformats.org/drawingml/2006/main">
            <a:off x="5191125" y="1905000"/>
            <a:ext cx="1253558"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222368F6-CE13-484C-B8E9-ABE9E880E338}"/>
              </a:ext>
            </a:extLst>
          </p:cNvPr>
          <p:cNvSpPr>
            <a:spLocks xmlns:a="http://schemas.openxmlformats.org/drawingml/2006/main" noGrp="1"/>
          </p:cNvSpPr>
          <p:nvPr/>
        </p:nvSpPr>
        <p:spPr>
          <a:xfrm xmlns:a="http://schemas.openxmlformats.org/drawingml/2006/main">
            <a:off x="5238750" y="1943100"/>
            <a:ext cx="115830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分析项</a:t>
            </a:r>
          </a:p>
        </p:txBody>
      </p:sp>
      <p:sp>
        <p:nvSpPr>
          <p:cNvPr id="12" name="">
            <a:extLst xmlns:a="http://schemas.openxmlformats.org/drawingml/2006/main">
              <a:ext uri="{FF2B5EF4-FFF2-40B4-BE49-F238E27FC236}">
                <a16:creationId xmlns:a16="http://schemas.microsoft.com/office/drawing/2014/main" id="{1A3EDA68-79DE-4A5D-A393-BB0C8DEA96B9}"/>
              </a:ext>
            </a:extLst>
          </p:cNvPr>
          <p:cNvSpPr>
            <a:spLocks xmlns:a="http://schemas.openxmlformats.org/drawingml/2006/main" noGrp="1"/>
          </p:cNvSpPr>
          <p:nvPr/>
        </p:nvSpPr>
        <p:spPr>
          <a:xfrm xmlns:a="http://schemas.openxmlformats.org/drawingml/2006/main">
            <a:off x="6444683" y="1905000"/>
            <a:ext cx="2564096"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2ED8678F-82EE-4F6F-AC64-873A86D503C4}"/>
              </a:ext>
            </a:extLst>
          </p:cNvPr>
          <p:cNvSpPr>
            <a:spLocks xmlns:a="http://schemas.openxmlformats.org/drawingml/2006/main" noGrp="1"/>
          </p:cNvSpPr>
          <p:nvPr/>
        </p:nvSpPr>
        <p:spPr>
          <a:xfrm xmlns:a="http://schemas.openxmlformats.org/drawingml/2006/main">
            <a:off x="6492308" y="1943100"/>
            <a:ext cx="246884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具体结论</a:t>
            </a:r>
          </a:p>
        </p:txBody>
      </p:sp>
      <p:sp>
        <p:nvSpPr>
          <p:cNvPr id="14" name="">
            <a:extLst xmlns:a="http://schemas.openxmlformats.org/drawingml/2006/main">
              <a:ext uri="{FF2B5EF4-FFF2-40B4-BE49-F238E27FC236}">
                <a16:creationId xmlns:a16="http://schemas.microsoft.com/office/drawing/2014/main" id="{32BEE5DD-D8D3-4A3D-892C-0FC820F0C2A1}"/>
              </a:ext>
            </a:extLst>
          </p:cNvPr>
          <p:cNvSpPr>
            <a:spLocks xmlns:a="http://schemas.openxmlformats.org/drawingml/2006/main" noGrp="1"/>
          </p:cNvSpPr>
          <p:nvPr/>
        </p:nvSpPr>
        <p:spPr>
          <a:xfrm xmlns:a="http://schemas.openxmlformats.org/drawingml/2006/main">
            <a:off x="9008779" y="1905000"/>
            <a:ext cx="2564096"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9B2CD30D-B8E0-41C6-997D-23449A36BEA2}"/>
              </a:ext>
            </a:extLst>
          </p:cNvPr>
          <p:cNvSpPr>
            <a:spLocks xmlns:a="http://schemas.openxmlformats.org/drawingml/2006/main" noGrp="1"/>
          </p:cNvSpPr>
          <p:nvPr/>
        </p:nvSpPr>
        <p:spPr>
          <a:xfrm xmlns:a="http://schemas.openxmlformats.org/drawingml/2006/main">
            <a:off x="9056404" y="1943100"/>
            <a:ext cx="246884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对应代码/文档</a:t>
            </a:r>
          </a:p>
        </p:txBody>
      </p:sp>
      <p:sp>
        <p:nvSpPr>
          <p:cNvPr id="16" name="">
            <a:extLst xmlns:a="http://schemas.openxmlformats.org/drawingml/2006/main">
              <a:ext uri="{FF2B5EF4-FFF2-40B4-BE49-F238E27FC236}">
                <a16:creationId xmlns:a16="http://schemas.microsoft.com/office/drawing/2014/main" id="{CBF75272-201F-4F11-9806-66AF52C20B56}"/>
              </a:ext>
            </a:extLst>
          </p:cNvPr>
          <p:cNvSpPr>
            <a:spLocks xmlns:a="http://schemas.openxmlformats.org/drawingml/2006/main" noGrp="1"/>
          </p:cNvSpPr>
          <p:nvPr/>
        </p:nvSpPr>
        <p:spPr>
          <a:xfrm xmlns:a="http://schemas.openxmlformats.org/drawingml/2006/main">
            <a:off x="5191125" y="2305050"/>
            <a:ext cx="1253558"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0005FD3D-8BB8-49E5-9537-6FA726314885}"/>
              </a:ext>
            </a:extLst>
          </p:cNvPr>
          <p:cNvSpPr>
            <a:spLocks xmlns:a="http://schemas.openxmlformats.org/drawingml/2006/main" noGrp="1"/>
          </p:cNvSpPr>
          <p:nvPr/>
        </p:nvSpPr>
        <p:spPr>
          <a:xfrm xmlns:a="http://schemas.openxmlformats.org/drawingml/2006/main">
            <a:off x="5238750" y="2333625"/>
            <a:ext cx="1158308"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技术框架</a:t>
            </a:r>
          </a:p>
        </p:txBody>
      </p:sp>
      <p:sp>
        <p:nvSpPr>
          <p:cNvPr id="18" name="">
            <a:extLst xmlns:a="http://schemas.openxmlformats.org/drawingml/2006/main">
              <a:ext uri="{FF2B5EF4-FFF2-40B4-BE49-F238E27FC236}">
                <a16:creationId xmlns:a16="http://schemas.microsoft.com/office/drawing/2014/main" id="{697291C2-11F6-46C7-907C-2E896E6F99C1}"/>
              </a:ext>
            </a:extLst>
          </p:cNvPr>
          <p:cNvSpPr>
            <a:spLocks xmlns:a="http://schemas.openxmlformats.org/drawingml/2006/main" noGrp="1"/>
          </p:cNvSpPr>
          <p:nvPr/>
        </p:nvSpPr>
        <p:spPr>
          <a:xfrm xmlns:a="http://schemas.openxmlformats.org/drawingml/2006/main">
            <a:off x="6444683" y="2305050"/>
            <a:ext cx="256409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4DFC7078-9045-4CFC-9B6F-24444852161B}"/>
              </a:ext>
            </a:extLst>
          </p:cNvPr>
          <p:cNvSpPr>
            <a:spLocks xmlns:a="http://schemas.openxmlformats.org/drawingml/2006/main" noGrp="1"/>
          </p:cNvSpPr>
          <p:nvPr/>
        </p:nvSpPr>
        <p:spPr>
          <a:xfrm xmlns:a="http://schemas.openxmlformats.org/drawingml/2006/main">
            <a:off x="6492308" y="2333625"/>
            <a:ext cx="246884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采用 Android Studio + Gradle + Kotlin + Jetpack Compose；虽然 Excel 写有 Java 开发，但项目使用 Kotlin 作为 Android 官方推荐语言，仍运行在同一 Android/JVM 技术体系上</a:t>
            </a:r>
          </a:p>
        </p:txBody>
      </p:sp>
      <p:sp>
        <p:nvSpPr>
          <p:cNvPr id="20" name="">
            <a:extLst xmlns:a="http://schemas.openxmlformats.org/drawingml/2006/main">
              <a:ext uri="{FF2B5EF4-FFF2-40B4-BE49-F238E27FC236}">
                <a16:creationId xmlns:a16="http://schemas.microsoft.com/office/drawing/2014/main" id="{4C818095-5115-48C8-91FC-10F1E8D73FA5}"/>
              </a:ext>
            </a:extLst>
          </p:cNvPr>
          <p:cNvSpPr>
            <a:spLocks xmlns:a="http://schemas.openxmlformats.org/drawingml/2006/main" noGrp="1"/>
          </p:cNvSpPr>
          <p:nvPr/>
        </p:nvSpPr>
        <p:spPr>
          <a:xfrm xmlns:a="http://schemas.openxmlformats.org/drawingml/2006/main">
            <a:off x="9008779" y="2305050"/>
            <a:ext cx="256409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88D0F22E-1C53-400A-BA6B-B74313D80B5D}"/>
              </a:ext>
            </a:extLst>
          </p:cNvPr>
          <p:cNvSpPr>
            <a:spLocks xmlns:a="http://schemas.openxmlformats.org/drawingml/2006/main" noGrp="1"/>
          </p:cNvSpPr>
          <p:nvPr/>
        </p:nvSpPr>
        <p:spPr>
          <a:xfrm xmlns:a="http://schemas.openxmlformats.org/drawingml/2006/main">
            <a:off x="9056404" y="2333625"/>
            <a:ext cx="246884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settings.gradle.kts、build.gradle.kts、MainActivity.kt</a:t>
            </a:r>
          </a:p>
        </p:txBody>
      </p:sp>
      <p:sp>
        <p:nvSpPr>
          <p:cNvPr id="22" name="">
            <a:extLst xmlns:a="http://schemas.openxmlformats.org/drawingml/2006/main">
              <a:ext uri="{FF2B5EF4-FFF2-40B4-BE49-F238E27FC236}">
                <a16:creationId xmlns:a16="http://schemas.microsoft.com/office/drawing/2014/main" id="{10EBD32D-BFAD-4766-B540-41FAD911DEC3}"/>
              </a:ext>
            </a:extLst>
          </p:cNvPr>
          <p:cNvSpPr>
            <a:spLocks xmlns:a="http://schemas.openxmlformats.org/drawingml/2006/main" noGrp="1"/>
          </p:cNvSpPr>
          <p:nvPr/>
        </p:nvSpPr>
        <p:spPr>
          <a:xfrm xmlns:a="http://schemas.openxmlformats.org/drawingml/2006/main">
            <a:off x="5191125" y="3032760"/>
            <a:ext cx="1253558"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58328E6C-63C3-4167-81F6-F6DDB5E71FA5}"/>
              </a:ext>
            </a:extLst>
          </p:cNvPr>
          <p:cNvSpPr>
            <a:spLocks xmlns:a="http://schemas.openxmlformats.org/drawingml/2006/main" noGrp="1"/>
          </p:cNvSpPr>
          <p:nvPr/>
        </p:nvSpPr>
        <p:spPr>
          <a:xfrm xmlns:a="http://schemas.openxmlformats.org/drawingml/2006/main">
            <a:off x="5238750" y="3061335"/>
            <a:ext cx="1158308"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主入口</a:t>
            </a:r>
          </a:p>
        </p:txBody>
      </p:sp>
      <p:sp>
        <p:nvSpPr>
          <p:cNvPr id="24" name="">
            <a:extLst xmlns:a="http://schemas.openxmlformats.org/drawingml/2006/main">
              <a:ext uri="{FF2B5EF4-FFF2-40B4-BE49-F238E27FC236}">
                <a16:creationId xmlns:a16="http://schemas.microsoft.com/office/drawing/2014/main" id="{CC80538F-13B7-4528-BC69-52A506CFFD2A}"/>
              </a:ext>
            </a:extLst>
          </p:cNvPr>
          <p:cNvSpPr>
            <a:spLocks xmlns:a="http://schemas.openxmlformats.org/drawingml/2006/main" noGrp="1"/>
          </p:cNvSpPr>
          <p:nvPr/>
        </p:nvSpPr>
        <p:spPr>
          <a:xfrm xmlns:a="http://schemas.openxmlformats.org/drawingml/2006/main">
            <a:off x="6444683" y="3032760"/>
            <a:ext cx="2564096"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32735965-81D9-4E8D-ABE2-F69C29A6E58F}"/>
              </a:ext>
            </a:extLst>
          </p:cNvPr>
          <p:cNvSpPr>
            <a:spLocks xmlns:a="http://schemas.openxmlformats.org/drawingml/2006/main" noGrp="1"/>
          </p:cNvSpPr>
          <p:nvPr/>
        </p:nvSpPr>
        <p:spPr>
          <a:xfrm xmlns:a="http://schemas.openxmlformats.org/drawingml/2006/main">
            <a:off x="6492308" y="3061335"/>
            <a:ext cx="246884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单 Activity 架构，MainActivity 只负责创建 Compose 内容，具体页面逻辑交给 ChudadiApp</a:t>
            </a:r>
          </a:p>
        </p:txBody>
      </p:sp>
      <p:sp>
        <p:nvSpPr>
          <p:cNvPr id="26" name="">
            <a:extLst xmlns:a="http://schemas.openxmlformats.org/drawingml/2006/main">
              <a:ext uri="{FF2B5EF4-FFF2-40B4-BE49-F238E27FC236}">
                <a16:creationId xmlns:a16="http://schemas.microsoft.com/office/drawing/2014/main" id="{539AD60D-C788-4DC1-8C5A-B79F7E2B2E0F}"/>
              </a:ext>
            </a:extLst>
          </p:cNvPr>
          <p:cNvSpPr>
            <a:spLocks xmlns:a="http://schemas.openxmlformats.org/drawingml/2006/main" noGrp="1"/>
          </p:cNvSpPr>
          <p:nvPr/>
        </p:nvSpPr>
        <p:spPr>
          <a:xfrm xmlns:a="http://schemas.openxmlformats.org/drawingml/2006/main">
            <a:off x="9008779" y="3032760"/>
            <a:ext cx="2564096"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F19F97F1-3071-4AEF-9085-0B423E4F4413}"/>
              </a:ext>
            </a:extLst>
          </p:cNvPr>
          <p:cNvSpPr>
            <a:spLocks xmlns:a="http://schemas.openxmlformats.org/drawingml/2006/main" noGrp="1"/>
          </p:cNvSpPr>
          <p:nvPr/>
        </p:nvSpPr>
        <p:spPr>
          <a:xfrm xmlns:a="http://schemas.openxmlformats.org/drawingml/2006/main">
            <a:off x="9056404" y="3061335"/>
            <a:ext cx="246884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MainActivity.kt、view/ChudadiApp.kt</a:t>
            </a:r>
          </a:p>
        </p:txBody>
      </p:sp>
      <p:sp>
        <p:nvSpPr>
          <p:cNvPr id="28" name="">
            <a:extLst xmlns:a="http://schemas.openxmlformats.org/drawingml/2006/main">
              <a:ext uri="{FF2B5EF4-FFF2-40B4-BE49-F238E27FC236}">
                <a16:creationId xmlns:a16="http://schemas.microsoft.com/office/drawing/2014/main" id="{0251AB4B-494A-4DED-9AB0-5A7FC63DEF48}"/>
              </a:ext>
            </a:extLst>
          </p:cNvPr>
          <p:cNvSpPr>
            <a:spLocks xmlns:a="http://schemas.openxmlformats.org/drawingml/2006/main" noGrp="1"/>
          </p:cNvSpPr>
          <p:nvPr/>
        </p:nvSpPr>
        <p:spPr>
          <a:xfrm xmlns:a="http://schemas.openxmlformats.org/drawingml/2006/main">
            <a:off x="5191125" y="3760470"/>
            <a:ext cx="1253558"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9FEB7D34-DC20-4E27-953C-DDFF0A97EA01}"/>
              </a:ext>
            </a:extLst>
          </p:cNvPr>
          <p:cNvSpPr>
            <a:spLocks xmlns:a="http://schemas.openxmlformats.org/drawingml/2006/main" noGrp="1"/>
          </p:cNvSpPr>
          <p:nvPr/>
        </p:nvSpPr>
        <p:spPr>
          <a:xfrm xmlns:a="http://schemas.openxmlformats.org/drawingml/2006/main">
            <a:off x="5238750" y="3789045"/>
            <a:ext cx="1158308"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游戏对象</a:t>
            </a:r>
          </a:p>
        </p:txBody>
      </p:sp>
      <p:sp>
        <p:nvSpPr>
          <p:cNvPr id="30" name="">
            <a:extLst xmlns:a="http://schemas.openxmlformats.org/drawingml/2006/main">
              <a:ext uri="{FF2B5EF4-FFF2-40B4-BE49-F238E27FC236}">
                <a16:creationId xmlns:a16="http://schemas.microsoft.com/office/drawing/2014/main" id="{8B1A974F-1907-4613-AA3E-3C73386CFD46}"/>
              </a:ext>
            </a:extLst>
          </p:cNvPr>
          <p:cNvSpPr>
            <a:spLocks xmlns:a="http://schemas.openxmlformats.org/drawingml/2006/main" noGrp="1"/>
          </p:cNvSpPr>
          <p:nvPr/>
        </p:nvSpPr>
        <p:spPr>
          <a:xfrm xmlns:a="http://schemas.openxmlformats.org/drawingml/2006/main">
            <a:off x="6444683" y="3760470"/>
            <a:ext cx="256409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0CF86A5B-ADEC-47C6-9C1F-CA4D413ECFD7}"/>
              </a:ext>
            </a:extLst>
          </p:cNvPr>
          <p:cNvSpPr>
            <a:spLocks xmlns:a="http://schemas.openxmlformats.org/drawingml/2006/main" noGrp="1"/>
          </p:cNvSpPr>
          <p:nvPr/>
        </p:nvSpPr>
        <p:spPr>
          <a:xfrm xmlns:a="http://schemas.openxmlformats.org/drawingml/2006/main">
            <a:off x="6492308" y="3789045"/>
            <a:ext cx="246884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玩家、扑克牌、牌堆、牌型、规则、牌局状态、出牌动作、蓝牙房间、玩家档案</a:t>
            </a:r>
          </a:p>
        </p:txBody>
      </p:sp>
      <p:sp>
        <p:nvSpPr>
          <p:cNvPr id="32" name="">
            <a:extLst xmlns:a="http://schemas.openxmlformats.org/drawingml/2006/main">
              <a:ext uri="{FF2B5EF4-FFF2-40B4-BE49-F238E27FC236}">
                <a16:creationId xmlns:a16="http://schemas.microsoft.com/office/drawing/2014/main" id="{4DB55E18-A782-434D-B045-15CE4624721A}"/>
              </a:ext>
            </a:extLst>
          </p:cNvPr>
          <p:cNvSpPr>
            <a:spLocks xmlns:a="http://schemas.openxmlformats.org/drawingml/2006/main" noGrp="1"/>
          </p:cNvSpPr>
          <p:nvPr/>
        </p:nvSpPr>
        <p:spPr>
          <a:xfrm xmlns:a="http://schemas.openxmlformats.org/drawingml/2006/main">
            <a:off x="9008779" y="3760470"/>
            <a:ext cx="256409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E3C2E818-179C-4872-9B9C-29DB0C8AD858}"/>
              </a:ext>
            </a:extLst>
          </p:cNvPr>
          <p:cNvSpPr>
            <a:spLocks xmlns:a="http://schemas.openxmlformats.org/drawingml/2006/main" noGrp="1"/>
          </p:cNvSpPr>
          <p:nvPr/>
        </p:nvSpPr>
        <p:spPr>
          <a:xfrm xmlns:a="http://schemas.openxmlformats.org/drawingml/2006/main">
            <a:off x="9056404" y="3789045"/>
            <a:ext cx="246884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model/、transport/、profile/</a:t>
            </a:r>
          </a:p>
        </p:txBody>
      </p:sp>
      <p:sp>
        <p:nvSpPr>
          <p:cNvPr id="34" name="">
            <a:extLst xmlns:a="http://schemas.openxmlformats.org/drawingml/2006/main">
              <a:ext uri="{FF2B5EF4-FFF2-40B4-BE49-F238E27FC236}">
                <a16:creationId xmlns:a16="http://schemas.microsoft.com/office/drawing/2014/main" id="{6D6179F3-E170-4DF8-B91D-73EDF98A1BC8}"/>
              </a:ext>
            </a:extLst>
          </p:cNvPr>
          <p:cNvSpPr>
            <a:spLocks xmlns:a="http://schemas.openxmlformats.org/drawingml/2006/main" noGrp="1"/>
          </p:cNvSpPr>
          <p:nvPr/>
        </p:nvSpPr>
        <p:spPr>
          <a:xfrm xmlns:a="http://schemas.openxmlformats.org/drawingml/2006/main">
            <a:off x="5191125" y="4488180"/>
            <a:ext cx="1253558"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5" name="">
            <a:extLst xmlns:a="http://schemas.openxmlformats.org/drawingml/2006/main">
              <a:ext uri="{FF2B5EF4-FFF2-40B4-BE49-F238E27FC236}">
                <a16:creationId xmlns:a16="http://schemas.microsoft.com/office/drawing/2014/main" id="{510E320F-C365-455C-B12E-6E3F8A9BFC2F}"/>
              </a:ext>
            </a:extLst>
          </p:cNvPr>
          <p:cNvSpPr>
            <a:spLocks xmlns:a="http://schemas.openxmlformats.org/drawingml/2006/main" noGrp="1"/>
          </p:cNvSpPr>
          <p:nvPr/>
        </p:nvSpPr>
        <p:spPr>
          <a:xfrm xmlns:a="http://schemas.openxmlformats.org/drawingml/2006/main">
            <a:off x="5238750" y="4516755"/>
            <a:ext cx="1158308"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核心用例</a:t>
            </a:r>
          </a:p>
        </p:txBody>
      </p:sp>
      <p:sp>
        <p:nvSpPr>
          <p:cNvPr id="36" name="">
            <a:extLst xmlns:a="http://schemas.openxmlformats.org/drawingml/2006/main">
              <a:ext uri="{FF2B5EF4-FFF2-40B4-BE49-F238E27FC236}">
                <a16:creationId xmlns:a16="http://schemas.microsoft.com/office/drawing/2014/main" id="{3C5D9876-CB62-4686-801F-B71BFEB2A0F9}"/>
              </a:ext>
            </a:extLst>
          </p:cNvPr>
          <p:cNvSpPr>
            <a:spLocks xmlns:a="http://schemas.openxmlformats.org/drawingml/2006/main" noGrp="1"/>
          </p:cNvSpPr>
          <p:nvPr/>
        </p:nvSpPr>
        <p:spPr>
          <a:xfrm xmlns:a="http://schemas.openxmlformats.org/drawingml/2006/main">
            <a:off x="6444683" y="4488180"/>
            <a:ext cx="2564096"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7" name="">
            <a:extLst xmlns:a="http://schemas.openxmlformats.org/drawingml/2006/main">
              <a:ext uri="{FF2B5EF4-FFF2-40B4-BE49-F238E27FC236}">
                <a16:creationId xmlns:a16="http://schemas.microsoft.com/office/drawing/2014/main" id="{61A7CFD1-67B3-4161-A902-1FDA1F248899}"/>
              </a:ext>
            </a:extLst>
          </p:cNvPr>
          <p:cNvSpPr>
            <a:spLocks xmlns:a="http://schemas.openxmlformats.org/drawingml/2006/main" noGrp="1"/>
          </p:cNvSpPr>
          <p:nvPr/>
        </p:nvSpPr>
        <p:spPr>
          <a:xfrm xmlns:a="http://schemas.openxmlformats.org/drawingml/2006/main">
            <a:off x="6492308" y="4516755"/>
            <a:ext cx="246884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开屏、进入大厅、选择规则、人机对局、蓝牙房间、发牌、选牌、出牌、不出、提示、结算、再来一局</a:t>
            </a:r>
          </a:p>
        </p:txBody>
      </p:sp>
      <p:sp>
        <p:nvSpPr>
          <p:cNvPr id="38" name="">
            <a:extLst xmlns:a="http://schemas.openxmlformats.org/drawingml/2006/main">
              <a:ext uri="{FF2B5EF4-FFF2-40B4-BE49-F238E27FC236}">
                <a16:creationId xmlns:a16="http://schemas.microsoft.com/office/drawing/2014/main" id="{1D969CD8-751B-47FD-84BB-C4F4123A7A4B}"/>
              </a:ext>
            </a:extLst>
          </p:cNvPr>
          <p:cNvSpPr>
            <a:spLocks xmlns:a="http://schemas.openxmlformats.org/drawingml/2006/main" noGrp="1"/>
          </p:cNvSpPr>
          <p:nvPr/>
        </p:nvSpPr>
        <p:spPr>
          <a:xfrm xmlns:a="http://schemas.openxmlformats.org/drawingml/2006/main">
            <a:off x="9008779" y="4488180"/>
            <a:ext cx="2564096"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9" name="">
            <a:extLst xmlns:a="http://schemas.openxmlformats.org/drawingml/2006/main">
              <a:ext uri="{FF2B5EF4-FFF2-40B4-BE49-F238E27FC236}">
                <a16:creationId xmlns:a16="http://schemas.microsoft.com/office/drawing/2014/main" id="{BB334557-F10C-4B08-B051-324DB37ECB0F}"/>
              </a:ext>
            </a:extLst>
          </p:cNvPr>
          <p:cNvSpPr>
            <a:spLocks xmlns:a="http://schemas.openxmlformats.org/drawingml/2006/main" noGrp="1"/>
          </p:cNvSpPr>
          <p:nvPr/>
        </p:nvSpPr>
        <p:spPr>
          <a:xfrm xmlns:a="http://schemas.openxmlformats.org/drawingml/2006/main">
            <a:off x="9056404" y="4516755"/>
            <a:ext cx="246884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docs/uml/use_case.puml</a:t>
            </a:r>
          </a:p>
        </p:txBody>
      </p:sp>
      <p:sp>
        <p:nvSpPr>
          <p:cNvPr id="40" name="">
            <a:extLst xmlns:a="http://schemas.openxmlformats.org/drawingml/2006/main">
              <a:ext uri="{FF2B5EF4-FFF2-40B4-BE49-F238E27FC236}">
                <a16:creationId xmlns:a16="http://schemas.microsoft.com/office/drawing/2014/main" id="{981D22A3-DEA3-492A-B551-C057B2B2A24E}"/>
              </a:ext>
            </a:extLst>
          </p:cNvPr>
          <p:cNvSpPr>
            <a:spLocks xmlns:a="http://schemas.openxmlformats.org/drawingml/2006/main" noGrp="1"/>
          </p:cNvSpPr>
          <p:nvPr/>
        </p:nvSpPr>
        <p:spPr>
          <a:xfrm xmlns:a="http://schemas.openxmlformats.org/drawingml/2006/main">
            <a:off x="5191125" y="5215890"/>
            <a:ext cx="1253558"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1" name="">
            <a:extLst xmlns:a="http://schemas.openxmlformats.org/drawingml/2006/main">
              <a:ext uri="{FF2B5EF4-FFF2-40B4-BE49-F238E27FC236}">
                <a16:creationId xmlns:a16="http://schemas.microsoft.com/office/drawing/2014/main" id="{2F3766F5-D6C3-47DD-BA00-4D972D4B10B3}"/>
              </a:ext>
            </a:extLst>
          </p:cNvPr>
          <p:cNvSpPr>
            <a:spLocks xmlns:a="http://schemas.openxmlformats.org/drawingml/2006/main" noGrp="1"/>
          </p:cNvSpPr>
          <p:nvPr/>
        </p:nvSpPr>
        <p:spPr>
          <a:xfrm xmlns:a="http://schemas.openxmlformats.org/drawingml/2006/main">
            <a:off x="5238750" y="5244465"/>
            <a:ext cx="1158308"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质量边界</a:t>
            </a:r>
          </a:p>
        </p:txBody>
      </p:sp>
      <p:sp>
        <p:nvSpPr>
          <p:cNvPr id="42" name="">
            <a:extLst xmlns:a="http://schemas.openxmlformats.org/drawingml/2006/main">
              <a:ext uri="{FF2B5EF4-FFF2-40B4-BE49-F238E27FC236}">
                <a16:creationId xmlns:a16="http://schemas.microsoft.com/office/drawing/2014/main" id="{27DB288C-D2F1-4174-831E-8D98618F4CE5}"/>
              </a:ext>
            </a:extLst>
          </p:cNvPr>
          <p:cNvSpPr>
            <a:spLocks xmlns:a="http://schemas.openxmlformats.org/drawingml/2006/main" noGrp="1"/>
          </p:cNvSpPr>
          <p:nvPr/>
        </p:nvSpPr>
        <p:spPr>
          <a:xfrm xmlns:a="http://schemas.openxmlformats.org/drawingml/2006/main">
            <a:off x="6444683" y="5215890"/>
            <a:ext cx="256409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3" name="">
            <a:extLst xmlns:a="http://schemas.openxmlformats.org/drawingml/2006/main">
              <a:ext uri="{FF2B5EF4-FFF2-40B4-BE49-F238E27FC236}">
                <a16:creationId xmlns:a16="http://schemas.microsoft.com/office/drawing/2014/main" id="{C5ED50C2-29CE-4387-B213-F3FE262D6635}"/>
              </a:ext>
            </a:extLst>
          </p:cNvPr>
          <p:cNvSpPr>
            <a:spLocks xmlns:a="http://schemas.openxmlformats.org/drawingml/2006/main" noGrp="1"/>
          </p:cNvSpPr>
          <p:nvPr/>
        </p:nvSpPr>
        <p:spPr>
          <a:xfrm xmlns:a="http://schemas.openxmlformats.org/drawingml/2006/main">
            <a:off x="6492308" y="5244465"/>
            <a:ext cx="246884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不新增不必要第三方依赖，优先使用 Android/Compose/蓝牙原生 API，降低构建和答辩环境风险</a:t>
            </a:r>
          </a:p>
        </p:txBody>
      </p:sp>
      <p:sp>
        <p:nvSpPr>
          <p:cNvPr id="44" name="">
            <a:extLst xmlns:a="http://schemas.openxmlformats.org/drawingml/2006/main">
              <a:ext uri="{FF2B5EF4-FFF2-40B4-BE49-F238E27FC236}">
                <a16:creationId xmlns:a16="http://schemas.microsoft.com/office/drawing/2014/main" id="{E45732FD-E08F-4C30-9CE4-0C4E8A272A5A}"/>
              </a:ext>
            </a:extLst>
          </p:cNvPr>
          <p:cNvSpPr>
            <a:spLocks xmlns:a="http://schemas.openxmlformats.org/drawingml/2006/main" noGrp="1"/>
          </p:cNvSpPr>
          <p:nvPr/>
        </p:nvSpPr>
        <p:spPr>
          <a:xfrm xmlns:a="http://schemas.openxmlformats.org/drawingml/2006/main">
            <a:off x="9008779" y="5215890"/>
            <a:ext cx="256409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5" name="">
            <a:extLst xmlns:a="http://schemas.openxmlformats.org/drawingml/2006/main">
              <a:ext uri="{FF2B5EF4-FFF2-40B4-BE49-F238E27FC236}">
                <a16:creationId xmlns:a16="http://schemas.microsoft.com/office/drawing/2014/main" id="{0E295129-AC1A-44C4-80C0-2FBB926CDD96}"/>
              </a:ext>
            </a:extLst>
          </p:cNvPr>
          <p:cNvSpPr>
            <a:spLocks xmlns:a="http://schemas.openxmlformats.org/drawingml/2006/main" noGrp="1"/>
          </p:cNvSpPr>
          <p:nvPr/>
        </p:nvSpPr>
        <p:spPr>
          <a:xfrm xmlns:a="http://schemas.openxmlformats.org/drawingml/2006/main">
            <a:off x="9056404" y="5244465"/>
            <a:ext cx="246884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docs/requirements.md</a:t>
            </a:r>
          </a:p>
        </p:txBody>
      </p:sp>
    </p:spTree>
    <p:extLst>
      <p:ext uri="{BB962C8B-B14F-4D97-AF65-F5344CB8AC3E}">
        <p14:creationId xmlns:p14="http://schemas.microsoft.com/office/powerpoint/2010/main" val="96955697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32239B-291B-4082-83EE-95EAD5260F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48F623-3144-4038-B735-14042EBD654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3523ED5-3C18-463A-8854-5DADF4A42259}"/>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BC41ED8B-58A2-46A6-9561-259DABACDE03}"/>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4. 阶段 1：开始（Inception）</a:t>
            </a:r>
          </a:p>
        </p:txBody>
      </p:sp>
      <p:sp>
        <p:nvSpPr>
          <p:cNvPr id="5" name="">
            <a:extLst xmlns:a="http://schemas.openxmlformats.org/drawingml/2006/main">
              <a:ext uri="{FF2B5EF4-FFF2-40B4-BE49-F238E27FC236}">
                <a16:creationId xmlns:a16="http://schemas.microsoft.com/office/drawing/2014/main" id="{DB5482E0-4F8B-4DFE-951E-6C1EB6B8C468}"/>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19</a:t>
            </a:r>
          </a:p>
        </p:txBody>
      </p:sp>
      <p:sp>
        <p:nvSpPr>
          <p:cNvPr id="6" name="">
            <a:extLst xmlns:a="http://schemas.openxmlformats.org/drawingml/2006/main">
              <a:ext uri="{FF2B5EF4-FFF2-40B4-BE49-F238E27FC236}">
                <a16:creationId xmlns:a16="http://schemas.microsoft.com/office/drawing/2014/main" id="{A5D11984-CCFA-4674-95CF-11ADE53C7F44}"/>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643E990C-0381-4756-BAA2-DEF972343F3B}"/>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4.3 建模与规约内容</a:t>
            </a:r>
          </a:p>
        </p:txBody>
      </p:sp>
      <p:sp>
        <p:nvSpPr>
          <p:cNvPr id="8" name="">
            <a:extLst xmlns:a="http://schemas.openxmlformats.org/drawingml/2006/main">
              <a:ext uri="{FF2B5EF4-FFF2-40B4-BE49-F238E27FC236}">
                <a16:creationId xmlns:a16="http://schemas.microsoft.com/office/drawing/2014/main" id="{6111EFCA-B9F3-4692-8925-19CED4F90E52}"/>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9C51C82-A5CB-4217-96AD-C0C3003B9F4E}"/>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Excel 中列出的 Use-Case Model、Vision、Supplementary Specification、Glossary、Iteration Plan 是开始阶段需要覆盖的规约内容。本项目没有把这些内容拆成五个独立文件，而是整合在需求分析、设计说明、UML 图、本报告和阶段时间表中，具体对应关系如下：</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项目定位为“Android 锄大地棋牌游戏”，不是单纯演示界面。非功能要求包括 MVC 分层、可测试的规则模型、多人蓝牙 C/S 房间、AI 策略模式、发布包可安装、文档与 UML 可追踪。术语解释分散在完整项目文档和本报告中，保证答辩时“炸弹”“压牌”“房主权威”“快照同步”“托管”等词的解释一致。</a:t>
            </a:r>
          </a:p>
        </p:txBody>
      </p:sp>
      <p:sp>
        <p:nvSpPr>
          <p:cNvPr id="10" name="">
            <a:extLst xmlns:a="http://schemas.openxmlformats.org/drawingml/2006/main">
              <a:ext uri="{FF2B5EF4-FFF2-40B4-BE49-F238E27FC236}">
                <a16:creationId xmlns:a16="http://schemas.microsoft.com/office/drawing/2014/main" id="{6B2EF70C-73E3-4AF7-8D71-F1F1D86F609A}"/>
              </a:ext>
            </a:extLst>
          </p:cNvPr>
          <p:cNvSpPr>
            <a:spLocks xmlns:a="http://schemas.openxmlformats.org/drawingml/2006/main" noGrp="1"/>
          </p:cNvSpPr>
          <p:nvPr/>
        </p:nvSpPr>
        <p:spPr>
          <a:xfrm xmlns:a="http://schemas.openxmlformats.org/drawingml/2006/main">
            <a:off x="5191125" y="1905000"/>
            <a:ext cx="21272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EE208A89-A988-4809-9A05-38DBF897D272}"/>
              </a:ext>
            </a:extLst>
          </p:cNvPr>
          <p:cNvSpPr>
            <a:spLocks xmlns:a="http://schemas.openxmlformats.org/drawingml/2006/main" noGrp="1"/>
          </p:cNvSpPr>
          <p:nvPr/>
        </p:nvSpPr>
        <p:spPr>
          <a:xfrm xmlns:a="http://schemas.openxmlformats.org/drawingml/2006/main">
            <a:off x="5238750" y="1943100"/>
            <a:ext cx="203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规约项</a:t>
            </a:r>
          </a:p>
        </p:txBody>
      </p:sp>
      <p:sp>
        <p:nvSpPr>
          <p:cNvPr id="12" name="">
            <a:extLst xmlns:a="http://schemas.openxmlformats.org/drawingml/2006/main">
              <a:ext uri="{FF2B5EF4-FFF2-40B4-BE49-F238E27FC236}">
                <a16:creationId xmlns:a16="http://schemas.microsoft.com/office/drawing/2014/main" id="{FDBFBEF4-C61D-4C77-A21F-94A0DD5D0B00}"/>
              </a:ext>
            </a:extLst>
          </p:cNvPr>
          <p:cNvSpPr>
            <a:spLocks xmlns:a="http://schemas.openxmlformats.org/drawingml/2006/main" noGrp="1"/>
          </p:cNvSpPr>
          <p:nvPr/>
        </p:nvSpPr>
        <p:spPr>
          <a:xfrm xmlns:a="http://schemas.openxmlformats.org/drawingml/2006/main">
            <a:off x="7318375" y="1905000"/>
            <a:ext cx="21272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29A84330-D6D3-4BF3-9420-8A58A3ED8906}"/>
              </a:ext>
            </a:extLst>
          </p:cNvPr>
          <p:cNvSpPr>
            <a:spLocks xmlns:a="http://schemas.openxmlformats.org/drawingml/2006/main" noGrp="1"/>
          </p:cNvSpPr>
          <p:nvPr/>
        </p:nvSpPr>
        <p:spPr>
          <a:xfrm xmlns:a="http://schemas.openxmlformats.org/drawingml/2006/main">
            <a:off x="7366000" y="1943100"/>
            <a:ext cx="203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本项目体现</a:t>
            </a:r>
          </a:p>
        </p:txBody>
      </p:sp>
      <p:sp>
        <p:nvSpPr>
          <p:cNvPr id="14" name="">
            <a:extLst xmlns:a="http://schemas.openxmlformats.org/drawingml/2006/main">
              <a:ext uri="{FF2B5EF4-FFF2-40B4-BE49-F238E27FC236}">
                <a16:creationId xmlns:a16="http://schemas.microsoft.com/office/drawing/2014/main" id="{BAD38153-D268-4B89-9A71-DBD2215B266A}"/>
              </a:ext>
            </a:extLst>
          </p:cNvPr>
          <p:cNvSpPr>
            <a:spLocks xmlns:a="http://schemas.openxmlformats.org/drawingml/2006/main" noGrp="1"/>
          </p:cNvSpPr>
          <p:nvPr/>
        </p:nvSpPr>
        <p:spPr>
          <a:xfrm xmlns:a="http://schemas.openxmlformats.org/drawingml/2006/main">
            <a:off x="9445625" y="1905000"/>
            <a:ext cx="21272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70CF7F16-78EB-4E73-9D44-573B4E586FB6}"/>
              </a:ext>
            </a:extLst>
          </p:cNvPr>
          <p:cNvSpPr>
            <a:spLocks xmlns:a="http://schemas.openxmlformats.org/drawingml/2006/main" noGrp="1"/>
          </p:cNvSpPr>
          <p:nvPr/>
        </p:nvSpPr>
        <p:spPr>
          <a:xfrm xmlns:a="http://schemas.openxmlformats.org/drawingml/2006/main">
            <a:off x="9493250" y="1943100"/>
            <a:ext cx="203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对应材料</a:t>
            </a:r>
          </a:p>
        </p:txBody>
      </p:sp>
      <p:sp>
        <p:nvSpPr>
          <p:cNvPr id="16" name="">
            <a:extLst xmlns:a="http://schemas.openxmlformats.org/drawingml/2006/main">
              <a:ext uri="{FF2B5EF4-FFF2-40B4-BE49-F238E27FC236}">
                <a16:creationId xmlns:a16="http://schemas.microsoft.com/office/drawing/2014/main" id="{6DD0789B-CCD6-480F-B7A4-99C659DB1AB7}"/>
              </a:ext>
            </a:extLst>
          </p:cNvPr>
          <p:cNvSpPr>
            <a:spLocks xmlns:a="http://schemas.openxmlformats.org/drawingml/2006/main" noGrp="1"/>
          </p:cNvSpPr>
          <p:nvPr/>
        </p:nvSpPr>
        <p:spPr>
          <a:xfrm xmlns:a="http://schemas.openxmlformats.org/drawingml/2006/main">
            <a:off x="5191125" y="2305050"/>
            <a:ext cx="21272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05B33879-84A5-485E-B62C-AAE1FD66FE3E}"/>
              </a:ext>
            </a:extLst>
          </p:cNvPr>
          <p:cNvSpPr>
            <a:spLocks xmlns:a="http://schemas.openxmlformats.org/drawingml/2006/main" noGrp="1"/>
          </p:cNvSpPr>
          <p:nvPr/>
        </p:nvSpPr>
        <p:spPr>
          <a:xfrm xmlns:a="http://schemas.openxmlformats.org/drawingml/2006/main">
            <a:off x="5238750" y="233362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Use-Case Model</a:t>
            </a:r>
          </a:p>
        </p:txBody>
      </p:sp>
      <p:sp>
        <p:nvSpPr>
          <p:cNvPr id="18" name="">
            <a:extLst xmlns:a="http://schemas.openxmlformats.org/drawingml/2006/main">
              <a:ext uri="{FF2B5EF4-FFF2-40B4-BE49-F238E27FC236}">
                <a16:creationId xmlns:a16="http://schemas.microsoft.com/office/drawing/2014/main" id="{2804DE72-47A0-49BF-AFE6-CD3BED1DD378}"/>
              </a:ext>
            </a:extLst>
          </p:cNvPr>
          <p:cNvSpPr>
            <a:spLocks xmlns:a="http://schemas.openxmlformats.org/drawingml/2006/main" noGrp="1"/>
          </p:cNvSpPr>
          <p:nvPr/>
        </p:nvSpPr>
        <p:spPr>
          <a:xfrm xmlns:a="http://schemas.openxmlformats.org/drawingml/2006/main">
            <a:off x="7318375" y="2305050"/>
            <a:ext cx="21272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942BC9A9-11A9-4D4E-8132-B0A2ED2160B8}"/>
              </a:ext>
            </a:extLst>
          </p:cNvPr>
          <p:cNvSpPr>
            <a:spLocks xmlns:a="http://schemas.openxmlformats.org/drawingml/2006/main" noGrp="1"/>
          </p:cNvSpPr>
          <p:nvPr/>
        </p:nvSpPr>
        <p:spPr>
          <a:xfrm xmlns:a="http://schemas.openxmlformats.org/drawingml/2006/main">
            <a:off x="7366000" y="233362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描述玩家、房主、加入者和人机参与者，以及开屏、大厅、人机、蓝牙、规则、牌局、结算等用例</a:t>
            </a:r>
          </a:p>
        </p:txBody>
      </p:sp>
      <p:sp>
        <p:nvSpPr>
          <p:cNvPr id="20" name="">
            <a:extLst xmlns:a="http://schemas.openxmlformats.org/drawingml/2006/main">
              <a:ext uri="{FF2B5EF4-FFF2-40B4-BE49-F238E27FC236}">
                <a16:creationId xmlns:a16="http://schemas.microsoft.com/office/drawing/2014/main" id="{C72E8412-400C-49E2-9AA5-3CA4B6D0593E}"/>
              </a:ext>
            </a:extLst>
          </p:cNvPr>
          <p:cNvSpPr>
            <a:spLocks xmlns:a="http://schemas.openxmlformats.org/drawingml/2006/main" noGrp="1"/>
          </p:cNvSpPr>
          <p:nvPr/>
        </p:nvSpPr>
        <p:spPr>
          <a:xfrm xmlns:a="http://schemas.openxmlformats.org/drawingml/2006/main">
            <a:off x="9445625" y="2305050"/>
            <a:ext cx="21272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704273A0-AB4D-46FE-ADE6-C7CABCC63962}"/>
              </a:ext>
            </a:extLst>
          </p:cNvPr>
          <p:cNvSpPr>
            <a:spLocks xmlns:a="http://schemas.openxmlformats.org/drawingml/2006/main" noGrp="1"/>
          </p:cNvSpPr>
          <p:nvPr/>
        </p:nvSpPr>
        <p:spPr>
          <a:xfrm xmlns:a="http://schemas.openxmlformats.org/drawingml/2006/main">
            <a:off x="9493250" y="233362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docs/uml/use_case.puml、docs/uml/use_case.png</a:t>
            </a:r>
          </a:p>
        </p:txBody>
      </p:sp>
      <p:sp>
        <p:nvSpPr>
          <p:cNvPr id="22" name="">
            <a:extLst xmlns:a="http://schemas.openxmlformats.org/drawingml/2006/main">
              <a:ext uri="{FF2B5EF4-FFF2-40B4-BE49-F238E27FC236}">
                <a16:creationId xmlns:a16="http://schemas.microsoft.com/office/drawing/2014/main" id="{6B27B450-30A9-440F-804F-FA51B5F8088F}"/>
              </a:ext>
            </a:extLst>
          </p:cNvPr>
          <p:cNvSpPr>
            <a:spLocks xmlns:a="http://schemas.openxmlformats.org/drawingml/2006/main" noGrp="1"/>
          </p:cNvSpPr>
          <p:nvPr/>
        </p:nvSpPr>
        <p:spPr>
          <a:xfrm xmlns:a="http://schemas.openxmlformats.org/drawingml/2006/main">
            <a:off x="5191125" y="3032760"/>
            <a:ext cx="21272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D703EAC7-8452-4E6B-BCB9-96663D74EA4A}"/>
              </a:ext>
            </a:extLst>
          </p:cNvPr>
          <p:cNvSpPr>
            <a:spLocks xmlns:a="http://schemas.openxmlformats.org/drawingml/2006/main" noGrp="1"/>
          </p:cNvSpPr>
          <p:nvPr/>
        </p:nvSpPr>
        <p:spPr>
          <a:xfrm xmlns:a="http://schemas.openxmlformats.org/drawingml/2006/main">
            <a:off x="5238750" y="306133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Vision</a:t>
            </a:r>
          </a:p>
        </p:txBody>
      </p:sp>
      <p:sp>
        <p:nvSpPr>
          <p:cNvPr id="24" name="">
            <a:extLst xmlns:a="http://schemas.openxmlformats.org/drawingml/2006/main">
              <a:ext uri="{FF2B5EF4-FFF2-40B4-BE49-F238E27FC236}">
                <a16:creationId xmlns:a16="http://schemas.microsoft.com/office/drawing/2014/main" id="{76A32194-110F-44BC-A957-937EB73D35B5}"/>
              </a:ext>
            </a:extLst>
          </p:cNvPr>
          <p:cNvSpPr>
            <a:spLocks xmlns:a="http://schemas.openxmlformats.org/drawingml/2006/main" noGrp="1"/>
          </p:cNvSpPr>
          <p:nvPr/>
        </p:nvSpPr>
        <p:spPr>
          <a:xfrm xmlns:a="http://schemas.openxmlformats.org/drawingml/2006/main">
            <a:off x="7318375" y="3032760"/>
            <a:ext cx="21272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7B83B178-6829-4CEA-9F05-487035A091CD}"/>
              </a:ext>
            </a:extLst>
          </p:cNvPr>
          <p:cNvSpPr>
            <a:spLocks xmlns:a="http://schemas.openxmlformats.org/drawingml/2006/main" noGrp="1"/>
          </p:cNvSpPr>
          <p:nvPr/>
        </p:nvSpPr>
        <p:spPr>
          <a:xfrm xmlns:a="http://schemas.openxmlformats.org/drawingml/2006/main">
            <a:off x="7366000" y="306133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明确项目定位为 Android 锄大地棋牌游戏，交付目标包括功能、UML、测试和 Release 包</a:t>
            </a:r>
          </a:p>
        </p:txBody>
      </p:sp>
      <p:sp>
        <p:nvSpPr>
          <p:cNvPr id="26" name="">
            <a:extLst xmlns:a="http://schemas.openxmlformats.org/drawingml/2006/main">
              <a:ext uri="{FF2B5EF4-FFF2-40B4-BE49-F238E27FC236}">
                <a16:creationId xmlns:a16="http://schemas.microsoft.com/office/drawing/2014/main" id="{8F0F30DE-6A01-4A55-9E78-03A52A8D2F10}"/>
              </a:ext>
            </a:extLst>
          </p:cNvPr>
          <p:cNvSpPr>
            <a:spLocks xmlns:a="http://schemas.openxmlformats.org/drawingml/2006/main" noGrp="1"/>
          </p:cNvSpPr>
          <p:nvPr/>
        </p:nvSpPr>
        <p:spPr>
          <a:xfrm xmlns:a="http://schemas.openxmlformats.org/drawingml/2006/main">
            <a:off x="9445625" y="3032760"/>
            <a:ext cx="21272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0246AD8C-7728-48D6-AFEB-E69502351164}"/>
              </a:ext>
            </a:extLst>
          </p:cNvPr>
          <p:cNvSpPr>
            <a:spLocks xmlns:a="http://schemas.openxmlformats.org/drawingml/2006/main" noGrp="1"/>
          </p:cNvSpPr>
          <p:nvPr/>
        </p:nvSpPr>
        <p:spPr>
          <a:xfrm xmlns:a="http://schemas.openxmlformats.org/drawingml/2006/main">
            <a:off x="9493250" y="306133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docs/requirements.md、本报告第 1 章</a:t>
            </a:r>
          </a:p>
        </p:txBody>
      </p:sp>
      <p:sp>
        <p:nvSpPr>
          <p:cNvPr id="28" name="">
            <a:extLst xmlns:a="http://schemas.openxmlformats.org/drawingml/2006/main">
              <a:ext uri="{FF2B5EF4-FFF2-40B4-BE49-F238E27FC236}">
                <a16:creationId xmlns:a16="http://schemas.microsoft.com/office/drawing/2014/main" id="{F2D7C8C9-421C-451F-8B64-19C11A6C8BF8}"/>
              </a:ext>
            </a:extLst>
          </p:cNvPr>
          <p:cNvSpPr>
            <a:spLocks xmlns:a="http://schemas.openxmlformats.org/drawingml/2006/main" noGrp="1"/>
          </p:cNvSpPr>
          <p:nvPr/>
        </p:nvSpPr>
        <p:spPr>
          <a:xfrm xmlns:a="http://schemas.openxmlformats.org/drawingml/2006/main">
            <a:off x="5191125" y="3760470"/>
            <a:ext cx="21272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FE65E9F5-A864-4204-906B-779728183F75}"/>
              </a:ext>
            </a:extLst>
          </p:cNvPr>
          <p:cNvSpPr>
            <a:spLocks xmlns:a="http://schemas.openxmlformats.org/drawingml/2006/main" noGrp="1"/>
          </p:cNvSpPr>
          <p:nvPr/>
        </p:nvSpPr>
        <p:spPr>
          <a:xfrm xmlns:a="http://schemas.openxmlformats.org/drawingml/2006/main">
            <a:off x="5238750" y="378904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Supplementary Specification</a:t>
            </a:r>
          </a:p>
        </p:txBody>
      </p:sp>
      <p:sp>
        <p:nvSpPr>
          <p:cNvPr id="30" name="">
            <a:extLst xmlns:a="http://schemas.openxmlformats.org/drawingml/2006/main">
              <a:ext uri="{FF2B5EF4-FFF2-40B4-BE49-F238E27FC236}">
                <a16:creationId xmlns:a16="http://schemas.microsoft.com/office/drawing/2014/main" id="{F668407F-E9F9-4203-B792-F771334A42DD}"/>
              </a:ext>
            </a:extLst>
          </p:cNvPr>
          <p:cNvSpPr>
            <a:spLocks xmlns:a="http://schemas.openxmlformats.org/drawingml/2006/main" noGrp="1"/>
          </p:cNvSpPr>
          <p:nvPr/>
        </p:nvSpPr>
        <p:spPr>
          <a:xfrm xmlns:a="http://schemas.openxmlformats.org/drawingml/2006/main">
            <a:off x="7318375" y="3760470"/>
            <a:ext cx="21272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E3D9C287-0128-42AE-AE90-7FCBA29E6831}"/>
              </a:ext>
            </a:extLst>
          </p:cNvPr>
          <p:cNvSpPr>
            <a:spLocks xmlns:a="http://schemas.openxmlformats.org/drawingml/2006/main" noGrp="1"/>
          </p:cNvSpPr>
          <p:nvPr/>
        </p:nvSpPr>
        <p:spPr>
          <a:xfrm xmlns:a="http://schemas.openxmlformats.org/drawingml/2006/main">
            <a:off x="7366000" y="378904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记录 MVC 分层、多人蓝牙、AI 策略、南北规则、测试覆盖和发布包等非功能要求</a:t>
            </a:r>
          </a:p>
        </p:txBody>
      </p:sp>
      <p:sp>
        <p:nvSpPr>
          <p:cNvPr id="32" name="">
            <a:extLst xmlns:a="http://schemas.openxmlformats.org/drawingml/2006/main">
              <a:ext uri="{FF2B5EF4-FFF2-40B4-BE49-F238E27FC236}">
                <a16:creationId xmlns:a16="http://schemas.microsoft.com/office/drawing/2014/main" id="{9D14218E-CA86-4463-A17D-CF18625F22C1}"/>
              </a:ext>
            </a:extLst>
          </p:cNvPr>
          <p:cNvSpPr>
            <a:spLocks xmlns:a="http://schemas.openxmlformats.org/drawingml/2006/main" noGrp="1"/>
          </p:cNvSpPr>
          <p:nvPr/>
        </p:nvSpPr>
        <p:spPr>
          <a:xfrm xmlns:a="http://schemas.openxmlformats.org/drawingml/2006/main">
            <a:off x="9445625" y="3760470"/>
            <a:ext cx="21272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0498016B-21F8-4613-B911-9D9834591725}"/>
              </a:ext>
            </a:extLst>
          </p:cNvPr>
          <p:cNvSpPr>
            <a:spLocks xmlns:a="http://schemas.openxmlformats.org/drawingml/2006/main" noGrp="1"/>
          </p:cNvSpPr>
          <p:nvPr/>
        </p:nvSpPr>
        <p:spPr>
          <a:xfrm xmlns:a="http://schemas.openxmlformats.org/drawingml/2006/main">
            <a:off x="9493250" y="378904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docs/requirements.md、docs/design.md</a:t>
            </a:r>
          </a:p>
        </p:txBody>
      </p:sp>
      <p:sp>
        <p:nvSpPr>
          <p:cNvPr id="34" name="">
            <a:extLst xmlns:a="http://schemas.openxmlformats.org/drawingml/2006/main">
              <a:ext uri="{FF2B5EF4-FFF2-40B4-BE49-F238E27FC236}">
                <a16:creationId xmlns:a16="http://schemas.microsoft.com/office/drawing/2014/main" id="{419CA662-BAF8-44E4-B989-4B534511713F}"/>
              </a:ext>
            </a:extLst>
          </p:cNvPr>
          <p:cNvSpPr>
            <a:spLocks xmlns:a="http://schemas.openxmlformats.org/drawingml/2006/main" noGrp="1"/>
          </p:cNvSpPr>
          <p:nvPr/>
        </p:nvSpPr>
        <p:spPr>
          <a:xfrm xmlns:a="http://schemas.openxmlformats.org/drawingml/2006/main">
            <a:off x="5191125" y="4488180"/>
            <a:ext cx="21272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5" name="">
            <a:extLst xmlns:a="http://schemas.openxmlformats.org/drawingml/2006/main">
              <a:ext uri="{FF2B5EF4-FFF2-40B4-BE49-F238E27FC236}">
                <a16:creationId xmlns:a16="http://schemas.microsoft.com/office/drawing/2014/main" id="{2946F7F7-6525-4FF6-8E61-878C706310CB}"/>
              </a:ext>
            </a:extLst>
          </p:cNvPr>
          <p:cNvSpPr>
            <a:spLocks xmlns:a="http://schemas.openxmlformats.org/drawingml/2006/main" noGrp="1"/>
          </p:cNvSpPr>
          <p:nvPr/>
        </p:nvSpPr>
        <p:spPr>
          <a:xfrm xmlns:a="http://schemas.openxmlformats.org/drawingml/2006/main">
            <a:off x="5238750" y="451675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Glossary</a:t>
            </a:r>
          </a:p>
        </p:txBody>
      </p:sp>
      <p:sp>
        <p:nvSpPr>
          <p:cNvPr id="36" name="">
            <a:extLst xmlns:a="http://schemas.openxmlformats.org/drawingml/2006/main">
              <a:ext uri="{FF2B5EF4-FFF2-40B4-BE49-F238E27FC236}">
                <a16:creationId xmlns:a16="http://schemas.microsoft.com/office/drawing/2014/main" id="{00CD3892-8A5D-4992-A253-10813119E091}"/>
              </a:ext>
            </a:extLst>
          </p:cNvPr>
          <p:cNvSpPr>
            <a:spLocks xmlns:a="http://schemas.openxmlformats.org/drawingml/2006/main" noGrp="1"/>
          </p:cNvSpPr>
          <p:nvPr/>
        </p:nvSpPr>
        <p:spPr>
          <a:xfrm xmlns:a="http://schemas.openxmlformats.org/drawingml/2006/main">
            <a:off x="7318375" y="4488180"/>
            <a:ext cx="21272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7" name="">
            <a:extLst xmlns:a="http://schemas.openxmlformats.org/drawingml/2006/main">
              <a:ext uri="{FF2B5EF4-FFF2-40B4-BE49-F238E27FC236}">
                <a16:creationId xmlns:a16="http://schemas.microsoft.com/office/drawing/2014/main" id="{169BA740-E7FD-490A-BBF2-16E2BD9D3998}"/>
              </a:ext>
            </a:extLst>
          </p:cNvPr>
          <p:cNvSpPr>
            <a:spLocks xmlns:a="http://schemas.openxmlformats.org/drawingml/2006/main" noGrp="1"/>
          </p:cNvSpPr>
          <p:nvPr/>
        </p:nvSpPr>
        <p:spPr>
          <a:xfrm xmlns:a="http://schemas.openxmlformats.org/drawingml/2006/main">
            <a:off x="7366000" y="451675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统一解释发牌、首出、压牌、过牌、南北规则、房主权威同步、玩家成长等术语</a:t>
            </a:r>
          </a:p>
        </p:txBody>
      </p:sp>
      <p:sp>
        <p:nvSpPr>
          <p:cNvPr id="38" name="">
            <a:extLst xmlns:a="http://schemas.openxmlformats.org/drawingml/2006/main">
              <a:ext uri="{FF2B5EF4-FFF2-40B4-BE49-F238E27FC236}">
                <a16:creationId xmlns:a16="http://schemas.microsoft.com/office/drawing/2014/main" id="{F9357EE2-302E-45C1-9E56-860D4F3762E6}"/>
              </a:ext>
            </a:extLst>
          </p:cNvPr>
          <p:cNvSpPr>
            <a:spLocks xmlns:a="http://schemas.openxmlformats.org/drawingml/2006/main" noGrp="1"/>
          </p:cNvSpPr>
          <p:nvPr/>
        </p:nvSpPr>
        <p:spPr>
          <a:xfrm xmlns:a="http://schemas.openxmlformats.org/drawingml/2006/main">
            <a:off x="9445625" y="4488180"/>
            <a:ext cx="21272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9" name="">
            <a:extLst xmlns:a="http://schemas.openxmlformats.org/drawingml/2006/main">
              <a:ext uri="{FF2B5EF4-FFF2-40B4-BE49-F238E27FC236}">
                <a16:creationId xmlns:a16="http://schemas.microsoft.com/office/drawing/2014/main" id="{28200528-DE6A-4429-9AE8-FDE3B66A9E16}"/>
              </a:ext>
            </a:extLst>
          </p:cNvPr>
          <p:cNvSpPr>
            <a:spLocks xmlns:a="http://schemas.openxmlformats.org/drawingml/2006/main" noGrp="1"/>
          </p:cNvSpPr>
          <p:nvPr/>
        </p:nvSpPr>
        <p:spPr>
          <a:xfrm xmlns:a="http://schemas.openxmlformats.org/drawingml/2006/main">
            <a:off x="9493250" y="451675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docs/complete_project_documentation.md、本报告相关章节</a:t>
            </a:r>
          </a:p>
        </p:txBody>
      </p:sp>
      <p:sp>
        <p:nvSpPr>
          <p:cNvPr id="40" name="">
            <a:extLst xmlns:a="http://schemas.openxmlformats.org/drawingml/2006/main">
              <a:ext uri="{FF2B5EF4-FFF2-40B4-BE49-F238E27FC236}">
                <a16:creationId xmlns:a16="http://schemas.microsoft.com/office/drawing/2014/main" id="{C508D1C1-048E-48D3-A878-1AC98A6A3908}"/>
              </a:ext>
            </a:extLst>
          </p:cNvPr>
          <p:cNvSpPr>
            <a:spLocks xmlns:a="http://schemas.openxmlformats.org/drawingml/2006/main" noGrp="1"/>
          </p:cNvSpPr>
          <p:nvPr/>
        </p:nvSpPr>
        <p:spPr>
          <a:xfrm xmlns:a="http://schemas.openxmlformats.org/drawingml/2006/main">
            <a:off x="5191125" y="5215890"/>
            <a:ext cx="21272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1" name="">
            <a:extLst xmlns:a="http://schemas.openxmlformats.org/drawingml/2006/main">
              <a:ext uri="{FF2B5EF4-FFF2-40B4-BE49-F238E27FC236}">
                <a16:creationId xmlns:a16="http://schemas.microsoft.com/office/drawing/2014/main" id="{05DBE774-1301-4B69-984C-01EC3BA3B51D}"/>
              </a:ext>
            </a:extLst>
          </p:cNvPr>
          <p:cNvSpPr>
            <a:spLocks xmlns:a="http://schemas.openxmlformats.org/drawingml/2006/main" noGrp="1"/>
          </p:cNvSpPr>
          <p:nvPr/>
        </p:nvSpPr>
        <p:spPr>
          <a:xfrm xmlns:a="http://schemas.openxmlformats.org/drawingml/2006/main">
            <a:off x="5238750" y="524446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Iteration Plan</a:t>
            </a:r>
          </a:p>
        </p:txBody>
      </p:sp>
      <p:sp>
        <p:nvSpPr>
          <p:cNvPr id="42" name="">
            <a:extLst xmlns:a="http://schemas.openxmlformats.org/drawingml/2006/main">
              <a:ext uri="{FF2B5EF4-FFF2-40B4-BE49-F238E27FC236}">
                <a16:creationId xmlns:a16="http://schemas.microsoft.com/office/drawing/2014/main" id="{096D4C9B-0983-40BC-8EFA-C353ED0F272A}"/>
              </a:ext>
            </a:extLst>
          </p:cNvPr>
          <p:cNvSpPr>
            <a:spLocks xmlns:a="http://schemas.openxmlformats.org/drawingml/2006/main" noGrp="1"/>
          </p:cNvSpPr>
          <p:nvPr/>
        </p:nvSpPr>
        <p:spPr>
          <a:xfrm xmlns:a="http://schemas.openxmlformats.org/drawingml/2006/main">
            <a:off x="7318375" y="5215890"/>
            <a:ext cx="21272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3" name="">
            <a:extLst xmlns:a="http://schemas.openxmlformats.org/drawingml/2006/main">
              <a:ext uri="{FF2B5EF4-FFF2-40B4-BE49-F238E27FC236}">
                <a16:creationId xmlns:a16="http://schemas.microsoft.com/office/drawing/2014/main" id="{A72F3D5E-BA16-4A1A-AA96-06EDF607863B}"/>
              </a:ext>
            </a:extLst>
          </p:cNvPr>
          <p:cNvSpPr>
            <a:spLocks xmlns:a="http://schemas.openxmlformats.org/drawingml/2006/main" noGrp="1"/>
          </p:cNvSpPr>
          <p:nvPr/>
        </p:nvSpPr>
        <p:spPr>
          <a:xfrm xmlns:a="http://schemas.openxmlformats.org/drawingml/2006/main">
            <a:off x="7366000" y="524446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依据 Excel 时间节点规划开始、三次细化/构造迭代和交付阶段</a:t>
            </a:r>
          </a:p>
        </p:txBody>
      </p:sp>
      <p:sp>
        <p:nvSpPr>
          <p:cNvPr id="44" name="">
            <a:extLst xmlns:a="http://schemas.openxmlformats.org/drawingml/2006/main">
              <a:ext uri="{FF2B5EF4-FFF2-40B4-BE49-F238E27FC236}">
                <a16:creationId xmlns:a16="http://schemas.microsoft.com/office/drawing/2014/main" id="{E6916211-108F-4991-A977-E1EFF5060319}"/>
              </a:ext>
            </a:extLst>
          </p:cNvPr>
          <p:cNvSpPr>
            <a:spLocks xmlns:a="http://schemas.openxmlformats.org/drawingml/2006/main" noGrp="1"/>
          </p:cNvSpPr>
          <p:nvPr/>
        </p:nvSpPr>
        <p:spPr>
          <a:xfrm xmlns:a="http://schemas.openxmlformats.org/drawingml/2006/main">
            <a:off x="9445625" y="5215890"/>
            <a:ext cx="21272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5" name="">
            <a:extLst xmlns:a="http://schemas.openxmlformats.org/drawingml/2006/main">
              <a:ext uri="{FF2B5EF4-FFF2-40B4-BE49-F238E27FC236}">
                <a16:creationId xmlns:a16="http://schemas.microsoft.com/office/drawing/2014/main" id="{631C4609-FFDD-4AF6-A902-1B6E2D76B05D}"/>
              </a:ext>
            </a:extLst>
          </p:cNvPr>
          <p:cNvSpPr>
            <a:spLocks xmlns:a="http://schemas.openxmlformats.org/drawingml/2006/main" noGrp="1"/>
          </p:cNvSpPr>
          <p:nvPr/>
        </p:nvSpPr>
        <p:spPr>
          <a:xfrm xmlns:a="http://schemas.openxmlformats.org/drawingml/2006/main">
            <a:off x="9493250" y="5244465"/>
            <a:ext cx="20320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本报告第 2 章“阶段时间表”、docs/scrum.md</a:t>
            </a:r>
          </a:p>
        </p:txBody>
      </p:sp>
    </p:spTree>
    <p:extLst>
      <p:ext uri="{BB962C8B-B14F-4D97-AF65-F5344CB8AC3E}">
        <p14:creationId xmlns:p14="http://schemas.microsoft.com/office/powerpoint/2010/main" val="35106757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02B85A3-309E-4009-96AF-2D70F114C5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994236-ACD6-41C1-916F-47F808BCBCF5}"/>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B85043-C0A2-44AD-8089-A55321676847}"/>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B367240-2BB5-422E-AFE5-78DF8BB7DDF4}"/>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4. 阶段 1：开始（Inception）</a:t>
            </a:r>
          </a:p>
        </p:txBody>
      </p:sp>
      <p:sp>
        <p:nvSpPr>
          <p:cNvPr id="5" name="">
            <a:extLst xmlns:a="http://schemas.openxmlformats.org/drawingml/2006/main">
              <a:ext uri="{FF2B5EF4-FFF2-40B4-BE49-F238E27FC236}">
                <a16:creationId xmlns:a16="http://schemas.microsoft.com/office/drawing/2014/main" id="{7F8E3CAC-677B-480C-B5F6-AE30BC223282}"/>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20</a:t>
            </a:r>
          </a:p>
        </p:txBody>
      </p:sp>
      <p:sp>
        <p:nvSpPr>
          <p:cNvPr id="6" name="">
            <a:extLst xmlns:a="http://schemas.openxmlformats.org/drawingml/2006/main">
              <a:ext uri="{FF2B5EF4-FFF2-40B4-BE49-F238E27FC236}">
                <a16:creationId xmlns:a16="http://schemas.microsoft.com/office/drawing/2014/main" id="{B9487AB9-108B-487E-8B86-B88D1B10FCDC}"/>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FC85D4F1-DD46-4596-AA23-C9181085E5A3}"/>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4.4 实现成果（1/4）</a:t>
            </a:r>
          </a:p>
        </p:txBody>
      </p:sp>
      <p:sp>
        <p:nvSpPr>
          <p:cNvPr id="8" name="">
            <a:extLst xmlns:a="http://schemas.openxmlformats.org/drawingml/2006/main">
              <a:ext uri="{FF2B5EF4-FFF2-40B4-BE49-F238E27FC236}">
                <a16:creationId xmlns:a16="http://schemas.microsoft.com/office/drawing/2014/main" id="{3B6F92D9-AF5E-4285-A37F-677308AC87EC}"/>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39D12CD-E23B-4427-A26E-B4D249B29494}"/>
              </a:ext>
            </a:extLst>
          </p:cNvPr>
          <p:cNvSpPr>
            <a:spLocks xmlns:a="http://schemas.openxmlformats.org/drawingml/2006/main" noGrp="1"/>
          </p:cNvSpPr>
          <p:nvPr/>
        </p:nvSpPr>
        <p:spPr>
          <a:xfrm xmlns:a="http://schemas.openxmlformats.org/drawingml/2006/main">
            <a:off x="685800" y="19050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项目完成 Android 工程搭建，确定了 Kotlin + Jetpack Compose 的实现路线，并在 docs/requirements.md 中形成需求分析和评分点映射。UML 建模从用例图开始，为后续领域模型、类图和状态图提供基础。</a:t>
            </a:r>
          </a:p>
        </p:txBody>
      </p:sp>
      <p:sp>
        <p:nvSpPr>
          <p:cNvPr id="10" name="">
            <a:extLst xmlns:a="http://schemas.openxmlformats.org/drawingml/2006/main">
              <a:ext uri="{FF2B5EF4-FFF2-40B4-BE49-F238E27FC236}">
                <a16:creationId xmlns:a16="http://schemas.microsoft.com/office/drawing/2014/main" id="{927CEC82-0BCD-473C-BF87-FE92427F3CB9}"/>
              </a:ext>
            </a:extLst>
          </p:cNvPr>
          <p:cNvSpPr>
            <a:spLocks xmlns:a="http://schemas.openxmlformats.org/drawingml/2006/main" noGrp="1"/>
          </p:cNvSpPr>
          <p:nvPr/>
        </p:nvSpPr>
        <p:spPr>
          <a:xfrm xmlns:a="http://schemas.openxmlformats.org/drawingml/2006/main">
            <a:off x="685800" y="26479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本阶段使用的设计模式和设计原则如下：</a:t>
            </a:r>
          </a:p>
        </p:txBody>
      </p:sp>
      <p:sp>
        <p:nvSpPr>
          <p:cNvPr id="11" name="">
            <a:extLst xmlns:a="http://schemas.openxmlformats.org/drawingml/2006/main">
              <a:ext uri="{FF2B5EF4-FFF2-40B4-BE49-F238E27FC236}">
                <a16:creationId xmlns:a16="http://schemas.microsoft.com/office/drawing/2014/main" id="{56EB5DF1-F29B-438C-A0E3-ED85D9D64926}"/>
              </a:ext>
            </a:extLst>
          </p:cNvPr>
          <p:cNvSpPr>
            <a:spLocks xmlns:a="http://schemas.openxmlformats.org/drawingml/2006/main" noGrp="1"/>
          </p:cNvSpPr>
          <p:nvPr/>
        </p:nvSpPr>
        <p:spPr>
          <a:xfrm xmlns:a="http://schemas.openxmlformats.org/drawingml/2006/main">
            <a:off x="685800" y="3390900"/>
            <a:ext cx="2461846"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02FA62AA-30E0-400E-A129-7674A4247CDA}"/>
              </a:ext>
            </a:extLst>
          </p:cNvPr>
          <p:cNvSpPr>
            <a:spLocks xmlns:a="http://schemas.openxmlformats.org/drawingml/2006/main" noGrp="1"/>
          </p:cNvSpPr>
          <p:nvPr/>
        </p:nvSpPr>
        <p:spPr>
          <a:xfrm xmlns:a="http://schemas.openxmlformats.org/drawingml/2006/main">
            <a:off x="733425" y="3429000"/>
            <a:ext cx="236659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设计模式/原则</a:t>
            </a:r>
          </a:p>
        </p:txBody>
      </p:sp>
      <p:sp>
        <p:nvSpPr>
          <p:cNvPr id="13" name="">
            <a:extLst xmlns:a="http://schemas.openxmlformats.org/drawingml/2006/main">
              <a:ext uri="{FF2B5EF4-FFF2-40B4-BE49-F238E27FC236}">
                <a16:creationId xmlns:a16="http://schemas.microsoft.com/office/drawing/2014/main" id="{A70481E4-2388-4F93-80C2-21183D806CBE}"/>
              </a:ext>
            </a:extLst>
          </p:cNvPr>
          <p:cNvSpPr>
            <a:spLocks xmlns:a="http://schemas.openxmlformats.org/drawingml/2006/main" noGrp="1"/>
          </p:cNvSpPr>
          <p:nvPr/>
        </p:nvSpPr>
        <p:spPr>
          <a:xfrm xmlns:a="http://schemas.openxmlformats.org/drawingml/2006/main">
            <a:off x="3147646" y="3390900"/>
            <a:ext cx="410307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B963DC76-76EF-4590-A7C0-DEF3BBFDA859}"/>
              </a:ext>
            </a:extLst>
          </p:cNvPr>
          <p:cNvSpPr>
            <a:spLocks xmlns:a="http://schemas.openxmlformats.org/drawingml/2006/main" noGrp="1"/>
          </p:cNvSpPr>
          <p:nvPr/>
        </p:nvSpPr>
        <p:spPr>
          <a:xfrm xmlns:a="http://schemas.openxmlformats.org/drawingml/2006/main">
            <a:off x="3195271" y="3429000"/>
            <a:ext cx="400782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阶段作用</a:t>
            </a:r>
          </a:p>
        </p:txBody>
      </p:sp>
      <p:sp>
        <p:nvSpPr>
          <p:cNvPr id="15" name="">
            <a:extLst xmlns:a="http://schemas.openxmlformats.org/drawingml/2006/main">
              <a:ext uri="{FF2B5EF4-FFF2-40B4-BE49-F238E27FC236}">
                <a16:creationId xmlns:a16="http://schemas.microsoft.com/office/drawing/2014/main" id="{423875E5-1603-4707-8420-CF7F68B6E618}"/>
              </a:ext>
            </a:extLst>
          </p:cNvPr>
          <p:cNvSpPr>
            <a:spLocks xmlns:a="http://schemas.openxmlformats.org/drawingml/2006/main" noGrp="1"/>
          </p:cNvSpPr>
          <p:nvPr/>
        </p:nvSpPr>
        <p:spPr>
          <a:xfrm xmlns:a="http://schemas.openxmlformats.org/drawingml/2006/main">
            <a:off x="7250723" y="3390900"/>
            <a:ext cx="410307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60143FCB-E384-49D8-9943-8AC7FFCF24D0}"/>
              </a:ext>
            </a:extLst>
          </p:cNvPr>
          <p:cNvSpPr>
            <a:spLocks xmlns:a="http://schemas.openxmlformats.org/drawingml/2006/main" noGrp="1"/>
          </p:cNvSpPr>
          <p:nvPr/>
        </p:nvSpPr>
        <p:spPr>
          <a:xfrm xmlns:a="http://schemas.openxmlformats.org/drawingml/2006/main">
            <a:off x="7298348" y="3429000"/>
            <a:ext cx="400782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代码或文档落点</a:t>
            </a:r>
          </a:p>
        </p:txBody>
      </p:sp>
      <p:sp>
        <p:nvSpPr>
          <p:cNvPr id="17" name="">
            <a:extLst xmlns:a="http://schemas.openxmlformats.org/drawingml/2006/main">
              <a:ext uri="{FF2B5EF4-FFF2-40B4-BE49-F238E27FC236}">
                <a16:creationId xmlns:a16="http://schemas.microsoft.com/office/drawing/2014/main" id="{0FCCB1F8-E231-49C5-A8C3-EC8B09BB98AE}"/>
              </a:ext>
            </a:extLst>
          </p:cNvPr>
          <p:cNvSpPr>
            <a:spLocks xmlns:a="http://schemas.openxmlformats.org/drawingml/2006/main" noGrp="1"/>
          </p:cNvSpPr>
          <p:nvPr/>
        </p:nvSpPr>
        <p:spPr>
          <a:xfrm xmlns:a="http://schemas.openxmlformats.org/drawingml/2006/main">
            <a:off x="685800" y="3790950"/>
            <a:ext cx="2461846" cy="6921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4F2E8CB3-3D4A-4ADF-B167-C3BA6BDF27A8}"/>
              </a:ext>
            </a:extLst>
          </p:cNvPr>
          <p:cNvSpPr>
            <a:spLocks xmlns:a="http://schemas.openxmlformats.org/drawingml/2006/main" noGrp="1"/>
          </p:cNvSpPr>
          <p:nvPr/>
        </p:nvSpPr>
        <p:spPr>
          <a:xfrm xmlns:a="http://schemas.openxmlformats.org/drawingml/2006/main">
            <a:off x="733425" y="3819525"/>
            <a:ext cx="2366596"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MVC 架构思想</a:t>
            </a:r>
          </a:p>
        </p:txBody>
      </p:sp>
      <p:sp>
        <p:nvSpPr>
          <p:cNvPr id="19" name="">
            <a:extLst xmlns:a="http://schemas.openxmlformats.org/drawingml/2006/main">
              <a:ext uri="{FF2B5EF4-FFF2-40B4-BE49-F238E27FC236}">
                <a16:creationId xmlns:a16="http://schemas.microsoft.com/office/drawing/2014/main" id="{A9B0E9E4-F20F-400A-89C3-E153F4275D3D}"/>
              </a:ext>
            </a:extLst>
          </p:cNvPr>
          <p:cNvSpPr>
            <a:spLocks xmlns:a="http://schemas.openxmlformats.org/drawingml/2006/main" noGrp="1"/>
          </p:cNvSpPr>
          <p:nvPr/>
        </p:nvSpPr>
        <p:spPr>
          <a:xfrm xmlns:a="http://schemas.openxmlformats.org/drawingml/2006/main">
            <a:off x="3147646" y="3790950"/>
            <a:ext cx="4103077" cy="6921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E8F8C501-8D2B-44C4-AF66-4970BFBE524E}"/>
              </a:ext>
            </a:extLst>
          </p:cNvPr>
          <p:cNvSpPr>
            <a:spLocks xmlns:a="http://schemas.openxmlformats.org/drawingml/2006/main" noGrp="1"/>
          </p:cNvSpPr>
          <p:nvPr/>
        </p:nvSpPr>
        <p:spPr>
          <a:xfrm xmlns:a="http://schemas.openxmlformats.org/drawingml/2006/main">
            <a:off x="3195271" y="3819525"/>
            <a:ext cx="4007827"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在需求阶段先确定 Model、Controller、View 的边界，避免后续把规则和 UI 写在一起</a:t>
            </a:r>
          </a:p>
        </p:txBody>
      </p:sp>
      <p:sp>
        <p:nvSpPr>
          <p:cNvPr id="21" name="">
            <a:extLst xmlns:a="http://schemas.openxmlformats.org/drawingml/2006/main">
              <a:ext uri="{FF2B5EF4-FFF2-40B4-BE49-F238E27FC236}">
                <a16:creationId xmlns:a16="http://schemas.microsoft.com/office/drawing/2014/main" id="{930FC40C-7450-459D-B05E-A4D266EF5F17}"/>
              </a:ext>
            </a:extLst>
          </p:cNvPr>
          <p:cNvSpPr>
            <a:spLocks xmlns:a="http://schemas.openxmlformats.org/drawingml/2006/main" noGrp="1"/>
          </p:cNvSpPr>
          <p:nvPr/>
        </p:nvSpPr>
        <p:spPr>
          <a:xfrm xmlns:a="http://schemas.openxmlformats.org/drawingml/2006/main">
            <a:off x="7250723" y="3790950"/>
            <a:ext cx="4103077" cy="6921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B069204D-3687-48B6-B44C-8D6CCF777597}"/>
              </a:ext>
            </a:extLst>
          </p:cNvPr>
          <p:cNvSpPr>
            <a:spLocks xmlns:a="http://schemas.openxmlformats.org/drawingml/2006/main" noGrp="1"/>
          </p:cNvSpPr>
          <p:nvPr/>
        </p:nvSpPr>
        <p:spPr>
          <a:xfrm xmlns:a="http://schemas.openxmlformats.org/drawingml/2006/main">
            <a:off x="7298348" y="3819525"/>
            <a:ext cx="4007827"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docs/design.md、MainActivity.kt、ChudadiApp.kt</a:t>
            </a:r>
          </a:p>
        </p:txBody>
      </p:sp>
      <p:sp>
        <p:nvSpPr>
          <p:cNvPr id="23" name="">
            <a:extLst xmlns:a="http://schemas.openxmlformats.org/drawingml/2006/main">
              <a:ext uri="{FF2B5EF4-FFF2-40B4-BE49-F238E27FC236}">
                <a16:creationId xmlns:a16="http://schemas.microsoft.com/office/drawing/2014/main" id="{8C6FAABC-8E12-4D42-B4BC-8C1C7AC9D1E1}"/>
              </a:ext>
            </a:extLst>
          </p:cNvPr>
          <p:cNvSpPr>
            <a:spLocks xmlns:a="http://schemas.openxmlformats.org/drawingml/2006/main" noGrp="1"/>
          </p:cNvSpPr>
          <p:nvPr/>
        </p:nvSpPr>
        <p:spPr>
          <a:xfrm xmlns:a="http://schemas.openxmlformats.org/drawingml/2006/main">
            <a:off x="685800" y="4483100"/>
            <a:ext cx="2461846" cy="6921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79C71A74-635D-4472-B433-9C37788BFF63}"/>
              </a:ext>
            </a:extLst>
          </p:cNvPr>
          <p:cNvSpPr>
            <a:spLocks xmlns:a="http://schemas.openxmlformats.org/drawingml/2006/main" noGrp="1"/>
          </p:cNvSpPr>
          <p:nvPr/>
        </p:nvSpPr>
        <p:spPr>
          <a:xfrm xmlns:a="http://schemas.openxmlformats.org/drawingml/2006/main">
            <a:off x="733425" y="4511675"/>
            <a:ext cx="2366596"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单一职责原则</a:t>
            </a:r>
          </a:p>
        </p:txBody>
      </p:sp>
      <p:sp>
        <p:nvSpPr>
          <p:cNvPr id="25" name="">
            <a:extLst xmlns:a="http://schemas.openxmlformats.org/drawingml/2006/main">
              <a:ext uri="{FF2B5EF4-FFF2-40B4-BE49-F238E27FC236}">
                <a16:creationId xmlns:a16="http://schemas.microsoft.com/office/drawing/2014/main" id="{C8DB39C5-ABD1-436A-B38F-5AE47A229288}"/>
              </a:ext>
            </a:extLst>
          </p:cNvPr>
          <p:cNvSpPr>
            <a:spLocks xmlns:a="http://schemas.openxmlformats.org/drawingml/2006/main" noGrp="1"/>
          </p:cNvSpPr>
          <p:nvPr/>
        </p:nvSpPr>
        <p:spPr>
          <a:xfrm xmlns:a="http://schemas.openxmlformats.org/drawingml/2006/main">
            <a:off x="3147646" y="4483100"/>
            <a:ext cx="4103077" cy="6921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B16AF2EE-47CB-4BF0-BD40-772338F10E46}"/>
              </a:ext>
            </a:extLst>
          </p:cNvPr>
          <p:cNvSpPr>
            <a:spLocks xmlns:a="http://schemas.openxmlformats.org/drawingml/2006/main" noGrp="1"/>
          </p:cNvSpPr>
          <p:nvPr/>
        </p:nvSpPr>
        <p:spPr>
          <a:xfrm xmlns:a="http://schemas.openxmlformats.org/drawingml/2006/main">
            <a:off x="3195271" y="4511675"/>
            <a:ext cx="4007827"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将规则、AI、蓝牙、玩家成长、音频和界面拆成独立方向，方便后续迭代</a:t>
            </a:r>
          </a:p>
        </p:txBody>
      </p:sp>
      <p:sp>
        <p:nvSpPr>
          <p:cNvPr id="27" name="">
            <a:extLst xmlns:a="http://schemas.openxmlformats.org/drawingml/2006/main">
              <a:ext uri="{FF2B5EF4-FFF2-40B4-BE49-F238E27FC236}">
                <a16:creationId xmlns:a16="http://schemas.microsoft.com/office/drawing/2014/main" id="{AA1BB1B0-742C-48EA-8FB7-08B03141C200}"/>
              </a:ext>
            </a:extLst>
          </p:cNvPr>
          <p:cNvSpPr>
            <a:spLocks xmlns:a="http://schemas.openxmlformats.org/drawingml/2006/main" noGrp="1"/>
          </p:cNvSpPr>
          <p:nvPr/>
        </p:nvSpPr>
        <p:spPr>
          <a:xfrm xmlns:a="http://schemas.openxmlformats.org/drawingml/2006/main">
            <a:off x="7250723" y="4483100"/>
            <a:ext cx="4103077" cy="6921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08CF22B1-800D-4D17-BEB0-F5C1AC46301D}"/>
              </a:ext>
            </a:extLst>
          </p:cNvPr>
          <p:cNvSpPr>
            <a:spLocks xmlns:a="http://schemas.openxmlformats.org/drawingml/2006/main" noGrp="1"/>
          </p:cNvSpPr>
          <p:nvPr/>
        </p:nvSpPr>
        <p:spPr>
          <a:xfrm xmlns:a="http://schemas.openxmlformats.org/drawingml/2006/main">
            <a:off x="7298348" y="4511675"/>
            <a:ext cx="4007827"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model/、controller/、transport/、profile/、view/</a:t>
            </a:r>
          </a:p>
        </p:txBody>
      </p:sp>
      <p:sp>
        <p:nvSpPr>
          <p:cNvPr id="29" name="">
            <a:extLst xmlns:a="http://schemas.openxmlformats.org/drawingml/2006/main">
              <a:ext uri="{FF2B5EF4-FFF2-40B4-BE49-F238E27FC236}">
                <a16:creationId xmlns:a16="http://schemas.microsoft.com/office/drawing/2014/main" id="{FE776599-4AF7-41B1-B0DC-C366B3328DBF}"/>
              </a:ext>
            </a:extLst>
          </p:cNvPr>
          <p:cNvSpPr>
            <a:spLocks xmlns:a="http://schemas.openxmlformats.org/drawingml/2006/main" noGrp="1"/>
          </p:cNvSpPr>
          <p:nvPr/>
        </p:nvSpPr>
        <p:spPr>
          <a:xfrm xmlns:a="http://schemas.openxmlformats.org/drawingml/2006/main">
            <a:off x="685800" y="5175250"/>
            <a:ext cx="2461846" cy="6921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82C15C1D-8847-4A70-A96C-FBC865E523F7}"/>
              </a:ext>
            </a:extLst>
          </p:cNvPr>
          <p:cNvSpPr>
            <a:spLocks xmlns:a="http://schemas.openxmlformats.org/drawingml/2006/main" noGrp="1"/>
          </p:cNvSpPr>
          <p:nvPr/>
        </p:nvSpPr>
        <p:spPr>
          <a:xfrm xmlns:a="http://schemas.openxmlformats.org/drawingml/2006/main">
            <a:off x="733425" y="5203825"/>
            <a:ext cx="2366596"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状态驱动页面</a:t>
            </a:r>
          </a:p>
        </p:txBody>
      </p:sp>
      <p:sp>
        <p:nvSpPr>
          <p:cNvPr id="31" name="">
            <a:extLst xmlns:a="http://schemas.openxmlformats.org/drawingml/2006/main">
              <a:ext uri="{FF2B5EF4-FFF2-40B4-BE49-F238E27FC236}">
                <a16:creationId xmlns:a16="http://schemas.microsoft.com/office/drawing/2014/main" id="{2E75EFAE-637C-45D6-B26C-72D5425D1FC3}"/>
              </a:ext>
            </a:extLst>
          </p:cNvPr>
          <p:cNvSpPr>
            <a:spLocks xmlns:a="http://schemas.openxmlformats.org/drawingml/2006/main" noGrp="1"/>
          </p:cNvSpPr>
          <p:nvPr/>
        </p:nvSpPr>
        <p:spPr>
          <a:xfrm xmlns:a="http://schemas.openxmlformats.org/drawingml/2006/main">
            <a:off x="3147646" y="5175250"/>
            <a:ext cx="4103077" cy="6921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E31613DC-83D3-439D-89C0-0C7277D801B2}"/>
              </a:ext>
            </a:extLst>
          </p:cNvPr>
          <p:cNvSpPr>
            <a:spLocks xmlns:a="http://schemas.openxmlformats.org/drawingml/2006/main" noGrp="1"/>
          </p:cNvSpPr>
          <p:nvPr/>
        </p:nvSpPr>
        <p:spPr>
          <a:xfrm xmlns:a="http://schemas.openxmlformats.org/drawingml/2006/main">
            <a:off x="3195271" y="5203825"/>
            <a:ext cx="4007827"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先确定 Screen 状态切换路线，为后续开屏、大厅、规则、蓝牙和牌桌页面切换做基础</a:t>
            </a:r>
          </a:p>
        </p:txBody>
      </p:sp>
      <p:sp>
        <p:nvSpPr>
          <p:cNvPr id="33" name="">
            <a:extLst xmlns:a="http://schemas.openxmlformats.org/drawingml/2006/main">
              <a:ext uri="{FF2B5EF4-FFF2-40B4-BE49-F238E27FC236}">
                <a16:creationId xmlns:a16="http://schemas.microsoft.com/office/drawing/2014/main" id="{DE8396B1-009C-485F-BA94-8174EABDA327}"/>
              </a:ext>
            </a:extLst>
          </p:cNvPr>
          <p:cNvSpPr>
            <a:spLocks xmlns:a="http://schemas.openxmlformats.org/drawingml/2006/main" noGrp="1"/>
          </p:cNvSpPr>
          <p:nvPr/>
        </p:nvSpPr>
        <p:spPr>
          <a:xfrm xmlns:a="http://schemas.openxmlformats.org/drawingml/2006/main">
            <a:off x="7250723" y="5175250"/>
            <a:ext cx="4103077" cy="6921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9BFF2351-C6F3-45CC-BC52-7B839A786CA5}"/>
              </a:ext>
            </a:extLst>
          </p:cNvPr>
          <p:cNvSpPr>
            <a:spLocks xmlns:a="http://schemas.openxmlformats.org/drawingml/2006/main" noGrp="1"/>
          </p:cNvSpPr>
          <p:nvPr/>
        </p:nvSpPr>
        <p:spPr>
          <a:xfrm xmlns:a="http://schemas.openxmlformats.org/drawingml/2006/main">
            <a:off x="7298348" y="5203825"/>
            <a:ext cx="4007827"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Screen、用例图、状态图</a:t>
            </a:r>
          </a:p>
        </p:txBody>
      </p:sp>
      <p:sp>
        <p:nvSpPr>
          <p:cNvPr id="35" name="">
            <a:extLst xmlns:a="http://schemas.openxmlformats.org/drawingml/2006/main">
              <a:ext uri="{FF2B5EF4-FFF2-40B4-BE49-F238E27FC236}">
                <a16:creationId xmlns:a16="http://schemas.microsoft.com/office/drawing/2014/main" id="{D9326059-6A9F-4927-8B7C-A90FFBEC65E6}"/>
              </a:ext>
            </a:extLst>
          </p:cNvPr>
          <p:cNvSpPr>
            <a:spLocks xmlns:a="http://schemas.openxmlformats.org/drawingml/2006/main" noGrp="1"/>
          </p:cNvSpPr>
          <p:nvPr/>
        </p:nvSpPr>
        <p:spPr>
          <a:xfrm xmlns:a="http://schemas.openxmlformats.org/drawingml/2006/main">
            <a:off x="685800" y="5962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阶段成果展示：</a:t>
            </a:r>
          </a:p>
        </p:txBody>
      </p:sp>
      <p:sp>
        <p:nvSpPr>
          <p:cNvPr id="36" name="">
            <a:extLst xmlns:a="http://schemas.openxmlformats.org/drawingml/2006/main">
              <a:ext uri="{FF2B5EF4-FFF2-40B4-BE49-F238E27FC236}">
                <a16:creationId xmlns:a16="http://schemas.microsoft.com/office/drawing/2014/main" id="{C1572E7B-2584-47BF-99E2-EB66AD4329AB}"/>
              </a:ext>
            </a:extLst>
          </p:cNvPr>
          <p:cNvSpPr>
            <a:spLocks xmlns:a="http://schemas.openxmlformats.org/drawingml/2006/main" noGrp="1"/>
          </p:cNvSpPr>
          <p:nvPr/>
        </p:nvSpPr>
        <p:spPr>
          <a:xfrm xmlns:a="http://schemas.openxmlformats.org/drawingml/2006/main">
            <a:off x="685800" y="6705600"/>
            <a:ext cx="1939636" cy="2857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829EF6E3-2671-4EC9-8D1F-5EF367D8069F}"/>
              </a:ext>
            </a:extLst>
          </p:cNvPr>
          <p:cNvSpPr>
            <a:spLocks xmlns:a="http://schemas.openxmlformats.org/drawingml/2006/main" noGrp="1"/>
          </p:cNvSpPr>
          <p:nvPr/>
        </p:nvSpPr>
        <p:spPr>
          <a:xfrm xmlns:a="http://schemas.openxmlformats.org/drawingml/2006/main">
            <a:off x="733425" y="6743700"/>
            <a:ext cx="1844386"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83289"/>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成果类型</a:t>
            </a:r>
          </a:p>
        </p:txBody>
      </p:sp>
      <p:sp>
        <p:nvSpPr>
          <p:cNvPr id="38" name="">
            <a:extLst xmlns:a="http://schemas.openxmlformats.org/drawingml/2006/main">
              <a:ext uri="{FF2B5EF4-FFF2-40B4-BE49-F238E27FC236}">
                <a16:creationId xmlns:a16="http://schemas.microsoft.com/office/drawing/2014/main" id="{1B3F0ACC-864A-4529-8D47-F68A1A7767B0}"/>
              </a:ext>
            </a:extLst>
          </p:cNvPr>
          <p:cNvSpPr>
            <a:spLocks xmlns:a="http://schemas.openxmlformats.org/drawingml/2006/main" noGrp="1"/>
          </p:cNvSpPr>
          <p:nvPr/>
        </p:nvSpPr>
        <p:spPr>
          <a:xfrm xmlns:a="http://schemas.openxmlformats.org/drawingml/2006/main">
            <a:off x="2625436" y="6705600"/>
            <a:ext cx="4364182" cy="2857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91ED8565-BA7A-4E1A-9FC4-F3648A3E69BC}"/>
              </a:ext>
            </a:extLst>
          </p:cNvPr>
          <p:cNvSpPr>
            <a:spLocks xmlns:a="http://schemas.openxmlformats.org/drawingml/2006/main" noGrp="1"/>
          </p:cNvSpPr>
          <p:nvPr/>
        </p:nvSpPr>
        <p:spPr>
          <a:xfrm xmlns:a="http://schemas.openxmlformats.org/drawingml/2006/main">
            <a:off x="2673061" y="6743700"/>
            <a:ext cx="4268932"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83289"/>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展示内容</a:t>
            </a:r>
          </a:p>
        </p:txBody>
      </p:sp>
      <p:sp>
        <p:nvSpPr>
          <p:cNvPr id="40" name="">
            <a:extLst xmlns:a="http://schemas.openxmlformats.org/drawingml/2006/main">
              <a:ext uri="{FF2B5EF4-FFF2-40B4-BE49-F238E27FC236}">
                <a16:creationId xmlns:a16="http://schemas.microsoft.com/office/drawing/2014/main" id="{B8A04619-A7F4-4465-A1D6-4CAD1B58F254}"/>
              </a:ext>
            </a:extLst>
          </p:cNvPr>
          <p:cNvSpPr>
            <a:spLocks xmlns:a="http://schemas.openxmlformats.org/drawingml/2006/main" noGrp="1"/>
          </p:cNvSpPr>
          <p:nvPr/>
        </p:nvSpPr>
        <p:spPr>
          <a:xfrm xmlns:a="http://schemas.openxmlformats.org/drawingml/2006/main">
            <a:off x="6989618" y="6705600"/>
            <a:ext cx="4364182" cy="2857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92D10B90-B432-42A4-806F-3715379653EA}"/>
              </a:ext>
            </a:extLst>
          </p:cNvPr>
          <p:cNvSpPr>
            <a:spLocks xmlns:a="http://schemas.openxmlformats.org/drawingml/2006/main" noGrp="1"/>
          </p:cNvSpPr>
          <p:nvPr/>
        </p:nvSpPr>
        <p:spPr>
          <a:xfrm xmlns:a="http://schemas.openxmlformats.org/drawingml/2006/main">
            <a:off x="7037243" y="6743700"/>
            <a:ext cx="4268932"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83289"/>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证据材料</a:t>
            </a:r>
          </a:p>
        </p:txBody>
      </p:sp>
      <p:sp>
        <p:nvSpPr>
          <p:cNvPr id="42" name="">
            <a:extLst xmlns:a="http://schemas.openxmlformats.org/drawingml/2006/main">
              <a:ext uri="{FF2B5EF4-FFF2-40B4-BE49-F238E27FC236}">
                <a16:creationId xmlns:a16="http://schemas.microsoft.com/office/drawing/2014/main" id="{07DF202E-AA38-423C-BACA-40DBA546E369}"/>
              </a:ext>
            </a:extLst>
          </p:cNvPr>
          <p:cNvSpPr>
            <a:spLocks xmlns:a="http://schemas.openxmlformats.org/drawingml/2006/main" noGrp="1"/>
          </p:cNvSpPr>
          <p:nvPr/>
        </p:nvSpPr>
        <p:spPr>
          <a:xfrm xmlns:a="http://schemas.openxmlformats.org/drawingml/2006/main">
            <a:off x="685800" y="6991350"/>
            <a:ext cx="1939636" cy="-261937"/>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3" name="">
            <a:extLst xmlns:a="http://schemas.openxmlformats.org/drawingml/2006/main">
              <a:ext uri="{FF2B5EF4-FFF2-40B4-BE49-F238E27FC236}">
                <a16:creationId xmlns:a16="http://schemas.microsoft.com/office/drawing/2014/main" id="{AAAFAC64-9DD0-46B7-BF74-643294F1D321}"/>
              </a:ext>
            </a:extLst>
          </p:cNvPr>
          <p:cNvSpPr>
            <a:spLocks xmlns:a="http://schemas.openxmlformats.org/drawingml/2006/main" noGrp="1"/>
          </p:cNvSpPr>
          <p:nvPr/>
        </p:nvSpPr>
        <p:spPr>
          <a:xfrm xmlns:a="http://schemas.openxmlformats.org/drawingml/2006/main">
            <a:off x="733425" y="7019925"/>
            <a:ext cx="1844386" cy="-319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代码成果</a:t>
            </a:r>
          </a:p>
        </p:txBody>
      </p:sp>
      <p:sp>
        <p:nvSpPr>
          <p:cNvPr id="44" name="">
            <a:extLst xmlns:a="http://schemas.openxmlformats.org/drawingml/2006/main">
              <a:ext uri="{FF2B5EF4-FFF2-40B4-BE49-F238E27FC236}">
                <a16:creationId xmlns:a16="http://schemas.microsoft.com/office/drawing/2014/main" id="{73B38139-92F6-4ED2-95FA-50C9F34E207A}"/>
              </a:ext>
            </a:extLst>
          </p:cNvPr>
          <p:cNvSpPr>
            <a:spLocks xmlns:a="http://schemas.openxmlformats.org/drawingml/2006/main" noGrp="1"/>
          </p:cNvSpPr>
          <p:nvPr/>
        </p:nvSpPr>
        <p:spPr>
          <a:xfrm xmlns:a="http://schemas.openxmlformats.org/drawingml/2006/main">
            <a:off x="2625436" y="6991350"/>
            <a:ext cx="4364182" cy="-261937"/>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5" name="">
            <a:extLst xmlns:a="http://schemas.openxmlformats.org/drawingml/2006/main">
              <a:ext uri="{FF2B5EF4-FFF2-40B4-BE49-F238E27FC236}">
                <a16:creationId xmlns:a16="http://schemas.microsoft.com/office/drawing/2014/main" id="{7C302566-0B07-463C-A601-8589E66680C7}"/>
              </a:ext>
            </a:extLst>
          </p:cNvPr>
          <p:cNvSpPr>
            <a:spLocks xmlns:a="http://schemas.openxmlformats.org/drawingml/2006/main" noGrp="1"/>
          </p:cNvSpPr>
          <p:nvPr/>
        </p:nvSpPr>
        <p:spPr>
          <a:xfrm xmlns:a="http://schemas.openxmlformats.org/drawingml/2006/main">
            <a:off x="2673061" y="7019925"/>
            <a:ext cx="4268932" cy="-319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单 Activity + Compose 主入口，启动后加载 ChudadiApp()</a:t>
            </a:r>
          </a:p>
        </p:txBody>
      </p:sp>
      <p:sp>
        <p:nvSpPr>
          <p:cNvPr id="46" name="">
            <a:extLst xmlns:a="http://schemas.openxmlformats.org/drawingml/2006/main">
              <a:ext uri="{FF2B5EF4-FFF2-40B4-BE49-F238E27FC236}">
                <a16:creationId xmlns:a16="http://schemas.microsoft.com/office/drawing/2014/main" id="{4198F2E9-B140-4CF4-A438-0693E20F9B9E}"/>
              </a:ext>
            </a:extLst>
          </p:cNvPr>
          <p:cNvSpPr>
            <a:spLocks xmlns:a="http://schemas.openxmlformats.org/drawingml/2006/main" noGrp="1"/>
          </p:cNvSpPr>
          <p:nvPr/>
        </p:nvSpPr>
        <p:spPr>
          <a:xfrm xmlns:a="http://schemas.openxmlformats.org/drawingml/2006/main">
            <a:off x="6989618" y="6991350"/>
            <a:ext cx="4364182" cy="-261937"/>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7" name="">
            <a:extLst xmlns:a="http://schemas.openxmlformats.org/drawingml/2006/main">
              <a:ext uri="{FF2B5EF4-FFF2-40B4-BE49-F238E27FC236}">
                <a16:creationId xmlns:a16="http://schemas.microsoft.com/office/drawing/2014/main" id="{306DCD8A-5159-4F62-B704-C1194A25CE12}"/>
              </a:ext>
            </a:extLst>
          </p:cNvPr>
          <p:cNvSpPr>
            <a:spLocks xmlns:a="http://schemas.openxmlformats.org/drawingml/2006/main" noGrp="1"/>
          </p:cNvSpPr>
          <p:nvPr/>
        </p:nvSpPr>
        <p:spPr>
          <a:xfrm xmlns:a="http://schemas.openxmlformats.org/drawingml/2006/main">
            <a:off x="7037243" y="7019925"/>
            <a:ext cx="4268932" cy="-319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app/src/main/java/com/example/uml_chudadi/MainActivity.kt</a:t>
            </a:r>
          </a:p>
        </p:txBody>
      </p:sp>
      <p:sp>
        <p:nvSpPr>
          <p:cNvPr id="48" name="">
            <a:extLst xmlns:a="http://schemas.openxmlformats.org/drawingml/2006/main">
              <a:ext uri="{FF2B5EF4-FFF2-40B4-BE49-F238E27FC236}">
                <a16:creationId xmlns:a16="http://schemas.microsoft.com/office/drawing/2014/main" id="{8057A6F8-81E1-42F1-8F7F-B8213D17B9F7}"/>
              </a:ext>
            </a:extLst>
          </p:cNvPr>
          <p:cNvSpPr>
            <a:spLocks xmlns:a="http://schemas.openxmlformats.org/drawingml/2006/main" noGrp="1"/>
          </p:cNvSpPr>
          <p:nvPr/>
        </p:nvSpPr>
        <p:spPr>
          <a:xfrm xmlns:a="http://schemas.openxmlformats.org/drawingml/2006/main">
            <a:off x="685800" y="6729413"/>
            <a:ext cx="1939636" cy="-261937"/>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9" name="">
            <a:extLst xmlns:a="http://schemas.openxmlformats.org/drawingml/2006/main">
              <a:ext uri="{FF2B5EF4-FFF2-40B4-BE49-F238E27FC236}">
                <a16:creationId xmlns:a16="http://schemas.microsoft.com/office/drawing/2014/main" id="{B88D0465-E2DC-4100-A7EF-099E7B34CF06}"/>
              </a:ext>
            </a:extLst>
          </p:cNvPr>
          <p:cNvSpPr>
            <a:spLocks xmlns:a="http://schemas.openxmlformats.org/drawingml/2006/main" noGrp="1"/>
          </p:cNvSpPr>
          <p:nvPr/>
        </p:nvSpPr>
        <p:spPr>
          <a:xfrm xmlns:a="http://schemas.openxmlformats.org/drawingml/2006/main">
            <a:off x="733425" y="6757988"/>
            <a:ext cx="1844386" cy="-319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文字成果</a:t>
            </a:r>
          </a:p>
        </p:txBody>
      </p:sp>
      <p:sp>
        <p:nvSpPr>
          <p:cNvPr id="50" name="">
            <a:extLst xmlns:a="http://schemas.openxmlformats.org/drawingml/2006/main">
              <a:ext uri="{FF2B5EF4-FFF2-40B4-BE49-F238E27FC236}">
                <a16:creationId xmlns:a16="http://schemas.microsoft.com/office/drawing/2014/main" id="{D3183B5B-25CB-485E-8572-99AAA89895F8}"/>
              </a:ext>
            </a:extLst>
          </p:cNvPr>
          <p:cNvSpPr>
            <a:spLocks xmlns:a="http://schemas.openxmlformats.org/drawingml/2006/main" noGrp="1"/>
          </p:cNvSpPr>
          <p:nvPr/>
        </p:nvSpPr>
        <p:spPr>
          <a:xfrm xmlns:a="http://schemas.openxmlformats.org/drawingml/2006/main">
            <a:off x="2625436" y="6729413"/>
            <a:ext cx="4364182" cy="-261937"/>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1" name="">
            <a:extLst xmlns:a="http://schemas.openxmlformats.org/drawingml/2006/main">
              <a:ext uri="{FF2B5EF4-FFF2-40B4-BE49-F238E27FC236}">
                <a16:creationId xmlns:a16="http://schemas.microsoft.com/office/drawing/2014/main" id="{9ABB4815-A552-4EDE-A559-1412386ADBB3}"/>
              </a:ext>
            </a:extLst>
          </p:cNvPr>
          <p:cNvSpPr>
            <a:spLocks xmlns:a="http://schemas.openxmlformats.org/drawingml/2006/main" noGrp="1"/>
          </p:cNvSpPr>
          <p:nvPr/>
        </p:nvSpPr>
        <p:spPr>
          <a:xfrm xmlns:a="http://schemas.openxmlformats.org/drawingml/2006/main">
            <a:off x="2673061" y="6757988"/>
            <a:ext cx="4268932" cy="-319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项目目标、功能需求、非功能需求和评分点映射</a:t>
            </a:r>
          </a:p>
        </p:txBody>
      </p:sp>
      <p:sp>
        <p:nvSpPr>
          <p:cNvPr id="52" name="">
            <a:extLst xmlns:a="http://schemas.openxmlformats.org/drawingml/2006/main">
              <a:ext uri="{FF2B5EF4-FFF2-40B4-BE49-F238E27FC236}">
                <a16:creationId xmlns:a16="http://schemas.microsoft.com/office/drawing/2014/main" id="{01271E9D-FFBA-41F2-8D6B-365CCB296BEE}"/>
              </a:ext>
            </a:extLst>
          </p:cNvPr>
          <p:cNvSpPr>
            <a:spLocks xmlns:a="http://schemas.openxmlformats.org/drawingml/2006/main" noGrp="1"/>
          </p:cNvSpPr>
          <p:nvPr/>
        </p:nvSpPr>
        <p:spPr>
          <a:xfrm xmlns:a="http://schemas.openxmlformats.org/drawingml/2006/main">
            <a:off x="6989618" y="6729413"/>
            <a:ext cx="4364182" cy="-261937"/>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3" name="">
            <a:extLst xmlns:a="http://schemas.openxmlformats.org/drawingml/2006/main">
              <a:ext uri="{FF2B5EF4-FFF2-40B4-BE49-F238E27FC236}">
                <a16:creationId xmlns:a16="http://schemas.microsoft.com/office/drawing/2014/main" id="{B5B1F2C2-D8F0-4959-9D39-F90531074FD9}"/>
              </a:ext>
            </a:extLst>
          </p:cNvPr>
          <p:cNvSpPr>
            <a:spLocks xmlns:a="http://schemas.openxmlformats.org/drawingml/2006/main" noGrp="1"/>
          </p:cNvSpPr>
          <p:nvPr/>
        </p:nvSpPr>
        <p:spPr>
          <a:xfrm xmlns:a="http://schemas.openxmlformats.org/drawingml/2006/main">
            <a:off x="7037243" y="6757988"/>
            <a:ext cx="4268932" cy="-319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docs/requirements.md</a:t>
            </a:r>
          </a:p>
        </p:txBody>
      </p:sp>
      <p:sp>
        <p:nvSpPr>
          <p:cNvPr id="54" name="">
            <a:extLst xmlns:a="http://schemas.openxmlformats.org/drawingml/2006/main">
              <a:ext uri="{FF2B5EF4-FFF2-40B4-BE49-F238E27FC236}">
                <a16:creationId xmlns:a16="http://schemas.microsoft.com/office/drawing/2014/main" id="{62412290-6BB7-4F17-A5DF-D5C9E86482D7}"/>
              </a:ext>
            </a:extLst>
          </p:cNvPr>
          <p:cNvSpPr>
            <a:spLocks xmlns:a="http://schemas.openxmlformats.org/drawingml/2006/main" noGrp="1"/>
          </p:cNvSpPr>
          <p:nvPr/>
        </p:nvSpPr>
        <p:spPr>
          <a:xfrm xmlns:a="http://schemas.openxmlformats.org/drawingml/2006/main">
            <a:off x="685800" y="6467475"/>
            <a:ext cx="1939636" cy="-261937"/>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5" name="">
            <a:extLst xmlns:a="http://schemas.openxmlformats.org/drawingml/2006/main">
              <a:ext uri="{FF2B5EF4-FFF2-40B4-BE49-F238E27FC236}">
                <a16:creationId xmlns:a16="http://schemas.microsoft.com/office/drawing/2014/main" id="{373A0AF9-F861-43ED-9CDE-B4F6F5844BDA}"/>
              </a:ext>
            </a:extLst>
          </p:cNvPr>
          <p:cNvSpPr>
            <a:spLocks xmlns:a="http://schemas.openxmlformats.org/drawingml/2006/main" noGrp="1"/>
          </p:cNvSpPr>
          <p:nvPr/>
        </p:nvSpPr>
        <p:spPr>
          <a:xfrm xmlns:a="http://schemas.openxmlformats.org/drawingml/2006/main">
            <a:off x="733425" y="6496050"/>
            <a:ext cx="1844386" cy="-319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图片成果</a:t>
            </a:r>
          </a:p>
        </p:txBody>
      </p:sp>
      <p:sp>
        <p:nvSpPr>
          <p:cNvPr id="56" name="">
            <a:extLst xmlns:a="http://schemas.openxmlformats.org/drawingml/2006/main">
              <a:ext uri="{FF2B5EF4-FFF2-40B4-BE49-F238E27FC236}">
                <a16:creationId xmlns:a16="http://schemas.microsoft.com/office/drawing/2014/main" id="{6256B5A1-F770-49DD-A96C-69ECF5698BBC}"/>
              </a:ext>
            </a:extLst>
          </p:cNvPr>
          <p:cNvSpPr>
            <a:spLocks xmlns:a="http://schemas.openxmlformats.org/drawingml/2006/main" noGrp="1"/>
          </p:cNvSpPr>
          <p:nvPr/>
        </p:nvSpPr>
        <p:spPr>
          <a:xfrm xmlns:a="http://schemas.openxmlformats.org/drawingml/2006/main">
            <a:off x="2625436" y="6467475"/>
            <a:ext cx="4364182" cy="-261937"/>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7" name="">
            <a:extLst xmlns:a="http://schemas.openxmlformats.org/drawingml/2006/main">
              <a:ext uri="{FF2B5EF4-FFF2-40B4-BE49-F238E27FC236}">
                <a16:creationId xmlns:a16="http://schemas.microsoft.com/office/drawing/2014/main" id="{085717FE-C5DF-4835-9B28-7D0F5D26F441}"/>
              </a:ext>
            </a:extLst>
          </p:cNvPr>
          <p:cNvSpPr>
            <a:spLocks xmlns:a="http://schemas.openxmlformats.org/drawingml/2006/main" noGrp="1"/>
          </p:cNvSpPr>
          <p:nvPr/>
        </p:nvSpPr>
        <p:spPr>
          <a:xfrm xmlns:a="http://schemas.openxmlformats.org/drawingml/2006/main">
            <a:off x="2673061" y="6496050"/>
            <a:ext cx="4268932" cy="-319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用例图展示玩家、房主、加入者、人机和主要用例</a:t>
            </a:r>
          </a:p>
        </p:txBody>
      </p:sp>
      <p:sp>
        <p:nvSpPr>
          <p:cNvPr id="58" name="">
            <a:extLst xmlns:a="http://schemas.openxmlformats.org/drawingml/2006/main">
              <a:ext uri="{FF2B5EF4-FFF2-40B4-BE49-F238E27FC236}">
                <a16:creationId xmlns:a16="http://schemas.microsoft.com/office/drawing/2014/main" id="{22BDD867-32D9-4938-8A17-EBD9B956DC4B}"/>
              </a:ext>
            </a:extLst>
          </p:cNvPr>
          <p:cNvSpPr>
            <a:spLocks xmlns:a="http://schemas.openxmlformats.org/drawingml/2006/main" noGrp="1"/>
          </p:cNvSpPr>
          <p:nvPr/>
        </p:nvSpPr>
        <p:spPr>
          <a:xfrm xmlns:a="http://schemas.openxmlformats.org/drawingml/2006/main">
            <a:off x="6989618" y="6467475"/>
            <a:ext cx="4364182" cy="-261937"/>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9" name="">
            <a:extLst xmlns:a="http://schemas.openxmlformats.org/drawingml/2006/main">
              <a:ext uri="{FF2B5EF4-FFF2-40B4-BE49-F238E27FC236}">
                <a16:creationId xmlns:a16="http://schemas.microsoft.com/office/drawing/2014/main" id="{945A20E5-8875-40C7-A612-07D73337A9CB}"/>
              </a:ext>
            </a:extLst>
          </p:cNvPr>
          <p:cNvSpPr>
            <a:spLocks xmlns:a="http://schemas.openxmlformats.org/drawingml/2006/main" noGrp="1"/>
          </p:cNvSpPr>
          <p:nvPr/>
        </p:nvSpPr>
        <p:spPr>
          <a:xfrm xmlns:a="http://schemas.openxmlformats.org/drawingml/2006/main">
            <a:off x="7037243" y="6496050"/>
            <a:ext cx="4268932" cy="-319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docs/uml/use_case.png</a:t>
            </a:r>
          </a:p>
        </p:txBody>
      </p:sp>
      <p:sp>
        <p:nvSpPr>
          <p:cNvPr id="60" name="">
            <a:extLst xmlns:a="http://schemas.openxmlformats.org/drawingml/2006/main">
              <a:ext uri="{FF2B5EF4-FFF2-40B4-BE49-F238E27FC236}">
                <a16:creationId xmlns:a16="http://schemas.microsoft.com/office/drawing/2014/main" id="{F580F232-1DCD-4FA0-A633-CF7C40E1E8B9}"/>
              </a:ext>
            </a:extLst>
          </p:cNvPr>
          <p:cNvSpPr>
            <a:spLocks xmlns:a="http://schemas.openxmlformats.org/drawingml/2006/main" noGrp="1"/>
          </p:cNvSpPr>
          <p:nvPr/>
        </p:nvSpPr>
        <p:spPr>
          <a:xfrm xmlns:a="http://schemas.openxmlformats.org/drawingml/2006/main">
            <a:off x="685800" y="6205538"/>
            <a:ext cx="1939636" cy="-261937"/>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1" name="">
            <a:extLst xmlns:a="http://schemas.openxmlformats.org/drawingml/2006/main">
              <a:ext uri="{FF2B5EF4-FFF2-40B4-BE49-F238E27FC236}">
                <a16:creationId xmlns:a16="http://schemas.microsoft.com/office/drawing/2014/main" id="{AE17E0D2-6B90-43A2-84FC-1995BDA27F56}"/>
              </a:ext>
            </a:extLst>
          </p:cNvPr>
          <p:cNvSpPr>
            <a:spLocks xmlns:a="http://schemas.openxmlformats.org/drawingml/2006/main" noGrp="1"/>
          </p:cNvSpPr>
          <p:nvPr/>
        </p:nvSpPr>
        <p:spPr>
          <a:xfrm xmlns:a="http://schemas.openxmlformats.org/drawingml/2006/main">
            <a:off x="733425" y="6234113"/>
            <a:ext cx="1844386" cy="-319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计划成果</a:t>
            </a:r>
          </a:p>
        </p:txBody>
      </p:sp>
      <p:sp>
        <p:nvSpPr>
          <p:cNvPr id="62" name="">
            <a:extLst xmlns:a="http://schemas.openxmlformats.org/drawingml/2006/main">
              <a:ext uri="{FF2B5EF4-FFF2-40B4-BE49-F238E27FC236}">
                <a16:creationId xmlns:a16="http://schemas.microsoft.com/office/drawing/2014/main" id="{FF48EBD2-4C84-47CE-90CA-EFCD030964EC}"/>
              </a:ext>
            </a:extLst>
          </p:cNvPr>
          <p:cNvSpPr>
            <a:spLocks xmlns:a="http://schemas.openxmlformats.org/drawingml/2006/main" noGrp="1"/>
          </p:cNvSpPr>
          <p:nvPr/>
        </p:nvSpPr>
        <p:spPr>
          <a:xfrm xmlns:a="http://schemas.openxmlformats.org/drawingml/2006/main">
            <a:off x="2625436" y="6205538"/>
            <a:ext cx="4364182" cy="-261937"/>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3" name="">
            <a:extLst xmlns:a="http://schemas.openxmlformats.org/drawingml/2006/main">
              <a:ext uri="{FF2B5EF4-FFF2-40B4-BE49-F238E27FC236}">
                <a16:creationId xmlns:a16="http://schemas.microsoft.com/office/drawing/2014/main" id="{6F273B34-ECF4-447B-BCD2-A2B5AA85BFA7}"/>
              </a:ext>
            </a:extLst>
          </p:cNvPr>
          <p:cNvSpPr>
            <a:spLocks xmlns:a="http://schemas.openxmlformats.org/drawingml/2006/main" noGrp="1"/>
          </p:cNvSpPr>
          <p:nvPr/>
        </p:nvSpPr>
        <p:spPr>
          <a:xfrm xmlns:a="http://schemas.openxmlformats.org/drawingml/2006/main">
            <a:off x="2673061" y="6234113"/>
            <a:ext cx="4268932" cy="-319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Excel 时间节点被整理为本报告第 2 章阶段时间表，报告正文只保留开发与交付阶段</a:t>
            </a:r>
          </a:p>
        </p:txBody>
      </p:sp>
      <p:sp>
        <p:nvSpPr>
          <p:cNvPr id="64" name="">
            <a:extLst xmlns:a="http://schemas.openxmlformats.org/drawingml/2006/main">
              <a:ext uri="{FF2B5EF4-FFF2-40B4-BE49-F238E27FC236}">
                <a16:creationId xmlns:a16="http://schemas.microsoft.com/office/drawing/2014/main" id="{511E2D2E-D8DC-4EB7-BFE3-825E23815E41}"/>
              </a:ext>
            </a:extLst>
          </p:cNvPr>
          <p:cNvSpPr>
            <a:spLocks xmlns:a="http://schemas.openxmlformats.org/drawingml/2006/main" noGrp="1"/>
          </p:cNvSpPr>
          <p:nvPr/>
        </p:nvSpPr>
        <p:spPr>
          <a:xfrm xmlns:a="http://schemas.openxmlformats.org/drawingml/2006/main">
            <a:off x="6989618" y="6205538"/>
            <a:ext cx="4364182" cy="-261937"/>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5" name="">
            <a:extLst xmlns:a="http://schemas.openxmlformats.org/drawingml/2006/main">
              <a:ext uri="{FF2B5EF4-FFF2-40B4-BE49-F238E27FC236}">
                <a16:creationId xmlns:a16="http://schemas.microsoft.com/office/drawing/2014/main" id="{B71D7FFF-6FF0-4C0D-B6A3-9A802F6EACD8}"/>
              </a:ext>
            </a:extLst>
          </p:cNvPr>
          <p:cNvSpPr>
            <a:spLocks xmlns:a="http://schemas.openxmlformats.org/drawingml/2006/main" noGrp="1"/>
          </p:cNvSpPr>
          <p:nvPr/>
        </p:nvSpPr>
        <p:spPr>
          <a:xfrm xmlns:a="http://schemas.openxmlformats.org/drawingml/2006/main">
            <a:off x="7037243" y="6234113"/>
            <a:ext cx="4268932" cy="-3190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本报告第 2 章、docs/scrum.md</a:t>
            </a:r>
          </a:p>
        </p:txBody>
      </p:sp>
      <p:sp>
        <p:nvSpPr>
          <p:cNvPr id="66" name="">
            <a:extLst xmlns:a="http://schemas.openxmlformats.org/drawingml/2006/main">
              <a:ext uri="{FF2B5EF4-FFF2-40B4-BE49-F238E27FC236}">
                <a16:creationId xmlns:a16="http://schemas.microsoft.com/office/drawing/2014/main" id="{BEF64F01-5636-4627-9B56-5926834B614A}"/>
              </a:ext>
            </a:extLst>
          </p:cNvPr>
          <p:cNvSpPr>
            <a:spLocks xmlns:a="http://schemas.openxmlformats.org/drawingml/2006/main" noGrp="1"/>
          </p:cNvSpPr>
          <p:nvPr/>
        </p:nvSpPr>
        <p:spPr>
          <a:xfrm xmlns:a="http://schemas.openxmlformats.org/drawingml/2006/main">
            <a:off x="685800" y="9277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主入口代码片段如下：</a:t>
            </a:r>
          </a:p>
        </p:txBody>
      </p:sp>
    </p:spTree>
    <p:extLst>
      <p:ext uri="{BB962C8B-B14F-4D97-AF65-F5344CB8AC3E}">
        <p14:creationId xmlns:p14="http://schemas.microsoft.com/office/powerpoint/2010/main" val="17433634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8D073F-A873-47BE-B8FD-A523B5EA77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8FFDD9-10FF-4457-B209-ED019395912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1724F0-3A33-425B-9F12-1823A7833CEB}"/>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3BC36F1B-CB64-4C90-89B7-F88D61DA77ED}"/>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4. 阶段 1：开始（Inception）</a:t>
            </a:r>
          </a:p>
        </p:txBody>
      </p:sp>
      <p:sp>
        <p:nvSpPr>
          <p:cNvPr id="5" name="">
            <a:extLst xmlns:a="http://schemas.openxmlformats.org/drawingml/2006/main">
              <a:ext uri="{FF2B5EF4-FFF2-40B4-BE49-F238E27FC236}">
                <a16:creationId xmlns:a16="http://schemas.microsoft.com/office/drawing/2014/main" id="{7361F35A-E5CB-4BE7-87EC-0AA7795DE759}"/>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21</a:t>
            </a:r>
          </a:p>
        </p:txBody>
      </p:sp>
      <p:sp>
        <p:nvSpPr>
          <p:cNvPr id="6" name="">
            <a:extLst xmlns:a="http://schemas.openxmlformats.org/drawingml/2006/main">
              <a:ext uri="{FF2B5EF4-FFF2-40B4-BE49-F238E27FC236}">
                <a16:creationId xmlns:a16="http://schemas.microsoft.com/office/drawing/2014/main" id="{70357A71-583F-4323-B8C0-4CD7833FA4BE}"/>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EA3887A7-7EB3-4F55-8FB6-40CE11F516AA}"/>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4.4 实现成果（2/4）</a:t>
            </a:r>
          </a:p>
        </p:txBody>
      </p:sp>
      <p:sp>
        <p:nvSpPr>
          <p:cNvPr id="8" name="">
            <a:extLst xmlns:a="http://schemas.openxmlformats.org/drawingml/2006/main">
              <a:ext uri="{FF2B5EF4-FFF2-40B4-BE49-F238E27FC236}">
                <a16:creationId xmlns:a16="http://schemas.microsoft.com/office/drawing/2014/main" id="{8072BE6E-AE82-4762-ADDC-09746CC0FA6B}"/>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62335DE-3484-4923-A046-C9B0D9835A04}"/>
              </a:ext>
            </a:extLst>
          </p:cNvPr>
          <p:cNvSpPr>
            <a:spLocks xmlns:a="http://schemas.openxmlformats.org/drawingml/2006/main" noGrp="1"/>
          </p:cNvSpPr>
          <p:nvPr/>
        </p:nvSpPr>
        <p:spPr>
          <a:xfrm xmlns:a="http://schemas.openxmlformats.org/drawingml/2006/main">
            <a:off x="685800" y="1905000"/>
            <a:ext cx="10839450" cy="4038600"/>
          </a:xfrm>
          <a:prstGeom xmlns:a="http://schemas.openxmlformats.org/drawingml/2006/main" prst="roundRect">
            <a:avLst>
              <a:gd name="adj" fmla="val 1415"/>
            </a:avLst>
          </a:prstGeom>
          <a:solidFill xmlns:a="http://schemas.openxmlformats.org/drawingml/2006/main">
            <a:srgbClr val="102820"/>
          </a:solidFill>
          <a:ln xmlns:a="http://schemas.openxmlformats.org/drawingml/2006/main" w="9525">
            <a:solidFill>
              <a:srgbClr val="294C3E"/>
            </a:solidFill>
          </a:ln>
        </p:spPr>
      </p:sp>
      <p:sp>
        <p:nvSpPr>
          <p:cNvPr id="10" name="">
            <a:extLst xmlns:a="http://schemas.openxmlformats.org/drawingml/2006/main">
              <a:ext uri="{FF2B5EF4-FFF2-40B4-BE49-F238E27FC236}">
                <a16:creationId xmlns:a16="http://schemas.microsoft.com/office/drawing/2014/main" id="{1E7870A7-FD34-48A6-9520-89B07E291959}"/>
              </a:ext>
            </a:extLst>
          </p:cNvPr>
          <p:cNvSpPr>
            <a:spLocks xmlns:a="http://schemas.openxmlformats.org/drawingml/2006/main" noGrp="1"/>
          </p:cNvSpPr>
          <p:nvPr/>
        </p:nvSpPr>
        <p:spPr>
          <a:xfrm xmlns:a="http://schemas.openxmlformats.org/drawingml/2006/main">
            <a:off x="838200" y="2038350"/>
            <a:ext cx="1053465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class MainActivity : ComponentActivity()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override fun onCreate(savedInstanceState: Bundle?)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super.onCreate(savedInstanceState)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enableEdgeToEdge()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setContent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Uml_chudadiTheme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ChudadiApp()</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a:t>
            </a:r>
          </a:p>
        </p:txBody>
      </p:sp>
    </p:spTree>
    <p:extLst>
      <p:ext uri="{BB962C8B-B14F-4D97-AF65-F5344CB8AC3E}">
        <p14:creationId xmlns:p14="http://schemas.microsoft.com/office/powerpoint/2010/main" val="143507258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03BC117-5CDC-450A-B9B2-DA0B1F02A4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683074-54C9-4A49-9A35-9D188A11C7F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1979E20-609B-42FF-AD61-322B867B604E}"/>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991DC21-3860-4EB2-8C3C-860B79CD3377}"/>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4. 阶段 1：开始（Inception）</a:t>
            </a:r>
          </a:p>
        </p:txBody>
      </p:sp>
      <p:sp>
        <p:nvSpPr>
          <p:cNvPr id="5" name="">
            <a:extLst xmlns:a="http://schemas.openxmlformats.org/drawingml/2006/main">
              <a:ext uri="{FF2B5EF4-FFF2-40B4-BE49-F238E27FC236}">
                <a16:creationId xmlns:a16="http://schemas.microsoft.com/office/drawing/2014/main" id="{FACAE1B9-5CCD-45A8-8C68-EA1F81376447}"/>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22</a:t>
            </a:r>
          </a:p>
        </p:txBody>
      </p:sp>
      <p:sp>
        <p:nvSpPr>
          <p:cNvPr id="6" name="">
            <a:extLst xmlns:a="http://schemas.openxmlformats.org/drawingml/2006/main">
              <a:ext uri="{FF2B5EF4-FFF2-40B4-BE49-F238E27FC236}">
                <a16:creationId xmlns:a16="http://schemas.microsoft.com/office/drawing/2014/main" id="{D6E92ACE-A001-4ACE-A494-2909FE9882FC}"/>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B2951909-60DC-4885-A667-0EB26E82AAA4}"/>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4.4 实现成果（3/4）</a:t>
            </a:r>
          </a:p>
        </p:txBody>
      </p:sp>
      <p:sp>
        <p:nvSpPr>
          <p:cNvPr id="8" name="">
            <a:extLst xmlns:a="http://schemas.openxmlformats.org/drawingml/2006/main">
              <a:ext uri="{FF2B5EF4-FFF2-40B4-BE49-F238E27FC236}">
                <a16:creationId xmlns:a16="http://schemas.microsoft.com/office/drawing/2014/main" id="{3E55BA61-D9DF-482A-8D4A-9F9146CDC448}"/>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B0795B5-E05B-4EEB-B624-211EB0613B83}"/>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阶段图片成果如下：</a:t>
            </a:r>
          </a:p>
        </p:txBody>
      </p:sp>
    </p:spTree>
    <p:extLst>
      <p:ext uri="{BB962C8B-B14F-4D97-AF65-F5344CB8AC3E}">
        <p14:creationId xmlns:p14="http://schemas.microsoft.com/office/powerpoint/2010/main" val="57283996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16EFED4-543B-4AB3-AFDE-2D0880D11D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38765A-3660-4524-AC17-613C4F073822}"/>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D16F792-3B67-49FF-B39B-02B39EB4032E}"/>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7B823895-7838-4406-8D06-D42AB306A95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4. 阶段 1：开始（Inception）</a:t>
            </a:r>
          </a:p>
        </p:txBody>
      </p:sp>
      <p:sp>
        <p:nvSpPr>
          <p:cNvPr id="5" name="">
            <a:extLst xmlns:a="http://schemas.openxmlformats.org/drawingml/2006/main">
              <a:ext uri="{FF2B5EF4-FFF2-40B4-BE49-F238E27FC236}">
                <a16:creationId xmlns:a16="http://schemas.microsoft.com/office/drawing/2014/main" id="{87D8FB42-1D33-44B2-92E3-09D560263CBF}"/>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23</a:t>
            </a:r>
          </a:p>
        </p:txBody>
      </p:sp>
      <p:sp>
        <p:nvSpPr>
          <p:cNvPr id="6" name="">
            <a:extLst xmlns:a="http://schemas.openxmlformats.org/drawingml/2006/main">
              <a:ext uri="{FF2B5EF4-FFF2-40B4-BE49-F238E27FC236}">
                <a16:creationId xmlns:a16="http://schemas.microsoft.com/office/drawing/2014/main" id="{B0B4BE88-66C9-404B-9BE6-D3046DC5162A}"/>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7686DDC7-A4A4-43B3-8B8C-49824A8BB6D8}"/>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4.4 实现成果（4/4）</a:t>
            </a:r>
          </a:p>
        </p:txBody>
      </p:sp>
      <p:sp>
        <p:nvSpPr>
          <p:cNvPr id="8" name="">
            <a:extLst xmlns:a="http://schemas.openxmlformats.org/drawingml/2006/main">
              <a:ext uri="{FF2B5EF4-FFF2-40B4-BE49-F238E27FC236}">
                <a16:creationId xmlns:a16="http://schemas.microsoft.com/office/drawing/2014/main" id="{5FA9D98B-D1C4-4B08-9671-1B3C992DFEAE}"/>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4682692-C172-417F-B887-0824E4F36A4E}"/>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059a627671d4bf5"/>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7B71A1B-9727-4AB8-8998-5931195F472A}"/>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阶段1用例图</a:t>
            </a:r>
          </a:p>
        </p:txBody>
      </p:sp>
    </p:spTree>
    <p:extLst>
      <p:ext uri="{BB962C8B-B14F-4D97-AF65-F5344CB8AC3E}">
        <p14:creationId xmlns:p14="http://schemas.microsoft.com/office/powerpoint/2010/main" val="107580862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CC9F107-32BC-4DEF-9711-B9F70B2514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08F3F5-68C6-4242-80CB-A476689F6949}"/>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07E8432-EC00-43C9-97A6-DE13247C8BFA}"/>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7A265378-1518-4DAD-B90D-3E44EBB18BDE}"/>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4. 阶段 1：开始（Inception）</a:t>
            </a:r>
          </a:p>
        </p:txBody>
      </p:sp>
      <p:sp>
        <p:nvSpPr>
          <p:cNvPr id="5" name="">
            <a:extLst xmlns:a="http://schemas.openxmlformats.org/drawingml/2006/main">
              <a:ext uri="{FF2B5EF4-FFF2-40B4-BE49-F238E27FC236}">
                <a16:creationId xmlns:a16="http://schemas.microsoft.com/office/drawing/2014/main" id="{E47115D2-BE13-4CA8-A528-A20BE905DA4D}"/>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24</a:t>
            </a:r>
          </a:p>
        </p:txBody>
      </p:sp>
      <p:sp>
        <p:nvSpPr>
          <p:cNvPr id="6" name="">
            <a:extLst xmlns:a="http://schemas.openxmlformats.org/drawingml/2006/main">
              <a:ext uri="{FF2B5EF4-FFF2-40B4-BE49-F238E27FC236}">
                <a16:creationId xmlns:a16="http://schemas.microsoft.com/office/drawing/2014/main" id="{536AAAC4-82CA-4D62-ACF3-4B5C200785A6}"/>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428D2AC7-2491-442A-8D49-D4D6E5A44FB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4.5 Codex/GPT 使用情况</a:t>
            </a:r>
          </a:p>
        </p:txBody>
      </p:sp>
      <p:sp>
        <p:nvSpPr>
          <p:cNvPr id="8" name="">
            <a:extLst xmlns:a="http://schemas.openxmlformats.org/drawingml/2006/main">
              <a:ext uri="{FF2B5EF4-FFF2-40B4-BE49-F238E27FC236}">
                <a16:creationId xmlns:a16="http://schemas.microsoft.com/office/drawing/2014/main" id="{C1942522-08BC-4283-9831-865C48CD9DDD}"/>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213D38C-AED3-471E-B05F-B336B390317E}"/>
              </a:ext>
            </a:extLst>
          </p:cNvPr>
          <p:cNvSpPr>
            <a:spLocks xmlns:a="http://schemas.openxmlformats.org/drawingml/2006/main" noGrp="1"/>
          </p:cNvSpPr>
          <p:nvPr/>
        </p:nvSpPr>
        <p:spPr>
          <a:xfrm xmlns:a="http://schemas.openxmlformats.org/drawingml/2006/main">
            <a:off x="457200" y="1905000"/>
            <a:ext cx="1815075"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EF5FCF58-28A2-49FD-A0D1-B005E290E802}"/>
              </a:ext>
            </a:extLst>
          </p:cNvPr>
          <p:cNvSpPr>
            <a:spLocks xmlns:a="http://schemas.openxmlformats.org/drawingml/2006/main" noGrp="1"/>
          </p:cNvSpPr>
          <p:nvPr/>
        </p:nvSpPr>
        <p:spPr>
          <a:xfrm xmlns:a="http://schemas.openxmlformats.org/drawingml/2006/main">
            <a:off x="504825" y="1943100"/>
            <a:ext cx="17198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使用位置</a:t>
            </a:r>
          </a:p>
        </p:txBody>
      </p:sp>
      <p:sp>
        <p:nvSpPr>
          <p:cNvPr id="11" name="">
            <a:extLst xmlns:a="http://schemas.openxmlformats.org/drawingml/2006/main">
              <a:ext uri="{FF2B5EF4-FFF2-40B4-BE49-F238E27FC236}">
                <a16:creationId xmlns:a16="http://schemas.microsoft.com/office/drawing/2014/main" id="{3E05FB94-E67E-4DEB-B0C2-554B86EE22B1}"/>
              </a:ext>
            </a:extLst>
          </p:cNvPr>
          <p:cNvSpPr>
            <a:spLocks xmlns:a="http://schemas.openxmlformats.org/drawingml/2006/main" noGrp="1"/>
          </p:cNvSpPr>
          <p:nvPr/>
        </p:nvSpPr>
        <p:spPr>
          <a:xfrm xmlns:a="http://schemas.openxmlformats.org/drawingml/2006/main">
            <a:off x="2272275" y="1905000"/>
            <a:ext cx="3141475"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7FCDF1F9-1544-46D6-8680-6E75CBABC738}"/>
              </a:ext>
            </a:extLst>
          </p:cNvPr>
          <p:cNvSpPr>
            <a:spLocks xmlns:a="http://schemas.openxmlformats.org/drawingml/2006/main" noGrp="1"/>
          </p:cNvSpPr>
          <p:nvPr/>
        </p:nvSpPr>
        <p:spPr>
          <a:xfrm xmlns:a="http://schemas.openxmlformats.org/drawingml/2006/main">
            <a:off x="2319900" y="1943100"/>
            <a:ext cx="3046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使用方式</a:t>
            </a:r>
          </a:p>
        </p:txBody>
      </p:sp>
      <p:sp>
        <p:nvSpPr>
          <p:cNvPr id="13" name="">
            <a:extLst xmlns:a="http://schemas.openxmlformats.org/drawingml/2006/main">
              <a:ext uri="{FF2B5EF4-FFF2-40B4-BE49-F238E27FC236}">
                <a16:creationId xmlns:a16="http://schemas.microsoft.com/office/drawing/2014/main" id="{D3A3B4CF-47CD-494F-BFBC-F552396202C7}"/>
              </a:ext>
            </a:extLst>
          </p:cNvPr>
          <p:cNvSpPr>
            <a:spLocks xmlns:a="http://schemas.openxmlformats.org/drawingml/2006/main" noGrp="1"/>
          </p:cNvSpPr>
          <p:nvPr/>
        </p:nvSpPr>
        <p:spPr>
          <a:xfrm xmlns:a="http://schemas.openxmlformats.org/drawingml/2006/main">
            <a:off x="5413750" y="1905000"/>
            <a:ext cx="3141475"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08AE61AC-FDCE-4F35-89B1-640584C481D0}"/>
              </a:ext>
            </a:extLst>
          </p:cNvPr>
          <p:cNvSpPr>
            <a:spLocks xmlns:a="http://schemas.openxmlformats.org/drawingml/2006/main" noGrp="1"/>
          </p:cNvSpPr>
          <p:nvPr/>
        </p:nvSpPr>
        <p:spPr>
          <a:xfrm xmlns:a="http://schemas.openxmlformats.org/drawingml/2006/main">
            <a:off x="5461375" y="1943100"/>
            <a:ext cx="3046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Codex/GPT 产出</a:t>
            </a:r>
          </a:p>
        </p:txBody>
      </p:sp>
      <p:sp>
        <p:nvSpPr>
          <p:cNvPr id="15" name="">
            <a:extLst xmlns:a="http://schemas.openxmlformats.org/drawingml/2006/main">
              <a:ext uri="{FF2B5EF4-FFF2-40B4-BE49-F238E27FC236}">
                <a16:creationId xmlns:a16="http://schemas.microsoft.com/office/drawing/2014/main" id="{A2A64E02-2DAB-4A2B-951B-3BF0494E2269}"/>
              </a:ext>
            </a:extLst>
          </p:cNvPr>
          <p:cNvSpPr>
            <a:spLocks xmlns:a="http://schemas.openxmlformats.org/drawingml/2006/main" noGrp="1"/>
          </p:cNvSpPr>
          <p:nvPr/>
        </p:nvSpPr>
        <p:spPr>
          <a:xfrm xmlns:a="http://schemas.openxmlformats.org/drawingml/2006/main">
            <a:off x="8555225" y="1905000"/>
            <a:ext cx="3141475"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B56BE218-F48D-4624-9B6D-1FF054BE119B}"/>
              </a:ext>
            </a:extLst>
          </p:cNvPr>
          <p:cNvSpPr>
            <a:spLocks xmlns:a="http://schemas.openxmlformats.org/drawingml/2006/main" noGrp="1"/>
          </p:cNvSpPr>
          <p:nvPr/>
        </p:nvSpPr>
        <p:spPr>
          <a:xfrm xmlns:a="http://schemas.openxmlformats.org/drawingml/2006/main">
            <a:off x="8602850" y="1943100"/>
            <a:ext cx="3046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开发者确认与调整</a:t>
            </a:r>
          </a:p>
        </p:txBody>
      </p:sp>
      <p:sp>
        <p:nvSpPr>
          <p:cNvPr id="17" name="">
            <a:extLst xmlns:a="http://schemas.openxmlformats.org/drawingml/2006/main">
              <a:ext uri="{FF2B5EF4-FFF2-40B4-BE49-F238E27FC236}">
                <a16:creationId xmlns:a16="http://schemas.microsoft.com/office/drawing/2014/main" id="{BAF068E2-1ED9-4A64-8338-09CC5B7EE41D}"/>
              </a:ext>
            </a:extLst>
          </p:cNvPr>
          <p:cNvSpPr>
            <a:spLocks xmlns:a="http://schemas.openxmlformats.org/drawingml/2006/main" noGrp="1"/>
          </p:cNvSpPr>
          <p:nvPr/>
        </p:nvSpPr>
        <p:spPr>
          <a:xfrm xmlns:a="http://schemas.openxmlformats.org/drawingml/2006/main">
            <a:off x="457200" y="2305050"/>
            <a:ext cx="181507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64C9A403-52A5-4ACC-97B3-E2758C21FBDA}"/>
              </a:ext>
            </a:extLst>
          </p:cNvPr>
          <p:cNvSpPr>
            <a:spLocks xmlns:a="http://schemas.openxmlformats.org/drawingml/2006/main" noGrp="1"/>
          </p:cNvSpPr>
          <p:nvPr/>
        </p:nvSpPr>
        <p:spPr>
          <a:xfrm xmlns:a="http://schemas.openxmlformats.org/drawingml/2006/main">
            <a:off x="504825" y="2333625"/>
            <a:ext cx="17198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实训要求梳理</a:t>
            </a:r>
          </a:p>
        </p:txBody>
      </p:sp>
      <p:sp>
        <p:nvSpPr>
          <p:cNvPr id="19" name="">
            <a:extLst xmlns:a="http://schemas.openxmlformats.org/drawingml/2006/main">
              <a:ext uri="{FF2B5EF4-FFF2-40B4-BE49-F238E27FC236}">
                <a16:creationId xmlns:a16="http://schemas.microsoft.com/office/drawing/2014/main" id="{58962116-A741-4B41-99F2-6E32CC1C0F05}"/>
              </a:ext>
            </a:extLst>
          </p:cNvPr>
          <p:cNvSpPr>
            <a:spLocks xmlns:a="http://schemas.openxmlformats.org/drawingml/2006/main" noGrp="1"/>
          </p:cNvSpPr>
          <p:nvPr/>
        </p:nvSpPr>
        <p:spPr>
          <a:xfrm xmlns:a="http://schemas.openxmlformats.org/drawingml/2006/main">
            <a:off x="2272275" y="2305050"/>
            <a:ext cx="314147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02CA8C36-D572-4C1A-B7BC-45AE8900415A}"/>
              </a:ext>
            </a:extLst>
          </p:cNvPr>
          <p:cNvSpPr>
            <a:spLocks xmlns:a="http://schemas.openxmlformats.org/drawingml/2006/main" noGrp="1"/>
          </p:cNvSpPr>
          <p:nvPr/>
        </p:nvSpPr>
        <p:spPr>
          <a:xfrm xmlns:a="http://schemas.openxmlformats.org/drawingml/2006/main">
            <a:off x="2319900" y="2333625"/>
            <a:ext cx="30462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由 Codex/GPT 阅读启动纲要和 Excel 时间节点并归纳评分点</a:t>
            </a:r>
          </a:p>
        </p:txBody>
      </p:sp>
      <p:sp>
        <p:nvSpPr>
          <p:cNvPr id="21" name="">
            <a:extLst xmlns:a="http://schemas.openxmlformats.org/drawingml/2006/main">
              <a:ext uri="{FF2B5EF4-FFF2-40B4-BE49-F238E27FC236}">
                <a16:creationId xmlns:a16="http://schemas.microsoft.com/office/drawing/2014/main" id="{1B16A5ED-67BB-49DF-8531-BB2DBDD19656}"/>
              </a:ext>
            </a:extLst>
          </p:cNvPr>
          <p:cNvSpPr>
            <a:spLocks xmlns:a="http://schemas.openxmlformats.org/drawingml/2006/main" noGrp="1"/>
          </p:cNvSpPr>
          <p:nvPr/>
        </p:nvSpPr>
        <p:spPr>
          <a:xfrm xmlns:a="http://schemas.openxmlformats.org/drawingml/2006/main">
            <a:off x="5413750" y="2305050"/>
            <a:ext cx="314147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FA9D842D-C199-491F-B1B4-ECF6A923C686}"/>
              </a:ext>
            </a:extLst>
          </p:cNvPr>
          <p:cNvSpPr>
            <a:spLocks xmlns:a="http://schemas.openxmlformats.org/drawingml/2006/main" noGrp="1"/>
          </p:cNvSpPr>
          <p:nvPr/>
        </p:nvSpPr>
        <p:spPr>
          <a:xfrm xmlns:a="http://schemas.openxmlformats.org/drawingml/2006/main">
            <a:off x="5461375" y="2333625"/>
            <a:ext cx="30462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提炼出 UML、需求设计、UI、蓝牙、南北规则、AI 策略、AI 使用说明等核心评分点</a:t>
            </a:r>
          </a:p>
        </p:txBody>
      </p:sp>
      <p:sp>
        <p:nvSpPr>
          <p:cNvPr id="23" name="">
            <a:extLst xmlns:a="http://schemas.openxmlformats.org/drawingml/2006/main">
              <a:ext uri="{FF2B5EF4-FFF2-40B4-BE49-F238E27FC236}">
                <a16:creationId xmlns:a16="http://schemas.microsoft.com/office/drawing/2014/main" id="{8BFF694A-CE29-437A-916D-C3DE335F04AB}"/>
              </a:ext>
            </a:extLst>
          </p:cNvPr>
          <p:cNvSpPr>
            <a:spLocks xmlns:a="http://schemas.openxmlformats.org/drawingml/2006/main" noGrp="1"/>
          </p:cNvSpPr>
          <p:nvPr/>
        </p:nvSpPr>
        <p:spPr>
          <a:xfrm xmlns:a="http://schemas.openxmlformats.org/drawingml/2006/main">
            <a:off x="8555225" y="2305050"/>
            <a:ext cx="314147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D52D8D99-CFFD-483E-9437-EC2F4895F66D}"/>
              </a:ext>
            </a:extLst>
          </p:cNvPr>
          <p:cNvSpPr>
            <a:spLocks xmlns:a="http://schemas.openxmlformats.org/drawingml/2006/main" noGrp="1"/>
          </p:cNvSpPr>
          <p:nvPr/>
        </p:nvSpPr>
        <p:spPr>
          <a:xfrm xmlns:a="http://schemas.openxmlformats.org/drawingml/2006/main">
            <a:off x="8602850" y="2333625"/>
            <a:ext cx="30462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小组按老师原始要求逐项核对，保留开发阶段顺序</a:t>
            </a:r>
          </a:p>
        </p:txBody>
      </p:sp>
      <p:sp>
        <p:nvSpPr>
          <p:cNvPr id="25" name="">
            <a:extLst xmlns:a="http://schemas.openxmlformats.org/drawingml/2006/main">
              <a:ext uri="{FF2B5EF4-FFF2-40B4-BE49-F238E27FC236}">
                <a16:creationId xmlns:a16="http://schemas.microsoft.com/office/drawing/2014/main" id="{6DF0004B-571A-41C9-A5C2-5D050977DB8B}"/>
              </a:ext>
            </a:extLst>
          </p:cNvPr>
          <p:cNvSpPr>
            <a:spLocks xmlns:a="http://schemas.openxmlformats.org/drawingml/2006/main" noGrp="1"/>
          </p:cNvSpPr>
          <p:nvPr/>
        </p:nvSpPr>
        <p:spPr>
          <a:xfrm xmlns:a="http://schemas.openxmlformats.org/drawingml/2006/main">
            <a:off x="457200" y="3214688"/>
            <a:ext cx="181507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B6DFDF02-CBCA-46DB-B210-95BDBDA918AF}"/>
              </a:ext>
            </a:extLst>
          </p:cNvPr>
          <p:cNvSpPr>
            <a:spLocks xmlns:a="http://schemas.openxmlformats.org/drawingml/2006/main" noGrp="1"/>
          </p:cNvSpPr>
          <p:nvPr/>
        </p:nvSpPr>
        <p:spPr>
          <a:xfrm xmlns:a="http://schemas.openxmlformats.org/drawingml/2006/main">
            <a:off x="504825" y="3243263"/>
            <a:ext cx="17198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项目范围确定</a:t>
            </a:r>
          </a:p>
        </p:txBody>
      </p:sp>
      <p:sp>
        <p:nvSpPr>
          <p:cNvPr id="27" name="">
            <a:extLst xmlns:a="http://schemas.openxmlformats.org/drawingml/2006/main">
              <a:ext uri="{FF2B5EF4-FFF2-40B4-BE49-F238E27FC236}">
                <a16:creationId xmlns:a16="http://schemas.microsoft.com/office/drawing/2014/main" id="{23FA18F2-5E65-4F5F-88A0-1FD51DFCE638}"/>
              </a:ext>
            </a:extLst>
          </p:cNvPr>
          <p:cNvSpPr>
            <a:spLocks xmlns:a="http://schemas.openxmlformats.org/drawingml/2006/main" noGrp="1"/>
          </p:cNvSpPr>
          <p:nvPr/>
        </p:nvSpPr>
        <p:spPr>
          <a:xfrm xmlns:a="http://schemas.openxmlformats.org/drawingml/2006/main">
            <a:off x="2272275" y="3214688"/>
            <a:ext cx="314147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95028EE2-B316-4B09-98B7-5940050ED089}"/>
              </a:ext>
            </a:extLst>
          </p:cNvPr>
          <p:cNvSpPr>
            <a:spLocks xmlns:a="http://schemas.openxmlformats.org/drawingml/2006/main" noGrp="1"/>
          </p:cNvSpPr>
          <p:nvPr/>
        </p:nvSpPr>
        <p:spPr>
          <a:xfrm xmlns:a="http://schemas.openxmlformats.org/drawingml/2006/main">
            <a:off x="2319900" y="3243263"/>
            <a:ext cx="30462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完成项目范围分析和工程初始化建议</a:t>
            </a:r>
          </a:p>
        </p:txBody>
      </p:sp>
      <p:sp>
        <p:nvSpPr>
          <p:cNvPr id="29" name="">
            <a:extLst xmlns:a="http://schemas.openxmlformats.org/drawingml/2006/main">
              <a:ext uri="{FF2B5EF4-FFF2-40B4-BE49-F238E27FC236}">
                <a16:creationId xmlns:a16="http://schemas.microsoft.com/office/drawing/2014/main" id="{181D697A-5882-44F2-888A-4F8F90E20899}"/>
              </a:ext>
            </a:extLst>
          </p:cNvPr>
          <p:cNvSpPr>
            <a:spLocks xmlns:a="http://schemas.openxmlformats.org/drawingml/2006/main" noGrp="1"/>
          </p:cNvSpPr>
          <p:nvPr/>
        </p:nvSpPr>
        <p:spPr>
          <a:xfrm xmlns:a="http://schemas.openxmlformats.org/drawingml/2006/main">
            <a:off x="5413750" y="3214688"/>
            <a:ext cx="314147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28E9E639-B308-4ABB-95AA-BCA4A716D1DF}"/>
              </a:ext>
            </a:extLst>
          </p:cNvPr>
          <p:cNvSpPr>
            <a:spLocks xmlns:a="http://schemas.openxmlformats.org/drawingml/2006/main" noGrp="1"/>
          </p:cNvSpPr>
          <p:nvPr/>
        </p:nvSpPr>
        <p:spPr>
          <a:xfrm xmlns:a="http://schemas.openxmlformats.org/drawingml/2006/main">
            <a:off x="5461375" y="3243263"/>
            <a:ext cx="30462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确定项目定位为 Android 锄大地棋牌游戏，而不是静态原型</a:t>
            </a:r>
          </a:p>
        </p:txBody>
      </p:sp>
      <p:sp>
        <p:nvSpPr>
          <p:cNvPr id="31" name="">
            <a:extLst xmlns:a="http://schemas.openxmlformats.org/drawingml/2006/main">
              <a:ext uri="{FF2B5EF4-FFF2-40B4-BE49-F238E27FC236}">
                <a16:creationId xmlns:a16="http://schemas.microsoft.com/office/drawing/2014/main" id="{6694C82D-5138-46BD-8434-75F89D7E0E52}"/>
              </a:ext>
            </a:extLst>
          </p:cNvPr>
          <p:cNvSpPr>
            <a:spLocks xmlns:a="http://schemas.openxmlformats.org/drawingml/2006/main" noGrp="1"/>
          </p:cNvSpPr>
          <p:nvPr/>
        </p:nvSpPr>
        <p:spPr>
          <a:xfrm xmlns:a="http://schemas.openxmlformats.org/drawingml/2006/main">
            <a:off x="8555225" y="3214688"/>
            <a:ext cx="314147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8084DF78-2B87-4BDB-9E02-6F0B4E2280EF}"/>
              </a:ext>
            </a:extLst>
          </p:cNvPr>
          <p:cNvSpPr>
            <a:spLocks xmlns:a="http://schemas.openxmlformats.org/drawingml/2006/main" noGrp="1"/>
          </p:cNvSpPr>
          <p:nvPr/>
        </p:nvSpPr>
        <p:spPr>
          <a:xfrm xmlns:a="http://schemas.openxmlformats.org/drawingml/2006/main">
            <a:off x="8602850" y="3243263"/>
            <a:ext cx="30462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莫均杰在 Android Studio 中建立并运行工程</a:t>
            </a:r>
          </a:p>
        </p:txBody>
      </p:sp>
      <p:sp>
        <p:nvSpPr>
          <p:cNvPr id="33" name="">
            <a:extLst xmlns:a="http://schemas.openxmlformats.org/drawingml/2006/main">
              <a:ext uri="{FF2B5EF4-FFF2-40B4-BE49-F238E27FC236}">
                <a16:creationId xmlns:a16="http://schemas.microsoft.com/office/drawing/2014/main" id="{1D064D7D-626A-4BBB-B92C-AD81FA40D8E0}"/>
              </a:ext>
            </a:extLst>
          </p:cNvPr>
          <p:cNvSpPr>
            <a:spLocks xmlns:a="http://schemas.openxmlformats.org/drawingml/2006/main" noGrp="1"/>
          </p:cNvSpPr>
          <p:nvPr/>
        </p:nvSpPr>
        <p:spPr>
          <a:xfrm xmlns:a="http://schemas.openxmlformats.org/drawingml/2006/main">
            <a:off x="457200" y="4124325"/>
            <a:ext cx="181507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8721D609-E86C-4304-B80C-BFCA11BFA780}"/>
              </a:ext>
            </a:extLst>
          </p:cNvPr>
          <p:cNvSpPr>
            <a:spLocks xmlns:a="http://schemas.openxmlformats.org/drawingml/2006/main" noGrp="1"/>
          </p:cNvSpPr>
          <p:nvPr/>
        </p:nvSpPr>
        <p:spPr>
          <a:xfrm xmlns:a="http://schemas.openxmlformats.org/drawingml/2006/main">
            <a:off x="504825" y="4152900"/>
            <a:ext cx="17198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用例拆分</a:t>
            </a:r>
          </a:p>
        </p:txBody>
      </p:sp>
      <p:sp>
        <p:nvSpPr>
          <p:cNvPr id="35" name="">
            <a:extLst xmlns:a="http://schemas.openxmlformats.org/drawingml/2006/main">
              <a:ext uri="{FF2B5EF4-FFF2-40B4-BE49-F238E27FC236}">
                <a16:creationId xmlns:a16="http://schemas.microsoft.com/office/drawing/2014/main" id="{613C2B0A-BC9E-4992-9454-4A696936B58C}"/>
              </a:ext>
            </a:extLst>
          </p:cNvPr>
          <p:cNvSpPr>
            <a:spLocks xmlns:a="http://schemas.openxmlformats.org/drawingml/2006/main" noGrp="1"/>
          </p:cNvSpPr>
          <p:nvPr/>
        </p:nvSpPr>
        <p:spPr>
          <a:xfrm xmlns:a="http://schemas.openxmlformats.org/drawingml/2006/main">
            <a:off x="2272275" y="4124325"/>
            <a:ext cx="314147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7E1BE4CB-596D-48F6-8E7D-E01AFAB5E99F}"/>
              </a:ext>
            </a:extLst>
          </p:cNvPr>
          <p:cNvSpPr>
            <a:spLocks xmlns:a="http://schemas.openxmlformats.org/drawingml/2006/main" noGrp="1"/>
          </p:cNvSpPr>
          <p:nvPr/>
        </p:nvSpPr>
        <p:spPr>
          <a:xfrm xmlns:a="http://schemas.openxmlformats.org/drawingml/2006/main">
            <a:off x="2319900" y="4152900"/>
            <a:ext cx="30462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完成玩法拆分和用例关系草图</a:t>
            </a:r>
          </a:p>
        </p:txBody>
      </p:sp>
      <p:sp>
        <p:nvSpPr>
          <p:cNvPr id="37" name="">
            <a:extLst xmlns:a="http://schemas.openxmlformats.org/drawingml/2006/main">
              <a:ext uri="{FF2B5EF4-FFF2-40B4-BE49-F238E27FC236}">
                <a16:creationId xmlns:a16="http://schemas.microsoft.com/office/drawing/2014/main" id="{FB28D86D-739C-4426-947E-97971B287531}"/>
              </a:ext>
            </a:extLst>
          </p:cNvPr>
          <p:cNvSpPr>
            <a:spLocks xmlns:a="http://schemas.openxmlformats.org/drawingml/2006/main" noGrp="1"/>
          </p:cNvSpPr>
          <p:nvPr/>
        </p:nvSpPr>
        <p:spPr>
          <a:xfrm xmlns:a="http://schemas.openxmlformats.org/drawingml/2006/main">
            <a:off x="5413750" y="4124325"/>
            <a:ext cx="314147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CCBF765F-7D3A-4ED6-81D4-7260B944CA9A}"/>
              </a:ext>
            </a:extLst>
          </p:cNvPr>
          <p:cNvSpPr>
            <a:spLocks xmlns:a="http://schemas.openxmlformats.org/drawingml/2006/main" noGrp="1"/>
          </p:cNvSpPr>
          <p:nvPr/>
        </p:nvSpPr>
        <p:spPr>
          <a:xfrm xmlns:a="http://schemas.openxmlformats.org/drawingml/2006/main">
            <a:off x="5461375" y="4152900"/>
            <a:ext cx="30462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形成用例图参与者、用例清单和 PlantUML 草图</a:t>
            </a:r>
          </a:p>
        </p:txBody>
      </p:sp>
      <p:sp>
        <p:nvSpPr>
          <p:cNvPr id="39" name="">
            <a:extLst xmlns:a="http://schemas.openxmlformats.org/drawingml/2006/main">
              <a:ext uri="{FF2B5EF4-FFF2-40B4-BE49-F238E27FC236}">
                <a16:creationId xmlns:a16="http://schemas.microsoft.com/office/drawing/2014/main" id="{007296CF-9A8C-45F8-B9EC-B90301CD5089}"/>
              </a:ext>
            </a:extLst>
          </p:cNvPr>
          <p:cNvSpPr>
            <a:spLocks xmlns:a="http://schemas.openxmlformats.org/drawingml/2006/main" noGrp="1"/>
          </p:cNvSpPr>
          <p:nvPr/>
        </p:nvSpPr>
        <p:spPr>
          <a:xfrm xmlns:a="http://schemas.openxmlformats.org/drawingml/2006/main">
            <a:off x="8555225" y="4124325"/>
            <a:ext cx="314147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9C340597-77D5-49E0-A49F-EAE96BE0A20E}"/>
              </a:ext>
            </a:extLst>
          </p:cNvPr>
          <p:cNvSpPr>
            <a:spLocks xmlns:a="http://schemas.openxmlformats.org/drawingml/2006/main" noGrp="1"/>
          </p:cNvSpPr>
          <p:nvPr/>
        </p:nvSpPr>
        <p:spPr>
          <a:xfrm xmlns:a="http://schemas.openxmlformats.org/drawingml/2006/main">
            <a:off x="8602850" y="4152900"/>
            <a:ext cx="30462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Annakuliyev Sedar 在 ProcessOn 中校对布局并导出正式图</a:t>
            </a:r>
          </a:p>
        </p:txBody>
      </p:sp>
      <p:sp>
        <p:nvSpPr>
          <p:cNvPr id="41" name="">
            <a:extLst xmlns:a="http://schemas.openxmlformats.org/drawingml/2006/main">
              <a:ext uri="{FF2B5EF4-FFF2-40B4-BE49-F238E27FC236}">
                <a16:creationId xmlns:a16="http://schemas.microsoft.com/office/drawing/2014/main" id="{92FD18C6-10F2-421A-94B0-64585CD9CBA4}"/>
              </a:ext>
            </a:extLst>
          </p:cNvPr>
          <p:cNvSpPr>
            <a:spLocks xmlns:a="http://schemas.openxmlformats.org/drawingml/2006/main" noGrp="1"/>
          </p:cNvSpPr>
          <p:nvPr/>
        </p:nvSpPr>
        <p:spPr>
          <a:xfrm xmlns:a="http://schemas.openxmlformats.org/drawingml/2006/main">
            <a:off x="457200" y="5033963"/>
            <a:ext cx="181507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39025A46-65A4-4675-845E-8A7BA3585A89}"/>
              </a:ext>
            </a:extLst>
          </p:cNvPr>
          <p:cNvSpPr>
            <a:spLocks xmlns:a="http://schemas.openxmlformats.org/drawingml/2006/main" noGrp="1"/>
          </p:cNvSpPr>
          <p:nvPr/>
        </p:nvSpPr>
        <p:spPr>
          <a:xfrm xmlns:a="http://schemas.openxmlformats.org/drawingml/2006/main">
            <a:off x="504825" y="5062538"/>
            <a:ext cx="17198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报告材料组织</a:t>
            </a:r>
          </a:p>
        </p:txBody>
      </p:sp>
      <p:sp>
        <p:nvSpPr>
          <p:cNvPr id="43" name="">
            <a:extLst xmlns:a="http://schemas.openxmlformats.org/drawingml/2006/main">
              <a:ext uri="{FF2B5EF4-FFF2-40B4-BE49-F238E27FC236}">
                <a16:creationId xmlns:a16="http://schemas.microsoft.com/office/drawing/2014/main" id="{3AEBB16C-1F91-41C2-8BE1-DFFB0795702A}"/>
              </a:ext>
            </a:extLst>
          </p:cNvPr>
          <p:cNvSpPr>
            <a:spLocks xmlns:a="http://schemas.openxmlformats.org/drawingml/2006/main" noGrp="1"/>
          </p:cNvSpPr>
          <p:nvPr/>
        </p:nvSpPr>
        <p:spPr>
          <a:xfrm xmlns:a="http://schemas.openxmlformats.org/drawingml/2006/main">
            <a:off x="2272275" y="5033963"/>
            <a:ext cx="314147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0DE34E1B-95EF-43CA-8D65-EBE191B260B0}"/>
              </a:ext>
            </a:extLst>
          </p:cNvPr>
          <p:cNvSpPr>
            <a:spLocks xmlns:a="http://schemas.openxmlformats.org/drawingml/2006/main" noGrp="1"/>
          </p:cNvSpPr>
          <p:nvPr/>
        </p:nvSpPr>
        <p:spPr>
          <a:xfrm xmlns:a="http://schemas.openxmlformats.org/drawingml/2006/main">
            <a:off x="2319900" y="5062538"/>
            <a:ext cx="30462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完成规约内容整理和文档结构生成</a:t>
            </a:r>
          </a:p>
        </p:txBody>
      </p:sp>
      <p:sp>
        <p:nvSpPr>
          <p:cNvPr id="45" name="">
            <a:extLst xmlns:a="http://schemas.openxmlformats.org/drawingml/2006/main">
              <a:ext uri="{FF2B5EF4-FFF2-40B4-BE49-F238E27FC236}">
                <a16:creationId xmlns:a16="http://schemas.microsoft.com/office/drawing/2014/main" id="{30BF4E25-C433-46E2-90BA-38DC00396286}"/>
              </a:ext>
            </a:extLst>
          </p:cNvPr>
          <p:cNvSpPr>
            <a:spLocks xmlns:a="http://schemas.openxmlformats.org/drawingml/2006/main" noGrp="1"/>
          </p:cNvSpPr>
          <p:nvPr/>
        </p:nvSpPr>
        <p:spPr>
          <a:xfrm xmlns:a="http://schemas.openxmlformats.org/drawingml/2006/main">
            <a:off x="5413750" y="5033963"/>
            <a:ext cx="314147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5F4DC7DD-1DAC-4319-AB60-C900B43C59C7}"/>
              </a:ext>
            </a:extLst>
          </p:cNvPr>
          <p:cNvSpPr>
            <a:spLocks xmlns:a="http://schemas.openxmlformats.org/drawingml/2006/main" noGrp="1"/>
          </p:cNvSpPr>
          <p:nvPr/>
        </p:nvSpPr>
        <p:spPr>
          <a:xfrm xmlns:a="http://schemas.openxmlformats.org/drawingml/2006/main">
            <a:off x="5461375" y="5062538"/>
            <a:ext cx="30462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将 Use-Case Model、Vision、Supplementary Specification、Glossary、Iteration Plan 对应到现有材料</a:t>
            </a:r>
          </a:p>
        </p:txBody>
      </p:sp>
      <p:sp>
        <p:nvSpPr>
          <p:cNvPr id="47" name="">
            <a:extLst xmlns:a="http://schemas.openxmlformats.org/drawingml/2006/main">
              <a:ext uri="{FF2B5EF4-FFF2-40B4-BE49-F238E27FC236}">
                <a16:creationId xmlns:a16="http://schemas.microsoft.com/office/drawing/2014/main" id="{0B0A077D-0456-4CCF-B5B4-67F8F5DE5EFB}"/>
              </a:ext>
            </a:extLst>
          </p:cNvPr>
          <p:cNvSpPr>
            <a:spLocks xmlns:a="http://schemas.openxmlformats.org/drawingml/2006/main" noGrp="1"/>
          </p:cNvSpPr>
          <p:nvPr/>
        </p:nvSpPr>
        <p:spPr>
          <a:xfrm xmlns:a="http://schemas.openxmlformats.org/drawingml/2006/main">
            <a:off x="8555225" y="5033963"/>
            <a:ext cx="314147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6BFB6063-1093-4E5D-946C-F1143B6B3CEA}"/>
              </a:ext>
            </a:extLst>
          </p:cNvPr>
          <p:cNvSpPr>
            <a:spLocks xmlns:a="http://schemas.openxmlformats.org/drawingml/2006/main" noGrp="1"/>
          </p:cNvSpPr>
          <p:nvPr/>
        </p:nvSpPr>
        <p:spPr>
          <a:xfrm xmlns:a="http://schemas.openxmlformats.org/drawingml/2006/main">
            <a:off x="8602850" y="5062538"/>
            <a:ext cx="30462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开发者按实际文件和阶段要求核对</a:t>
            </a:r>
          </a:p>
        </p:txBody>
      </p:sp>
    </p:spTree>
    <p:extLst>
      <p:ext uri="{BB962C8B-B14F-4D97-AF65-F5344CB8AC3E}">
        <p14:creationId xmlns:p14="http://schemas.microsoft.com/office/powerpoint/2010/main" val="50780364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47B026-16F8-40ED-9D6E-7BA7B34612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0BB30B-0BEB-4395-B457-CD5AA8C1A75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4FE439-ECE4-4181-9016-D73B37EA26BF}"/>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DD2592AC-2EB0-4416-BA7C-89D7164FC1B5}"/>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4. 阶段 1：开始（Inception）</a:t>
            </a:r>
          </a:p>
        </p:txBody>
      </p:sp>
      <p:sp>
        <p:nvSpPr>
          <p:cNvPr id="5" name="">
            <a:extLst xmlns:a="http://schemas.openxmlformats.org/drawingml/2006/main">
              <a:ext uri="{FF2B5EF4-FFF2-40B4-BE49-F238E27FC236}">
                <a16:creationId xmlns:a16="http://schemas.microsoft.com/office/drawing/2014/main" id="{7CA6BA38-F27B-4BA7-AD50-7CD07E687810}"/>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25</a:t>
            </a:r>
          </a:p>
        </p:txBody>
      </p:sp>
      <p:sp>
        <p:nvSpPr>
          <p:cNvPr id="6" name="">
            <a:extLst xmlns:a="http://schemas.openxmlformats.org/drawingml/2006/main">
              <a:ext uri="{FF2B5EF4-FFF2-40B4-BE49-F238E27FC236}">
                <a16:creationId xmlns:a16="http://schemas.microsoft.com/office/drawing/2014/main" id="{9A7E6942-CD5A-434C-8C60-32C4872DBE3F}"/>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96E20762-8194-45F8-81BC-5BE03E62F9E3}"/>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4.6 评分标准对应</a:t>
            </a:r>
          </a:p>
        </p:txBody>
      </p:sp>
      <p:sp>
        <p:nvSpPr>
          <p:cNvPr id="8" name="">
            <a:extLst xmlns:a="http://schemas.openxmlformats.org/drawingml/2006/main">
              <a:ext uri="{FF2B5EF4-FFF2-40B4-BE49-F238E27FC236}">
                <a16:creationId xmlns:a16="http://schemas.microsoft.com/office/drawing/2014/main" id="{A3BF9610-C976-407C-BC26-4D74EC71AD6E}"/>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7B80F21-39EF-41F9-BE64-E8683A84148D}"/>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本阶段主要对应评分标准中的“需求分析和面向对象设计”“ProcessOn UML 7 大图建模”和“AI 工具使用说明”。需求分析将评分点提前映射到功能模块，避免后续只实现游戏界面而忽略课程要求。</a:t>
            </a:r>
          </a:p>
        </p:txBody>
      </p:sp>
    </p:spTree>
    <p:extLst>
      <p:ext uri="{BB962C8B-B14F-4D97-AF65-F5344CB8AC3E}">
        <p14:creationId xmlns:p14="http://schemas.microsoft.com/office/powerpoint/2010/main" val="188471433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8FA8C7-712A-4764-82DE-D545489C31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3AC4D5-06F6-4C8A-8FA0-842A398AE787}"/>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A828C1-EE39-4425-8C95-47574BC938C8}"/>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371DF269-1F0F-406C-8717-86343C4F1D26}"/>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4. 阶段 1：开始（Inception）</a:t>
            </a:r>
          </a:p>
        </p:txBody>
      </p:sp>
      <p:sp>
        <p:nvSpPr>
          <p:cNvPr id="5" name="">
            <a:extLst xmlns:a="http://schemas.openxmlformats.org/drawingml/2006/main">
              <a:ext uri="{FF2B5EF4-FFF2-40B4-BE49-F238E27FC236}">
                <a16:creationId xmlns:a16="http://schemas.microsoft.com/office/drawing/2014/main" id="{8069E442-EBD1-428A-AADC-E552B58A1D0D}"/>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26</a:t>
            </a:r>
          </a:p>
        </p:txBody>
      </p:sp>
      <p:sp>
        <p:nvSpPr>
          <p:cNvPr id="6" name="">
            <a:extLst xmlns:a="http://schemas.openxmlformats.org/drawingml/2006/main">
              <a:ext uri="{FF2B5EF4-FFF2-40B4-BE49-F238E27FC236}">
                <a16:creationId xmlns:a16="http://schemas.microsoft.com/office/drawing/2014/main" id="{BFA27E4F-4189-41BC-8DDD-80A9D6EF6E18}"/>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2A611777-7255-4E57-9EC2-B90F21C41941}"/>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4.7 问题与解决</a:t>
            </a:r>
          </a:p>
        </p:txBody>
      </p:sp>
      <p:sp>
        <p:nvSpPr>
          <p:cNvPr id="8" name="">
            <a:extLst xmlns:a="http://schemas.openxmlformats.org/drawingml/2006/main">
              <a:ext uri="{FF2B5EF4-FFF2-40B4-BE49-F238E27FC236}">
                <a16:creationId xmlns:a16="http://schemas.microsoft.com/office/drawing/2014/main" id="{481FD319-5541-4E1B-B124-8DF429324FD9}"/>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2136E0B-40E3-4256-B70B-BC8D0F8F4698}"/>
              </a:ext>
            </a:extLst>
          </p:cNvPr>
          <p:cNvSpPr>
            <a:spLocks xmlns:a="http://schemas.openxmlformats.org/drawingml/2006/main" noGrp="1"/>
          </p:cNvSpPr>
          <p:nvPr/>
        </p:nvSpPr>
        <p:spPr>
          <a:xfrm xmlns:a="http://schemas.openxmlformats.org/drawingml/2006/main">
            <a:off x="45720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C0BAFCE1-0EAB-400D-A142-7FF4E72CECA8}"/>
              </a:ext>
            </a:extLst>
          </p:cNvPr>
          <p:cNvSpPr>
            <a:spLocks xmlns:a="http://schemas.openxmlformats.org/drawingml/2006/main" noGrp="1"/>
          </p:cNvSpPr>
          <p:nvPr/>
        </p:nvSpPr>
        <p:spPr>
          <a:xfrm xmlns:a="http://schemas.openxmlformats.org/drawingml/2006/main">
            <a:off x="50482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问题</a:t>
            </a:r>
          </a:p>
        </p:txBody>
      </p:sp>
      <p:sp>
        <p:nvSpPr>
          <p:cNvPr id="11" name="">
            <a:extLst xmlns:a="http://schemas.openxmlformats.org/drawingml/2006/main">
              <a:ext uri="{FF2B5EF4-FFF2-40B4-BE49-F238E27FC236}">
                <a16:creationId xmlns:a16="http://schemas.microsoft.com/office/drawing/2014/main" id="{24427A7F-C8FA-47B7-A4A2-3351785000A2}"/>
              </a:ext>
            </a:extLst>
          </p:cNvPr>
          <p:cNvSpPr>
            <a:spLocks xmlns:a="http://schemas.openxmlformats.org/drawingml/2006/main" noGrp="1"/>
          </p:cNvSpPr>
          <p:nvPr/>
        </p:nvSpPr>
        <p:spPr>
          <a:xfrm xmlns:a="http://schemas.openxmlformats.org/drawingml/2006/main">
            <a:off x="607695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4DFF60BD-CBCA-4A9F-8ECB-43F3183AB7A6}"/>
              </a:ext>
            </a:extLst>
          </p:cNvPr>
          <p:cNvSpPr>
            <a:spLocks xmlns:a="http://schemas.openxmlformats.org/drawingml/2006/main" noGrp="1"/>
          </p:cNvSpPr>
          <p:nvPr/>
        </p:nvSpPr>
        <p:spPr>
          <a:xfrm xmlns:a="http://schemas.openxmlformats.org/drawingml/2006/main">
            <a:off x="612457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解决方法</a:t>
            </a:r>
          </a:p>
        </p:txBody>
      </p:sp>
      <p:sp>
        <p:nvSpPr>
          <p:cNvPr id="13" name="">
            <a:extLst xmlns:a="http://schemas.openxmlformats.org/drawingml/2006/main">
              <a:ext uri="{FF2B5EF4-FFF2-40B4-BE49-F238E27FC236}">
                <a16:creationId xmlns:a16="http://schemas.microsoft.com/office/drawing/2014/main" id="{F18505D7-19E9-454E-9442-D40421FD536F}"/>
              </a:ext>
            </a:extLst>
          </p:cNvPr>
          <p:cNvSpPr>
            <a:spLocks xmlns:a="http://schemas.openxmlformats.org/drawingml/2006/main" noGrp="1"/>
          </p:cNvSpPr>
          <p:nvPr/>
        </p:nvSpPr>
        <p:spPr>
          <a:xfrm xmlns:a="http://schemas.openxmlformats.org/drawingml/2006/main">
            <a:off x="457200" y="2305050"/>
            <a:ext cx="5619750"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4" name="">
            <a:extLst xmlns:a="http://schemas.openxmlformats.org/drawingml/2006/main">
              <a:ext uri="{FF2B5EF4-FFF2-40B4-BE49-F238E27FC236}">
                <a16:creationId xmlns:a16="http://schemas.microsoft.com/office/drawing/2014/main" id="{5B4E15AD-C16C-4E19-8FDA-120C357E9463}"/>
              </a:ext>
            </a:extLst>
          </p:cNvPr>
          <p:cNvSpPr>
            <a:spLocks xmlns:a="http://schemas.openxmlformats.org/drawingml/2006/main" noGrp="1"/>
          </p:cNvSpPr>
          <p:nvPr/>
        </p:nvSpPr>
        <p:spPr>
          <a:xfrm xmlns:a="http://schemas.openxmlformats.org/drawingml/2006/main">
            <a:off x="504825" y="2333625"/>
            <a:ext cx="5524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锄大地规则存在南北差异</a:t>
            </a:r>
          </a:p>
        </p:txBody>
      </p:sp>
      <p:sp>
        <p:nvSpPr>
          <p:cNvPr id="15" name="">
            <a:extLst xmlns:a="http://schemas.openxmlformats.org/drawingml/2006/main">
              <a:ext uri="{FF2B5EF4-FFF2-40B4-BE49-F238E27FC236}">
                <a16:creationId xmlns:a16="http://schemas.microsoft.com/office/drawing/2014/main" id="{45E38708-E301-4A38-93A2-4B7688595004}"/>
              </a:ext>
            </a:extLst>
          </p:cNvPr>
          <p:cNvSpPr>
            <a:spLocks xmlns:a="http://schemas.openxmlformats.org/drawingml/2006/main" noGrp="1"/>
          </p:cNvSpPr>
          <p:nvPr/>
        </p:nvSpPr>
        <p:spPr>
          <a:xfrm xmlns:a="http://schemas.openxmlformats.org/drawingml/2006/main">
            <a:off x="6076950" y="2305050"/>
            <a:ext cx="5619750"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6E4310A6-F0E1-4712-A1A1-3A6A476B8312}"/>
              </a:ext>
            </a:extLst>
          </p:cNvPr>
          <p:cNvSpPr>
            <a:spLocks xmlns:a="http://schemas.openxmlformats.org/drawingml/2006/main" noGrp="1"/>
          </p:cNvSpPr>
          <p:nvPr/>
        </p:nvSpPr>
        <p:spPr>
          <a:xfrm xmlns:a="http://schemas.openxmlformats.org/drawingml/2006/main">
            <a:off x="6124575" y="2333625"/>
            <a:ext cx="5524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在需求阶段将规则拆分为可配置的 RuleSet，后续由北方规则和南方规则分别实现</a:t>
            </a:r>
          </a:p>
        </p:txBody>
      </p:sp>
      <p:sp>
        <p:nvSpPr>
          <p:cNvPr id="17" name="">
            <a:extLst xmlns:a="http://schemas.openxmlformats.org/drawingml/2006/main">
              <a:ext uri="{FF2B5EF4-FFF2-40B4-BE49-F238E27FC236}">
                <a16:creationId xmlns:a16="http://schemas.microsoft.com/office/drawing/2014/main" id="{F4DBCBC3-621A-4633-92FC-D12F471492D8}"/>
              </a:ext>
            </a:extLst>
          </p:cNvPr>
          <p:cNvSpPr>
            <a:spLocks xmlns:a="http://schemas.openxmlformats.org/drawingml/2006/main" noGrp="1"/>
          </p:cNvSpPr>
          <p:nvPr/>
        </p:nvSpPr>
        <p:spPr>
          <a:xfrm xmlns:a="http://schemas.openxmlformats.org/drawingml/2006/main">
            <a:off x="457200" y="3517900"/>
            <a:ext cx="5619750" cy="12128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B59DB514-FBC3-443F-B91F-924DA684E981}"/>
              </a:ext>
            </a:extLst>
          </p:cNvPr>
          <p:cNvSpPr>
            <a:spLocks xmlns:a="http://schemas.openxmlformats.org/drawingml/2006/main" noGrp="1"/>
          </p:cNvSpPr>
          <p:nvPr/>
        </p:nvSpPr>
        <p:spPr>
          <a:xfrm xmlns:a="http://schemas.openxmlformats.org/drawingml/2006/main">
            <a:off x="504825" y="3546475"/>
            <a:ext cx="5524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多人蓝牙可能复杂且真机环境有限</a:t>
            </a:r>
          </a:p>
        </p:txBody>
      </p:sp>
      <p:sp>
        <p:nvSpPr>
          <p:cNvPr id="19" name="">
            <a:extLst xmlns:a="http://schemas.openxmlformats.org/drawingml/2006/main">
              <a:ext uri="{FF2B5EF4-FFF2-40B4-BE49-F238E27FC236}">
                <a16:creationId xmlns:a16="http://schemas.microsoft.com/office/drawing/2014/main" id="{E40B1963-521E-4516-AD37-04243079E841}"/>
              </a:ext>
            </a:extLst>
          </p:cNvPr>
          <p:cNvSpPr>
            <a:spLocks xmlns:a="http://schemas.openxmlformats.org/drawingml/2006/main" noGrp="1"/>
          </p:cNvSpPr>
          <p:nvPr/>
        </p:nvSpPr>
        <p:spPr>
          <a:xfrm xmlns:a="http://schemas.openxmlformats.org/drawingml/2006/main">
            <a:off x="6076950" y="3517900"/>
            <a:ext cx="5619750" cy="12128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E454A951-4659-48A5-86EB-4F618087F0D3}"/>
              </a:ext>
            </a:extLst>
          </p:cNvPr>
          <p:cNvSpPr>
            <a:spLocks xmlns:a="http://schemas.openxmlformats.org/drawingml/2006/main" noGrp="1"/>
          </p:cNvSpPr>
          <p:nvPr/>
        </p:nvSpPr>
        <p:spPr>
          <a:xfrm xmlns:a="http://schemas.openxmlformats.org/drawingml/2006/main">
            <a:off x="6124575" y="3546475"/>
            <a:ext cx="5524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先确定房主 C/S 拓扑，并计划使用本地模拟传输补充测试</a:t>
            </a:r>
          </a:p>
        </p:txBody>
      </p:sp>
      <p:sp>
        <p:nvSpPr>
          <p:cNvPr id="21" name="">
            <a:extLst xmlns:a="http://schemas.openxmlformats.org/drawingml/2006/main">
              <a:ext uri="{FF2B5EF4-FFF2-40B4-BE49-F238E27FC236}">
                <a16:creationId xmlns:a16="http://schemas.microsoft.com/office/drawing/2014/main" id="{564D8DCF-850E-42BB-8E09-21DE6238AC70}"/>
              </a:ext>
            </a:extLst>
          </p:cNvPr>
          <p:cNvSpPr>
            <a:spLocks xmlns:a="http://schemas.openxmlformats.org/drawingml/2006/main" noGrp="1"/>
          </p:cNvSpPr>
          <p:nvPr/>
        </p:nvSpPr>
        <p:spPr>
          <a:xfrm xmlns:a="http://schemas.openxmlformats.org/drawingml/2006/main">
            <a:off x="457200" y="4730750"/>
            <a:ext cx="5619750"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BF7B5F58-DBF2-4E91-8DBB-0706AB9B05FB}"/>
              </a:ext>
            </a:extLst>
          </p:cNvPr>
          <p:cNvSpPr>
            <a:spLocks xmlns:a="http://schemas.openxmlformats.org/drawingml/2006/main" noGrp="1"/>
          </p:cNvSpPr>
          <p:nvPr/>
        </p:nvSpPr>
        <p:spPr>
          <a:xfrm xmlns:a="http://schemas.openxmlformats.org/drawingml/2006/main">
            <a:off x="504825" y="4759325"/>
            <a:ext cx="5524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课程要求既包含代码又包含建模和文档</a:t>
            </a:r>
          </a:p>
        </p:txBody>
      </p:sp>
      <p:sp>
        <p:nvSpPr>
          <p:cNvPr id="23" name="">
            <a:extLst xmlns:a="http://schemas.openxmlformats.org/drawingml/2006/main">
              <a:ext uri="{FF2B5EF4-FFF2-40B4-BE49-F238E27FC236}">
                <a16:creationId xmlns:a16="http://schemas.microsoft.com/office/drawing/2014/main" id="{D40B98F0-4344-48F0-96DA-2B68503D7120}"/>
              </a:ext>
            </a:extLst>
          </p:cNvPr>
          <p:cNvSpPr>
            <a:spLocks xmlns:a="http://schemas.openxmlformats.org/drawingml/2006/main" noGrp="1"/>
          </p:cNvSpPr>
          <p:nvPr/>
        </p:nvSpPr>
        <p:spPr>
          <a:xfrm xmlns:a="http://schemas.openxmlformats.org/drawingml/2006/main">
            <a:off x="6076950" y="4730750"/>
            <a:ext cx="5619750"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427DF0BE-4CF0-4E55-9D18-F61C87590DF9}"/>
              </a:ext>
            </a:extLst>
          </p:cNvPr>
          <p:cNvSpPr>
            <a:spLocks xmlns:a="http://schemas.openxmlformats.org/drawingml/2006/main" noGrp="1"/>
          </p:cNvSpPr>
          <p:nvPr/>
        </p:nvSpPr>
        <p:spPr>
          <a:xfrm xmlns:a="http://schemas.openxmlformats.org/drawingml/2006/main">
            <a:off x="6124575" y="4759325"/>
            <a:ext cx="5524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在阶段计划中将 UML、代码、测试和 AI 使用说明同时纳入交付</a:t>
            </a:r>
          </a:p>
        </p:txBody>
      </p:sp>
    </p:spTree>
    <p:extLst>
      <p:ext uri="{BB962C8B-B14F-4D97-AF65-F5344CB8AC3E}">
        <p14:creationId xmlns:p14="http://schemas.microsoft.com/office/powerpoint/2010/main" val="194277484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68C14C-224C-422F-B99F-85C29173D4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5A25E4-3655-4199-907D-6F9BC81D011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1B4355D-8100-4104-9BBA-9ACDFC6D3AD3}"/>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4F36C14-6F7A-4545-BAEC-5435666C7875}"/>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D785A810-561A-449C-A605-E68F13CDC100}"/>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27</a:t>
            </a:r>
          </a:p>
        </p:txBody>
      </p:sp>
      <p:sp>
        <p:nvSpPr>
          <p:cNvPr id="6" name="">
            <a:extLst xmlns:a="http://schemas.openxmlformats.org/drawingml/2006/main">
              <a:ext uri="{FF2B5EF4-FFF2-40B4-BE49-F238E27FC236}">
                <a16:creationId xmlns:a16="http://schemas.microsoft.com/office/drawing/2014/main" id="{93786749-0462-4180-86C3-BDBE71D33565}"/>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6D533B3B-D2B4-4842-8908-199311F2FB8C}"/>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5.1 阶段目标</a:t>
            </a:r>
          </a:p>
        </p:txBody>
      </p:sp>
      <p:sp>
        <p:nvSpPr>
          <p:cNvPr id="8" name="">
            <a:extLst xmlns:a="http://schemas.openxmlformats.org/drawingml/2006/main">
              <a:ext uri="{FF2B5EF4-FFF2-40B4-BE49-F238E27FC236}">
                <a16:creationId xmlns:a16="http://schemas.microsoft.com/office/drawing/2014/main" id="{41C0BB3A-6485-4CC5-8B9F-5BCF98B8DCF0}"/>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F1764E-2FD4-4100-BDC2-528841BD7AFC}"/>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本阶段目标是完成面向对象分析和初步设计，建立项目的领域模型、系统顺序图、操作契约、包图、交互图和类图，并实现核心代码结构。</a:t>
            </a:r>
          </a:p>
        </p:txBody>
      </p:sp>
    </p:spTree>
    <p:extLst>
      <p:ext uri="{BB962C8B-B14F-4D97-AF65-F5344CB8AC3E}">
        <p14:creationId xmlns:p14="http://schemas.microsoft.com/office/powerpoint/2010/main" val="169957908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0B32E6-EA67-4746-9A9D-003860FBA4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38F6AD-ABAB-433D-916A-3AB00E3B1CBD}"/>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E026EF4-FCDD-4A2B-A030-91C0B0C34FAE}"/>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AD63A2A2-4560-4738-B2D6-9F2D8281AA86}"/>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EE0E7BE5-C7E0-4EFC-8EBD-69400C3D251A}"/>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28</a:t>
            </a:r>
          </a:p>
        </p:txBody>
      </p:sp>
      <p:sp>
        <p:nvSpPr>
          <p:cNvPr id="6" name="">
            <a:extLst xmlns:a="http://schemas.openxmlformats.org/drawingml/2006/main">
              <a:ext uri="{FF2B5EF4-FFF2-40B4-BE49-F238E27FC236}">
                <a16:creationId xmlns:a16="http://schemas.microsoft.com/office/drawing/2014/main" id="{E54CF4BB-8A88-4159-BD32-3AC5808E3BAE}"/>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BD829A13-ECB4-48A4-A495-ED062326F013}"/>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5.2 面向对象分析（1/3）</a:t>
            </a:r>
          </a:p>
        </p:txBody>
      </p:sp>
      <p:sp>
        <p:nvSpPr>
          <p:cNvPr id="8" name="">
            <a:extLst xmlns:a="http://schemas.openxmlformats.org/drawingml/2006/main">
              <a:ext uri="{FF2B5EF4-FFF2-40B4-BE49-F238E27FC236}">
                <a16:creationId xmlns:a16="http://schemas.microsoft.com/office/drawing/2014/main" id="{89D373F2-C6F0-44F2-9C65-8AB273A73BBF}"/>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32A21DC-741C-4AC4-8AE3-7D6405F3733D}"/>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锄大地游戏的核心对象包括扑克牌、牌堆、玩家、牌型、规则、牌局状态、玩家动作和联机消息。根据这些对象，项目将代码分为 Model、Controller、View、Transport、Profile 和 Audio 等模块。</a:t>
            </a:r>
          </a:p>
        </p:txBody>
      </p:sp>
    </p:spTree>
    <p:extLst>
      <p:ext uri="{BB962C8B-B14F-4D97-AF65-F5344CB8AC3E}">
        <p14:creationId xmlns:p14="http://schemas.microsoft.com/office/powerpoint/2010/main" val="6636881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CFDE1F-8145-49AB-A890-9E5DA7C69B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300B76-D8D1-4D36-8DF8-698953FA4A0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4100715-A2B7-4E9B-8487-96C119AC6FAA}"/>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F897A035-3C0C-4081-8401-19FAAC47E1C3}"/>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2F9FEE16-F787-4D19-9B86-ACF36B9F004C}"/>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29</a:t>
            </a:r>
          </a:p>
        </p:txBody>
      </p:sp>
      <p:sp>
        <p:nvSpPr>
          <p:cNvPr id="6" name="">
            <a:extLst xmlns:a="http://schemas.openxmlformats.org/drawingml/2006/main">
              <a:ext uri="{FF2B5EF4-FFF2-40B4-BE49-F238E27FC236}">
                <a16:creationId xmlns:a16="http://schemas.microsoft.com/office/drawing/2014/main" id="{4E301F87-7A7B-488B-A93C-EE2930B20DC3}"/>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F6A19369-A9A2-4696-84CE-3ECD68002239}"/>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5.2 面向对象分析（2/3）</a:t>
            </a:r>
          </a:p>
        </p:txBody>
      </p:sp>
      <p:sp>
        <p:nvSpPr>
          <p:cNvPr id="8" name="">
            <a:extLst xmlns:a="http://schemas.openxmlformats.org/drawingml/2006/main">
              <a:ext uri="{FF2B5EF4-FFF2-40B4-BE49-F238E27FC236}">
                <a16:creationId xmlns:a16="http://schemas.microsoft.com/office/drawing/2014/main" id="{D9B684D4-2E02-4F6F-9398-B74FE81FF1E5}"/>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4A99F37-5EF5-45ED-9270-2DDA248ED2E3}"/>
              </a:ext>
            </a:extLst>
          </p:cNvPr>
          <p:cNvSpPr>
            <a:spLocks xmlns:a="http://schemas.openxmlformats.org/drawingml/2006/main" noGrp="1"/>
          </p:cNvSpPr>
          <p:nvPr/>
        </p:nvSpPr>
        <p:spPr>
          <a:xfrm xmlns:a="http://schemas.openxmlformats.org/drawingml/2006/main">
            <a:off x="457200" y="1905000"/>
            <a:ext cx="2519198"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C900BB90-7EB4-4E39-A000-57E1EAC4D3ED}"/>
              </a:ext>
            </a:extLst>
          </p:cNvPr>
          <p:cNvSpPr>
            <a:spLocks xmlns:a="http://schemas.openxmlformats.org/drawingml/2006/main" noGrp="1"/>
          </p:cNvSpPr>
          <p:nvPr/>
        </p:nvSpPr>
        <p:spPr>
          <a:xfrm xmlns:a="http://schemas.openxmlformats.org/drawingml/2006/main">
            <a:off x="504825" y="1943100"/>
            <a:ext cx="242394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模块</a:t>
            </a:r>
          </a:p>
        </p:txBody>
      </p:sp>
      <p:sp>
        <p:nvSpPr>
          <p:cNvPr id="11" name="">
            <a:extLst xmlns:a="http://schemas.openxmlformats.org/drawingml/2006/main">
              <a:ext uri="{FF2B5EF4-FFF2-40B4-BE49-F238E27FC236}">
                <a16:creationId xmlns:a16="http://schemas.microsoft.com/office/drawing/2014/main" id="{0C48CCF6-F6F7-48AB-B213-6FB9250BD173}"/>
              </a:ext>
            </a:extLst>
          </p:cNvPr>
          <p:cNvSpPr>
            <a:spLocks xmlns:a="http://schemas.openxmlformats.org/drawingml/2006/main" noGrp="1"/>
          </p:cNvSpPr>
          <p:nvPr/>
        </p:nvSpPr>
        <p:spPr>
          <a:xfrm xmlns:a="http://schemas.openxmlformats.org/drawingml/2006/main">
            <a:off x="2976398" y="1905000"/>
            <a:ext cx="4360151"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BFC602CE-BFB6-4401-81A8-CE8853FC052C}"/>
              </a:ext>
            </a:extLst>
          </p:cNvPr>
          <p:cNvSpPr>
            <a:spLocks xmlns:a="http://schemas.openxmlformats.org/drawingml/2006/main" noGrp="1"/>
          </p:cNvSpPr>
          <p:nvPr/>
        </p:nvSpPr>
        <p:spPr>
          <a:xfrm xmlns:a="http://schemas.openxmlformats.org/drawingml/2006/main">
            <a:off x="3024023" y="1943100"/>
            <a:ext cx="426490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关键类</a:t>
            </a:r>
          </a:p>
        </p:txBody>
      </p:sp>
      <p:sp>
        <p:nvSpPr>
          <p:cNvPr id="13" name="">
            <a:extLst xmlns:a="http://schemas.openxmlformats.org/drawingml/2006/main">
              <a:ext uri="{FF2B5EF4-FFF2-40B4-BE49-F238E27FC236}">
                <a16:creationId xmlns:a16="http://schemas.microsoft.com/office/drawing/2014/main" id="{3A76C81A-8D97-4BD8-A46A-06269200F024}"/>
              </a:ext>
            </a:extLst>
          </p:cNvPr>
          <p:cNvSpPr>
            <a:spLocks xmlns:a="http://schemas.openxmlformats.org/drawingml/2006/main" noGrp="1"/>
          </p:cNvSpPr>
          <p:nvPr/>
        </p:nvSpPr>
        <p:spPr>
          <a:xfrm xmlns:a="http://schemas.openxmlformats.org/drawingml/2006/main">
            <a:off x="7336549" y="1905000"/>
            <a:ext cx="4360151"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89A68D1E-EE5F-48C0-AACC-B4B5AF9696BF}"/>
              </a:ext>
            </a:extLst>
          </p:cNvPr>
          <p:cNvSpPr>
            <a:spLocks xmlns:a="http://schemas.openxmlformats.org/drawingml/2006/main" noGrp="1"/>
          </p:cNvSpPr>
          <p:nvPr/>
        </p:nvSpPr>
        <p:spPr>
          <a:xfrm xmlns:a="http://schemas.openxmlformats.org/drawingml/2006/main">
            <a:off x="7384174" y="1943100"/>
            <a:ext cx="426490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职责</a:t>
            </a:r>
          </a:p>
        </p:txBody>
      </p:sp>
      <p:sp>
        <p:nvSpPr>
          <p:cNvPr id="15" name="">
            <a:extLst xmlns:a="http://schemas.openxmlformats.org/drawingml/2006/main">
              <a:ext uri="{FF2B5EF4-FFF2-40B4-BE49-F238E27FC236}">
                <a16:creationId xmlns:a16="http://schemas.microsoft.com/office/drawing/2014/main" id="{85E356B0-16C6-4793-A471-F3E311E2F0BF}"/>
              </a:ext>
            </a:extLst>
          </p:cNvPr>
          <p:cNvSpPr>
            <a:spLocks xmlns:a="http://schemas.openxmlformats.org/drawingml/2006/main" noGrp="1"/>
          </p:cNvSpPr>
          <p:nvPr/>
        </p:nvSpPr>
        <p:spPr>
          <a:xfrm xmlns:a="http://schemas.openxmlformats.org/drawingml/2006/main">
            <a:off x="457200" y="2305050"/>
            <a:ext cx="2519198"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B23DF0A1-82EB-469C-87D5-E755284096F2}"/>
              </a:ext>
            </a:extLst>
          </p:cNvPr>
          <p:cNvSpPr>
            <a:spLocks xmlns:a="http://schemas.openxmlformats.org/drawingml/2006/main" noGrp="1"/>
          </p:cNvSpPr>
          <p:nvPr/>
        </p:nvSpPr>
        <p:spPr>
          <a:xfrm xmlns:a="http://schemas.openxmlformats.org/drawingml/2006/main">
            <a:off x="504825" y="2333625"/>
            <a:ext cx="2423948"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牌与牌型</a:t>
            </a:r>
          </a:p>
        </p:txBody>
      </p:sp>
      <p:sp>
        <p:nvSpPr>
          <p:cNvPr id="17" name="">
            <a:extLst xmlns:a="http://schemas.openxmlformats.org/drawingml/2006/main">
              <a:ext uri="{FF2B5EF4-FFF2-40B4-BE49-F238E27FC236}">
                <a16:creationId xmlns:a16="http://schemas.microsoft.com/office/drawing/2014/main" id="{7E6B0C61-5435-43D3-8EF4-9818ADBB1E07}"/>
              </a:ext>
            </a:extLst>
          </p:cNvPr>
          <p:cNvSpPr>
            <a:spLocks xmlns:a="http://schemas.openxmlformats.org/drawingml/2006/main" noGrp="1"/>
          </p:cNvSpPr>
          <p:nvPr/>
        </p:nvSpPr>
        <p:spPr>
          <a:xfrm xmlns:a="http://schemas.openxmlformats.org/drawingml/2006/main">
            <a:off x="2976398" y="2305050"/>
            <a:ext cx="4360151"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B0B06780-118B-426B-B5D8-11A7820209E1}"/>
              </a:ext>
            </a:extLst>
          </p:cNvPr>
          <p:cNvSpPr>
            <a:spLocks xmlns:a="http://schemas.openxmlformats.org/drawingml/2006/main" noGrp="1"/>
          </p:cNvSpPr>
          <p:nvPr/>
        </p:nvSpPr>
        <p:spPr>
          <a:xfrm xmlns:a="http://schemas.openxmlformats.org/drawingml/2006/main">
            <a:off x="3024023" y="2333625"/>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Card、Deck、HandClassifier、HandType</a:t>
            </a:r>
          </a:p>
        </p:txBody>
      </p:sp>
      <p:sp>
        <p:nvSpPr>
          <p:cNvPr id="19" name="">
            <a:extLst xmlns:a="http://schemas.openxmlformats.org/drawingml/2006/main">
              <a:ext uri="{FF2B5EF4-FFF2-40B4-BE49-F238E27FC236}">
                <a16:creationId xmlns:a16="http://schemas.microsoft.com/office/drawing/2014/main" id="{E2B6F394-5A39-44E2-A3D2-74749B0A12FB}"/>
              </a:ext>
            </a:extLst>
          </p:cNvPr>
          <p:cNvSpPr>
            <a:spLocks xmlns:a="http://schemas.openxmlformats.org/drawingml/2006/main" noGrp="1"/>
          </p:cNvSpPr>
          <p:nvPr/>
        </p:nvSpPr>
        <p:spPr>
          <a:xfrm xmlns:a="http://schemas.openxmlformats.org/drawingml/2006/main">
            <a:off x="7336549" y="2305050"/>
            <a:ext cx="4360151"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ACF7B4CD-8248-4D7A-B649-DA7E0824F230}"/>
              </a:ext>
            </a:extLst>
          </p:cNvPr>
          <p:cNvSpPr>
            <a:spLocks xmlns:a="http://schemas.openxmlformats.org/drawingml/2006/main" noGrp="1"/>
          </p:cNvSpPr>
          <p:nvPr/>
        </p:nvSpPr>
        <p:spPr>
          <a:xfrm xmlns:a="http://schemas.openxmlformats.org/drawingml/2006/main">
            <a:off x="7384174" y="2333625"/>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表示牌面、发牌、牌型识别和牌型比较基础</a:t>
            </a:r>
          </a:p>
        </p:txBody>
      </p:sp>
      <p:sp>
        <p:nvSpPr>
          <p:cNvPr id="21" name="">
            <a:extLst xmlns:a="http://schemas.openxmlformats.org/drawingml/2006/main">
              <a:ext uri="{FF2B5EF4-FFF2-40B4-BE49-F238E27FC236}">
                <a16:creationId xmlns:a16="http://schemas.microsoft.com/office/drawing/2014/main" id="{D62E712D-A3F5-4EB5-B400-A9FEA31EFEAB}"/>
              </a:ext>
            </a:extLst>
          </p:cNvPr>
          <p:cNvSpPr>
            <a:spLocks xmlns:a="http://schemas.openxmlformats.org/drawingml/2006/main" noGrp="1"/>
          </p:cNvSpPr>
          <p:nvPr/>
        </p:nvSpPr>
        <p:spPr>
          <a:xfrm xmlns:a="http://schemas.openxmlformats.org/drawingml/2006/main">
            <a:off x="457200" y="2824843"/>
            <a:ext cx="2519198"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4991A837-C9DA-4670-9646-BAE8B3A0CEF3}"/>
              </a:ext>
            </a:extLst>
          </p:cNvPr>
          <p:cNvSpPr>
            <a:spLocks xmlns:a="http://schemas.openxmlformats.org/drawingml/2006/main" noGrp="1"/>
          </p:cNvSpPr>
          <p:nvPr/>
        </p:nvSpPr>
        <p:spPr>
          <a:xfrm xmlns:a="http://schemas.openxmlformats.org/drawingml/2006/main">
            <a:off x="504825" y="2853418"/>
            <a:ext cx="2423948"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规则</a:t>
            </a:r>
          </a:p>
        </p:txBody>
      </p:sp>
      <p:sp>
        <p:nvSpPr>
          <p:cNvPr id="23" name="">
            <a:extLst xmlns:a="http://schemas.openxmlformats.org/drawingml/2006/main">
              <a:ext uri="{FF2B5EF4-FFF2-40B4-BE49-F238E27FC236}">
                <a16:creationId xmlns:a16="http://schemas.microsoft.com/office/drawing/2014/main" id="{4BE348F3-65C7-442F-85C9-AFC3D40F1A61}"/>
              </a:ext>
            </a:extLst>
          </p:cNvPr>
          <p:cNvSpPr>
            <a:spLocks xmlns:a="http://schemas.openxmlformats.org/drawingml/2006/main" noGrp="1"/>
          </p:cNvSpPr>
          <p:nvPr/>
        </p:nvSpPr>
        <p:spPr>
          <a:xfrm xmlns:a="http://schemas.openxmlformats.org/drawingml/2006/main">
            <a:off x="2976398" y="2824843"/>
            <a:ext cx="4360151"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B459C7E1-D667-4659-97BB-77C2F22DAEF7}"/>
              </a:ext>
            </a:extLst>
          </p:cNvPr>
          <p:cNvSpPr>
            <a:spLocks xmlns:a="http://schemas.openxmlformats.org/drawingml/2006/main" noGrp="1"/>
          </p:cNvSpPr>
          <p:nvPr/>
        </p:nvSpPr>
        <p:spPr>
          <a:xfrm xmlns:a="http://schemas.openxmlformats.org/drawingml/2006/main">
            <a:off x="3024023" y="2853418"/>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RuleProfile、NorthRuleSet、SouthRuleSet</a:t>
            </a:r>
          </a:p>
        </p:txBody>
      </p:sp>
      <p:sp>
        <p:nvSpPr>
          <p:cNvPr id="25" name="">
            <a:extLst xmlns:a="http://schemas.openxmlformats.org/drawingml/2006/main">
              <a:ext uri="{FF2B5EF4-FFF2-40B4-BE49-F238E27FC236}">
                <a16:creationId xmlns:a16="http://schemas.microsoft.com/office/drawing/2014/main" id="{6A2E1E1B-846A-44F3-9029-1BC6BD5F7B49}"/>
              </a:ext>
            </a:extLst>
          </p:cNvPr>
          <p:cNvSpPr>
            <a:spLocks xmlns:a="http://schemas.openxmlformats.org/drawingml/2006/main" noGrp="1"/>
          </p:cNvSpPr>
          <p:nvPr/>
        </p:nvSpPr>
        <p:spPr>
          <a:xfrm xmlns:a="http://schemas.openxmlformats.org/drawingml/2006/main">
            <a:off x="7336549" y="2824843"/>
            <a:ext cx="4360151"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111E8C2A-F4DE-4F54-B4FA-0FB3B1D2A603}"/>
              </a:ext>
            </a:extLst>
          </p:cNvPr>
          <p:cNvSpPr>
            <a:spLocks xmlns:a="http://schemas.openxmlformats.org/drawingml/2006/main" noGrp="1"/>
          </p:cNvSpPr>
          <p:nvPr/>
        </p:nvSpPr>
        <p:spPr>
          <a:xfrm xmlns:a="http://schemas.openxmlformats.org/drawingml/2006/main">
            <a:off x="7384174" y="2853418"/>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表示南北玩法、首出规则和压牌规则</a:t>
            </a:r>
          </a:p>
        </p:txBody>
      </p:sp>
      <p:sp>
        <p:nvSpPr>
          <p:cNvPr id="27" name="">
            <a:extLst xmlns:a="http://schemas.openxmlformats.org/drawingml/2006/main">
              <a:ext uri="{FF2B5EF4-FFF2-40B4-BE49-F238E27FC236}">
                <a16:creationId xmlns:a16="http://schemas.microsoft.com/office/drawing/2014/main" id="{265CDC89-E20D-4A52-A574-36B15DD4B73F}"/>
              </a:ext>
            </a:extLst>
          </p:cNvPr>
          <p:cNvSpPr>
            <a:spLocks xmlns:a="http://schemas.openxmlformats.org/drawingml/2006/main" noGrp="1"/>
          </p:cNvSpPr>
          <p:nvPr/>
        </p:nvSpPr>
        <p:spPr>
          <a:xfrm xmlns:a="http://schemas.openxmlformats.org/drawingml/2006/main">
            <a:off x="457200" y="3344636"/>
            <a:ext cx="2519198"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0BF9F4AE-68BD-4683-8FF7-E61965BB11BC}"/>
              </a:ext>
            </a:extLst>
          </p:cNvPr>
          <p:cNvSpPr>
            <a:spLocks xmlns:a="http://schemas.openxmlformats.org/drawingml/2006/main" noGrp="1"/>
          </p:cNvSpPr>
          <p:nvPr/>
        </p:nvSpPr>
        <p:spPr>
          <a:xfrm xmlns:a="http://schemas.openxmlformats.org/drawingml/2006/main">
            <a:off x="504825" y="3373211"/>
            <a:ext cx="2423948"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回合控制</a:t>
            </a:r>
          </a:p>
        </p:txBody>
      </p:sp>
      <p:sp>
        <p:nvSpPr>
          <p:cNvPr id="29" name="">
            <a:extLst xmlns:a="http://schemas.openxmlformats.org/drawingml/2006/main">
              <a:ext uri="{FF2B5EF4-FFF2-40B4-BE49-F238E27FC236}">
                <a16:creationId xmlns:a16="http://schemas.microsoft.com/office/drawing/2014/main" id="{F3D5E528-3E10-4D9E-9FA6-35F786B28B11}"/>
              </a:ext>
            </a:extLst>
          </p:cNvPr>
          <p:cNvSpPr>
            <a:spLocks xmlns:a="http://schemas.openxmlformats.org/drawingml/2006/main" noGrp="1"/>
          </p:cNvSpPr>
          <p:nvPr/>
        </p:nvSpPr>
        <p:spPr>
          <a:xfrm xmlns:a="http://schemas.openxmlformats.org/drawingml/2006/main">
            <a:off x="2976398" y="3344636"/>
            <a:ext cx="4360151"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F64AE6FD-339B-4721-95F5-582A5C31D7F6}"/>
              </a:ext>
            </a:extLst>
          </p:cNvPr>
          <p:cNvSpPr>
            <a:spLocks xmlns:a="http://schemas.openxmlformats.org/drawingml/2006/main" noGrp="1"/>
          </p:cNvSpPr>
          <p:nvPr/>
        </p:nvSpPr>
        <p:spPr>
          <a:xfrm xmlns:a="http://schemas.openxmlformats.org/drawingml/2006/main">
            <a:off x="3024023" y="3373211"/>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GameController、GameState、Move</a:t>
            </a:r>
          </a:p>
        </p:txBody>
      </p:sp>
      <p:sp>
        <p:nvSpPr>
          <p:cNvPr id="31" name="">
            <a:extLst xmlns:a="http://schemas.openxmlformats.org/drawingml/2006/main">
              <a:ext uri="{FF2B5EF4-FFF2-40B4-BE49-F238E27FC236}">
                <a16:creationId xmlns:a16="http://schemas.microsoft.com/office/drawing/2014/main" id="{B2040774-1378-4C58-A775-6C92469985D5}"/>
              </a:ext>
            </a:extLst>
          </p:cNvPr>
          <p:cNvSpPr>
            <a:spLocks xmlns:a="http://schemas.openxmlformats.org/drawingml/2006/main" noGrp="1"/>
          </p:cNvSpPr>
          <p:nvPr/>
        </p:nvSpPr>
        <p:spPr>
          <a:xfrm xmlns:a="http://schemas.openxmlformats.org/drawingml/2006/main">
            <a:off x="7336549" y="3344636"/>
            <a:ext cx="4360151"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569FAB2B-BE6C-4650-8F43-9822A485454D}"/>
              </a:ext>
            </a:extLst>
          </p:cNvPr>
          <p:cNvSpPr>
            <a:spLocks xmlns:a="http://schemas.openxmlformats.org/drawingml/2006/main" noGrp="1"/>
          </p:cNvSpPr>
          <p:nvPr/>
        </p:nvSpPr>
        <p:spPr>
          <a:xfrm xmlns:a="http://schemas.openxmlformats.org/drawingml/2006/main">
            <a:off x="7384174" y="3373211"/>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处理出牌、不出、三家过牌重置和胜负结算</a:t>
            </a:r>
          </a:p>
        </p:txBody>
      </p:sp>
      <p:sp>
        <p:nvSpPr>
          <p:cNvPr id="33" name="">
            <a:extLst xmlns:a="http://schemas.openxmlformats.org/drawingml/2006/main">
              <a:ext uri="{FF2B5EF4-FFF2-40B4-BE49-F238E27FC236}">
                <a16:creationId xmlns:a16="http://schemas.microsoft.com/office/drawing/2014/main" id="{F182089F-EEDD-449D-B634-5A4B9EC28901}"/>
              </a:ext>
            </a:extLst>
          </p:cNvPr>
          <p:cNvSpPr>
            <a:spLocks xmlns:a="http://schemas.openxmlformats.org/drawingml/2006/main" noGrp="1"/>
          </p:cNvSpPr>
          <p:nvPr/>
        </p:nvSpPr>
        <p:spPr>
          <a:xfrm xmlns:a="http://schemas.openxmlformats.org/drawingml/2006/main">
            <a:off x="457200" y="3864429"/>
            <a:ext cx="2519198"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0F206043-9908-45A4-8837-E9B1C41E7071}"/>
              </a:ext>
            </a:extLst>
          </p:cNvPr>
          <p:cNvSpPr>
            <a:spLocks xmlns:a="http://schemas.openxmlformats.org/drawingml/2006/main" noGrp="1"/>
          </p:cNvSpPr>
          <p:nvPr/>
        </p:nvSpPr>
        <p:spPr>
          <a:xfrm xmlns:a="http://schemas.openxmlformats.org/drawingml/2006/main">
            <a:off x="504825" y="3893004"/>
            <a:ext cx="2423948"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AI</a:t>
            </a:r>
          </a:p>
        </p:txBody>
      </p:sp>
      <p:sp>
        <p:nvSpPr>
          <p:cNvPr id="35" name="">
            <a:extLst xmlns:a="http://schemas.openxmlformats.org/drawingml/2006/main">
              <a:ext uri="{FF2B5EF4-FFF2-40B4-BE49-F238E27FC236}">
                <a16:creationId xmlns:a16="http://schemas.microsoft.com/office/drawing/2014/main" id="{4A10C66F-B4A4-46EB-B893-ED9F3C892842}"/>
              </a:ext>
            </a:extLst>
          </p:cNvPr>
          <p:cNvSpPr>
            <a:spLocks xmlns:a="http://schemas.openxmlformats.org/drawingml/2006/main" noGrp="1"/>
          </p:cNvSpPr>
          <p:nvPr/>
        </p:nvSpPr>
        <p:spPr>
          <a:xfrm xmlns:a="http://schemas.openxmlformats.org/drawingml/2006/main">
            <a:off x="2976398" y="3864429"/>
            <a:ext cx="4360151"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8F30D42C-0742-4C6D-BF01-D7EC28A551D1}"/>
              </a:ext>
            </a:extLst>
          </p:cNvPr>
          <p:cNvSpPr>
            <a:spLocks xmlns:a="http://schemas.openxmlformats.org/drawingml/2006/main" noGrp="1"/>
          </p:cNvSpPr>
          <p:nvPr/>
        </p:nvSpPr>
        <p:spPr>
          <a:xfrm xmlns:a="http://schemas.openxmlformats.org/drawingml/2006/main">
            <a:off x="3024023" y="3893004"/>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AiStrategy、GreedyAiStrategy、HeuristicAiStrategy、MonteCarloRolloutAiStrategy</a:t>
            </a:r>
          </a:p>
        </p:txBody>
      </p:sp>
      <p:sp>
        <p:nvSpPr>
          <p:cNvPr id="37" name="">
            <a:extLst xmlns:a="http://schemas.openxmlformats.org/drawingml/2006/main">
              <a:ext uri="{FF2B5EF4-FFF2-40B4-BE49-F238E27FC236}">
                <a16:creationId xmlns:a16="http://schemas.microsoft.com/office/drawing/2014/main" id="{D26C1C3C-0ED3-4D56-A53F-58808040B868}"/>
              </a:ext>
            </a:extLst>
          </p:cNvPr>
          <p:cNvSpPr>
            <a:spLocks xmlns:a="http://schemas.openxmlformats.org/drawingml/2006/main" noGrp="1"/>
          </p:cNvSpPr>
          <p:nvPr/>
        </p:nvSpPr>
        <p:spPr>
          <a:xfrm xmlns:a="http://schemas.openxmlformats.org/drawingml/2006/main">
            <a:off x="7336549" y="3864429"/>
            <a:ext cx="4360151"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43C5AEEB-47FD-4D89-AF81-BA5E6E521F7E}"/>
              </a:ext>
            </a:extLst>
          </p:cNvPr>
          <p:cNvSpPr>
            <a:spLocks xmlns:a="http://schemas.openxmlformats.org/drawingml/2006/main" noGrp="1"/>
          </p:cNvSpPr>
          <p:nvPr/>
        </p:nvSpPr>
        <p:spPr>
          <a:xfrm xmlns:a="http://schemas.openxmlformats.org/drawingml/2006/main">
            <a:off x="7384174" y="3893004"/>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表示不同难度的人机策略</a:t>
            </a:r>
          </a:p>
        </p:txBody>
      </p:sp>
      <p:sp>
        <p:nvSpPr>
          <p:cNvPr id="39" name="">
            <a:extLst xmlns:a="http://schemas.openxmlformats.org/drawingml/2006/main">
              <a:ext uri="{FF2B5EF4-FFF2-40B4-BE49-F238E27FC236}">
                <a16:creationId xmlns:a16="http://schemas.microsoft.com/office/drawing/2014/main" id="{549B3A35-4A8A-4E7B-8A79-618818CC6792}"/>
              </a:ext>
            </a:extLst>
          </p:cNvPr>
          <p:cNvSpPr>
            <a:spLocks xmlns:a="http://schemas.openxmlformats.org/drawingml/2006/main" noGrp="1"/>
          </p:cNvSpPr>
          <p:nvPr/>
        </p:nvSpPr>
        <p:spPr>
          <a:xfrm xmlns:a="http://schemas.openxmlformats.org/drawingml/2006/main">
            <a:off x="457200" y="4384221"/>
            <a:ext cx="2519198"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2F04E2CB-95D7-4AC0-B5DB-5ED5A6CEA527}"/>
              </a:ext>
            </a:extLst>
          </p:cNvPr>
          <p:cNvSpPr>
            <a:spLocks xmlns:a="http://schemas.openxmlformats.org/drawingml/2006/main" noGrp="1"/>
          </p:cNvSpPr>
          <p:nvPr/>
        </p:nvSpPr>
        <p:spPr>
          <a:xfrm xmlns:a="http://schemas.openxmlformats.org/drawingml/2006/main">
            <a:off x="504825" y="4412796"/>
            <a:ext cx="2423948"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联机</a:t>
            </a:r>
          </a:p>
        </p:txBody>
      </p:sp>
      <p:sp>
        <p:nvSpPr>
          <p:cNvPr id="41" name="">
            <a:extLst xmlns:a="http://schemas.openxmlformats.org/drawingml/2006/main">
              <a:ext uri="{FF2B5EF4-FFF2-40B4-BE49-F238E27FC236}">
                <a16:creationId xmlns:a16="http://schemas.microsoft.com/office/drawing/2014/main" id="{0DE0AE1F-2EE8-420A-B2B2-97E9538829F3}"/>
              </a:ext>
            </a:extLst>
          </p:cNvPr>
          <p:cNvSpPr>
            <a:spLocks xmlns:a="http://schemas.openxmlformats.org/drawingml/2006/main" noGrp="1"/>
          </p:cNvSpPr>
          <p:nvPr/>
        </p:nvSpPr>
        <p:spPr>
          <a:xfrm xmlns:a="http://schemas.openxmlformats.org/drawingml/2006/main">
            <a:off x="2976398" y="4384221"/>
            <a:ext cx="4360151"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8CAD7B90-79BA-4292-B632-FA655F18EDA4}"/>
              </a:ext>
            </a:extLst>
          </p:cNvPr>
          <p:cNvSpPr>
            <a:spLocks xmlns:a="http://schemas.openxmlformats.org/drawingml/2006/main" noGrp="1"/>
          </p:cNvSpPr>
          <p:nvPr/>
        </p:nvSpPr>
        <p:spPr>
          <a:xfrm xmlns:a="http://schemas.openxmlformats.org/drawingml/2006/main">
            <a:off x="3024023" y="4412796"/>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GameTransport、BluetoothHostTransport、BluetoothClientTransport、LocalRoomTransport</a:t>
            </a:r>
          </a:p>
        </p:txBody>
      </p:sp>
      <p:sp>
        <p:nvSpPr>
          <p:cNvPr id="43" name="">
            <a:extLst xmlns:a="http://schemas.openxmlformats.org/drawingml/2006/main">
              <a:ext uri="{FF2B5EF4-FFF2-40B4-BE49-F238E27FC236}">
                <a16:creationId xmlns:a16="http://schemas.microsoft.com/office/drawing/2014/main" id="{870DCCB3-18BF-4F3E-8560-B68CEBD9349F}"/>
              </a:ext>
            </a:extLst>
          </p:cNvPr>
          <p:cNvSpPr>
            <a:spLocks xmlns:a="http://schemas.openxmlformats.org/drawingml/2006/main" noGrp="1"/>
          </p:cNvSpPr>
          <p:nvPr/>
        </p:nvSpPr>
        <p:spPr>
          <a:xfrm xmlns:a="http://schemas.openxmlformats.org/drawingml/2006/main">
            <a:off x="7336549" y="4384221"/>
            <a:ext cx="4360151"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1E04E9FC-C3A6-460D-BDB7-4DCEAE45DD7D}"/>
              </a:ext>
            </a:extLst>
          </p:cNvPr>
          <p:cNvSpPr>
            <a:spLocks xmlns:a="http://schemas.openxmlformats.org/drawingml/2006/main" noGrp="1"/>
          </p:cNvSpPr>
          <p:nvPr/>
        </p:nvSpPr>
        <p:spPr>
          <a:xfrm xmlns:a="http://schemas.openxmlformats.org/drawingml/2006/main">
            <a:off x="7384174" y="4412796"/>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隔离真实蓝牙和本地模拟传输</a:t>
            </a:r>
          </a:p>
        </p:txBody>
      </p:sp>
      <p:sp>
        <p:nvSpPr>
          <p:cNvPr id="45" name="">
            <a:extLst xmlns:a="http://schemas.openxmlformats.org/drawingml/2006/main">
              <a:ext uri="{FF2B5EF4-FFF2-40B4-BE49-F238E27FC236}">
                <a16:creationId xmlns:a16="http://schemas.microsoft.com/office/drawing/2014/main" id="{4CDFCD79-6AD9-42C3-8511-ED97E0CD035D}"/>
              </a:ext>
            </a:extLst>
          </p:cNvPr>
          <p:cNvSpPr>
            <a:spLocks xmlns:a="http://schemas.openxmlformats.org/drawingml/2006/main" noGrp="1"/>
          </p:cNvSpPr>
          <p:nvPr/>
        </p:nvSpPr>
        <p:spPr>
          <a:xfrm xmlns:a="http://schemas.openxmlformats.org/drawingml/2006/main">
            <a:off x="457200" y="4904014"/>
            <a:ext cx="2519198"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2D055D3B-60E3-4966-9E6F-31FF31B8D1DF}"/>
              </a:ext>
            </a:extLst>
          </p:cNvPr>
          <p:cNvSpPr>
            <a:spLocks xmlns:a="http://schemas.openxmlformats.org/drawingml/2006/main" noGrp="1"/>
          </p:cNvSpPr>
          <p:nvPr/>
        </p:nvSpPr>
        <p:spPr>
          <a:xfrm xmlns:a="http://schemas.openxmlformats.org/drawingml/2006/main">
            <a:off x="504825" y="4932589"/>
            <a:ext cx="2423948"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玩家成长</a:t>
            </a:r>
          </a:p>
        </p:txBody>
      </p:sp>
      <p:sp>
        <p:nvSpPr>
          <p:cNvPr id="47" name="">
            <a:extLst xmlns:a="http://schemas.openxmlformats.org/drawingml/2006/main">
              <a:ext uri="{FF2B5EF4-FFF2-40B4-BE49-F238E27FC236}">
                <a16:creationId xmlns:a16="http://schemas.microsoft.com/office/drawing/2014/main" id="{41DD0B9C-CD1B-4516-A684-6AA7306602D7}"/>
              </a:ext>
            </a:extLst>
          </p:cNvPr>
          <p:cNvSpPr>
            <a:spLocks xmlns:a="http://schemas.openxmlformats.org/drawingml/2006/main" noGrp="1"/>
          </p:cNvSpPr>
          <p:nvPr/>
        </p:nvSpPr>
        <p:spPr>
          <a:xfrm xmlns:a="http://schemas.openxmlformats.org/drawingml/2006/main">
            <a:off x="2976398" y="4904014"/>
            <a:ext cx="4360151"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9D361408-BA85-410F-835D-B338B9BA46B1}"/>
              </a:ext>
            </a:extLst>
          </p:cNvPr>
          <p:cNvSpPr>
            <a:spLocks xmlns:a="http://schemas.openxmlformats.org/drawingml/2006/main" noGrp="1"/>
          </p:cNvSpPr>
          <p:nvPr/>
        </p:nvSpPr>
        <p:spPr>
          <a:xfrm xmlns:a="http://schemas.openxmlformats.org/drawingml/2006/main">
            <a:off x="3024023" y="4932589"/>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PlayerProfile、ProfileController、ProfileStore</a:t>
            </a:r>
          </a:p>
        </p:txBody>
      </p:sp>
      <p:sp>
        <p:nvSpPr>
          <p:cNvPr id="49" name="">
            <a:extLst xmlns:a="http://schemas.openxmlformats.org/drawingml/2006/main">
              <a:ext uri="{FF2B5EF4-FFF2-40B4-BE49-F238E27FC236}">
                <a16:creationId xmlns:a16="http://schemas.microsoft.com/office/drawing/2014/main" id="{9CAD35FB-C23F-4CF5-A4D2-DB0CD061E828}"/>
              </a:ext>
            </a:extLst>
          </p:cNvPr>
          <p:cNvSpPr>
            <a:spLocks xmlns:a="http://schemas.openxmlformats.org/drawingml/2006/main" noGrp="1"/>
          </p:cNvSpPr>
          <p:nvPr/>
        </p:nvSpPr>
        <p:spPr>
          <a:xfrm xmlns:a="http://schemas.openxmlformats.org/drawingml/2006/main">
            <a:off x="7336549" y="4904014"/>
            <a:ext cx="4360151"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7A919E22-E882-4E68-BA75-9E17A34D49AB}"/>
              </a:ext>
            </a:extLst>
          </p:cNvPr>
          <p:cNvSpPr>
            <a:spLocks xmlns:a="http://schemas.openxmlformats.org/drawingml/2006/main" noGrp="1"/>
          </p:cNvSpPr>
          <p:nvPr/>
        </p:nvSpPr>
        <p:spPr>
          <a:xfrm xmlns:a="http://schemas.openxmlformats.org/drawingml/2006/main">
            <a:off x="7384174" y="4932589"/>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管理金币、等级、经验、战绩、头像和成就</a:t>
            </a:r>
          </a:p>
        </p:txBody>
      </p:sp>
      <p:sp>
        <p:nvSpPr>
          <p:cNvPr id="51" name="">
            <a:extLst xmlns:a="http://schemas.openxmlformats.org/drawingml/2006/main">
              <a:ext uri="{FF2B5EF4-FFF2-40B4-BE49-F238E27FC236}">
                <a16:creationId xmlns:a16="http://schemas.microsoft.com/office/drawing/2014/main" id="{D6B6EC02-048C-4583-8E9D-5A6582484D84}"/>
              </a:ext>
            </a:extLst>
          </p:cNvPr>
          <p:cNvSpPr>
            <a:spLocks xmlns:a="http://schemas.openxmlformats.org/drawingml/2006/main" noGrp="1"/>
          </p:cNvSpPr>
          <p:nvPr/>
        </p:nvSpPr>
        <p:spPr>
          <a:xfrm xmlns:a="http://schemas.openxmlformats.org/drawingml/2006/main">
            <a:off x="457200" y="5423807"/>
            <a:ext cx="2519198"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13686FA8-7F27-4918-A155-36DC0EECC86C}"/>
              </a:ext>
            </a:extLst>
          </p:cNvPr>
          <p:cNvSpPr>
            <a:spLocks xmlns:a="http://schemas.openxmlformats.org/drawingml/2006/main" noGrp="1"/>
          </p:cNvSpPr>
          <p:nvPr/>
        </p:nvSpPr>
        <p:spPr>
          <a:xfrm xmlns:a="http://schemas.openxmlformats.org/drawingml/2006/main">
            <a:off x="504825" y="5452382"/>
            <a:ext cx="2423948"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UI 与反馈</a:t>
            </a:r>
          </a:p>
        </p:txBody>
      </p:sp>
      <p:sp>
        <p:nvSpPr>
          <p:cNvPr id="53" name="">
            <a:extLst xmlns:a="http://schemas.openxmlformats.org/drawingml/2006/main">
              <a:ext uri="{FF2B5EF4-FFF2-40B4-BE49-F238E27FC236}">
                <a16:creationId xmlns:a16="http://schemas.microsoft.com/office/drawing/2014/main" id="{87E8A2BC-FD76-48EF-9647-5C48990CB1E9}"/>
              </a:ext>
            </a:extLst>
          </p:cNvPr>
          <p:cNvSpPr>
            <a:spLocks xmlns:a="http://schemas.openxmlformats.org/drawingml/2006/main" noGrp="1"/>
          </p:cNvSpPr>
          <p:nvPr/>
        </p:nvSpPr>
        <p:spPr>
          <a:xfrm xmlns:a="http://schemas.openxmlformats.org/drawingml/2006/main">
            <a:off x="2976398" y="5423807"/>
            <a:ext cx="4360151"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3B96CD20-99F9-42DA-9E05-71CE5D0BB50A}"/>
              </a:ext>
            </a:extLst>
          </p:cNvPr>
          <p:cNvSpPr>
            <a:spLocks xmlns:a="http://schemas.openxmlformats.org/drawingml/2006/main" noGrp="1"/>
          </p:cNvSpPr>
          <p:nvPr/>
        </p:nvSpPr>
        <p:spPr>
          <a:xfrm xmlns:a="http://schemas.openxmlformats.org/drawingml/2006/main">
            <a:off x="3024023" y="5452382"/>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ChudadiApp、CardRoomMusicPlayer、TableAnimationKeys</a:t>
            </a:r>
          </a:p>
        </p:txBody>
      </p:sp>
      <p:sp>
        <p:nvSpPr>
          <p:cNvPr id="55" name="">
            <a:extLst xmlns:a="http://schemas.openxmlformats.org/drawingml/2006/main">
              <a:ext uri="{FF2B5EF4-FFF2-40B4-BE49-F238E27FC236}">
                <a16:creationId xmlns:a16="http://schemas.microsoft.com/office/drawing/2014/main" id="{4F3E4AC7-F775-48EB-AFD0-CC5FAD4CBE4D}"/>
              </a:ext>
            </a:extLst>
          </p:cNvPr>
          <p:cNvSpPr>
            <a:spLocks xmlns:a="http://schemas.openxmlformats.org/drawingml/2006/main" noGrp="1"/>
          </p:cNvSpPr>
          <p:nvPr/>
        </p:nvSpPr>
        <p:spPr>
          <a:xfrm xmlns:a="http://schemas.openxmlformats.org/drawingml/2006/main">
            <a:off x="7336549" y="5423807"/>
            <a:ext cx="4360151"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2F656A6C-A18B-4628-AC83-367699F74555}"/>
              </a:ext>
            </a:extLst>
          </p:cNvPr>
          <p:cNvSpPr>
            <a:spLocks xmlns:a="http://schemas.openxmlformats.org/drawingml/2006/main" noGrp="1"/>
          </p:cNvSpPr>
          <p:nvPr/>
        </p:nvSpPr>
        <p:spPr>
          <a:xfrm xmlns:a="http://schemas.openxmlformats.org/drawingml/2006/main">
            <a:off x="7384174" y="5452382"/>
            <a:ext cx="4264901"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负责页面、动画、音乐、音效和交互反馈</a:t>
            </a:r>
          </a:p>
        </p:txBody>
      </p:sp>
    </p:spTree>
    <p:extLst>
      <p:ext uri="{BB962C8B-B14F-4D97-AF65-F5344CB8AC3E}">
        <p14:creationId xmlns:p14="http://schemas.microsoft.com/office/powerpoint/2010/main" val="191063249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FE8751-DED3-4C33-A6F2-C104BCF05C5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68125E-ABF5-4E72-9038-BFE87807574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7C0DD3B-66C3-4669-9637-BD663555476D}"/>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4EA8CC8E-1236-43AE-990E-06F7B6110F67}"/>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C8DFC540-9277-40EB-83DC-5755DA2F15AD}"/>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30</a:t>
            </a:r>
          </a:p>
        </p:txBody>
      </p:sp>
      <p:sp>
        <p:nvSpPr>
          <p:cNvPr id="6" name="">
            <a:extLst xmlns:a="http://schemas.openxmlformats.org/drawingml/2006/main">
              <a:ext uri="{FF2B5EF4-FFF2-40B4-BE49-F238E27FC236}">
                <a16:creationId xmlns:a16="http://schemas.microsoft.com/office/drawing/2014/main" id="{296ECA14-3E49-4748-A61A-ED2449A1FE39}"/>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0F7C10DB-2C36-4BFC-8FA2-8D5DB76807F5}"/>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5.2 面向对象分析（3/3）</a:t>
            </a:r>
          </a:p>
        </p:txBody>
      </p:sp>
      <p:sp>
        <p:nvSpPr>
          <p:cNvPr id="8" name="">
            <a:extLst xmlns:a="http://schemas.openxmlformats.org/drawingml/2006/main">
              <a:ext uri="{FF2B5EF4-FFF2-40B4-BE49-F238E27FC236}">
                <a16:creationId xmlns:a16="http://schemas.microsoft.com/office/drawing/2014/main" id="{60D572A3-DD8B-401F-8D31-C8D2E03986AC}"/>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5CDDF33-10D8-405F-9FA9-BA3F7BAB7A33}"/>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 分析建模阶段重点把“现实牌局中的名词”转换为“可维护的领域对象”：</a:t>
            </a:r>
          </a:p>
          <a:p xmlns:a="http://schemas.openxmlformats.org/drawingml/2006/main">
            <a:r>
              <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1. Card 表示单张牌，内部由 Suit 和 Rank 组成；Deck 负责生成 52 张牌、洗牌和按 seed 发牌。</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2. HandClassifier 只负责识别牌型，不关心 UI 和蓝牙；这样规则、AI、测试都能复用同一套牌型判断。</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3. RuleSet 负责规则差异，NorthRuleSet 和 SouthRuleSet 只改变首出牌、炸弹增强、同张数压制等规则点，不复制整套游戏流程。</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4. GameState 是牌局唯一状态源，保存玩家手牌、当前回合、上一手、过牌次数、胜者、提示消息和规则。</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5. Move.Play 与 Move.Pass 表示动作命令，玩家、AI、蓝牙客户端最终都转换成同一种动作模型。</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6. RoomSeat 表示蓝牙房间座位，既能表达真人、房主、人机、空位，也能表达在线、断线、托管和准备状态。</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7. PlayerProfile 表示本地玩家档案，包含昵称、金币、等级经验、头像、战绩和成就。</a:t>
            </a:r>
          </a:p>
          <a:p xmlns:a="http://schemas.openxmlformats.org/drawingml/2006/main">
            <a:r>
              <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 这些对象对应类图中的核心区域：model 是牌局领域模型，controller 是业务规则执行者，transport 是联机协议和传输，profile 是玩家成长数据，view/audio 是页面、动画和反馈。</a:t>
            </a:r>
          </a:p>
        </p:txBody>
      </p:sp>
    </p:spTree>
    <p:extLst>
      <p:ext uri="{BB962C8B-B14F-4D97-AF65-F5344CB8AC3E}">
        <p14:creationId xmlns:p14="http://schemas.microsoft.com/office/powerpoint/2010/main" val="578718368"/>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153A915-D17A-40C1-9522-DD86E562E4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649DF0-3921-48DA-94B0-C84F637EBBE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6636AAD-0B32-4916-B24C-C70D3F06A6EF}"/>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E3155C64-F6FE-4AC2-A57A-2C36DECEFE26}"/>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CC68AA80-0DDB-4C00-BC7B-ACEB2E0B1551}"/>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31</a:t>
            </a:r>
          </a:p>
        </p:txBody>
      </p:sp>
      <p:sp>
        <p:nvSpPr>
          <p:cNvPr id="6" name="">
            <a:extLst xmlns:a="http://schemas.openxmlformats.org/drawingml/2006/main">
              <a:ext uri="{FF2B5EF4-FFF2-40B4-BE49-F238E27FC236}">
                <a16:creationId xmlns:a16="http://schemas.microsoft.com/office/drawing/2014/main" id="{3E693AB0-D34E-4819-8D23-38391E1FF802}"/>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B994E0F2-EB84-403A-B1AD-8035B2AAB43A}"/>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5.3 MVC 分层设计</a:t>
            </a:r>
          </a:p>
        </p:txBody>
      </p:sp>
      <p:sp>
        <p:nvSpPr>
          <p:cNvPr id="8" name="">
            <a:extLst xmlns:a="http://schemas.openxmlformats.org/drawingml/2006/main">
              <a:ext uri="{FF2B5EF4-FFF2-40B4-BE49-F238E27FC236}">
                <a16:creationId xmlns:a16="http://schemas.microsoft.com/office/drawing/2014/main" id="{914592F9-A817-480C-AB3E-B29922703B8E}"/>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816DC01-39A6-4A7A-91DC-20560AC3D738}"/>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284"/>
          </a:bodyPr>
          <a:lstStyle xmlns:a="http://schemas.openxmlformats.org/drawingml/2006/main"/>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 项目采用 MVC 思想组织代码：</a:t>
            </a:r>
          </a:p>
          <a:p xmlns:a="http://schemas.openxmlformats.org/drawingml/2006/main">
            <a:r>
              <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1. Model 层负责领域数据和规则，包括 Card、Deck、HandType、RuleSet、GameState、Player、RoomSeat、GameSnapshot 和 PlayerProfile。</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2. Controller 层负责业务逻辑，包括 GameController、PlayerActionPolicy、RoomController、NetworkMoveGuard 和 ProfileController。</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3. View 层使用 Jetpack Compose 实现界面展示，包括开屏、大厅、规则设置、人机难度选择、蓝牙房间、牌桌、结算和玩家中心。</a:t>
            </a:r>
          </a:p>
          <a:p xmlns:a="http://schemas.openxmlformats.org/drawingml/2006/main">
            <a:r>
              <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 这种分层让 UI 不直接处理复杂规则，让规则、AI、蓝牙和测试能够独立演进。</a:t>
            </a:r>
          </a:p>
          <a:p xmlns:a="http://schemas.openxmlformats.org/drawingml/2006/main">
            <a:r>
              <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 更细的实现边界如下：</a:t>
            </a:r>
          </a:p>
          <a:p xmlns:a="http://schemas.openxmlformats.org/drawingml/2006/main">
            <a:r>
              <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 例如玩家点击 出牌 时，View 层只收集选中的 Card；PlayerActionPolicy 判断按钮是否可用；GameController 调用 RuleSet 校验是否合法；成功后生成新的 GameState；如果是蓝牙对局，房主再通过 GameSnapshot 广播给客户端。这个流程体现了 MVC 的分层和顺序图中的调用链。</a:t>
            </a:r>
          </a:p>
        </p:txBody>
      </p:sp>
      <p:sp>
        <p:nvSpPr>
          <p:cNvPr id="10" name="">
            <a:extLst xmlns:a="http://schemas.openxmlformats.org/drawingml/2006/main">
              <a:ext uri="{FF2B5EF4-FFF2-40B4-BE49-F238E27FC236}">
                <a16:creationId xmlns:a16="http://schemas.microsoft.com/office/drawing/2014/main" id="{03E71EDC-8E74-432D-BC08-352834C597B3}"/>
              </a:ext>
            </a:extLst>
          </p:cNvPr>
          <p:cNvSpPr>
            <a:spLocks xmlns:a="http://schemas.openxmlformats.org/drawingml/2006/main" noGrp="1"/>
          </p:cNvSpPr>
          <p:nvPr/>
        </p:nvSpPr>
        <p:spPr>
          <a:xfrm xmlns:a="http://schemas.openxmlformats.org/drawingml/2006/main">
            <a:off x="5191125" y="1905000"/>
            <a:ext cx="1514314"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6F28B294-F03D-445A-BB7F-D76AC092B401}"/>
              </a:ext>
            </a:extLst>
          </p:cNvPr>
          <p:cNvSpPr>
            <a:spLocks xmlns:a="http://schemas.openxmlformats.org/drawingml/2006/main" noGrp="1"/>
          </p:cNvSpPr>
          <p:nvPr/>
        </p:nvSpPr>
        <p:spPr>
          <a:xfrm xmlns:a="http://schemas.openxmlformats.org/drawingml/2006/main">
            <a:off x="5238750" y="1943100"/>
            <a:ext cx="141906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层次</a:t>
            </a:r>
          </a:p>
        </p:txBody>
      </p:sp>
      <p:sp>
        <p:nvSpPr>
          <p:cNvPr id="12" name="">
            <a:extLst xmlns:a="http://schemas.openxmlformats.org/drawingml/2006/main">
              <a:ext uri="{FF2B5EF4-FFF2-40B4-BE49-F238E27FC236}">
                <a16:creationId xmlns:a16="http://schemas.microsoft.com/office/drawing/2014/main" id="{322114DB-64D5-4A0E-9121-829BF86369BA}"/>
              </a:ext>
            </a:extLst>
          </p:cNvPr>
          <p:cNvSpPr>
            <a:spLocks xmlns:a="http://schemas.openxmlformats.org/drawingml/2006/main" noGrp="1"/>
          </p:cNvSpPr>
          <p:nvPr/>
        </p:nvSpPr>
        <p:spPr>
          <a:xfrm xmlns:a="http://schemas.openxmlformats.org/drawingml/2006/main">
            <a:off x="6705439" y="1905000"/>
            <a:ext cx="162247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FEC4AD3C-AB12-4CD5-A2CD-6A244DA61062}"/>
              </a:ext>
            </a:extLst>
          </p:cNvPr>
          <p:cNvSpPr>
            <a:spLocks xmlns:a="http://schemas.openxmlformats.org/drawingml/2006/main" noGrp="1"/>
          </p:cNvSpPr>
          <p:nvPr/>
        </p:nvSpPr>
        <p:spPr>
          <a:xfrm xmlns:a="http://schemas.openxmlformats.org/drawingml/2006/main">
            <a:off x="6753064" y="1943100"/>
            <a:ext cx="152722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代码位置</a:t>
            </a:r>
          </a:p>
        </p:txBody>
      </p:sp>
      <p:sp>
        <p:nvSpPr>
          <p:cNvPr id="14" name="">
            <a:extLst xmlns:a="http://schemas.openxmlformats.org/drawingml/2006/main">
              <a:ext uri="{FF2B5EF4-FFF2-40B4-BE49-F238E27FC236}">
                <a16:creationId xmlns:a16="http://schemas.microsoft.com/office/drawing/2014/main" id="{EB597E65-A3C3-412A-A10C-37496E2A1AEE}"/>
              </a:ext>
            </a:extLst>
          </p:cNvPr>
          <p:cNvSpPr>
            <a:spLocks xmlns:a="http://schemas.openxmlformats.org/drawingml/2006/main" noGrp="1"/>
          </p:cNvSpPr>
          <p:nvPr/>
        </p:nvSpPr>
        <p:spPr>
          <a:xfrm xmlns:a="http://schemas.openxmlformats.org/drawingml/2006/main">
            <a:off x="8327917" y="1905000"/>
            <a:ext cx="162247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DFE17F10-97B7-4F7C-B37D-4F3C56D98E46}"/>
              </a:ext>
            </a:extLst>
          </p:cNvPr>
          <p:cNvSpPr>
            <a:spLocks xmlns:a="http://schemas.openxmlformats.org/drawingml/2006/main" noGrp="1"/>
          </p:cNvSpPr>
          <p:nvPr/>
        </p:nvSpPr>
        <p:spPr>
          <a:xfrm xmlns:a="http://schemas.openxmlformats.org/drawingml/2006/main">
            <a:off x="8375542" y="1943100"/>
            <a:ext cx="152722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主要类</a:t>
            </a:r>
          </a:p>
        </p:txBody>
      </p:sp>
      <p:sp>
        <p:nvSpPr>
          <p:cNvPr id="16" name="">
            <a:extLst xmlns:a="http://schemas.openxmlformats.org/drawingml/2006/main">
              <a:ext uri="{FF2B5EF4-FFF2-40B4-BE49-F238E27FC236}">
                <a16:creationId xmlns:a16="http://schemas.microsoft.com/office/drawing/2014/main" id="{371E1EEB-5A79-40EE-B2C4-3FEEBD767B10}"/>
              </a:ext>
            </a:extLst>
          </p:cNvPr>
          <p:cNvSpPr>
            <a:spLocks xmlns:a="http://schemas.openxmlformats.org/drawingml/2006/main" noGrp="1"/>
          </p:cNvSpPr>
          <p:nvPr/>
        </p:nvSpPr>
        <p:spPr>
          <a:xfrm xmlns:a="http://schemas.openxmlformats.org/drawingml/2006/main">
            <a:off x="9950396" y="1905000"/>
            <a:ext cx="162247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7" name="">
            <a:extLst xmlns:a="http://schemas.openxmlformats.org/drawingml/2006/main">
              <a:ext uri="{FF2B5EF4-FFF2-40B4-BE49-F238E27FC236}">
                <a16:creationId xmlns:a16="http://schemas.microsoft.com/office/drawing/2014/main" id="{541A9603-20EE-4DB6-9A16-712BF1623FF8}"/>
              </a:ext>
            </a:extLst>
          </p:cNvPr>
          <p:cNvSpPr>
            <a:spLocks xmlns:a="http://schemas.openxmlformats.org/drawingml/2006/main" noGrp="1"/>
          </p:cNvSpPr>
          <p:nvPr/>
        </p:nvSpPr>
        <p:spPr>
          <a:xfrm xmlns:a="http://schemas.openxmlformats.org/drawingml/2006/main">
            <a:off x="9998021" y="1943100"/>
            <a:ext cx="152722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具体职责</a:t>
            </a:r>
          </a:p>
        </p:txBody>
      </p:sp>
      <p:sp>
        <p:nvSpPr>
          <p:cNvPr id="18" name="">
            <a:extLst xmlns:a="http://schemas.openxmlformats.org/drawingml/2006/main">
              <a:ext uri="{FF2B5EF4-FFF2-40B4-BE49-F238E27FC236}">
                <a16:creationId xmlns:a16="http://schemas.microsoft.com/office/drawing/2014/main" id="{2F1E6D66-2EFE-41D2-9252-0E7EBBC083F9}"/>
              </a:ext>
            </a:extLst>
          </p:cNvPr>
          <p:cNvSpPr>
            <a:spLocks xmlns:a="http://schemas.openxmlformats.org/drawingml/2006/main" noGrp="1"/>
          </p:cNvSpPr>
          <p:nvPr/>
        </p:nvSpPr>
        <p:spPr>
          <a:xfrm xmlns:a="http://schemas.openxmlformats.org/drawingml/2006/main">
            <a:off x="5191125" y="2305050"/>
            <a:ext cx="1514314"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15C4A329-1CD0-4574-BAD1-CEE51F11F29A}"/>
              </a:ext>
            </a:extLst>
          </p:cNvPr>
          <p:cNvSpPr>
            <a:spLocks xmlns:a="http://schemas.openxmlformats.org/drawingml/2006/main" noGrp="1"/>
          </p:cNvSpPr>
          <p:nvPr/>
        </p:nvSpPr>
        <p:spPr>
          <a:xfrm xmlns:a="http://schemas.openxmlformats.org/drawingml/2006/main">
            <a:off x="5238750" y="2333625"/>
            <a:ext cx="1419064"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Model</a:t>
            </a:r>
          </a:p>
        </p:txBody>
      </p:sp>
      <p:sp>
        <p:nvSpPr>
          <p:cNvPr id="20" name="">
            <a:extLst xmlns:a="http://schemas.openxmlformats.org/drawingml/2006/main">
              <a:ext uri="{FF2B5EF4-FFF2-40B4-BE49-F238E27FC236}">
                <a16:creationId xmlns:a16="http://schemas.microsoft.com/office/drawing/2014/main" id="{603008E2-FB50-4E1D-A552-3FAB27E31E0B}"/>
              </a:ext>
            </a:extLst>
          </p:cNvPr>
          <p:cNvSpPr>
            <a:spLocks xmlns:a="http://schemas.openxmlformats.org/drawingml/2006/main" noGrp="1"/>
          </p:cNvSpPr>
          <p:nvPr/>
        </p:nvSpPr>
        <p:spPr>
          <a:xfrm xmlns:a="http://schemas.openxmlformats.org/drawingml/2006/main">
            <a:off x="6705439" y="2305050"/>
            <a:ext cx="1622479"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9A62A2FD-F6F6-440C-AB95-F3E23EF48009}"/>
              </a:ext>
            </a:extLst>
          </p:cNvPr>
          <p:cNvSpPr>
            <a:spLocks xmlns:a="http://schemas.openxmlformats.org/drawingml/2006/main" noGrp="1"/>
          </p:cNvSpPr>
          <p:nvPr/>
        </p:nvSpPr>
        <p:spPr>
          <a:xfrm xmlns:a="http://schemas.openxmlformats.org/drawingml/2006/main">
            <a:off x="6753064" y="2333625"/>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app/src/main/java/com/example/uml_chudadi/model</a:t>
            </a:r>
          </a:p>
        </p:txBody>
      </p:sp>
      <p:sp>
        <p:nvSpPr>
          <p:cNvPr id="22" name="">
            <a:extLst xmlns:a="http://schemas.openxmlformats.org/drawingml/2006/main">
              <a:ext uri="{FF2B5EF4-FFF2-40B4-BE49-F238E27FC236}">
                <a16:creationId xmlns:a16="http://schemas.microsoft.com/office/drawing/2014/main" id="{069E0E2B-5423-4B2D-811B-BEA8278E8A9E}"/>
              </a:ext>
            </a:extLst>
          </p:cNvPr>
          <p:cNvSpPr>
            <a:spLocks xmlns:a="http://schemas.openxmlformats.org/drawingml/2006/main" noGrp="1"/>
          </p:cNvSpPr>
          <p:nvPr/>
        </p:nvSpPr>
        <p:spPr>
          <a:xfrm xmlns:a="http://schemas.openxmlformats.org/drawingml/2006/main">
            <a:off x="8327917" y="2305050"/>
            <a:ext cx="1622479"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BFD51D99-9A5D-4DE9-A84D-5996F364DF27}"/>
              </a:ext>
            </a:extLst>
          </p:cNvPr>
          <p:cNvSpPr>
            <a:spLocks xmlns:a="http://schemas.openxmlformats.org/drawingml/2006/main" noGrp="1"/>
          </p:cNvSpPr>
          <p:nvPr/>
        </p:nvSpPr>
        <p:spPr>
          <a:xfrm xmlns:a="http://schemas.openxmlformats.org/drawingml/2006/main">
            <a:off x="8375542" y="2333625"/>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Card、Deck、HandType、GameState、RuleSet、Player</a:t>
            </a:r>
          </a:p>
        </p:txBody>
      </p:sp>
      <p:sp>
        <p:nvSpPr>
          <p:cNvPr id="24" name="">
            <a:extLst xmlns:a="http://schemas.openxmlformats.org/drawingml/2006/main">
              <a:ext uri="{FF2B5EF4-FFF2-40B4-BE49-F238E27FC236}">
                <a16:creationId xmlns:a16="http://schemas.microsoft.com/office/drawing/2014/main" id="{3777A146-94FA-483E-A7D3-3661DB246917}"/>
              </a:ext>
            </a:extLst>
          </p:cNvPr>
          <p:cNvSpPr>
            <a:spLocks xmlns:a="http://schemas.openxmlformats.org/drawingml/2006/main" noGrp="1"/>
          </p:cNvSpPr>
          <p:nvPr/>
        </p:nvSpPr>
        <p:spPr>
          <a:xfrm xmlns:a="http://schemas.openxmlformats.org/drawingml/2006/main">
            <a:off x="9950396" y="2305050"/>
            <a:ext cx="1622479"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BF118D2C-6750-4256-BF93-29FF1D4FD754}"/>
              </a:ext>
            </a:extLst>
          </p:cNvPr>
          <p:cNvSpPr>
            <a:spLocks xmlns:a="http://schemas.openxmlformats.org/drawingml/2006/main" noGrp="1"/>
          </p:cNvSpPr>
          <p:nvPr/>
        </p:nvSpPr>
        <p:spPr>
          <a:xfrm xmlns:a="http://schemas.openxmlformats.org/drawingml/2006/main">
            <a:off x="9998021" y="2333625"/>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表示牌、牌型、玩家、规则和牌局状态，不依赖 Android UI</a:t>
            </a:r>
          </a:p>
        </p:txBody>
      </p:sp>
      <p:sp>
        <p:nvSpPr>
          <p:cNvPr id="26" name="">
            <a:extLst xmlns:a="http://schemas.openxmlformats.org/drawingml/2006/main">
              <a:ext uri="{FF2B5EF4-FFF2-40B4-BE49-F238E27FC236}">
                <a16:creationId xmlns:a16="http://schemas.microsoft.com/office/drawing/2014/main" id="{2FBAD58D-16A8-40C2-A493-7E58339D9FB0}"/>
              </a:ext>
            </a:extLst>
          </p:cNvPr>
          <p:cNvSpPr>
            <a:spLocks xmlns:a="http://schemas.openxmlformats.org/drawingml/2006/main" noGrp="1"/>
          </p:cNvSpPr>
          <p:nvPr/>
        </p:nvSpPr>
        <p:spPr>
          <a:xfrm xmlns:a="http://schemas.openxmlformats.org/drawingml/2006/main">
            <a:off x="5191125" y="2911475"/>
            <a:ext cx="1514314"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B8EA5023-D498-45B8-9AFC-05F98031CAFE}"/>
              </a:ext>
            </a:extLst>
          </p:cNvPr>
          <p:cNvSpPr>
            <a:spLocks xmlns:a="http://schemas.openxmlformats.org/drawingml/2006/main" noGrp="1"/>
          </p:cNvSpPr>
          <p:nvPr/>
        </p:nvSpPr>
        <p:spPr>
          <a:xfrm xmlns:a="http://schemas.openxmlformats.org/drawingml/2006/main">
            <a:off x="5238750" y="2940050"/>
            <a:ext cx="1419064"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Controller</a:t>
            </a:r>
          </a:p>
        </p:txBody>
      </p:sp>
      <p:sp>
        <p:nvSpPr>
          <p:cNvPr id="28" name="">
            <a:extLst xmlns:a="http://schemas.openxmlformats.org/drawingml/2006/main">
              <a:ext uri="{FF2B5EF4-FFF2-40B4-BE49-F238E27FC236}">
                <a16:creationId xmlns:a16="http://schemas.microsoft.com/office/drawing/2014/main" id="{B796ADCA-56A1-4D6A-972E-542125E0AC74}"/>
              </a:ext>
            </a:extLst>
          </p:cNvPr>
          <p:cNvSpPr>
            <a:spLocks xmlns:a="http://schemas.openxmlformats.org/drawingml/2006/main" noGrp="1"/>
          </p:cNvSpPr>
          <p:nvPr/>
        </p:nvSpPr>
        <p:spPr>
          <a:xfrm xmlns:a="http://schemas.openxmlformats.org/drawingml/2006/main">
            <a:off x="6705439" y="2911475"/>
            <a:ext cx="1622479"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5D0B9AE5-D7E3-4159-89F7-3E3AD0F6CB95}"/>
              </a:ext>
            </a:extLst>
          </p:cNvPr>
          <p:cNvSpPr>
            <a:spLocks xmlns:a="http://schemas.openxmlformats.org/drawingml/2006/main" noGrp="1"/>
          </p:cNvSpPr>
          <p:nvPr/>
        </p:nvSpPr>
        <p:spPr>
          <a:xfrm xmlns:a="http://schemas.openxmlformats.org/drawingml/2006/main">
            <a:off x="6753064" y="2940050"/>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app/src/main/java/com/example/uml_chudadi/controller</a:t>
            </a:r>
          </a:p>
        </p:txBody>
      </p:sp>
      <p:sp>
        <p:nvSpPr>
          <p:cNvPr id="30" name="">
            <a:extLst xmlns:a="http://schemas.openxmlformats.org/drawingml/2006/main">
              <a:ext uri="{FF2B5EF4-FFF2-40B4-BE49-F238E27FC236}">
                <a16:creationId xmlns:a16="http://schemas.microsoft.com/office/drawing/2014/main" id="{D8DA04C0-264E-4BD5-9CBB-ABE5425F6219}"/>
              </a:ext>
            </a:extLst>
          </p:cNvPr>
          <p:cNvSpPr>
            <a:spLocks xmlns:a="http://schemas.openxmlformats.org/drawingml/2006/main" noGrp="1"/>
          </p:cNvSpPr>
          <p:nvPr/>
        </p:nvSpPr>
        <p:spPr>
          <a:xfrm xmlns:a="http://schemas.openxmlformats.org/drawingml/2006/main">
            <a:off x="8327917" y="2911475"/>
            <a:ext cx="1622479"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2909BB51-3DF6-496D-9811-367C91FEB2D4}"/>
              </a:ext>
            </a:extLst>
          </p:cNvPr>
          <p:cNvSpPr>
            <a:spLocks xmlns:a="http://schemas.openxmlformats.org/drawingml/2006/main" noGrp="1"/>
          </p:cNvSpPr>
          <p:nvPr/>
        </p:nvSpPr>
        <p:spPr>
          <a:xfrm xmlns:a="http://schemas.openxmlformats.org/drawingml/2006/main">
            <a:off x="8375542" y="2940050"/>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GameController、AiStrategy、PlayerActionPolicy、NetworkMoveGuard</a:t>
            </a:r>
          </a:p>
        </p:txBody>
      </p:sp>
      <p:sp>
        <p:nvSpPr>
          <p:cNvPr id="32" name="">
            <a:extLst xmlns:a="http://schemas.openxmlformats.org/drawingml/2006/main">
              <a:ext uri="{FF2B5EF4-FFF2-40B4-BE49-F238E27FC236}">
                <a16:creationId xmlns:a16="http://schemas.microsoft.com/office/drawing/2014/main" id="{5B882228-78F5-42DB-8D6F-9DC4B1A4D7CB}"/>
              </a:ext>
            </a:extLst>
          </p:cNvPr>
          <p:cNvSpPr>
            <a:spLocks xmlns:a="http://schemas.openxmlformats.org/drawingml/2006/main" noGrp="1"/>
          </p:cNvSpPr>
          <p:nvPr/>
        </p:nvSpPr>
        <p:spPr>
          <a:xfrm xmlns:a="http://schemas.openxmlformats.org/drawingml/2006/main">
            <a:off x="9950396" y="2911475"/>
            <a:ext cx="1622479"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2240D6A5-5A82-4217-B6EF-A0734DA9CBF7}"/>
              </a:ext>
            </a:extLst>
          </p:cNvPr>
          <p:cNvSpPr>
            <a:spLocks xmlns:a="http://schemas.openxmlformats.org/drawingml/2006/main" noGrp="1"/>
          </p:cNvSpPr>
          <p:nvPr/>
        </p:nvSpPr>
        <p:spPr>
          <a:xfrm xmlns:a="http://schemas.openxmlformats.org/drawingml/2006/main">
            <a:off x="9998021" y="2940050"/>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处理发牌、出牌、过牌、AI 决策、按钮可用性和网络请求校验</a:t>
            </a:r>
          </a:p>
        </p:txBody>
      </p:sp>
      <p:sp>
        <p:nvSpPr>
          <p:cNvPr id="34" name="">
            <a:extLst xmlns:a="http://schemas.openxmlformats.org/drawingml/2006/main">
              <a:ext uri="{FF2B5EF4-FFF2-40B4-BE49-F238E27FC236}">
                <a16:creationId xmlns:a16="http://schemas.microsoft.com/office/drawing/2014/main" id="{4322F32B-C8ED-4DCA-895D-1D9BDFFA9167}"/>
              </a:ext>
            </a:extLst>
          </p:cNvPr>
          <p:cNvSpPr>
            <a:spLocks xmlns:a="http://schemas.openxmlformats.org/drawingml/2006/main" noGrp="1"/>
          </p:cNvSpPr>
          <p:nvPr/>
        </p:nvSpPr>
        <p:spPr>
          <a:xfrm xmlns:a="http://schemas.openxmlformats.org/drawingml/2006/main">
            <a:off x="5191125" y="3517900"/>
            <a:ext cx="1514314"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5" name="">
            <a:extLst xmlns:a="http://schemas.openxmlformats.org/drawingml/2006/main">
              <a:ext uri="{FF2B5EF4-FFF2-40B4-BE49-F238E27FC236}">
                <a16:creationId xmlns:a16="http://schemas.microsoft.com/office/drawing/2014/main" id="{1A3BB6C2-494D-4017-A4A0-26EC020817FD}"/>
              </a:ext>
            </a:extLst>
          </p:cNvPr>
          <p:cNvSpPr>
            <a:spLocks xmlns:a="http://schemas.openxmlformats.org/drawingml/2006/main" noGrp="1"/>
          </p:cNvSpPr>
          <p:nvPr/>
        </p:nvSpPr>
        <p:spPr>
          <a:xfrm xmlns:a="http://schemas.openxmlformats.org/drawingml/2006/main">
            <a:off x="5238750" y="3546475"/>
            <a:ext cx="1419064"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Transport</a:t>
            </a:r>
          </a:p>
        </p:txBody>
      </p:sp>
      <p:sp>
        <p:nvSpPr>
          <p:cNvPr id="36" name="">
            <a:extLst xmlns:a="http://schemas.openxmlformats.org/drawingml/2006/main">
              <a:ext uri="{FF2B5EF4-FFF2-40B4-BE49-F238E27FC236}">
                <a16:creationId xmlns:a16="http://schemas.microsoft.com/office/drawing/2014/main" id="{76AEE31E-B299-4C48-85DA-D46243F874BE}"/>
              </a:ext>
            </a:extLst>
          </p:cNvPr>
          <p:cNvSpPr>
            <a:spLocks xmlns:a="http://schemas.openxmlformats.org/drawingml/2006/main" noGrp="1"/>
          </p:cNvSpPr>
          <p:nvPr/>
        </p:nvSpPr>
        <p:spPr>
          <a:xfrm xmlns:a="http://schemas.openxmlformats.org/drawingml/2006/main">
            <a:off x="6705439" y="3517900"/>
            <a:ext cx="1622479"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7" name="">
            <a:extLst xmlns:a="http://schemas.openxmlformats.org/drawingml/2006/main">
              <a:ext uri="{FF2B5EF4-FFF2-40B4-BE49-F238E27FC236}">
                <a16:creationId xmlns:a16="http://schemas.microsoft.com/office/drawing/2014/main" id="{951C65A3-C448-42C8-B8F1-45D45C25F6F7}"/>
              </a:ext>
            </a:extLst>
          </p:cNvPr>
          <p:cNvSpPr>
            <a:spLocks xmlns:a="http://schemas.openxmlformats.org/drawingml/2006/main" noGrp="1"/>
          </p:cNvSpPr>
          <p:nvPr/>
        </p:nvSpPr>
        <p:spPr>
          <a:xfrm xmlns:a="http://schemas.openxmlformats.org/drawingml/2006/main">
            <a:off x="6753064" y="3546475"/>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app/src/main/java/com/example/uml_chudadi/transport</a:t>
            </a:r>
          </a:p>
        </p:txBody>
      </p:sp>
      <p:sp>
        <p:nvSpPr>
          <p:cNvPr id="38" name="">
            <a:extLst xmlns:a="http://schemas.openxmlformats.org/drawingml/2006/main">
              <a:ext uri="{FF2B5EF4-FFF2-40B4-BE49-F238E27FC236}">
                <a16:creationId xmlns:a16="http://schemas.microsoft.com/office/drawing/2014/main" id="{695A96E3-C979-463E-A278-DEC386661942}"/>
              </a:ext>
            </a:extLst>
          </p:cNvPr>
          <p:cNvSpPr>
            <a:spLocks xmlns:a="http://schemas.openxmlformats.org/drawingml/2006/main" noGrp="1"/>
          </p:cNvSpPr>
          <p:nvPr/>
        </p:nvSpPr>
        <p:spPr>
          <a:xfrm xmlns:a="http://schemas.openxmlformats.org/drawingml/2006/main">
            <a:off x="8327917" y="3517900"/>
            <a:ext cx="1622479"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9" name="">
            <a:extLst xmlns:a="http://schemas.openxmlformats.org/drawingml/2006/main">
              <a:ext uri="{FF2B5EF4-FFF2-40B4-BE49-F238E27FC236}">
                <a16:creationId xmlns:a16="http://schemas.microsoft.com/office/drawing/2014/main" id="{4B04DB96-4DA7-4B7E-81DB-2CBA89019FD4}"/>
              </a:ext>
            </a:extLst>
          </p:cNvPr>
          <p:cNvSpPr>
            <a:spLocks xmlns:a="http://schemas.openxmlformats.org/drawingml/2006/main" noGrp="1"/>
          </p:cNvSpPr>
          <p:nvPr/>
        </p:nvSpPr>
        <p:spPr>
          <a:xfrm xmlns:a="http://schemas.openxmlformats.org/drawingml/2006/main">
            <a:off x="8375542" y="3546475"/>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GameTransport、BluetoothHostTransport、BluetoothClientTransport、GameMessageCodec</a:t>
            </a:r>
          </a:p>
        </p:txBody>
      </p:sp>
      <p:sp>
        <p:nvSpPr>
          <p:cNvPr id="40" name="">
            <a:extLst xmlns:a="http://schemas.openxmlformats.org/drawingml/2006/main">
              <a:ext uri="{FF2B5EF4-FFF2-40B4-BE49-F238E27FC236}">
                <a16:creationId xmlns:a16="http://schemas.microsoft.com/office/drawing/2014/main" id="{B9616B2B-077A-4A4B-9FDA-8989A1DC029A}"/>
              </a:ext>
            </a:extLst>
          </p:cNvPr>
          <p:cNvSpPr>
            <a:spLocks xmlns:a="http://schemas.openxmlformats.org/drawingml/2006/main" noGrp="1"/>
          </p:cNvSpPr>
          <p:nvPr/>
        </p:nvSpPr>
        <p:spPr>
          <a:xfrm xmlns:a="http://schemas.openxmlformats.org/drawingml/2006/main">
            <a:off x="9950396" y="3517900"/>
            <a:ext cx="1622479"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1" name="">
            <a:extLst xmlns:a="http://schemas.openxmlformats.org/drawingml/2006/main">
              <a:ext uri="{FF2B5EF4-FFF2-40B4-BE49-F238E27FC236}">
                <a16:creationId xmlns:a16="http://schemas.microsoft.com/office/drawing/2014/main" id="{0F2F0AD8-98F4-446E-8FB3-D9845604D29F}"/>
              </a:ext>
            </a:extLst>
          </p:cNvPr>
          <p:cNvSpPr>
            <a:spLocks xmlns:a="http://schemas.openxmlformats.org/drawingml/2006/main" noGrp="1"/>
          </p:cNvSpPr>
          <p:nvPr/>
        </p:nvSpPr>
        <p:spPr>
          <a:xfrm xmlns:a="http://schemas.openxmlformats.org/drawingml/2006/main">
            <a:off x="9998021" y="3546475"/>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隔离蓝牙 socket、消息编解码、快照同步和房间座位</a:t>
            </a:r>
          </a:p>
        </p:txBody>
      </p:sp>
      <p:sp>
        <p:nvSpPr>
          <p:cNvPr id="42" name="">
            <a:extLst xmlns:a="http://schemas.openxmlformats.org/drawingml/2006/main">
              <a:ext uri="{FF2B5EF4-FFF2-40B4-BE49-F238E27FC236}">
                <a16:creationId xmlns:a16="http://schemas.microsoft.com/office/drawing/2014/main" id="{B5376C54-DF9F-4448-A79B-3CF5D739616F}"/>
              </a:ext>
            </a:extLst>
          </p:cNvPr>
          <p:cNvSpPr>
            <a:spLocks xmlns:a="http://schemas.openxmlformats.org/drawingml/2006/main" noGrp="1"/>
          </p:cNvSpPr>
          <p:nvPr/>
        </p:nvSpPr>
        <p:spPr>
          <a:xfrm xmlns:a="http://schemas.openxmlformats.org/drawingml/2006/main">
            <a:off x="5191125" y="4124325"/>
            <a:ext cx="1514314"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3" name="">
            <a:extLst xmlns:a="http://schemas.openxmlformats.org/drawingml/2006/main">
              <a:ext uri="{FF2B5EF4-FFF2-40B4-BE49-F238E27FC236}">
                <a16:creationId xmlns:a16="http://schemas.microsoft.com/office/drawing/2014/main" id="{A90ACD28-89D1-473E-9723-116C8C34B51B}"/>
              </a:ext>
            </a:extLst>
          </p:cNvPr>
          <p:cNvSpPr>
            <a:spLocks xmlns:a="http://schemas.openxmlformats.org/drawingml/2006/main" noGrp="1"/>
          </p:cNvSpPr>
          <p:nvPr/>
        </p:nvSpPr>
        <p:spPr>
          <a:xfrm xmlns:a="http://schemas.openxmlformats.org/drawingml/2006/main">
            <a:off x="5238750" y="4152900"/>
            <a:ext cx="1419064"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Profile</a:t>
            </a:r>
          </a:p>
        </p:txBody>
      </p:sp>
      <p:sp>
        <p:nvSpPr>
          <p:cNvPr id="44" name="">
            <a:extLst xmlns:a="http://schemas.openxmlformats.org/drawingml/2006/main">
              <a:ext uri="{FF2B5EF4-FFF2-40B4-BE49-F238E27FC236}">
                <a16:creationId xmlns:a16="http://schemas.microsoft.com/office/drawing/2014/main" id="{C9C0EAD9-9863-4F07-ACA0-8C0F30530D44}"/>
              </a:ext>
            </a:extLst>
          </p:cNvPr>
          <p:cNvSpPr>
            <a:spLocks xmlns:a="http://schemas.openxmlformats.org/drawingml/2006/main" noGrp="1"/>
          </p:cNvSpPr>
          <p:nvPr/>
        </p:nvSpPr>
        <p:spPr>
          <a:xfrm xmlns:a="http://schemas.openxmlformats.org/drawingml/2006/main">
            <a:off x="6705439" y="4124325"/>
            <a:ext cx="1622479"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5" name="">
            <a:extLst xmlns:a="http://schemas.openxmlformats.org/drawingml/2006/main">
              <a:ext uri="{FF2B5EF4-FFF2-40B4-BE49-F238E27FC236}">
                <a16:creationId xmlns:a16="http://schemas.microsoft.com/office/drawing/2014/main" id="{15FDDD39-B652-4506-9050-0931A7DDC1E3}"/>
              </a:ext>
            </a:extLst>
          </p:cNvPr>
          <p:cNvSpPr>
            <a:spLocks xmlns:a="http://schemas.openxmlformats.org/drawingml/2006/main" noGrp="1"/>
          </p:cNvSpPr>
          <p:nvPr/>
        </p:nvSpPr>
        <p:spPr>
          <a:xfrm xmlns:a="http://schemas.openxmlformats.org/drawingml/2006/main">
            <a:off x="6753064" y="4152900"/>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app/src/main/java/com/example/uml_chudadi/profile</a:t>
            </a:r>
          </a:p>
        </p:txBody>
      </p:sp>
      <p:sp>
        <p:nvSpPr>
          <p:cNvPr id="46" name="">
            <a:extLst xmlns:a="http://schemas.openxmlformats.org/drawingml/2006/main">
              <a:ext uri="{FF2B5EF4-FFF2-40B4-BE49-F238E27FC236}">
                <a16:creationId xmlns:a16="http://schemas.microsoft.com/office/drawing/2014/main" id="{7B5873E3-5CE5-4ED3-BD7F-90E9D5A1CB4C}"/>
              </a:ext>
            </a:extLst>
          </p:cNvPr>
          <p:cNvSpPr>
            <a:spLocks xmlns:a="http://schemas.openxmlformats.org/drawingml/2006/main" noGrp="1"/>
          </p:cNvSpPr>
          <p:nvPr/>
        </p:nvSpPr>
        <p:spPr>
          <a:xfrm xmlns:a="http://schemas.openxmlformats.org/drawingml/2006/main">
            <a:off x="8327917" y="4124325"/>
            <a:ext cx="1622479"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7" name="">
            <a:extLst xmlns:a="http://schemas.openxmlformats.org/drawingml/2006/main">
              <a:ext uri="{FF2B5EF4-FFF2-40B4-BE49-F238E27FC236}">
                <a16:creationId xmlns:a16="http://schemas.microsoft.com/office/drawing/2014/main" id="{DC23788D-457B-4F17-9924-8BD5C3E55BA6}"/>
              </a:ext>
            </a:extLst>
          </p:cNvPr>
          <p:cNvSpPr>
            <a:spLocks xmlns:a="http://schemas.openxmlformats.org/drawingml/2006/main" noGrp="1"/>
          </p:cNvSpPr>
          <p:nvPr/>
        </p:nvSpPr>
        <p:spPr>
          <a:xfrm xmlns:a="http://schemas.openxmlformats.org/drawingml/2006/main">
            <a:off x="8375542" y="4152900"/>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PlayerProfile、ProfileController、ProfileStore</a:t>
            </a:r>
          </a:p>
        </p:txBody>
      </p:sp>
      <p:sp>
        <p:nvSpPr>
          <p:cNvPr id="48" name="">
            <a:extLst xmlns:a="http://schemas.openxmlformats.org/drawingml/2006/main">
              <a:ext uri="{FF2B5EF4-FFF2-40B4-BE49-F238E27FC236}">
                <a16:creationId xmlns:a16="http://schemas.microsoft.com/office/drawing/2014/main" id="{9CD5C72D-4C60-4D58-872D-168930173F98}"/>
              </a:ext>
            </a:extLst>
          </p:cNvPr>
          <p:cNvSpPr>
            <a:spLocks xmlns:a="http://schemas.openxmlformats.org/drawingml/2006/main" noGrp="1"/>
          </p:cNvSpPr>
          <p:nvPr/>
        </p:nvSpPr>
        <p:spPr>
          <a:xfrm xmlns:a="http://schemas.openxmlformats.org/drawingml/2006/main">
            <a:off x="9950396" y="4124325"/>
            <a:ext cx="1622479"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9" name="">
            <a:extLst xmlns:a="http://schemas.openxmlformats.org/drawingml/2006/main">
              <a:ext uri="{FF2B5EF4-FFF2-40B4-BE49-F238E27FC236}">
                <a16:creationId xmlns:a16="http://schemas.microsoft.com/office/drawing/2014/main" id="{67B99BCC-F62D-4B2D-BA87-C7261C358C12}"/>
              </a:ext>
            </a:extLst>
          </p:cNvPr>
          <p:cNvSpPr>
            <a:spLocks xmlns:a="http://schemas.openxmlformats.org/drawingml/2006/main" noGrp="1"/>
          </p:cNvSpPr>
          <p:nvPr/>
        </p:nvSpPr>
        <p:spPr>
          <a:xfrm xmlns:a="http://schemas.openxmlformats.org/drawingml/2006/main">
            <a:off x="9998021" y="4152900"/>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处理等级、金币、头像、战绩、成就、每日奖励和本地保存</a:t>
            </a:r>
          </a:p>
        </p:txBody>
      </p:sp>
      <p:sp>
        <p:nvSpPr>
          <p:cNvPr id="50" name="">
            <a:extLst xmlns:a="http://schemas.openxmlformats.org/drawingml/2006/main">
              <a:ext uri="{FF2B5EF4-FFF2-40B4-BE49-F238E27FC236}">
                <a16:creationId xmlns:a16="http://schemas.microsoft.com/office/drawing/2014/main" id="{36D3B16E-A8D7-4F6D-81D5-599348520BD8}"/>
              </a:ext>
            </a:extLst>
          </p:cNvPr>
          <p:cNvSpPr>
            <a:spLocks xmlns:a="http://schemas.openxmlformats.org/drawingml/2006/main" noGrp="1"/>
          </p:cNvSpPr>
          <p:nvPr/>
        </p:nvSpPr>
        <p:spPr>
          <a:xfrm xmlns:a="http://schemas.openxmlformats.org/drawingml/2006/main">
            <a:off x="5191125" y="4730750"/>
            <a:ext cx="1514314"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1" name="">
            <a:extLst xmlns:a="http://schemas.openxmlformats.org/drawingml/2006/main">
              <a:ext uri="{FF2B5EF4-FFF2-40B4-BE49-F238E27FC236}">
                <a16:creationId xmlns:a16="http://schemas.microsoft.com/office/drawing/2014/main" id="{844EA171-1668-4271-802F-5FDA5BE17125}"/>
              </a:ext>
            </a:extLst>
          </p:cNvPr>
          <p:cNvSpPr>
            <a:spLocks xmlns:a="http://schemas.openxmlformats.org/drawingml/2006/main" noGrp="1"/>
          </p:cNvSpPr>
          <p:nvPr/>
        </p:nvSpPr>
        <p:spPr>
          <a:xfrm xmlns:a="http://schemas.openxmlformats.org/drawingml/2006/main">
            <a:off x="5238750" y="4759325"/>
            <a:ext cx="1419064"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View</a:t>
            </a:r>
          </a:p>
        </p:txBody>
      </p:sp>
      <p:sp>
        <p:nvSpPr>
          <p:cNvPr id="52" name="">
            <a:extLst xmlns:a="http://schemas.openxmlformats.org/drawingml/2006/main">
              <a:ext uri="{FF2B5EF4-FFF2-40B4-BE49-F238E27FC236}">
                <a16:creationId xmlns:a16="http://schemas.microsoft.com/office/drawing/2014/main" id="{827BBEE7-9501-4C40-A678-70938698ACC7}"/>
              </a:ext>
            </a:extLst>
          </p:cNvPr>
          <p:cNvSpPr>
            <a:spLocks xmlns:a="http://schemas.openxmlformats.org/drawingml/2006/main" noGrp="1"/>
          </p:cNvSpPr>
          <p:nvPr/>
        </p:nvSpPr>
        <p:spPr>
          <a:xfrm xmlns:a="http://schemas.openxmlformats.org/drawingml/2006/main">
            <a:off x="6705439" y="4730750"/>
            <a:ext cx="1622479"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3" name="">
            <a:extLst xmlns:a="http://schemas.openxmlformats.org/drawingml/2006/main">
              <a:ext uri="{FF2B5EF4-FFF2-40B4-BE49-F238E27FC236}">
                <a16:creationId xmlns:a16="http://schemas.microsoft.com/office/drawing/2014/main" id="{525CCE7D-6FDB-4654-B107-AC0BFB339FC8}"/>
              </a:ext>
            </a:extLst>
          </p:cNvPr>
          <p:cNvSpPr>
            <a:spLocks xmlns:a="http://schemas.openxmlformats.org/drawingml/2006/main" noGrp="1"/>
          </p:cNvSpPr>
          <p:nvPr/>
        </p:nvSpPr>
        <p:spPr>
          <a:xfrm xmlns:a="http://schemas.openxmlformats.org/drawingml/2006/main">
            <a:off x="6753064" y="4759325"/>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app/src/main/java/com/example/uml_chudadi/view</a:t>
            </a:r>
          </a:p>
        </p:txBody>
      </p:sp>
      <p:sp>
        <p:nvSpPr>
          <p:cNvPr id="54" name="">
            <a:extLst xmlns:a="http://schemas.openxmlformats.org/drawingml/2006/main">
              <a:ext uri="{FF2B5EF4-FFF2-40B4-BE49-F238E27FC236}">
                <a16:creationId xmlns:a16="http://schemas.microsoft.com/office/drawing/2014/main" id="{FA89FCEB-DD6E-4651-A992-A41F200B65FE}"/>
              </a:ext>
            </a:extLst>
          </p:cNvPr>
          <p:cNvSpPr>
            <a:spLocks xmlns:a="http://schemas.openxmlformats.org/drawingml/2006/main" noGrp="1"/>
          </p:cNvSpPr>
          <p:nvPr/>
        </p:nvSpPr>
        <p:spPr>
          <a:xfrm xmlns:a="http://schemas.openxmlformats.org/drawingml/2006/main">
            <a:off x="8327917" y="4730750"/>
            <a:ext cx="1622479"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5" name="">
            <a:extLst xmlns:a="http://schemas.openxmlformats.org/drawingml/2006/main">
              <a:ext uri="{FF2B5EF4-FFF2-40B4-BE49-F238E27FC236}">
                <a16:creationId xmlns:a16="http://schemas.microsoft.com/office/drawing/2014/main" id="{7728E6A2-2EA8-448A-97D7-4B44D944F2AF}"/>
              </a:ext>
            </a:extLst>
          </p:cNvPr>
          <p:cNvSpPr>
            <a:spLocks xmlns:a="http://schemas.openxmlformats.org/drawingml/2006/main" noGrp="1"/>
          </p:cNvSpPr>
          <p:nvPr/>
        </p:nvSpPr>
        <p:spPr>
          <a:xfrm xmlns:a="http://schemas.openxmlformats.org/drawingml/2006/main">
            <a:off x="8375542" y="4759325"/>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ChudadiApp、SplashScreen、LobbyScreen、GameScreen</a:t>
            </a:r>
          </a:p>
        </p:txBody>
      </p:sp>
      <p:sp>
        <p:nvSpPr>
          <p:cNvPr id="56" name="">
            <a:extLst xmlns:a="http://schemas.openxmlformats.org/drawingml/2006/main">
              <a:ext uri="{FF2B5EF4-FFF2-40B4-BE49-F238E27FC236}">
                <a16:creationId xmlns:a16="http://schemas.microsoft.com/office/drawing/2014/main" id="{83733AFD-54C7-4C90-83C4-D900C57C6DA5}"/>
              </a:ext>
            </a:extLst>
          </p:cNvPr>
          <p:cNvSpPr>
            <a:spLocks xmlns:a="http://schemas.openxmlformats.org/drawingml/2006/main" noGrp="1"/>
          </p:cNvSpPr>
          <p:nvPr/>
        </p:nvSpPr>
        <p:spPr>
          <a:xfrm xmlns:a="http://schemas.openxmlformats.org/drawingml/2006/main">
            <a:off x="9950396" y="4730750"/>
            <a:ext cx="1622479"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7" name="">
            <a:extLst xmlns:a="http://schemas.openxmlformats.org/drawingml/2006/main">
              <a:ext uri="{FF2B5EF4-FFF2-40B4-BE49-F238E27FC236}">
                <a16:creationId xmlns:a16="http://schemas.microsoft.com/office/drawing/2014/main" id="{C676D53B-9CE6-4A94-8F09-9361263086D0}"/>
              </a:ext>
            </a:extLst>
          </p:cNvPr>
          <p:cNvSpPr>
            <a:spLocks xmlns:a="http://schemas.openxmlformats.org/drawingml/2006/main" noGrp="1"/>
          </p:cNvSpPr>
          <p:nvPr/>
        </p:nvSpPr>
        <p:spPr>
          <a:xfrm xmlns:a="http://schemas.openxmlformats.org/drawingml/2006/main">
            <a:off x="9998021" y="4759325"/>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负责 Compose 页面、动画、弹窗和用户交互</a:t>
            </a:r>
          </a:p>
        </p:txBody>
      </p:sp>
      <p:sp>
        <p:nvSpPr>
          <p:cNvPr id="58" name="">
            <a:extLst xmlns:a="http://schemas.openxmlformats.org/drawingml/2006/main">
              <a:ext uri="{FF2B5EF4-FFF2-40B4-BE49-F238E27FC236}">
                <a16:creationId xmlns:a16="http://schemas.microsoft.com/office/drawing/2014/main" id="{F83E9BC5-4E98-417C-8FF6-09A295D9093F}"/>
              </a:ext>
            </a:extLst>
          </p:cNvPr>
          <p:cNvSpPr>
            <a:spLocks xmlns:a="http://schemas.openxmlformats.org/drawingml/2006/main" noGrp="1"/>
          </p:cNvSpPr>
          <p:nvPr/>
        </p:nvSpPr>
        <p:spPr>
          <a:xfrm xmlns:a="http://schemas.openxmlformats.org/drawingml/2006/main">
            <a:off x="5191125" y="5337175"/>
            <a:ext cx="1514314"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9" name="">
            <a:extLst xmlns:a="http://schemas.openxmlformats.org/drawingml/2006/main">
              <a:ext uri="{FF2B5EF4-FFF2-40B4-BE49-F238E27FC236}">
                <a16:creationId xmlns:a16="http://schemas.microsoft.com/office/drawing/2014/main" id="{AF15D407-A829-485E-A66E-882939322DD6}"/>
              </a:ext>
            </a:extLst>
          </p:cNvPr>
          <p:cNvSpPr>
            <a:spLocks xmlns:a="http://schemas.openxmlformats.org/drawingml/2006/main" noGrp="1"/>
          </p:cNvSpPr>
          <p:nvPr/>
        </p:nvSpPr>
        <p:spPr>
          <a:xfrm xmlns:a="http://schemas.openxmlformats.org/drawingml/2006/main">
            <a:off x="5238750" y="5365750"/>
            <a:ext cx="1419064"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Audio</a:t>
            </a:r>
          </a:p>
        </p:txBody>
      </p:sp>
      <p:sp>
        <p:nvSpPr>
          <p:cNvPr id="60" name="">
            <a:extLst xmlns:a="http://schemas.openxmlformats.org/drawingml/2006/main">
              <a:ext uri="{FF2B5EF4-FFF2-40B4-BE49-F238E27FC236}">
                <a16:creationId xmlns:a16="http://schemas.microsoft.com/office/drawing/2014/main" id="{C8282532-57F3-4E9F-9208-6BE1921D4F0D}"/>
              </a:ext>
            </a:extLst>
          </p:cNvPr>
          <p:cNvSpPr>
            <a:spLocks xmlns:a="http://schemas.openxmlformats.org/drawingml/2006/main" noGrp="1"/>
          </p:cNvSpPr>
          <p:nvPr/>
        </p:nvSpPr>
        <p:spPr>
          <a:xfrm xmlns:a="http://schemas.openxmlformats.org/drawingml/2006/main">
            <a:off x="6705439" y="5337175"/>
            <a:ext cx="1622479"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1" name="">
            <a:extLst xmlns:a="http://schemas.openxmlformats.org/drawingml/2006/main">
              <a:ext uri="{FF2B5EF4-FFF2-40B4-BE49-F238E27FC236}">
                <a16:creationId xmlns:a16="http://schemas.microsoft.com/office/drawing/2014/main" id="{C4EF1CE3-7DA2-41D5-8DDA-725101C762E6}"/>
              </a:ext>
            </a:extLst>
          </p:cNvPr>
          <p:cNvSpPr>
            <a:spLocks xmlns:a="http://schemas.openxmlformats.org/drawingml/2006/main" noGrp="1"/>
          </p:cNvSpPr>
          <p:nvPr/>
        </p:nvSpPr>
        <p:spPr>
          <a:xfrm xmlns:a="http://schemas.openxmlformats.org/drawingml/2006/main">
            <a:off x="6753064" y="5365750"/>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app/src/main/java/com/example/uml_chudadi/audio</a:t>
            </a:r>
          </a:p>
        </p:txBody>
      </p:sp>
      <p:sp>
        <p:nvSpPr>
          <p:cNvPr id="62" name="">
            <a:extLst xmlns:a="http://schemas.openxmlformats.org/drawingml/2006/main">
              <a:ext uri="{FF2B5EF4-FFF2-40B4-BE49-F238E27FC236}">
                <a16:creationId xmlns:a16="http://schemas.microsoft.com/office/drawing/2014/main" id="{B6C71F7B-2109-434A-980D-854C9A97F03F}"/>
              </a:ext>
            </a:extLst>
          </p:cNvPr>
          <p:cNvSpPr>
            <a:spLocks xmlns:a="http://schemas.openxmlformats.org/drawingml/2006/main" noGrp="1"/>
          </p:cNvSpPr>
          <p:nvPr/>
        </p:nvSpPr>
        <p:spPr>
          <a:xfrm xmlns:a="http://schemas.openxmlformats.org/drawingml/2006/main">
            <a:off x="8327917" y="5337175"/>
            <a:ext cx="1622479"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3" name="">
            <a:extLst xmlns:a="http://schemas.openxmlformats.org/drawingml/2006/main">
              <a:ext uri="{FF2B5EF4-FFF2-40B4-BE49-F238E27FC236}">
                <a16:creationId xmlns:a16="http://schemas.microsoft.com/office/drawing/2014/main" id="{0B6AC351-E662-4052-B382-53E58DFD8C2F}"/>
              </a:ext>
            </a:extLst>
          </p:cNvPr>
          <p:cNvSpPr>
            <a:spLocks xmlns:a="http://schemas.openxmlformats.org/drawingml/2006/main" noGrp="1"/>
          </p:cNvSpPr>
          <p:nvPr/>
        </p:nvSpPr>
        <p:spPr>
          <a:xfrm xmlns:a="http://schemas.openxmlformats.org/drawingml/2006/main">
            <a:off x="8375542" y="5365750"/>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CardRoomMusicPlayer、GameSoundEffects</a:t>
            </a:r>
          </a:p>
        </p:txBody>
      </p:sp>
      <p:sp>
        <p:nvSpPr>
          <p:cNvPr id="64" name="">
            <a:extLst xmlns:a="http://schemas.openxmlformats.org/drawingml/2006/main">
              <a:ext uri="{FF2B5EF4-FFF2-40B4-BE49-F238E27FC236}">
                <a16:creationId xmlns:a16="http://schemas.microsoft.com/office/drawing/2014/main" id="{C8E8561B-1AF8-4F22-83F3-665C31BFAA06}"/>
              </a:ext>
            </a:extLst>
          </p:cNvPr>
          <p:cNvSpPr>
            <a:spLocks xmlns:a="http://schemas.openxmlformats.org/drawingml/2006/main" noGrp="1"/>
          </p:cNvSpPr>
          <p:nvPr/>
        </p:nvSpPr>
        <p:spPr>
          <a:xfrm xmlns:a="http://schemas.openxmlformats.org/drawingml/2006/main">
            <a:off x="9950396" y="5337175"/>
            <a:ext cx="1622479"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5" name="">
            <a:extLst xmlns:a="http://schemas.openxmlformats.org/drawingml/2006/main">
              <a:ext uri="{FF2B5EF4-FFF2-40B4-BE49-F238E27FC236}">
                <a16:creationId xmlns:a16="http://schemas.microsoft.com/office/drawing/2014/main" id="{5B860747-16EE-42A4-80D2-D17E538CAAFD}"/>
              </a:ext>
            </a:extLst>
          </p:cNvPr>
          <p:cNvSpPr>
            <a:spLocks xmlns:a="http://schemas.openxmlformats.org/drawingml/2006/main" noGrp="1"/>
          </p:cNvSpPr>
          <p:nvPr/>
        </p:nvSpPr>
        <p:spPr>
          <a:xfrm xmlns:a="http://schemas.openxmlformats.org/drawingml/2006/main">
            <a:off x="9998021" y="5365750"/>
            <a:ext cx="1527229"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负责背景音乐、出牌音效和震动反馈</a:t>
            </a:r>
          </a:p>
        </p:txBody>
      </p:sp>
    </p:spTree>
    <p:extLst>
      <p:ext uri="{BB962C8B-B14F-4D97-AF65-F5344CB8AC3E}">
        <p14:creationId xmlns:p14="http://schemas.microsoft.com/office/powerpoint/2010/main" val="169204644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2C37A4B-C0A4-4910-BC11-9AE2C2BA0E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0B3FE7-9749-4B84-878F-3D4801569363}"/>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88AB49-CD4E-4454-B7A5-F86DB71E1566}"/>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77139056-D0AD-4DB4-B09E-81BA17C1DAFC}"/>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84B20F77-FA2E-45BC-BDA1-36DA906CDC10}"/>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32</a:t>
            </a:r>
          </a:p>
        </p:txBody>
      </p:sp>
      <p:sp>
        <p:nvSpPr>
          <p:cNvPr id="6" name="">
            <a:extLst xmlns:a="http://schemas.openxmlformats.org/drawingml/2006/main">
              <a:ext uri="{FF2B5EF4-FFF2-40B4-BE49-F238E27FC236}">
                <a16:creationId xmlns:a16="http://schemas.microsoft.com/office/drawing/2014/main" id="{CC3AB134-AA4A-47BD-8E12-3B6D0E10A70C}"/>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4620F11E-DF00-42DF-82CF-DA6B956B830D}"/>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5.4 建模成果（1/3）</a:t>
            </a:r>
          </a:p>
        </p:txBody>
      </p:sp>
      <p:sp>
        <p:nvSpPr>
          <p:cNvPr id="8" name="">
            <a:extLst xmlns:a="http://schemas.openxmlformats.org/drawingml/2006/main">
              <a:ext uri="{FF2B5EF4-FFF2-40B4-BE49-F238E27FC236}">
                <a16:creationId xmlns:a16="http://schemas.microsoft.com/office/drawing/2014/main" id="{92AFFC4A-4905-4ECB-A679-580969EB9111}"/>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3A5A2A1-59C3-47F6-A62F-DB7B5540C411}"/>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本阶段重点完成类图、顺序图、包图和交互图。类图展示 Model、Controller、Transport、Profile 和 View/Audio 的类关系；顺序图展示玩家一次本地出牌以及蓝牙房主权威同步的调用流程。</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UML 相关材料位于 docs/uml/：</a:t>
            </a:r>
          </a:p>
        </p:txBody>
      </p:sp>
    </p:spTree>
    <p:extLst>
      <p:ext uri="{BB962C8B-B14F-4D97-AF65-F5344CB8AC3E}">
        <p14:creationId xmlns:p14="http://schemas.microsoft.com/office/powerpoint/2010/main" val="65003513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A031C09-0025-4143-8741-DB5438972D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76A815-296E-4850-A148-AE611DF877B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2FAE30-5DAE-44DB-BF39-7455813D6B24}"/>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92B32014-9969-49AE-B897-EA4E364CE45E}"/>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BF829FD2-2D00-4AF8-9A0B-23E6A1C1EF5E}"/>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33</a:t>
            </a:r>
          </a:p>
        </p:txBody>
      </p:sp>
      <p:sp>
        <p:nvSpPr>
          <p:cNvPr id="6" name="">
            <a:extLst xmlns:a="http://schemas.openxmlformats.org/drawingml/2006/main">
              <a:ext uri="{FF2B5EF4-FFF2-40B4-BE49-F238E27FC236}">
                <a16:creationId xmlns:a16="http://schemas.microsoft.com/office/drawing/2014/main" id="{CD7A08C4-7D6B-4661-956C-13D427CEED64}"/>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AB99343A-8323-4566-8FEB-D70DD9ED9A3C}"/>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5.4 建模成果（2/3）</a:t>
            </a:r>
          </a:p>
        </p:txBody>
      </p:sp>
      <p:sp>
        <p:nvSpPr>
          <p:cNvPr id="8" name="">
            <a:extLst xmlns:a="http://schemas.openxmlformats.org/drawingml/2006/main">
              <a:ext uri="{FF2B5EF4-FFF2-40B4-BE49-F238E27FC236}">
                <a16:creationId xmlns:a16="http://schemas.microsoft.com/office/drawing/2014/main" id="{07937B73-6014-4E3C-B6C5-BAD22082C510}"/>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F90E3D0-1A2B-4FED-928D-AD1B572A30A1}"/>
              </a:ext>
            </a:extLst>
          </p:cNvPr>
          <p:cNvSpPr>
            <a:spLocks xmlns:a="http://schemas.openxmlformats.org/drawingml/2006/main" noGrp="1"/>
          </p:cNvSpPr>
          <p:nvPr/>
        </p:nvSpPr>
        <p:spPr>
          <a:xfrm xmlns:a="http://schemas.openxmlformats.org/drawingml/2006/main">
            <a:off x="457200" y="1905000"/>
            <a:ext cx="244337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C5C408B9-F99B-4CB3-9930-6D2D3F16DC4A}"/>
              </a:ext>
            </a:extLst>
          </p:cNvPr>
          <p:cNvSpPr>
            <a:spLocks xmlns:a="http://schemas.openxmlformats.org/drawingml/2006/main" noGrp="1"/>
          </p:cNvSpPr>
          <p:nvPr/>
        </p:nvSpPr>
        <p:spPr>
          <a:xfrm xmlns:a="http://schemas.openxmlformats.org/drawingml/2006/main">
            <a:off x="504825" y="1943100"/>
            <a:ext cx="23481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UML 图</a:t>
            </a:r>
          </a:p>
        </p:txBody>
      </p:sp>
      <p:sp>
        <p:nvSpPr>
          <p:cNvPr id="11" name="">
            <a:extLst xmlns:a="http://schemas.openxmlformats.org/drawingml/2006/main">
              <a:ext uri="{FF2B5EF4-FFF2-40B4-BE49-F238E27FC236}">
                <a16:creationId xmlns:a16="http://schemas.microsoft.com/office/drawing/2014/main" id="{BAD3D8E3-5716-423A-94B4-6A2AE690D731}"/>
              </a:ext>
            </a:extLst>
          </p:cNvPr>
          <p:cNvSpPr>
            <a:spLocks xmlns:a="http://schemas.openxmlformats.org/drawingml/2006/main" noGrp="1"/>
          </p:cNvSpPr>
          <p:nvPr/>
        </p:nvSpPr>
        <p:spPr>
          <a:xfrm xmlns:a="http://schemas.openxmlformats.org/drawingml/2006/main">
            <a:off x="2900570" y="1905000"/>
            <a:ext cx="4398065"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A427E5BB-B763-4AE6-A917-F61A5C577E6C}"/>
              </a:ext>
            </a:extLst>
          </p:cNvPr>
          <p:cNvSpPr>
            <a:spLocks xmlns:a="http://schemas.openxmlformats.org/drawingml/2006/main" noGrp="1"/>
          </p:cNvSpPr>
          <p:nvPr/>
        </p:nvSpPr>
        <p:spPr>
          <a:xfrm xmlns:a="http://schemas.openxmlformats.org/drawingml/2006/main">
            <a:off x="2948195" y="1943100"/>
            <a:ext cx="430281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文件</a:t>
            </a:r>
          </a:p>
        </p:txBody>
      </p:sp>
      <p:sp>
        <p:nvSpPr>
          <p:cNvPr id="13" name="">
            <a:extLst xmlns:a="http://schemas.openxmlformats.org/drawingml/2006/main">
              <a:ext uri="{FF2B5EF4-FFF2-40B4-BE49-F238E27FC236}">
                <a16:creationId xmlns:a16="http://schemas.microsoft.com/office/drawing/2014/main" id="{04A64A79-4799-4695-9995-ACA4E9F9F48B}"/>
              </a:ext>
            </a:extLst>
          </p:cNvPr>
          <p:cNvSpPr>
            <a:spLocks xmlns:a="http://schemas.openxmlformats.org/drawingml/2006/main" noGrp="1"/>
          </p:cNvSpPr>
          <p:nvPr/>
        </p:nvSpPr>
        <p:spPr>
          <a:xfrm xmlns:a="http://schemas.openxmlformats.org/drawingml/2006/main">
            <a:off x="7298635" y="1905000"/>
            <a:ext cx="4398065"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19CB2153-A0C0-49DC-9643-8CD54F421165}"/>
              </a:ext>
            </a:extLst>
          </p:cNvPr>
          <p:cNvSpPr>
            <a:spLocks xmlns:a="http://schemas.openxmlformats.org/drawingml/2006/main" noGrp="1"/>
          </p:cNvSpPr>
          <p:nvPr/>
        </p:nvSpPr>
        <p:spPr>
          <a:xfrm xmlns:a="http://schemas.openxmlformats.org/drawingml/2006/main">
            <a:off x="7346260" y="1943100"/>
            <a:ext cx="430281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说明</a:t>
            </a:r>
          </a:p>
        </p:txBody>
      </p:sp>
      <p:sp>
        <p:nvSpPr>
          <p:cNvPr id="15" name="">
            <a:extLst xmlns:a="http://schemas.openxmlformats.org/drawingml/2006/main">
              <a:ext uri="{FF2B5EF4-FFF2-40B4-BE49-F238E27FC236}">
                <a16:creationId xmlns:a16="http://schemas.microsoft.com/office/drawing/2014/main" id="{33D521F3-8016-4A84-B01B-2EB9DF2EF6EB}"/>
              </a:ext>
            </a:extLst>
          </p:cNvPr>
          <p:cNvSpPr>
            <a:spLocks xmlns:a="http://schemas.openxmlformats.org/drawingml/2006/main" noGrp="1"/>
          </p:cNvSpPr>
          <p:nvPr/>
        </p:nvSpPr>
        <p:spPr>
          <a:xfrm xmlns:a="http://schemas.openxmlformats.org/drawingml/2006/main">
            <a:off x="457200" y="2305050"/>
            <a:ext cx="244337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2BC05A23-66D0-44EB-BAB0-D9E02C436729}"/>
              </a:ext>
            </a:extLst>
          </p:cNvPr>
          <p:cNvSpPr>
            <a:spLocks xmlns:a="http://schemas.openxmlformats.org/drawingml/2006/main" noGrp="1"/>
          </p:cNvSpPr>
          <p:nvPr/>
        </p:nvSpPr>
        <p:spPr>
          <a:xfrm xmlns:a="http://schemas.openxmlformats.org/drawingml/2006/main">
            <a:off x="504825" y="2333625"/>
            <a:ext cx="234812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用例图</a:t>
            </a:r>
          </a:p>
        </p:txBody>
      </p:sp>
      <p:sp>
        <p:nvSpPr>
          <p:cNvPr id="17" name="">
            <a:extLst xmlns:a="http://schemas.openxmlformats.org/drawingml/2006/main">
              <a:ext uri="{FF2B5EF4-FFF2-40B4-BE49-F238E27FC236}">
                <a16:creationId xmlns:a16="http://schemas.microsoft.com/office/drawing/2014/main" id="{57253522-986F-4EE3-B7D7-F55DA3734B94}"/>
              </a:ext>
            </a:extLst>
          </p:cNvPr>
          <p:cNvSpPr>
            <a:spLocks xmlns:a="http://schemas.openxmlformats.org/drawingml/2006/main" noGrp="1"/>
          </p:cNvSpPr>
          <p:nvPr/>
        </p:nvSpPr>
        <p:spPr>
          <a:xfrm xmlns:a="http://schemas.openxmlformats.org/drawingml/2006/main">
            <a:off x="2900570" y="2305050"/>
            <a:ext cx="4398065"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10CE662D-B931-4DB7-8857-15ECCF5DA5FB}"/>
              </a:ext>
            </a:extLst>
          </p:cNvPr>
          <p:cNvSpPr>
            <a:spLocks xmlns:a="http://schemas.openxmlformats.org/drawingml/2006/main" noGrp="1"/>
          </p:cNvSpPr>
          <p:nvPr/>
        </p:nvSpPr>
        <p:spPr>
          <a:xfrm xmlns:a="http://schemas.openxmlformats.org/drawingml/2006/main">
            <a:off x="2948195" y="2333625"/>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docs/uml/use_case.png</a:t>
            </a:r>
          </a:p>
        </p:txBody>
      </p:sp>
      <p:sp>
        <p:nvSpPr>
          <p:cNvPr id="19" name="">
            <a:extLst xmlns:a="http://schemas.openxmlformats.org/drawingml/2006/main">
              <a:ext uri="{FF2B5EF4-FFF2-40B4-BE49-F238E27FC236}">
                <a16:creationId xmlns:a16="http://schemas.microsoft.com/office/drawing/2014/main" id="{A8BB4A6D-71D5-4974-9C0A-B8CD4F3965CC}"/>
              </a:ext>
            </a:extLst>
          </p:cNvPr>
          <p:cNvSpPr>
            <a:spLocks xmlns:a="http://schemas.openxmlformats.org/drawingml/2006/main" noGrp="1"/>
          </p:cNvSpPr>
          <p:nvPr/>
        </p:nvSpPr>
        <p:spPr>
          <a:xfrm xmlns:a="http://schemas.openxmlformats.org/drawingml/2006/main">
            <a:off x="7298635" y="2305050"/>
            <a:ext cx="4398065"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933B953A-A9CB-418D-AF6E-72088E9C44C2}"/>
              </a:ext>
            </a:extLst>
          </p:cNvPr>
          <p:cNvSpPr>
            <a:spLocks xmlns:a="http://schemas.openxmlformats.org/drawingml/2006/main" noGrp="1"/>
          </p:cNvSpPr>
          <p:nvPr/>
        </p:nvSpPr>
        <p:spPr>
          <a:xfrm xmlns:a="http://schemas.openxmlformats.org/drawingml/2006/main">
            <a:off x="7346260" y="2333625"/>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玩家、房主、加入者和人机与核心用例</a:t>
            </a:r>
          </a:p>
        </p:txBody>
      </p:sp>
      <p:sp>
        <p:nvSpPr>
          <p:cNvPr id="21" name="">
            <a:extLst xmlns:a="http://schemas.openxmlformats.org/drawingml/2006/main">
              <a:ext uri="{FF2B5EF4-FFF2-40B4-BE49-F238E27FC236}">
                <a16:creationId xmlns:a16="http://schemas.microsoft.com/office/drawing/2014/main" id="{48715985-4E81-4FCB-A6E7-543C9962B450}"/>
              </a:ext>
            </a:extLst>
          </p:cNvPr>
          <p:cNvSpPr>
            <a:spLocks xmlns:a="http://schemas.openxmlformats.org/drawingml/2006/main" noGrp="1"/>
          </p:cNvSpPr>
          <p:nvPr/>
        </p:nvSpPr>
        <p:spPr>
          <a:xfrm xmlns:a="http://schemas.openxmlformats.org/drawingml/2006/main">
            <a:off x="457200" y="2824843"/>
            <a:ext cx="244337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120EC9F2-BE5E-47E3-9EB8-54BD4D607BE8}"/>
              </a:ext>
            </a:extLst>
          </p:cNvPr>
          <p:cNvSpPr>
            <a:spLocks xmlns:a="http://schemas.openxmlformats.org/drawingml/2006/main" noGrp="1"/>
          </p:cNvSpPr>
          <p:nvPr/>
        </p:nvSpPr>
        <p:spPr>
          <a:xfrm xmlns:a="http://schemas.openxmlformats.org/drawingml/2006/main">
            <a:off x="504825" y="2853418"/>
            <a:ext cx="234812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类图</a:t>
            </a:r>
          </a:p>
        </p:txBody>
      </p:sp>
      <p:sp>
        <p:nvSpPr>
          <p:cNvPr id="23" name="">
            <a:extLst xmlns:a="http://schemas.openxmlformats.org/drawingml/2006/main">
              <a:ext uri="{FF2B5EF4-FFF2-40B4-BE49-F238E27FC236}">
                <a16:creationId xmlns:a16="http://schemas.microsoft.com/office/drawing/2014/main" id="{B9E12BC3-ADDA-4006-BBC2-BD94632F2582}"/>
              </a:ext>
            </a:extLst>
          </p:cNvPr>
          <p:cNvSpPr>
            <a:spLocks xmlns:a="http://schemas.openxmlformats.org/drawingml/2006/main" noGrp="1"/>
          </p:cNvSpPr>
          <p:nvPr/>
        </p:nvSpPr>
        <p:spPr>
          <a:xfrm xmlns:a="http://schemas.openxmlformats.org/drawingml/2006/main">
            <a:off x="2900570" y="2824843"/>
            <a:ext cx="4398065"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FB43F7F3-3BAF-4CB0-86D9-B8569DD6261F}"/>
              </a:ext>
            </a:extLst>
          </p:cNvPr>
          <p:cNvSpPr>
            <a:spLocks xmlns:a="http://schemas.openxmlformats.org/drawingml/2006/main" noGrp="1"/>
          </p:cNvSpPr>
          <p:nvPr/>
        </p:nvSpPr>
        <p:spPr>
          <a:xfrm xmlns:a="http://schemas.openxmlformats.org/drawingml/2006/main">
            <a:off x="2948195" y="2853418"/>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docs/uml/class_diagram.png</a:t>
            </a:r>
          </a:p>
        </p:txBody>
      </p:sp>
      <p:sp>
        <p:nvSpPr>
          <p:cNvPr id="25" name="">
            <a:extLst xmlns:a="http://schemas.openxmlformats.org/drawingml/2006/main">
              <a:ext uri="{FF2B5EF4-FFF2-40B4-BE49-F238E27FC236}">
                <a16:creationId xmlns:a16="http://schemas.microsoft.com/office/drawing/2014/main" id="{D721BFFD-36E3-4385-A493-715C6BF42AC9}"/>
              </a:ext>
            </a:extLst>
          </p:cNvPr>
          <p:cNvSpPr>
            <a:spLocks xmlns:a="http://schemas.openxmlformats.org/drawingml/2006/main" noGrp="1"/>
          </p:cNvSpPr>
          <p:nvPr/>
        </p:nvSpPr>
        <p:spPr>
          <a:xfrm xmlns:a="http://schemas.openxmlformats.org/drawingml/2006/main">
            <a:off x="7298635" y="2824843"/>
            <a:ext cx="4398065"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7FB273C2-A720-46FF-82FB-95B78DF03E6D}"/>
              </a:ext>
            </a:extLst>
          </p:cNvPr>
          <p:cNvSpPr>
            <a:spLocks xmlns:a="http://schemas.openxmlformats.org/drawingml/2006/main" noGrp="1"/>
          </p:cNvSpPr>
          <p:nvPr/>
        </p:nvSpPr>
        <p:spPr>
          <a:xfrm xmlns:a="http://schemas.openxmlformats.org/drawingml/2006/main">
            <a:off x="7346260" y="2853418"/>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Model、Controller、Transport、View/Audio 类关系</a:t>
            </a:r>
          </a:p>
        </p:txBody>
      </p:sp>
      <p:sp>
        <p:nvSpPr>
          <p:cNvPr id="27" name="">
            <a:extLst xmlns:a="http://schemas.openxmlformats.org/drawingml/2006/main">
              <a:ext uri="{FF2B5EF4-FFF2-40B4-BE49-F238E27FC236}">
                <a16:creationId xmlns:a16="http://schemas.microsoft.com/office/drawing/2014/main" id="{7E4B601D-0BEB-498F-879A-31422943E426}"/>
              </a:ext>
            </a:extLst>
          </p:cNvPr>
          <p:cNvSpPr>
            <a:spLocks xmlns:a="http://schemas.openxmlformats.org/drawingml/2006/main" noGrp="1"/>
          </p:cNvSpPr>
          <p:nvPr/>
        </p:nvSpPr>
        <p:spPr>
          <a:xfrm xmlns:a="http://schemas.openxmlformats.org/drawingml/2006/main">
            <a:off x="457200" y="3344636"/>
            <a:ext cx="244337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5C90C69C-8B93-4098-87A2-843F1DEA3368}"/>
              </a:ext>
            </a:extLst>
          </p:cNvPr>
          <p:cNvSpPr>
            <a:spLocks xmlns:a="http://schemas.openxmlformats.org/drawingml/2006/main" noGrp="1"/>
          </p:cNvSpPr>
          <p:nvPr/>
        </p:nvSpPr>
        <p:spPr>
          <a:xfrm xmlns:a="http://schemas.openxmlformats.org/drawingml/2006/main">
            <a:off x="504825" y="3373211"/>
            <a:ext cx="234812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顺序图</a:t>
            </a:r>
          </a:p>
        </p:txBody>
      </p:sp>
      <p:sp>
        <p:nvSpPr>
          <p:cNvPr id="29" name="">
            <a:extLst xmlns:a="http://schemas.openxmlformats.org/drawingml/2006/main">
              <a:ext uri="{FF2B5EF4-FFF2-40B4-BE49-F238E27FC236}">
                <a16:creationId xmlns:a16="http://schemas.microsoft.com/office/drawing/2014/main" id="{881A6299-1128-415B-9783-98D177720360}"/>
              </a:ext>
            </a:extLst>
          </p:cNvPr>
          <p:cNvSpPr>
            <a:spLocks xmlns:a="http://schemas.openxmlformats.org/drawingml/2006/main" noGrp="1"/>
          </p:cNvSpPr>
          <p:nvPr/>
        </p:nvSpPr>
        <p:spPr>
          <a:xfrm xmlns:a="http://schemas.openxmlformats.org/drawingml/2006/main">
            <a:off x="2900570" y="3344636"/>
            <a:ext cx="4398065"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3B7ABD03-E9B4-4BCD-9FA4-0EF9BB20F23F}"/>
              </a:ext>
            </a:extLst>
          </p:cNvPr>
          <p:cNvSpPr>
            <a:spLocks xmlns:a="http://schemas.openxmlformats.org/drawingml/2006/main" noGrp="1"/>
          </p:cNvSpPr>
          <p:nvPr/>
        </p:nvSpPr>
        <p:spPr>
          <a:xfrm xmlns:a="http://schemas.openxmlformats.org/drawingml/2006/main">
            <a:off x="2948195" y="3373211"/>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docs/uml/sequence_game_turn.png</a:t>
            </a:r>
          </a:p>
        </p:txBody>
      </p:sp>
      <p:sp>
        <p:nvSpPr>
          <p:cNvPr id="31" name="">
            <a:extLst xmlns:a="http://schemas.openxmlformats.org/drawingml/2006/main">
              <a:ext uri="{FF2B5EF4-FFF2-40B4-BE49-F238E27FC236}">
                <a16:creationId xmlns:a16="http://schemas.microsoft.com/office/drawing/2014/main" id="{91DE8F88-DDDB-43EA-B267-09E3D9CFCDE2}"/>
              </a:ext>
            </a:extLst>
          </p:cNvPr>
          <p:cNvSpPr>
            <a:spLocks xmlns:a="http://schemas.openxmlformats.org/drawingml/2006/main" noGrp="1"/>
          </p:cNvSpPr>
          <p:nvPr/>
        </p:nvSpPr>
        <p:spPr>
          <a:xfrm xmlns:a="http://schemas.openxmlformats.org/drawingml/2006/main">
            <a:off x="7298635" y="3344636"/>
            <a:ext cx="4398065"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6620C0AD-17C6-4B5B-9109-83349EB995F8}"/>
              </a:ext>
            </a:extLst>
          </p:cNvPr>
          <p:cNvSpPr>
            <a:spLocks xmlns:a="http://schemas.openxmlformats.org/drawingml/2006/main" noGrp="1"/>
          </p:cNvSpPr>
          <p:nvPr/>
        </p:nvSpPr>
        <p:spPr>
          <a:xfrm xmlns:a="http://schemas.openxmlformats.org/drawingml/2006/main">
            <a:off x="7346260" y="3373211"/>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本地出牌和蓝牙同步调用顺序</a:t>
            </a:r>
          </a:p>
        </p:txBody>
      </p:sp>
      <p:sp>
        <p:nvSpPr>
          <p:cNvPr id="33" name="">
            <a:extLst xmlns:a="http://schemas.openxmlformats.org/drawingml/2006/main">
              <a:ext uri="{FF2B5EF4-FFF2-40B4-BE49-F238E27FC236}">
                <a16:creationId xmlns:a16="http://schemas.microsoft.com/office/drawing/2014/main" id="{6C4E1C04-2E43-4005-B1E3-77C9A29DB21B}"/>
              </a:ext>
            </a:extLst>
          </p:cNvPr>
          <p:cNvSpPr>
            <a:spLocks xmlns:a="http://schemas.openxmlformats.org/drawingml/2006/main" noGrp="1"/>
          </p:cNvSpPr>
          <p:nvPr/>
        </p:nvSpPr>
        <p:spPr>
          <a:xfrm xmlns:a="http://schemas.openxmlformats.org/drawingml/2006/main">
            <a:off x="457200" y="3864429"/>
            <a:ext cx="244337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011BA249-DBE9-44D4-BB57-B19998E5B5BC}"/>
              </a:ext>
            </a:extLst>
          </p:cNvPr>
          <p:cNvSpPr>
            <a:spLocks xmlns:a="http://schemas.openxmlformats.org/drawingml/2006/main" noGrp="1"/>
          </p:cNvSpPr>
          <p:nvPr/>
        </p:nvSpPr>
        <p:spPr>
          <a:xfrm xmlns:a="http://schemas.openxmlformats.org/drawingml/2006/main">
            <a:off x="504825" y="3893004"/>
            <a:ext cx="234812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活动图</a:t>
            </a:r>
          </a:p>
        </p:txBody>
      </p:sp>
      <p:sp>
        <p:nvSpPr>
          <p:cNvPr id="35" name="">
            <a:extLst xmlns:a="http://schemas.openxmlformats.org/drawingml/2006/main">
              <a:ext uri="{FF2B5EF4-FFF2-40B4-BE49-F238E27FC236}">
                <a16:creationId xmlns:a16="http://schemas.microsoft.com/office/drawing/2014/main" id="{DB823283-33E8-4D4E-9048-DD0A6BA9F046}"/>
              </a:ext>
            </a:extLst>
          </p:cNvPr>
          <p:cNvSpPr>
            <a:spLocks xmlns:a="http://schemas.openxmlformats.org/drawingml/2006/main" noGrp="1"/>
          </p:cNvSpPr>
          <p:nvPr/>
        </p:nvSpPr>
        <p:spPr>
          <a:xfrm xmlns:a="http://schemas.openxmlformats.org/drawingml/2006/main">
            <a:off x="2900570" y="3864429"/>
            <a:ext cx="4398065"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97025EC2-5850-4047-AA84-E4B855A4CFDC}"/>
              </a:ext>
            </a:extLst>
          </p:cNvPr>
          <p:cNvSpPr>
            <a:spLocks xmlns:a="http://schemas.openxmlformats.org/drawingml/2006/main" noGrp="1"/>
          </p:cNvSpPr>
          <p:nvPr/>
        </p:nvSpPr>
        <p:spPr>
          <a:xfrm xmlns:a="http://schemas.openxmlformats.org/drawingml/2006/main">
            <a:off x="2948195" y="3893004"/>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docs/uml/activity_play.png</a:t>
            </a:r>
          </a:p>
        </p:txBody>
      </p:sp>
      <p:sp>
        <p:nvSpPr>
          <p:cNvPr id="37" name="">
            <a:extLst xmlns:a="http://schemas.openxmlformats.org/drawingml/2006/main">
              <a:ext uri="{FF2B5EF4-FFF2-40B4-BE49-F238E27FC236}">
                <a16:creationId xmlns:a16="http://schemas.microsoft.com/office/drawing/2014/main" id="{F60FAF08-824B-4C23-831A-6BDE85E0AFEB}"/>
              </a:ext>
            </a:extLst>
          </p:cNvPr>
          <p:cNvSpPr>
            <a:spLocks xmlns:a="http://schemas.openxmlformats.org/drawingml/2006/main" noGrp="1"/>
          </p:cNvSpPr>
          <p:nvPr/>
        </p:nvSpPr>
        <p:spPr>
          <a:xfrm xmlns:a="http://schemas.openxmlformats.org/drawingml/2006/main">
            <a:off x="7298635" y="3864429"/>
            <a:ext cx="4398065"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F5797546-1783-44F6-80F3-5EFABB46522F}"/>
              </a:ext>
            </a:extLst>
          </p:cNvPr>
          <p:cNvSpPr>
            <a:spLocks xmlns:a="http://schemas.openxmlformats.org/drawingml/2006/main" noGrp="1"/>
          </p:cNvSpPr>
          <p:nvPr/>
        </p:nvSpPr>
        <p:spPr>
          <a:xfrm xmlns:a="http://schemas.openxmlformats.org/drawingml/2006/main">
            <a:off x="7346260" y="3893004"/>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开局、出牌、不出、结算和再开局流程</a:t>
            </a:r>
          </a:p>
        </p:txBody>
      </p:sp>
      <p:sp>
        <p:nvSpPr>
          <p:cNvPr id="39" name="">
            <a:extLst xmlns:a="http://schemas.openxmlformats.org/drawingml/2006/main">
              <a:ext uri="{FF2B5EF4-FFF2-40B4-BE49-F238E27FC236}">
                <a16:creationId xmlns:a16="http://schemas.microsoft.com/office/drawing/2014/main" id="{082187E6-AA8B-4AA3-870C-43DD89AD5C51}"/>
              </a:ext>
            </a:extLst>
          </p:cNvPr>
          <p:cNvSpPr>
            <a:spLocks xmlns:a="http://schemas.openxmlformats.org/drawingml/2006/main" noGrp="1"/>
          </p:cNvSpPr>
          <p:nvPr/>
        </p:nvSpPr>
        <p:spPr>
          <a:xfrm xmlns:a="http://schemas.openxmlformats.org/drawingml/2006/main">
            <a:off x="457200" y="4384221"/>
            <a:ext cx="244337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87E07A4D-55F6-4BBB-87AA-77B263A45B09}"/>
              </a:ext>
            </a:extLst>
          </p:cNvPr>
          <p:cNvSpPr>
            <a:spLocks xmlns:a="http://schemas.openxmlformats.org/drawingml/2006/main" noGrp="1"/>
          </p:cNvSpPr>
          <p:nvPr/>
        </p:nvSpPr>
        <p:spPr>
          <a:xfrm xmlns:a="http://schemas.openxmlformats.org/drawingml/2006/main">
            <a:off x="504825" y="4412796"/>
            <a:ext cx="234812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状态图</a:t>
            </a:r>
          </a:p>
        </p:txBody>
      </p:sp>
      <p:sp>
        <p:nvSpPr>
          <p:cNvPr id="41" name="">
            <a:extLst xmlns:a="http://schemas.openxmlformats.org/drawingml/2006/main">
              <a:ext uri="{FF2B5EF4-FFF2-40B4-BE49-F238E27FC236}">
                <a16:creationId xmlns:a16="http://schemas.microsoft.com/office/drawing/2014/main" id="{5E1996E5-CE27-41FC-9638-F3EA67BE8F50}"/>
              </a:ext>
            </a:extLst>
          </p:cNvPr>
          <p:cNvSpPr>
            <a:spLocks xmlns:a="http://schemas.openxmlformats.org/drawingml/2006/main" noGrp="1"/>
          </p:cNvSpPr>
          <p:nvPr/>
        </p:nvSpPr>
        <p:spPr>
          <a:xfrm xmlns:a="http://schemas.openxmlformats.org/drawingml/2006/main">
            <a:off x="2900570" y="4384221"/>
            <a:ext cx="4398065"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C19FC69B-9887-4512-A46D-C0C86DC0C0A9}"/>
              </a:ext>
            </a:extLst>
          </p:cNvPr>
          <p:cNvSpPr>
            <a:spLocks xmlns:a="http://schemas.openxmlformats.org/drawingml/2006/main" noGrp="1"/>
          </p:cNvSpPr>
          <p:nvPr/>
        </p:nvSpPr>
        <p:spPr>
          <a:xfrm xmlns:a="http://schemas.openxmlformats.org/drawingml/2006/main">
            <a:off x="2948195" y="4412796"/>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docs/uml/state_game.png</a:t>
            </a:r>
          </a:p>
        </p:txBody>
      </p:sp>
      <p:sp>
        <p:nvSpPr>
          <p:cNvPr id="43" name="">
            <a:extLst xmlns:a="http://schemas.openxmlformats.org/drawingml/2006/main">
              <a:ext uri="{FF2B5EF4-FFF2-40B4-BE49-F238E27FC236}">
                <a16:creationId xmlns:a16="http://schemas.microsoft.com/office/drawing/2014/main" id="{2F63B73A-A667-4DBE-BF6C-0418D9FE27A5}"/>
              </a:ext>
            </a:extLst>
          </p:cNvPr>
          <p:cNvSpPr>
            <a:spLocks xmlns:a="http://schemas.openxmlformats.org/drawingml/2006/main" noGrp="1"/>
          </p:cNvSpPr>
          <p:nvPr/>
        </p:nvSpPr>
        <p:spPr>
          <a:xfrm xmlns:a="http://schemas.openxmlformats.org/drawingml/2006/main">
            <a:off x="7298635" y="4384221"/>
            <a:ext cx="4398065"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E59EC6FE-F8BD-4A27-9612-488C4CBEA4DD}"/>
              </a:ext>
            </a:extLst>
          </p:cNvPr>
          <p:cNvSpPr>
            <a:spLocks xmlns:a="http://schemas.openxmlformats.org/drawingml/2006/main" noGrp="1"/>
          </p:cNvSpPr>
          <p:nvPr/>
        </p:nvSpPr>
        <p:spPr>
          <a:xfrm xmlns:a="http://schemas.openxmlformats.org/drawingml/2006/main">
            <a:off x="7346260" y="4412796"/>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页面、房间、牌桌、暂停和结算状态</a:t>
            </a:r>
          </a:p>
        </p:txBody>
      </p:sp>
      <p:sp>
        <p:nvSpPr>
          <p:cNvPr id="45" name="">
            <a:extLst xmlns:a="http://schemas.openxmlformats.org/drawingml/2006/main">
              <a:ext uri="{FF2B5EF4-FFF2-40B4-BE49-F238E27FC236}">
                <a16:creationId xmlns:a16="http://schemas.microsoft.com/office/drawing/2014/main" id="{5CB43B80-DDE4-40D7-84AE-523DB7192422}"/>
              </a:ext>
            </a:extLst>
          </p:cNvPr>
          <p:cNvSpPr>
            <a:spLocks xmlns:a="http://schemas.openxmlformats.org/drawingml/2006/main" noGrp="1"/>
          </p:cNvSpPr>
          <p:nvPr/>
        </p:nvSpPr>
        <p:spPr>
          <a:xfrm xmlns:a="http://schemas.openxmlformats.org/drawingml/2006/main">
            <a:off x="457200" y="4904014"/>
            <a:ext cx="244337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C5BE5E3A-F4CC-441E-AC35-6BDCA4F62698}"/>
              </a:ext>
            </a:extLst>
          </p:cNvPr>
          <p:cNvSpPr>
            <a:spLocks xmlns:a="http://schemas.openxmlformats.org/drawingml/2006/main" noGrp="1"/>
          </p:cNvSpPr>
          <p:nvPr/>
        </p:nvSpPr>
        <p:spPr>
          <a:xfrm xmlns:a="http://schemas.openxmlformats.org/drawingml/2006/main">
            <a:off x="504825" y="4932589"/>
            <a:ext cx="234812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组件图</a:t>
            </a:r>
          </a:p>
        </p:txBody>
      </p:sp>
      <p:sp>
        <p:nvSpPr>
          <p:cNvPr id="47" name="">
            <a:extLst xmlns:a="http://schemas.openxmlformats.org/drawingml/2006/main">
              <a:ext uri="{FF2B5EF4-FFF2-40B4-BE49-F238E27FC236}">
                <a16:creationId xmlns:a16="http://schemas.microsoft.com/office/drawing/2014/main" id="{2C27AD0C-BC60-41D8-BD7C-40F84E0ABA33}"/>
              </a:ext>
            </a:extLst>
          </p:cNvPr>
          <p:cNvSpPr>
            <a:spLocks xmlns:a="http://schemas.openxmlformats.org/drawingml/2006/main" noGrp="1"/>
          </p:cNvSpPr>
          <p:nvPr/>
        </p:nvSpPr>
        <p:spPr>
          <a:xfrm xmlns:a="http://schemas.openxmlformats.org/drawingml/2006/main">
            <a:off x="2900570" y="4904014"/>
            <a:ext cx="4398065"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070745E6-0864-4044-853A-2AC83C9EF6C4}"/>
              </a:ext>
            </a:extLst>
          </p:cNvPr>
          <p:cNvSpPr>
            <a:spLocks xmlns:a="http://schemas.openxmlformats.org/drawingml/2006/main" noGrp="1"/>
          </p:cNvSpPr>
          <p:nvPr/>
        </p:nvSpPr>
        <p:spPr>
          <a:xfrm xmlns:a="http://schemas.openxmlformats.org/drawingml/2006/main">
            <a:off x="2948195" y="4932589"/>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docs/uml/component_diagram.png</a:t>
            </a:r>
          </a:p>
        </p:txBody>
      </p:sp>
      <p:sp>
        <p:nvSpPr>
          <p:cNvPr id="49" name="">
            <a:extLst xmlns:a="http://schemas.openxmlformats.org/drawingml/2006/main">
              <a:ext uri="{FF2B5EF4-FFF2-40B4-BE49-F238E27FC236}">
                <a16:creationId xmlns:a16="http://schemas.microsoft.com/office/drawing/2014/main" id="{3B5AD5CE-5977-4D0C-A9E8-252CE31509F3}"/>
              </a:ext>
            </a:extLst>
          </p:cNvPr>
          <p:cNvSpPr>
            <a:spLocks xmlns:a="http://schemas.openxmlformats.org/drawingml/2006/main" noGrp="1"/>
          </p:cNvSpPr>
          <p:nvPr/>
        </p:nvSpPr>
        <p:spPr>
          <a:xfrm xmlns:a="http://schemas.openxmlformats.org/drawingml/2006/main">
            <a:off x="7298635" y="4904014"/>
            <a:ext cx="4398065"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C200A360-40D6-4F48-93FE-8B087CBB7BD7}"/>
              </a:ext>
            </a:extLst>
          </p:cNvPr>
          <p:cNvSpPr>
            <a:spLocks xmlns:a="http://schemas.openxmlformats.org/drawingml/2006/main" noGrp="1"/>
          </p:cNvSpPr>
          <p:nvPr/>
        </p:nvSpPr>
        <p:spPr>
          <a:xfrm xmlns:a="http://schemas.openxmlformats.org/drawingml/2006/main">
            <a:off x="7346260" y="4932589"/>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UI、控制器、规则、消息、蓝牙和系统能力</a:t>
            </a:r>
          </a:p>
        </p:txBody>
      </p:sp>
      <p:sp>
        <p:nvSpPr>
          <p:cNvPr id="51" name="">
            <a:extLst xmlns:a="http://schemas.openxmlformats.org/drawingml/2006/main">
              <a:ext uri="{FF2B5EF4-FFF2-40B4-BE49-F238E27FC236}">
                <a16:creationId xmlns:a16="http://schemas.microsoft.com/office/drawing/2014/main" id="{08D56576-FF93-46C5-9BCE-FE543DD20CCF}"/>
              </a:ext>
            </a:extLst>
          </p:cNvPr>
          <p:cNvSpPr>
            <a:spLocks xmlns:a="http://schemas.openxmlformats.org/drawingml/2006/main" noGrp="1"/>
          </p:cNvSpPr>
          <p:nvPr/>
        </p:nvSpPr>
        <p:spPr>
          <a:xfrm xmlns:a="http://schemas.openxmlformats.org/drawingml/2006/main">
            <a:off x="457200" y="5423807"/>
            <a:ext cx="244337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4B51B123-FE80-4928-8FCC-FF3626AB2028}"/>
              </a:ext>
            </a:extLst>
          </p:cNvPr>
          <p:cNvSpPr>
            <a:spLocks xmlns:a="http://schemas.openxmlformats.org/drawingml/2006/main" noGrp="1"/>
          </p:cNvSpPr>
          <p:nvPr/>
        </p:nvSpPr>
        <p:spPr>
          <a:xfrm xmlns:a="http://schemas.openxmlformats.org/drawingml/2006/main">
            <a:off x="504825" y="5452382"/>
            <a:ext cx="234812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部署图</a:t>
            </a:r>
          </a:p>
        </p:txBody>
      </p:sp>
      <p:sp>
        <p:nvSpPr>
          <p:cNvPr id="53" name="">
            <a:extLst xmlns:a="http://schemas.openxmlformats.org/drawingml/2006/main">
              <a:ext uri="{FF2B5EF4-FFF2-40B4-BE49-F238E27FC236}">
                <a16:creationId xmlns:a16="http://schemas.microsoft.com/office/drawing/2014/main" id="{284D3561-5FB3-4CF9-8D06-446593BDB809}"/>
              </a:ext>
            </a:extLst>
          </p:cNvPr>
          <p:cNvSpPr>
            <a:spLocks xmlns:a="http://schemas.openxmlformats.org/drawingml/2006/main" noGrp="1"/>
          </p:cNvSpPr>
          <p:nvPr/>
        </p:nvSpPr>
        <p:spPr>
          <a:xfrm xmlns:a="http://schemas.openxmlformats.org/drawingml/2006/main">
            <a:off x="2900570" y="5423807"/>
            <a:ext cx="4398065"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A94DEF81-D037-42AF-82A4-EF33E07C23A7}"/>
              </a:ext>
            </a:extLst>
          </p:cNvPr>
          <p:cNvSpPr>
            <a:spLocks xmlns:a="http://schemas.openxmlformats.org/drawingml/2006/main" noGrp="1"/>
          </p:cNvSpPr>
          <p:nvPr/>
        </p:nvSpPr>
        <p:spPr>
          <a:xfrm xmlns:a="http://schemas.openxmlformats.org/drawingml/2006/main">
            <a:off x="2948195" y="5452382"/>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docs/uml/deployment_diagram.png</a:t>
            </a:r>
          </a:p>
        </p:txBody>
      </p:sp>
      <p:sp>
        <p:nvSpPr>
          <p:cNvPr id="55" name="">
            <a:extLst xmlns:a="http://schemas.openxmlformats.org/drawingml/2006/main">
              <a:ext uri="{FF2B5EF4-FFF2-40B4-BE49-F238E27FC236}">
                <a16:creationId xmlns:a16="http://schemas.microsoft.com/office/drawing/2014/main" id="{A9B77AEC-1265-4048-855E-87850D465FDD}"/>
              </a:ext>
            </a:extLst>
          </p:cNvPr>
          <p:cNvSpPr>
            <a:spLocks xmlns:a="http://schemas.openxmlformats.org/drawingml/2006/main" noGrp="1"/>
          </p:cNvSpPr>
          <p:nvPr/>
        </p:nvSpPr>
        <p:spPr>
          <a:xfrm xmlns:a="http://schemas.openxmlformats.org/drawingml/2006/main">
            <a:off x="7298635" y="5423807"/>
            <a:ext cx="4398065"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E6B5B9E2-1394-4DEB-B04E-D5DF4A537161}"/>
              </a:ext>
            </a:extLst>
          </p:cNvPr>
          <p:cNvSpPr>
            <a:spLocks xmlns:a="http://schemas.openxmlformats.org/drawingml/2006/main" noGrp="1"/>
          </p:cNvSpPr>
          <p:nvPr/>
        </p:nvSpPr>
        <p:spPr>
          <a:xfrm xmlns:a="http://schemas.openxmlformats.org/drawingml/2006/main">
            <a:off x="7346260" y="5452382"/>
            <a:ext cx="4302815"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房主手机、加入者手机、蓝牙栈和开发测试环境</a:t>
            </a:r>
          </a:p>
        </p:txBody>
      </p:sp>
    </p:spTree>
    <p:extLst>
      <p:ext uri="{BB962C8B-B14F-4D97-AF65-F5344CB8AC3E}">
        <p14:creationId xmlns:p14="http://schemas.microsoft.com/office/powerpoint/2010/main" val="173105901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68A034-62EC-4ACD-B216-568FCB172F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C3EB69-3E6C-4954-879B-BB4412D8922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CC3B4A0-84AF-4CC6-ADEF-24EE29ED3098}"/>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C7B85363-2E00-49EB-9941-69304F5E6F4B}"/>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31EFE033-6670-4E95-A15E-CD49B790787E}"/>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34</a:t>
            </a:r>
          </a:p>
        </p:txBody>
      </p:sp>
      <p:sp>
        <p:nvSpPr>
          <p:cNvPr id="6" name="">
            <a:extLst xmlns:a="http://schemas.openxmlformats.org/drawingml/2006/main">
              <a:ext uri="{FF2B5EF4-FFF2-40B4-BE49-F238E27FC236}">
                <a16:creationId xmlns:a16="http://schemas.microsoft.com/office/drawing/2014/main" id="{70E4D47B-7CE4-48D3-8725-8572C83B0F50}"/>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A8C150E3-2639-48CC-B368-1327748564FA}"/>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5.4 建模成果（3/3）</a:t>
            </a:r>
          </a:p>
        </p:txBody>
      </p:sp>
      <p:sp>
        <p:nvSpPr>
          <p:cNvPr id="8" name="">
            <a:extLst xmlns:a="http://schemas.openxmlformats.org/drawingml/2006/main">
              <a:ext uri="{FF2B5EF4-FFF2-40B4-BE49-F238E27FC236}">
                <a16:creationId xmlns:a16="http://schemas.microsoft.com/office/drawing/2014/main" id="{6CC3D492-2909-4AE5-BB90-9B16D150B5CC}"/>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0F6A8AE-D0C2-489A-B24E-C6E501EC227E}"/>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虽然 Excel 里写的是“UML Package Diagrams、UML Interaction Diagrams、UML Class Diagrams”，最终交付采用实训要求中的 UML 7 大图覆盖这些内容：组件图表达包/模块依赖，顺序图表达交互过程，类图表达静态结构，部署图表达手机和开发环境。项目内保留 .puml 文本是为了方便版本管理，正式答辩时说明为“PlantUML 代码导入或参照迁移到 ProcessOn UML 后绘制正式图”。</a:t>
            </a:r>
          </a:p>
        </p:txBody>
      </p:sp>
    </p:spTree>
    <p:extLst>
      <p:ext uri="{BB962C8B-B14F-4D97-AF65-F5344CB8AC3E}">
        <p14:creationId xmlns:p14="http://schemas.microsoft.com/office/powerpoint/2010/main" val="748772058"/>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970DA2-B226-4987-9286-19A17C9DB2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C29637-B0B2-4713-8F1F-AFC19AD00FC5}"/>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FB6D9D8-E140-4442-A26E-2AEF73A7EC33}"/>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49BF036-2A5B-4B38-9EEA-CDA88AA25026}"/>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C914833C-96EA-47B3-B975-6255F8C0A8BB}"/>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35</a:t>
            </a:r>
          </a:p>
        </p:txBody>
      </p:sp>
      <p:sp>
        <p:nvSpPr>
          <p:cNvPr id="6" name="">
            <a:extLst xmlns:a="http://schemas.openxmlformats.org/drawingml/2006/main">
              <a:ext uri="{FF2B5EF4-FFF2-40B4-BE49-F238E27FC236}">
                <a16:creationId xmlns:a16="http://schemas.microsoft.com/office/drawing/2014/main" id="{001AED07-688A-4975-8601-6E41F4EA7DCF}"/>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24473BF5-1275-4218-B423-429D4A3CC29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5.5 实现成果（1/6）</a:t>
            </a:r>
          </a:p>
        </p:txBody>
      </p:sp>
      <p:sp>
        <p:nvSpPr>
          <p:cNvPr id="8" name="">
            <a:extLst xmlns:a="http://schemas.openxmlformats.org/drawingml/2006/main">
              <a:ext uri="{FF2B5EF4-FFF2-40B4-BE49-F238E27FC236}">
                <a16:creationId xmlns:a16="http://schemas.microsoft.com/office/drawing/2014/main" id="{FB330D3D-7EEB-40DA-8276-5666E56F6D1C}"/>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2D3708F-B9B2-4FF8-94F7-FB6DC59920ED}"/>
              </a:ext>
            </a:extLst>
          </p:cNvPr>
          <p:cNvSpPr>
            <a:spLocks xmlns:a="http://schemas.openxmlformats.org/drawingml/2006/main" noGrp="1"/>
          </p:cNvSpPr>
          <p:nvPr/>
        </p:nvSpPr>
        <p:spPr>
          <a:xfrm xmlns:a="http://schemas.openxmlformats.org/drawingml/2006/main">
            <a:off x="685800" y="190500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0122"/>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本阶段完成了 MVC 工程结构和主要模型设计。Model 层负责 Card、Player、GameState、RuleSet、HandType 等领域数据和规则抽象；Controller 层负责 GameController、AiController、RoomController、PlayerActionPolicy 等业务流程；View 层通过 ChudadiApp 和 Compose 组件展示状态并收集用户意图。GameState 仍是牌桌状态源，但它属于 MVC 中的 Model，不直接处理界面和蓝牙线程。UML 类图、顺序图和组件图主要由 Codex/GPT 根据最新代码生成 PlantUML 草图，再在 ProcessOn/PlantUML 预览中校对和导出。</a:t>
            </a:r>
          </a:p>
        </p:txBody>
      </p:sp>
      <p:sp>
        <p:nvSpPr>
          <p:cNvPr id="10" name="">
            <a:extLst xmlns:a="http://schemas.openxmlformats.org/drawingml/2006/main">
              <a:ext uri="{FF2B5EF4-FFF2-40B4-BE49-F238E27FC236}">
                <a16:creationId xmlns:a16="http://schemas.microsoft.com/office/drawing/2014/main" id="{7BBC3529-9FFB-4627-A308-A623FB9140D5}"/>
              </a:ext>
            </a:extLst>
          </p:cNvPr>
          <p:cNvSpPr>
            <a:spLocks xmlns:a="http://schemas.openxmlformats.org/drawingml/2006/main" noGrp="1"/>
          </p:cNvSpPr>
          <p:nvPr/>
        </p:nvSpPr>
        <p:spPr>
          <a:xfrm xmlns:a="http://schemas.openxmlformats.org/drawingml/2006/main">
            <a:off x="685800" y="3095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阶段成果展示：</a:t>
            </a:r>
          </a:p>
        </p:txBody>
      </p:sp>
      <p:sp>
        <p:nvSpPr>
          <p:cNvPr id="11" name="">
            <a:extLst xmlns:a="http://schemas.openxmlformats.org/drawingml/2006/main">
              <a:ext uri="{FF2B5EF4-FFF2-40B4-BE49-F238E27FC236}">
                <a16:creationId xmlns:a16="http://schemas.microsoft.com/office/drawing/2014/main" id="{F0AE1FF2-97D4-4924-A4A9-B0A43ABB4E33}"/>
              </a:ext>
            </a:extLst>
          </p:cNvPr>
          <p:cNvSpPr>
            <a:spLocks xmlns:a="http://schemas.openxmlformats.org/drawingml/2006/main" noGrp="1"/>
          </p:cNvSpPr>
          <p:nvPr/>
        </p:nvSpPr>
        <p:spPr>
          <a:xfrm xmlns:a="http://schemas.openxmlformats.org/drawingml/2006/main">
            <a:off x="685800" y="3838575"/>
            <a:ext cx="2245895"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1D62A029-C4BB-48A7-8B92-B134DECDE064}"/>
              </a:ext>
            </a:extLst>
          </p:cNvPr>
          <p:cNvSpPr>
            <a:spLocks xmlns:a="http://schemas.openxmlformats.org/drawingml/2006/main" noGrp="1"/>
          </p:cNvSpPr>
          <p:nvPr/>
        </p:nvSpPr>
        <p:spPr>
          <a:xfrm xmlns:a="http://schemas.openxmlformats.org/drawingml/2006/main">
            <a:off x="733425" y="3876675"/>
            <a:ext cx="215064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成果类型</a:t>
            </a:r>
          </a:p>
        </p:txBody>
      </p:sp>
      <p:sp>
        <p:nvSpPr>
          <p:cNvPr id="13" name="">
            <a:extLst xmlns:a="http://schemas.openxmlformats.org/drawingml/2006/main">
              <a:ext uri="{FF2B5EF4-FFF2-40B4-BE49-F238E27FC236}">
                <a16:creationId xmlns:a16="http://schemas.microsoft.com/office/drawing/2014/main" id="{B0E9A5BC-37A8-43A7-8B4C-BDEF6E0ECE93}"/>
              </a:ext>
            </a:extLst>
          </p:cNvPr>
          <p:cNvSpPr>
            <a:spLocks xmlns:a="http://schemas.openxmlformats.org/drawingml/2006/main" noGrp="1"/>
          </p:cNvSpPr>
          <p:nvPr/>
        </p:nvSpPr>
        <p:spPr>
          <a:xfrm xmlns:a="http://schemas.openxmlformats.org/drawingml/2006/main">
            <a:off x="2931695" y="3838575"/>
            <a:ext cx="4211053"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33FE4907-6E3A-468A-93A2-D9DC08499186}"/>
              </a:ext>
            </a:extLst>
          </p:cNvPr>
          <p:cNvSpPr>
            <a:spLocks xmlns:a="http://schemas.openxmlformats.org/drawingml/2006/main" noGrp="1"/>
          </p:cNvSpPr>
          <p:nvPr/>
        </p:nvSpPr>
        <p:spPr>
          <a:xfrm xmlns:a="http://schemas.openxmlformats.org/drawingml/2006/main">
            <a:off x="2979320" y="3876675"/>
            <a:ext cx="411580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展示内容</a:t>
            </a:r>
          </a:p>
        </p:txBody>
      </p:sp>
      <p:sp>
        <p:nvSpPr>
          <p:cNvPr id="15" name="">
            <a:extLst xmlns:a="http://schemas.openxmlformats.org/drawingml/2006/main">
              <a:ext uri="{FF2B5EF4-FFF2-40B4-BE49-F238E27FC236}">
                <a16:creationId xmlns:a16="http://schemas.microsoft.com/office/drawing/2014/main" id="{36C13527-274F-425F-A84B-269C5672756D}"/>
              </a:ext>
            </a:extLst>
          </p:cNvPr>
          <p:cNvSpPr>
            <a:spLocks xmlns:a="http://schemas.openxmlformats.org/drawingml/2006/main" noGrp="1"/>
          </p:cNvSpPr>
          <p:nvPr/>
        </p:nvSpPr>
        <p:spPr>
          <a:xfrm xmlns:a="http://schemas.openxmlformats.org/drawingml/2006/main">
            <a:off x="7142747" y="3838575"/>
            <a:ext cx="4211053"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F01E6AC8-C307-442B-92DB-D3E8ABEB6599}"/>
              </a:ext>
            </a:extLst>
          </p:cNvPr>
          <p:cNvSpPr>
            <a:spLocks xmlns:a="http://schemas.openxmlformats.org/drawingml/2006/main" noGrp="1"/>
          </p:cNvSpPr>
          <p:nvPr/>
        </p:nvSpPr>
        <p:spPr>
          <a:xfrm xmlns:a="http://schemas.openxmlformats.org/drawingml/2006/main">
            <a:off x="7190372" y="3876675"/>
            <a:ext cx="411580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证据材料</a:t>
            </a:r>
          </a:p>
        </p:txBody>
      </p:sp>
      <p:sp>
        <p:nvSpPr>
          <p:cNvPr id="17" name="">
            <a:extLst xmlns:a="http://schemas.openxmlformats.org/drawingml/2006/main">
              <a:ext uri="{FF2B5EF4-FFF2-40B4-BE49-F238E27FC236}">
                <a16:creationId xmlns:a16="http://schemas.microsoft.com/office/drawing/2014/main" id="{03D96594-F100-4BB7-B21D-FFFEAB856F2F}"/>
              </a:ext>
            </a:extLst>
          </p:cNvPr>
          <p:cNvSpPr>
            <a:spLocks xmlns:a="http://schemas.openxmlformats.org/drawingml/2006/main" noGrp="1"/>
          </p:cNvSpPr>
          <p:nvPr/>
        </p:nvSpPr>
        <p:spPr>
          <a:xfrm xmlns:a="http://schemas.openxmlformats.org/drawingml/2006/main">
            <a:off x="685800" y="4238625"/>
            <a:ext cx="2245895" cy="426244"/>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32A42353-8FE4-4986-A13C-726E92629DA4}"/>
              </a:ext>
            </a:extLst>
          </p:cNvPr>
          <p:cNvSpPr>
            <a:spLocks xmlns:a="http://schemas.openxmlformats.org/drawingml/2006/main" noGrp="1"/>
          </p:cNvSpPr>
          <p:nvPr/>
        </p:nvSpPr>
        <p:spPr>
          <a:xfrm xmlns:a="http://schemas.openxmlformats.org/drawingml/2006/main">
            <a:off x="733425" y="4267200"/>
            <a:ext cx="215064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MVC 代码成果</a:t>
            </a:r>
          </a:p>
        </p:txBody>
      </p:sp>
      <p:sp>
        <p:nvSpPr>
          <p:cNvPr id="19" name="">
            <a:extLst xmlns:a="http://schemas.openxmlformats.org/drawingml/2006/main">
              <a:ext uri="{FF2B5EF4-FFF2-40B4-BE49-F238E27FC236}">
                <a16:creationId xmlns:a16="http://schemas.microsoft.com/office/drawing/2014/main" id="{82F96FCB-D333-462A-A2DD-AEC7E968DBDD}"/>
              </a:ext>
            </a:extLst>
          </p:cNvPr>
          <p:cNvSpPr>
            <a:spLocks xmlns:a="http://schemas.openxmlformats.org/drawingml/2006/main" noGrp="1"/>
          </p:cNvSpPr>
          <p:nvPr/>
        </p:nvSpPr>
        <p:spPr>
          <a:xfrm xmlns:a="http://schemas.openxmlformats.org/drawingml/2006/main">
            <a:off x="2931695" y="4238625"/>
            <a:ext cx="4211053" cy="426244"/>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1486EB8E-84D8-4295-ACE8-8E595380E697}"/>
              </a:ext>
            </a:extLst>
          </p:cNvPr>
          <p:cNvSpPr>
            <a:spLocks xmlns:a="http://schemas.openxmlformats.org/drawingml/2006/main" noGrp="1"/>
          </p:cNvSpPr>
          <p:nvPr/>
        </p:nvSpPr>
        <p:spPr>
          <a:xfrm xmlns:a="http://schemas.openxmlformats.org/drawingml/2006/main">
            <a:off x="2979320" y="4267200"/>
            <a:ext cx="411580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5331"/>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Model 层保存牌、玩家、规则和牌局状态；Controller 层推进出牌、过牌、AI 和房间流程；View 层只展示状态和触发用户意图</a:t>
            </a:r>
          </a:p>
        </p:txBody>
      </p:sp>
      <p:sp>
        <p:nvSpPr>
          <p:cNvPr id="21" name="">
            <a:extLst xmlns:a="http://schemas.openxmlformats.org/drawingml/2006/main">
              <a:ext uri="{FF2B5EF4-FFF2-40B4-BE49-F238E27FC236}">
                <a16:creationId xmlns:a16="http://schemas.microsoft.com/office/drawing/2014/main" id="{AC3D373C-B9A7-4E68-98A9-99209948C005}"/>
              </a:ext>
            </a:extLst>
          </p:cNvPr>
          <p:cNvSpPr>
            <a:spLocks xmlns:a="http://schemas.openxmlformats.org/drawingml/2006/main" noGrp="1"/>
          </p:cNvSpPr>
          <p:nvPr/>
        </p:nvSpPr>
        <p:spPr>
          <a:xfrm xmlns:a="http://schemas.openxmlformats.org/drawingml/2006/main">
            <a:off x="7142747" y="4238625"/>
            <a:ext cx="4211053" cy="426244"/>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E933ACEA-0075-40E2-9EC7-CD8777011549}"/>
              </a:ext>
            </a:extLst>
          </p:cNvPr>
          <p:cNvSpPr>
            <a:spLocks xmlns:a="http://schemas.openxmlformats.org/drawingml/2006/main" noGrp="1"/>
          </p:cNvSpPr>
          <p:nvPr/>
        </p:nvSpPr>
        <p:spPr>
          <a:xfrm xmlns:a="http://schemas.openxmlformats.org/drawingml/2006/main">
            <a:off x="7190372" y="4267200"/>
            <a:ext cx="411580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model/、controller/、view/ChudadiApp.kt</a:t>
            </a:r>
          </a:p>
        </p:txBody>
      </p:sp>
      <p:sp>
        <p:nvSpPr>
          <p:cNvPr id="23" name="">
            <a:extLst xmlns:a="http://schemas.openxmlformats.org/drawingml/2006/main">
              <a:ext uri="{FF2B5EF4-FFF2-40B4-BE49-F238E27FC236}">
                <a16:creationId xmlns:a16="http://schemas.microsoft.com/office/drawing/2014/main" id="{CA0CB208-106E-4C59-A6AC-E32F79A3A710}"/>
              </a:ext>
            </a:extLst>
          </p:cNvPr>
          <p:cNvSpPr>
            <a:spLocks xmlns:a="http://schemas.openxmlformats.org/drawingml/2006/main" noGrp="1"/>
          </p:cNvSpPr>
          <p:nvPr/>
        </p:nvSpPr>
        <p:spPr>
          <a:xfrm xmlns:a="http://schemas.openxmlformats.org/drawingml/2006/main">
            <a:off x="685800" y="4664869"/>
            <a:ext cx="2245895" cy="426244"/>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B1BC4A17-F3B9-4DF9-BDFA-A10059DD333C}"/>
              </a:ext>
            </a:extLst>
          </p:cNvPr>
          <p:cNvSpPr>
            <a:spLocks xmlns:a="http://schemas.openxmlformats.org/drawingml/2006/main" noGrp="1"/>
          </p:cNvSpPr>
          <p:nvPr/>
        </p:nvSpPr>
        <p:spPr>
          <a:xfrm xmlns:a="http://schemas.openxmlformats.org/drawingml/2006/main">
            <a:off x="733425" y="4693444"/>
            <a:ext cx="215064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设计成果</a:t>
            </a:r>
          </a:p>
        </p:txBody>
      </p:sp>
      <p:sp>
        <p:nvSpPr>
          <p:cNvPr id="25" name="">
            <a:extLst xmlns:a="http://schemas.openxmlformats.org/drawingml/2006/main">
              <a:ext uri="{FF2B5EF4-FFF2-40B4-BE49-F238E27FC236}">
                <a16:creationId xmlns:a16="http://schemas.microsoft.com/office/drawing/2014/main" id="{8659A84A-7BEA-4BD6-8969-CDD79E9F4F5A}"/>
              </a:ext>
            </a:extLst>
          </p:cNvPr>
          <p:cNvSpPr>
            <a:spLocks xmlns:a="http://schemas.openxmlformats.org/drawingml/2006/main" noGrp="1"/>
          </p:cNvSpPr>
          <p:nvPr/>
        </p:nvSpPr>
        <p:spPr>
          <a:xfrm xmlns:a="http://schemas.openxmlformats.org/drawingml/2006/main">
            <a:off x="2931695" y="4664869"/>
            <a:ext cx="4211053" cy="426244"/>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FCA4C419-6B5F-4C8E-96B8-352DCEF3A2FC}"/>
              </a:ext>
            </a:extLst>
          </p:cNvPr>
          <p:cNvSpPr>
            <a:spLocks xmlns:a="http://schemas.openxmlformats.org/drawingml/2006/main" noGrp="1"/>
          </p:cNvSpPr>
          <p:nvPr/>
        </p:nvSpPr>
        <p:spPr>
          <a:xfrm xmlns:a="http://schemas.openxmlformats.org/drawingml/2006/main">
            <a:off x="2979320" y="4693444"/>
            <a:ext cx="411580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5331"/>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MVC 分层边界明确，Model、Controller、Transport、Profile、View、Audio 职责分离</a:t>
            </a:r>
          </a:p>
        </p:txBody>
      </p:sp>
      <p:sp>
        <p:nvSpPr>
          <p:cNvPr id="27" name="">
            <a:extLst xmlns:a="http://schemas.openxmlformats.org/drawingml/2006/main">
              <a:ext uri="{FF2B5EF4-FFF2-40B4-BE49-F238E27FC236}">
                <a16:creationId xmlns:a16="http://schemas.microsoft.com/office/drawing/2014/main" id="{BC5A67B3-519D-48F4-83E8-96334CDB6037}"/>
              </a:ext>
            </a:extLst>
          </p:cNvPr>
          <p:cNvSpPr>
            <a:spLocks xmlns:a="http://schemas.openxmlformats.org/drawingml/2006/main" noGrp="1"/>
          </p:cNvSpPr>
          <p:nvPr/>
        </p:nvSpPr>
        <p:spPr>
          <a:xfrm xmlns:a="http://schemas.openxmlformats.org/drawingml/2006/main">
            <a:off x="7142747" y="4664869"/>
            <a:ext cx="4211053" cy="426244"/>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A430BC3B-D47A-4F8B-A833-BC2A555D27B9}"/>
              </a:ext>
            </a:extLst>
          </p:cNvPr>
          <p:cNvSpPr>
            <a:spLocks xmlns:a="http://schemas.openxmlformats.org/drawingml/2006/main" noGrp="1"/>
          </p:cNvSpPr>
          <p:nvPr/>
        </p:nvSpPr>
        <p:spPr>
          <a:xfrm xmlns:a="http://schemas.openxmlformats.org/drawingml/2006/main">
            <a:off x="7190372" y="4693444"/>
            <a:ext cx="411580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docs/design.md</a:t>
            </a:r>
          </a:p>
        </p:txBody>
      </p:sp>
      <p:sp>
        <p:nvSpPr>
          <p:cNvPr id="29" name="">
            <a:extLst xmlns:a="http://schemas.openxmlformats.org/drawingml/2006/main">
              <a:ext uri="{FF2B5EF4-FFF2-40B4-BE49-F238E27FC236}">
                <a16:creationId xmlns:a16="http://schemas.microsoft.com/office/drawing/2014/main" id="{050BF1C4-C795-4638-8376-C42C9EDCE293}"/>
              </a:ext>
            </a:extLst>
          </p:cNvPr>
          <p:cNvSpPr>
            <a:spLocks xmlns:a="http://schemas.openxmlformats.org/drawingml/2006/main" noGrp="1"/>
          </p:cNvSpPr>
          <p:nvPr/>
        </p:nvSpPr>
        <p:spPr>
          <a:xfrm xmlns:a="http://schemas.openxmlformats.org/drawingml/2006/main">
            <a:off x="685800" y="5091113"/>
            <a:ext cx="2245895" cy="426244"/>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CFD6C53F-9C1C-4263-B13C-64A21036E2B6}"/>
              </a:ext>
            </a:extLst>
          </p:cNvPr>
          <p:cNvSpPr>
            <a:spLocks xmlns:a="http://schemas.openxmlformats.org/drawingml/2006/main" noGrp="1"/>
          </p:cNvSpPr>
          <p:nvPr/>
        </p:nvSpPr>
        <p:spPr>
          <a:xfrm xmlns:a="http://schemas.openxmlformats.org/drawingml/2006/main">
            <a:off x="733425" y="5119688"/>
            <a:ext cx="215064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图片成果</a:t>
            </a:r>
          </a:p>
        </p:txBody>
      </p:sp>
      <p:sp>
        <p:nvSpPr>
          <p:cNvPr id="31" name="">
            <a:extLst xmlns:a="http://schemas.openxmlformats.org/drawingml/2006/main">
              <a:ext uri="{FF2B5EF4-FFF2-40B4-BE49-F238E27FC236}">
                <a16:creationId xmlns:a16="http://schemas.microsoft.com/office/drawing/2014/main" id="{4616FCE0-AC48-4C04-B8F8-A1F7B334C09C}"/>
              </a:ext>
            </a:extLst>
          </p:cNvPr>
          <p:cNvSpPr>
            <a:spLocks xmlns:a="http://schemas.openxmlformats.org/drawingml/2006/main" noGrp="1"/>
          </p:cNvSpPr>
          <p:nvPr/>
        </p:nvSpPr>
        <p:spPr>
          <a:xfrm xmlns:a="http://schemas.openxmlformats.org/drawingml/2006/main">
            <a:off x="2931695" y="5091113"/>
            <a:ext cx="4211053" cy="426244"/>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975A97AB-6063-406C-92A7-74F4382A525A}"/>
              </a:ext>
            </a:extLst>
          </p:cNvPr>
          <p:cNvSpPr>
            <a:spLocks xmlns:a="http://schemas.openxmlformats.org/drawingml/2006/main" noGrp="1"/>
          </p:cNvSpPr>
          <p:nvPr/>
        </p:nvSpPr>
        <p:spPr>
          <a:xfrm xmlns:a="http://schemas.openxmlformats.org/drawingml/2006/main">
            <a:off x="2979320" y="5119688"/>
            <a:ext cx="411580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类图展示 Model、Controller、Transport、Profile、View/Audio 的依赖关系</a:t>
            </a:r>
          </a:p>
        </p:txBody>
      </p:sp>
      <p:sp>
        <p:nvSpPr>
          <p:cNvPr id="33" name="">
            <a:extLst xmlns:a="http://schemas.openxmlformats.org/drawingml/2006/main">
              <a:ext uri="{FF2B5EF4-FFF2-40B4-BE49-F238E27FC236}">
                <a16:creationId xmlns:a16="http://schemas.microsoft.com/office/drawing/2014/main" id="{893CA621-1583-4869-8CA4-62FD870B818F}"/>
              </a:ext>
            </a:extLst>
          </p:cNvPr>
          <p:cNvSpPr>
            <a:spLocks xmlns:a="http://schemas.openxmlformats.org/drawingml/2006/main" noGrp="1"/>
          </p:cNvSpPr>
          <p:nvPr/>
        </p:nvSpPr>
        <p:spPr>
          <a:xfrm xmlns:a="http://schemas.openxmlformats.org/drawingml/2006/main">
            <a:off x="7142747" y="5091113"/>
            <a:ext cx="4211053" cy="426244"/>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A3CE168E-254A-4460-AD63-A2606006775D}"/>
              </a:ext>
            </a:extLst>
          </p:cNvPr>
          <p:cNvSpPr>
            <a:spLocks xmlns:a="http://schemas.openxmlformats.org/drawingml/2006/main" noGrp="1"/>
          </p:cNvSpPr>
          <p:nvPr/>
        </p:nvSpPr>
        <p:spPr>
          <a:xfrm xmlns:a="http://schemas.openxmlformats.org/drawingml/2006/main">
            <a:off x="7190372" y="5119688"/>
            <a:ext cx="411580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docs/uml/class_diagram.png</a:t>
            </a:r>
          </a:p>
        </p:txBody>
      </p:sp>
      <p:sp>
        <p:nvSpPr>
          <p:cNvPr id="35" name="">
            <a:extLst xmlns:a="http://schemas.openxmlformats.org/drawingml/2006/main">
              <a:ext uri="{FF2B5EF4-FFF2-40B4-BE49-F238E27FC236}">
                <a16:creationId xmlns:a16="http://schemas.microsoft.com/office/drawing/2014/main" id="{DAC584D0-4CBA-4412-944E-406CE2476C14}"/>
              </a:ext>
            </a:extLst>
          </p:cNvPr>
          <p:cNvSpPr>
            <a:spLocks xmlns:a="http://schemas.openxmlformats.org/drawingml/2006/main" noGrp="1"/>
          </p:cNvSpPr>
          <p:nvPr/>
        </p:nvSpPr>
        <p:spPr>
          <a:xfrm xmlns:a="http://schemas.openxmlformats.org/drawingml/2006/main">
            <a:off x="685800" y="5517356"/>
            <a:ext cx="2245895" cy="426244"/>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B2DF2BB8-6B69-4DA7-AED9-9B28E34BD919}"/>
              </a:ext>
            </a:extLst>
          </p:cNvPr>
          <p:cNvSpPr>
            <a:spLocks xmlns:a="http://schemas.openxmlformats.org/drawingml/2006/main" noGrp="1"/>
          </p:cNvSpPr>
          <p:nvPr/>
        </p:nvSpPr>
        <p:spPr>
          <a:xfrm xmlns:a="http://schemas.openxmlformats.org/drawingml/2006/main">
            <a:off x="733425" y="5545931"/>
            <a:ext cx="215064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交互成果</a:t>
            </a:r>
          </a:p>
        </p:txBody>
      </p:sp>
      <p:sp>
        <p:nvSpPr>
          <p:cNvPr id="37" name="">
            <a:extLst xmlns:a="http://schemas.openxmlformats.org/drawingml/2006/main">
              <a:ext uri="{FF2B5EF4-FFF2-40B4-BE49-F238E27FC236}">
                <a16:creationId xmlns:a16="http://schemas.microsoft.com/office/drawing/2014/main" id="{A0E7C150-99AB-4308-82E9-4BB0AE07C5E9}"/>
              </a:ext>
            </a:extLst>
          </p:cNvPr>
          <p:cNvSpPr>
            <a:spLocks xmlns:a="http://schemas.openxmlformats.org/drawingml/2006/main" noGrp="1"/>
          </p:cNvSpPr>
          <p:nvPr/>
        </p:nvSpPr>
        <p:spPr>
          <a:xfrm xmlns:a="http://schemas.openxmlformats.org/drawingml/2006/main">
            <a:off x="2931695" y="5517356"/>
            <a:ext cx="4211053" cy="426244"/>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2B3D1542-9F2F-4CA0-A9DA-3F046EFDE8A0}"/>
              </a:ext>
            </a:extLst>
          </p:cNvPr>
          <p:cNvSpPr>
            <a:spLocks xmlns:a="http://schemas.openxmlformats.org/drawingml/2006/main" noGrp="1"/>
          </p:cNvSpPr>
          <p:nvPr/>
        </p:nvSpPr>
        <p:spPr>
          <a:xfrm xmlns:a="http://schemas.openxmlformats.org/drawingml/2006/main">
            <a:off x="2979320" y="5545931"/>
            <a:ext cx="411580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顺序图展示本地出牌和蓝牙房主权威同步调用链</a:t>
            </a:r>
          </a:p>
        </p:txBody>
      </p:sp>
      <p:sp>
        <p:nvSpPr>
          <p:cNvPr id="39" name="">
            <a:extLst xmlns:a="http://schemas.openxmlformats.org/drawingml/2006/main">
              <a:ext uri="{FF2B5EF4-FFF2-40B4-BE49-F238E27FC236}">
                <a16:creationId xmlns:a16="http://schemas.microsoft.com/office/drawing/2014/main" id="{5681DFFC-36B7-450D-AB91-014841E0CD2B}"/>
              </a:ext>
            </a:extLst>
          </p:cNvPr>
          <p:cNvSpPr>
            <a:spLocks xmlns:a="http://schemas.openxmlformats.org/drawingml/2006/main" noGrp="1"/>
          </p:cNvSpPr>
          <p:nvPr/>
        </p:nvSpPr>
        <p:spPr>
          <a:xfrm xmlns:a="http://schemas.openxmlformats.org/drawingml/2006/main">
            <a:off x="7142747" y="5517356"/>
            <a:ext cx="4211053" cy="426244"/>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26DD0110-B765-45A2-AEB2-E4FE21015B74}"/>
              </a:ext>
            </a:extLst>
          </p:cNvPr>
          <p:cNvSpPr>
            <a:spLocks xmlns:a="http://schemas.openxmlformats.org/drawingml/2006/main" noGrp="1"/>
          </p:cNvSpPr>
          <p:nvPr/>
        </p:nvSpPr>
        <p:spPr>
          <a:xfrm xmlns:a="http://schemas.openxmlformats.org/drawingml/2006/main">
            <a:off x="7190372" y="5545931"/>
            <a:ext cx="411580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docs/uml/sequence_game_turn.png</a:t>
            </a:r>
          </a:p>
        </p:txBody>
      </p:sp>
      <p:sp>
        <p:nvSpPr>
          <p:cNvPr id="41" name="">
            <a:extLst xmlns:a="http://schemas.openxmlformats.org/drawingml/2006/main">
              <a:ext uri="{FF2B5EF4-FFF2-40B4-BE49-F238E27FC236}">
                <a16:creationId xmlns:a16="http://schemas.microsoft.com/office/drawing/2014/main" id="{BCD29D94-6787-4CB7-A0DF-D8A95530C674}"/>
              </a:ext>
            </a:extLst>
          </p:cNvPr>
          <p:cNvSpPr>
            <a:spLocks xmlns:a="http://schemas.openxmlformats.org/drawingml/2006/main" noGrp="1"/>
          </p:cNvSpPr>
          <p:nvPr/>
        </p:nvSpPr>
        <p:spPr>
          <a:xfrm xmlns:a="http://schemas.openxmlformats.org/drawingml/2006/main">
            <a:off x="685800" y="6410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本阶段使用的设计模式和设计原则如下：</a:t>
            </a:r>
          </a:p>
        </p:txBody>
      </p:sp>
      <p:sp>
        <p:nvSpPr>
          <p:cNvPr id="42" name="">
            <a:extLst xmlns:a="http://schemas.openxmlformats.org/drawingml/2006/main">
              <a:ext uri="{FF2B5EF4-FFF2-40B4-BE49-F238E27FC236}">
                <a16:creationId xmlns:a16="http://schemas.microsoft.com/office/drawing/2014/main" id="{0943065C-4F41-40A1-95DE-813D7F98C532}"/>
              </a:ext>
            </a:extLst>
          </p:cNvPr>
          <p:cNvSpPr>
            <a:spLocks xmlns:a="http://schemas.openxmlformats.org/drawingml/2006/main" noGrp="1"/>
          </p:cNvSpPr>
          <p:nvPr/>
        </p:nvSpPr>
        <p:spPr>
          <a:xfrm xmlns:a="http://schemas.openxmlformats.org/drawingml/2006/main">
            <a:off x="685800" y="7153275"/>
            <a:ext cx="2798164" cy="2857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248A5EF8-C086-4DE8-BB6F-36E0EBF2C178}"/>
              </a:ext>
            </a:extLst>
          </p:cNvPr>
          <p:cNvSpPr>
            <a:spLocks xmlns:a="http://schemas.openxmlformats.org/drawingml/2006/main" noGrp="1"/>
          </p:cNvSpPr>
          <p:nvPr/>
        </p:nvSpPr>
        <p:spPr>
          <a:xfrm xmlns:a="http://schemas.openxmlformats.org/drawingml/2006/main">
            <a:off x="733425" y="7191375"/>
            <a:ext cx="2702914"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83289"/>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设计模式/原则</a:t>
            </a:r>
          </a:p>
        </p:txBody>
      </p:sp>
      <p:sp>
        <p:nvSpPr>
          <p:cNvPr id="44" name="">
            <a:extLst xmlns:a="http://schemas.openxmlformats.org/drawingml/2006/main">
              <a:ext uri="{FF2B5EF4-FFF2-40B4-BE49-F238E27FC236}">
                <a16:creationId xmlns:a16="http://schemas.microsoft.com/office/drawing/2014/main" id="{22385573-9E2B-4D86-9278-6381C9D120EE}"/>
              </a:ext>
            </a:extLst>
          </p:cNvPr>
          <p:cNvSpPr>
            <a:spLocks xmlns:a="http://schemas.openxmlformats.org/drawingml/2006/main" noGrp="1"/>
          </p:cNvSpPr>
          <p:nvPr/>
        </p:nvSpPr>
        <p:spPr>
          <a:xfrm xmlns:a="http://schemas.openxmlformats.org/drawingml/2006/main">
            <a:off x="3483964" y="7153275"/>
            <a:ext cx="3934918" cy="2857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45" name="">
            <a:extLst xmlns:a="http://schemas.openxmlformats.org/drawingml/2006/main">
              <a:ext uri="{FF2B5EF4-FFF2-40B4-BE49-F238E27FC236}">
                <a16:creationId xmlns:a16="http://schemas.microsoft.com/office/drawing/2014/main" id="{3490E648-0E23-4038-9D43-D89F5122DEFD}"/>
              </a:ext>
            </a:extLst>
          </p:cNvPr>
          <p:cNvSpPr>
            <a:spLocks xmlns:a="http://schemas.openxmlformats.org/drawingml/2006/main" noGrp="1"/>
          </p:cNvSpPr>
          <p:nvPr/>
        </p:nvSpPr>
        <p:spPr>
          <a:xfrm xmlns:a="http://schemas.openxmlformats.org/drawingml/2006/main">
            <a:off x="3531589" y="7191375"/>
            <a:ext cx="3839668"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83289"/>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阶段作用</a:t>
            </a:r>
          </a:p>
        </p:txBody>
      </p:sp>
      <p:sp>
        <p:nvSpPr>
          <p:cNvPr id="46" name="">
            <a:extLst xmlns:a="http://schemas.openxmlformats.org/drawingml/2006/main">
              <a:ext uri="{FF2B5EF4-FFF2-40B4-BE49-F238E27FC236}">
                <a16:creationId xmlns:a16="http://schemas.microsoft.com/office/drawing/2014/main" id="{5B5D3375-F8E3-46BF-8997-FE2E73B7776F}"/>
              </a:ext>
            </a:extLst>
          </p:cNvPr>
          <p:cNvSpPr>
            <a:spLocks xmlns:a="http://schemas.openxmlformats.org/drawingml/2006/main" noGrp="1"/>
          </p:cNvSpPr>
          <p:nvPr/>
        </p:nvSpPr>
        <p:spPr>
          <a:xfrm xmlns:a="http://schemas.openxmlformats.org/drawingml/2006/main">
            <a:off x="7418882" y="7153275"/>
            <a:ext cx="3934918" cy="2857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47" name="">
            <a:extLst xmlns:a="http://schemas.openxmlformats.org/drawingml/2006/main">
              <a:ext uri="{FF2B5EF4-FFF2-40B4-BE49-F238E27FC236}">
                <a16:creationId xmlns:a16="http://schemas.microsoft.com/office/drawing/2014/main" id="{B853C353-C55C-4E3C-9315-1A6D87E00636}"/>
              </a:ext>
            </a:extLst>
          </p:cNvPr>
          <p:cNvSpPr>
            <a:spLocks xmlns:a="http://schemas.openxmlformats.org/drawingml/2006/main" noGrp="1"/>
          </p:cNvSpPr>
          <p:nvPr/>
        </p:nvSpPr>
        <p:spPr>
          <a:xfrm xmlns:a="http://schemas.openxmlformats.org/drawingml/2006/main">
            <a:off x="7466507" y="7191375"/>
            <a:ext cx="3839668"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83289"/>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代码或文档落点</a:t>
            </a:r>
          </a:p>
        </p:txBody>
      </p:sp>
      <p:sp>
        <p:nvSpPr>
          <p:cNvPr id="48" name="">
            <a:extLst xmlns:a="http://schemas.openxmlformats.org/drawingml/2006/main">
              <a:ext uri="{FF2B5EF4-FFF2-40B4-BE49-F238E27FC236}">
                <a16:creationId xmlns:a16="http://schemas.microsoft.com/office/drawing/2014/main" id="{EBCDE4F5-A700-481D-B4BC-7C531228CBCF}"/>
              </a:ext>
            </a:extLst>
          </p:cNvPr>
          <p:cNvSpPr>
            <a:spLocks xmlns:a="http://schemas.openxmlformats.org/drawingml/2006/main" noGrp="1"/>
          </p:cNvSpPr>
          <p:nvPr/>
        </p:nvSpPr>
        <p:spPr>
          <a:xfrm xmlns:a="http://schemas.openxmlformats.org/drawingml/2006/main">
            <a:off x="685800" y="7439025"/>
            <a:ext cx="2798164" cy="-373856"/>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9" name="">
            <a:extLst xmlns:a="http://schemas.openxmlformats.org/drawingml/2006/main">
              <a:ext uri="{FF2B5EF4-FFF2-40B4-BE49-F238E27FC236}">
                <a16:creationId xmlns:a16="http://schemas.microsoft.com/office/drawing/2014/main" id="{6FFE4F92-E266-4AF2-B676-DD19D3687C0F}"/>
              </a:ext>
            </a:extLst>
          </p:cNvPr>
          <p:cNvSpPr>
            <a:spLocks xmlns:a="http://schemas.openxmlformats.org/drawingml/2006/main" noGrp="1"/>
          </p:cNvSpPr>
          <p:nvPr/>
        </p:nvSpPr>
        <p:spPr>
          <a:xfrm xmlns:a="http://schemas.openxmlformats.org/drawingml/2006/main">
            <a:off x="733425" y="7467600"/>
            <a:ext cx="2702914" cy="-431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MVC 架构模式</a:t>
            </a:r>
          </a:p>
        </p:txBody>
      </p:sp>
      <p:sp>
        <p:nvSpPr>
          <p:cNvPr id="50" name="">
            <a:extLst xmlns:a="http://schemas.openxmlformats.org/drawingml/2006/main">
              <a:ext uri="{FF2B5EF4-FFF2-40B4-BE49-F238E27FC236}">
                <a16:creationId xmlns:a16="http://schemas.microsoft.com/office/drawing/2014/main" id="{D925414C-7089-4321-8BAA-1E8D4FFF149E}"/>
              </a:ext>
            </a:extLst>
          </p:cNvPr>
          <p:cNvSpPr>
            <a:spLocks xmlns:a="http://schemas.openxmlformats.org/drawingml/2006/main" noGrp="1"/>
          </p:cNvSpPr>
          <p:nvPr/>
        </p:nvSpPr>
        <p:spPr>
          <a:xfrm xmlns:a="http://schemas.openxmlformats.org/drawingml/2006/main">
            <a:off x="3483964" y="7439025"/>
            <a:ext cx="3934918" cy="-373856"/>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1" name="">
            <a:extLst xmlns:a="http://schemas.openxmlformats.org/drawingml/2006/main">
              <a:ext uri="{FF2B5EF4-FFF2-40B4-BE49-F238E27FC236}">
                <a16:creationId xmlns:a16="http://schemas.microsoft.com/office/drawing/2014/main" id="{1583067C-3C21-4C83-A813-048E19C7222E}"/>
              </a:ext>
            </a:extLst>
          </p:cNvPr>
          <p:cNvSpPr>
            <a:spLocks xmlns:a="http://schemas.openxmlformats.org/drawingml/2006/main" noGrp="1"/>
          </p:cNvSpPr>
          <p:nvPr/>
        </p:nvSpPr>
        <p:spPr>
          <a:xfrm xmlns:a="http://schemas.openxmlformats.org/drawingml/2006/main">
            <a:off x="3531589" y="7467600"/>
            <a:ext cx="3839668" cy="-431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将领域状态、业务控制和 Compose 界面分离，是整个项目最基础的结构模式</a:t>
            </a:r>
          </a:p>
        </p:txBody>
      </p:sp>
      <p:sp>
        <p:nvSpPr>
          <p:cNvPr id="52" name="">
            <a:extLst xmlns:a="http://schemas.openxmlformats.org/drawingml/2006/main">
              <a:ext uri="{FF2B5EF4-FFF2-40B4-BE49-F238E27FC236}">
                <a16:creationId xmlns:a16="http://schemas.microsoft.com/office/drawing/2014/main" id="{FD1D6B80-217C-4094-8E68-A7B4FF14BF78}"/>
              </a:ext>
            </a:extLst>
          </p:cNvPr>
          <p:cNvSpPr>
            <a:spLocks xmlns:a="http://schemas.openxmlformats.org/drawingml/2006/main" noGrp="1"/>
          </p:cNvSpPr>
          <p:nvPr/>
        </p:nvSpPr>
        <p:spPr>
          <a:xfrm xmlns:a="http://schemas.openxmlformats.org/drawingml/2006/main">
            <a:off x="7418882" y="7439025"/>
            <a:ext cx="3934918" cy="-373856"/>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3" name="">
            <a:extLst xmlns:a="http://schemas.openxmlformats.org/drawingml/2006/main">
              <a:ext uri="{FF2B5EF4-FFF2-40B4-BE49-F238E27FC236}">
                <a16:creationId xmlns:a16="http://schemas.microsoft.com/office/drawing/2014/main" id="{0518F6B7-07BF-4967-AC05-36AFB201B058}"/>
              </a:ext>
            </a:extLst>
          </p:cNvPr>
          <p:cNvSpPr>
            <a:spLocks xmlns:a="http://schemas.openxmlformats.org/drawingml/2006/main" noGrp="1"/>
          </p:cNvSpPr>
          <p:nvPr/>
        </p:nvSpPr>
        <p:spPr>
          <a:xfrm xmlns:a="http://schemas.openxmlformats.org/drawingml/2006/main">
            <a:off x="7466507" y="7467600"/>
            <a:ext cx="3839668" cy="-431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model/、controller/、view/</a:t>
            </a:r>
          </a:p>
        </p:txBody>
      </p:sp>
      <p:sp>
        <p:nvSpPr>
          <p:cNvPr id="54" name="">
            <a:extLst xmlns:a="http://schemas.openxmlformats.org/drawingml/2006/main">
              <a:ext uri="{FF2B5EF4-FFF2-40B4-BE49-F238E27FC236}">
                <a16:creationId xmlns:a16="http://schemas.microsoft.com/office/drawing/2014/main" id="{3986678A-1DE2-4BB4-9C83-34EC1CC9506C}"/>
              </a:ext>
            </a:extLst>
          </p:cNvPr>
          <p:cNvSpPr>
            <a:spLocks xmlns:a="http://schemas.openxmlformats.org/drawingml/2006/main" noGrp="1"/>
          </p:cNvSpPr>
          <p:nvPr/>
        </p:nvSpPr>
        <p:spPr>
          <a:xfrm xmlns:a="http://schemas.openxmlformats.org/drawingml/2006/main">
            <a:off x="685800" y="7065169"/>
            <a:ext cx="2798164" cy="-373856"/>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5" name="">
            <a:extLst xmlns:a="http://schemas.openxmlformats.org/drawingml/2006/main">
              <a:ext uri="{FF2B5EF4-FFF2-40B4-BE49-F238E27FC236}">
                <a16:creationId xmlns:a16="http://schemas.microsoft.com/office/drawing/2014/main" id="{DAEE6366-14C1-4F8E-BFEA-6B9F20FC280C}"/>
              </a:ext>
            </a:extLst>
          </p:cNvPr>
          <p:cNvSpPr>
            <a:spLocks xmlns:a="http://schemas.openxmlformats.org/drawingml/2006/main" noGrp="1"/>
          </p:cNvSpPr>
          <p:nvPr/>
        </p:nvSpPr>
        <p:spPr>
          <a:xfrm xmlns:a="http://schemas.openxmlformats.org/drawingml/2006/main">
            <a:off x="733425" y="7093744"/>
            <a:ext cx="2702914" cy="-431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策略模式雏形</a:t>
            </a:r>
          </a:p>
        </p:txBody>
      </p:sp>
      <p:sp>
        <p:nvSpPr>
          <p:cNvPr id="56" name="">
            <a:extLst xmlns:a="http://schemas.openxmlformats.org/drawingml/2006/main">
              <a:ext uri="{FF2B5EF4-FFF2-40B4-BE49-F238E27FC236}">
                <a16:creationId xmlns:a16="http://schemas.microsoft.com/office/drawing/2014/main" id="{586D42A8-4FB8-45D5-ADA4-7868108428E3}"/>
              </a:ext>
            </a:extLst>
          </p:cNvPr>
          <p:cNvSpPr>
            <a:spLocks xmlns:a="http://schemas.openxmlformats.org/drawingml/2006/main" noGrp="1"/>
          </p:cNvSpPr>
          <p:nvPr/>
        </p:nvSpPr>
        <p:spPr>
          <a:xfrm xmlns:a="http://schemas.openxmlformats.org/drawingml/2006/main">
            <a:off x="3483964" y="7065169"/>
            <a:ext cx="3934918" cy="-373856"/>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7" name="">
            <a:extLst xmlns:a="http://schemas.openxmlformats.org/drawingml/2006/main">
              <a:ext uri="{FF2B5EF4-FFF2-40B4-BE49-F238E27FC236}">
                <a16:creationId xmlns:a16="http://schemas.microsoft.com/office/drawing/2014/main" id="{6D573985-1457-4139-BB3B-8B1699EB4A45}"/>
              </a:ext>
            </a:extLst>
          </p:cNvPr>
          <p:cNvSpPr>
            <a:spLocks xmlns:a="http://schemas.openxmlformats.org/drawingml/2006/main" noGrp="1"/>
          </p:cNvSpPr>
          <p:nvPr/>
        </p:nvSpPr>
        <p:spPr>
          <a:xfrm xmlns:a="http://schemas.openxmlformats.org/drawingml/2006/main">
            <a:off x="3531589" y="7093744"/>
            <a:ext cx="3839668" cy="-431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先定义 AiStrategy 接口，为后续简单、普通、困难 AI 策略替换做准备</a:t>
            </a:r>
          </a:p>
        </p:txBody>
      </p:sp>
      <p:sp>
        <p:nvSpPr>
          <p:cNvPr id="58" name="">
            <a:extLst xmlns:a="http://schemas.openxmlformats.org/drawingml/2006/main">
              <a:ext uri="{FF2B5EF4-FFF2-40B4-BE49-F238E27FC236}">
                <a16:creationId xmlns:a16="http://schemas.microsoft.com/office/drawing/2014/main" id="{7DE1695E-FBF5-4667-BEAB-7A60578B657E}"/>
              </a:ext>
            </a:extLst>
          </p:cNvPr>
          <p:cNvSpPr>
            <a:spLocks xmlns:a="http://schemas.openxmlformats.org/drawingml/2006/main" noGrp="1"/>
          </p:cNvSpPr>
          <p:nvPr/>
        </p:nvSpPr>
        <p:spPr>
          <a:xfrm xmlns:a="http://schemas.openxmlformats.org/drawingml/2006/main">
            <a:off x="7418882" y="7065169"/>
            <a:ext cx="3934918" cy="-373856"/>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9" name="">
            <a:extLst xmlns:a="http://schemas.openxmlformats.org/drawingml/2006/main">
              <a:ext uri="{FF2B5EF4-FFF2-40B4-BE49-F238E27FC236}">
                <a16:creationId xmlns:a16="http://schemas.microsoft.com/office/drawing/2014/main" id="{17E6FCD2-3150-47FD-8B99-4AA5C0159DF7}"/>
              </a:ext>
            </a:extLst>
          </p:cNvPr>
          <p:cNvSpPr>
            <a:spLocks xmlns:a="http://schemas.openxmlformats.org/drawingml/2006/main" noGrp="1"/>
          </p:cNvSpPr>
          <p:nvPr/>
        </p:nvSpPr>
        <p:spPr>
          <a:xfrm xmlns:a="http://schemas.openxmlformats.org/drawingml/2006/main">
            <a:off x="7466507" y="7093744"/>
            <a:ext cx="3839668" cy="-431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controller/AiStrategy.kt</a:t>
            </a:r>
          </a:p>
        </p:txBody>
      </p:sp>
      <p:sp>
        <p:nvSpPr>
          <p:cNvPr id="60" name="">
            <a:extLst xmlns:a="http://schemas.openxmlformats.org/drawingml/2006/main">
              <a:ext uri="{FF2B5EF4-FFF2-40B4-BE49-F238E27FC236}">
                <a16:creationId xmlns:a16="http://schemas.microsoft.com/office/drawing/2014/main" id="{C44D7E46-806A-4711-8778-07BAD0A2F61A}"/>
              </a:ext>
            </a:extLst>
          </p:cNvPr>
          <p:cNvSpPr>
            <a:spLocks xmlns:a="http://schemas.openxmlformats.org/drawingml/2006/main" noGrp="1"/>
          </p:cNvSpPr>
          <p:nvPr/>
        </p:nvSpPr>
        <p:spPr>
          <a:xfrm xmlns:a="http://schemas.openxmlformats.org/drawingml/2006/main">
            <a:off x="685800" y="6691313"/>
            <a:ext cx="2798164" cy="-373856"/>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1" name="">
            <a:extLst xmlns:a="http://schemas.openxmlformats.org/drawingml/2006/main">
              <a:ext uri="{FF2B5EF4-FFF2-40B4-BE49-F238E27FC236}">
                <a16:creationId xmlns:a16="http://schemas.microsoft.com/office/drawing/2014/main" id="{7A55C94D-9E46-4022-8D72-E06335024859}"/>
              </a:ext>
            </a:extLst>
          </p:cNvPr>
          <p:cNvSpPr>
            <a:spLocks xmlns:a="http://schemas.openxmlformats.org/drawingml/2006/main" noGrp="1"/>
          </p:cNvSpPr>
          <p:nvPr/>
        </p:nvSpPr>
        <p:spPr>
          <a:xfrm xmlns:a="http://schemas.openxmlformats.org/drawingml/2006/main">
            <a:off x="733425" y="6719888"/>
            <a:ext cx="2702914" cy="-431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命令对象思想</a:t>
            </a:r>
          </a:p>
        </p:txBody>
      </p:sp>
      <p:sp>
        <p:nvSpPr>
          <p:cNvPr id="62" name="">
            <a:extLst xmlns:a="http://schemas.openxmlformats.org/drawingml/2006/main">
              <a:ext uri="{FF2B5EF4-FFF2-40B4-BE49-F238E27FC236}">
                <a16:creationId xmlns:a16="http://schemas.microsoft.com/office/drawing/2014/main" id="{5C5A848E-A272-4194-B601-DFA467E9C455}"/>
              </a:ext>
            </a:extLst>
          </p:cNvPr>
          <p:cNvSpPr>
            <a:spLocks xmlns:a="http://schemas.openxmlformats.org/drawingml/2006/main" noGrp="1"/>
          </p:cNvSpPr>
          <p:nvPr/>
        </p:nvSpPr>
        <p:spPr>
          <a:xfrm xmlns:a="http://schemas.openxmlformats.org/drawingml/2006/main">
            <a:off x="3483964" y="6691313"/>
            <a:ext cx="3934918" cy="-373856"/>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3" name="">
            <a:extLst xmlns:a="http://schemas.openxmlformats.org/drawingml/2006/main">
              <a:ext uri="{FF2B5EF4-FFF2-40B4-BE49-F238E27FC236}">
                <a16:creationId xmlns:a16="http://schemas.microsoft.com/office/drawing/2014/main" id="{F385774D-190B-4372-BA0C-38822312BCA7}"/>
              </a:ext>
            </a:extLst>
          </p:cNvPr>
          <p:cNvSpPr>
            <a:spLocks xmlns:a="http://schemas.openxmlformats.org/drawingml/2006/main" noGrp="1"/>
          </p:cNvSpPr>
          <p:nvPr/>
        </p:nvSpPr>
        <p:spPr>
          <a:xfrm xmlns:a="http://schemas.openxmlformats.org/drawingml/2006/main">
            <a:off x="3531589" y="6719888"/>
            <a:ext cx="3839668" cy="-431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用 Move.Play、Move.Pass 表示玩家动作，使本地玩家、AI 和远端消息都能复用同一动作模型</a:t>
            </a:r>
          </a:p>
        </p:txBody>
      </p:sp>
      <p:sp>
        <p:nvSpPr>
          <p:cNvPr id="64" name="">
            <a:extLst xmlns:a="http://schemas.openxmlformats.org/drawingml/2006/main">
              <a:ext uri="{FF2B5EF4-FFF2-40B4-BE49-F238E27FC236}">
                <a16:creationId xmlns:a16="http://schemas.microsoft.com/office/drawing/2014/main" id="{4D00DBB2-6EEE-46B2-B830-4804A9DDE211}"/>
              </a:ext>
            </a:extLst>
          </p:cNvPr>
          <p:cNvSpPr>
            <a:spLocks xmlns:a="http://schemas.openxmlformats.org/drawingml/2006/main" noGrp="1"/>
          </p:cNvSpPr>
          <p:nvPr/>
        </p:nvSpPr>
        <p:spPr>
          <a:xfrm xmlns:a="http://schemas.openxmlformats.org/drawingml/2006/main">
            <a:off x="7418882" y="6691313"/>
            <a:ext cx="3934918" cy="-373856"/>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5" name="">
            <a:extLst xmlns:a="http://schemas.openxmlformats.org/drawingml/2006/main">
              <a:ext uri="{FF2B5EF4-FFF2-40B4-BE49-F238E27FC236}">
                <a16:creationId xmlns:a16="http://schemas.microsoft.com/office/drawing/2014/main" id="{3E4EDAC9-9716-4E33-92B9-F4895893BB8C}"/>
              </a:ext>
            </a:extLst>
          </p:cNvPr>
          <p:cNvSpPr>
            <a:spLocks xmlns:a="http://schemas.openxmlformats.org/drawingml/2006/main" noGrp="1"/>
          </p:cNvSpPr>
          <p:nvPr/>
        </p:nvSpPr>
        <p:spPr>
          <a:xfrm xmlns:a="http://schemas.openxmlformats.org/drawingml/2006/main">
            <a:off x="7466507" y="6719888"/>
            <a:ext cx="3839668" cy="-431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model/Move.kt</a:t>
            </a:r>
          </a:p>
        </p:txBody>
      </p:sp>
      <p:sp>
        <p:nvSpPr>
          <p:cNvPr id="66" name="">
            <a:extLst xmlns:a="http://schemas.openxmlformats.org/drawingml/2006/main">
              <a:ext uri="{FF2B5EF4-FFF2-40B4-BE49-F238E27FC236}">
                <a16:creationId xmlns:a16="http://schemas.microsoft.com/office/drawing/2014/main" id="{07001D65-F702-4057-9018-7933292FB9D7}"/>
              </a:ext>
            </a:extLst>
          </p:cNvPr>
          <p:cNvSpPr>
            <a:spLocks xmlns:a="http://schemas.openxmlformats.org/drawingml/2006/main" noGrp="1"/>
          </p:cNvSpPr>
          <p:nvPr/>
        </p:nvSpPr>
        <p:spPr>
          <a:xfrm xmlns:a="http://schemas.openxmlformats.org/drawingml/2006/main">
            <a:off x="685800" y="6317456"/>
            <a:ext cx="2798164" cy="-373856"/>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7" name="">
            <a:extLst xmlns:a="http://schemas.openxmlformats.org/drawingml/2006/main">
              <a:ext uri="{FF2B5EF4-FFF2-40B4-BE49-F238E27FC236}">
                <a16:creationId xmlns:a16="http://schemas.microsoft.com/office/drawing/2014/main" id="{1F0CC6A4-CEA7-44EA-9ED9-71BF5CAEDBEB}"/>
              </a:ext>
            </a:extLst>
          </p:cNvPr>
          <p:cNvSpPr>
            <a:spLocks xmlns:a="http://schemas.openxmlformats.org/drawingml/2006/main" noGrp="1"/>
          </p:cNvSpPr>
          <p:nvPr/>
        </p:nvSpPr>
        <p:spPr>
          <a:xfrm xmlns:a="http://schemas.openxmlformats.org/drawingml/2006/main">
            <a:off x="733425" y="6346031"/>
            <a:ext cx="2702914" cy="-431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单一状态源</a:t>
            </a:r>
          </a:p>
        </p:txBody>
      </p:sp>
      <p:sp>
        <p:nvSpPr>
          <p:cNvPr id="68" name="">
            <a:extLst xmlns:a="http://schemas.openxmlformats.org/drawingml/2006/main">
              <a:ext uri="{FF2B5EF4-FFF2-40B4-BE49-F238E27FC236}">
                <a16:creationId xmlns:a16="http://schemas.microsoft.com/office/drawing/2014/main" id="{EDF8FAD3-D462-4365-A327-7C8D6F74BB44}"/>
              </a:ext>
            </a:extLst>
          </p:cNvPr>
          <p:cNvSpPr>
            <a:spLocks xmlns:a="http://schemas.openxmlformats.org/drawingml/2006/main" noGrp="1"/>
          </p:cNvSpPr>
          <p:nvPr/>
        </p:nvSpPr>
        <p:spPr>
          <a:xfrm xmlns:a="http://schemas.openxmlformats.org/drawingml/2006/main">
            <a:off x="3483964" y="6317456"/>
            <a:ext cx="3934918" cy="-373856"/>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9" name="">
            <a:extLst xmlns:a="http://schemas.openxmlformats.org/drawingml/2006/main">
              <a:ext uri="{FF2B5EF4-FFF2-40B4-BE49-F238E27FC236}">
                <a16:creationId xmlns:a16="http://schemas.microsoft.com/office/drawing/2014/main" id="{A02E2EBE-7197-464E-9799-D442CF974134}"/>
              </a:ext>
            </a:extLst>
          </p:cNvPr>
          <p:cNvSpPr>
            <a:spLocks xmlns:a="http://schemas.openxmlformats.org/drawingml/2006/main" noGrp="1"/>
          </p:cNvSpPr>
          <p:nvPr/>
        </p:nvSpPr>
        <p:spPr>
          <a:xfrm xmlns:a="http://schemas.openxmlformats.org/drawingml/2006/main">
            <a:off x="3531589" y="6346031"/>
            <a:ext cx="3839668" cy="-431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用 GameState 保存牌桌核心状态，UI 由状态变化重组，减少多处变量不一致</a:t>
            </a:r>
          </a:p>
        </p:txBody>
      </p:sp>
      <p:sp>
        <p:nvSpPr>
          <p:cNvPr id="70" name="">
            <a:extLst xmlns:a="http://schemas.openxmlformats.org/drawingml/2006/main">
              <a:ext uri="{FF2B5EF4-FFF2-40B4-BE49-F238E27FC236}">
                <a16:creationId xmlns:a16="http://schemas.microsoft.com/office/drawing/2014/main" id="{FA5371FE-55FE-489B-ACCA-8990FDD4E2BC}"/>
              </a:ext>
            </a:extLst>
          </p:cNvPr>
          <p:cNvSpPr>
            <a:spLocks xmlns:a="http://schemas.openxmlformats.org/drawingml/2006/main" noGrp="1"/>
          </p:cNvSpPr>
          <p:nvPr/>
        </p:nvSpPr>
        <p:spPr>
          <a:xfrm xmlns:a="http://schemas.openxmlformats.org/drawingml/2006/main">
            <a:off x="7418882" y="6317456"/>
            <a:ext cx="3934918" cy="-373856"/>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1" name="">
            <a:extLst xmlns:a="http://schemas.openxmlformats.org/drawingml/2006/main">
              <a:ext uri="{FF2B5EF4-FFF2-40B4-BE49-F238E27FC236}">
                <a16:creationId xmlns:a16="http://schemas.microsoft.com/office/drawing/2014/main" id="{F61597A4-D66E-4DB3-BA07-5C912F3FD0F7}"/>
              </a:ext>
            </a:extLst>
          </p:cNvPr>
          <p:cNvSpPr>
            <a:spLocks xmlns:a="http://schemas.openxmlformats.org/drawingml/2006/main" noGrp="1"/>
          </p:cNvSpPr>
          <p:nvPr/>
        </p:nvSpPr>
        <p:spPr>
          <a:xfrm xmlns:a="http://schemas.openxmlformats.org/drawingml/2006/main">
            <a:off x="7466507" y="6346031"/>
            <a:ext cx="3839668" cy="-431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model/GameState.kt</a:t>
            </a:r>
          </a:p>
        </p:txBody>
      </p:sp>
      <p:sp>
        <p:nvSpPr>
          <p:cNvPr id="72" name="">
            <a:extLst xmlns:a="http://schemas.openxmlformats.org/drawingml/2006/main">
              <a:ext uri="{FF2B5EF4-FFF2-40B4-BE49-F238E27FC236}">
                <a16:creationId xmlns:a16="http://schemas.microsoft.com/office/drawing/2014/main" id="{444A1FE7-17E3-4DA9-9AC9-71A4AB85C6B5}"/>
              </a:ext>
            </a:extLst>
          </p:cNvPr>
          <p:cNvSpPr>
            <a:spLocks xmlns:a="http://schemas.openxmlformats.org/drawingml/2006/main" noGrp="1"/>
          </p:cNvSpPr>
          <p:nvPr/>
        </p:nvSpPr>
        <p:spPr>
          <a:xfrm xmlns:a="http://schemas.openxmlformats.org/drawingml/2006/main">
            <a:off x="685800" y="97250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核心状态模型代码片段如下：</a:t>
            </a:r>
          </a:p>
        </p:txBody>
      </p:sp>
    </p:spTree>
    <p:extLst>
      <p:ext uri="{BB962C8B-B14F-4D97-AF65-F5344CB8AC3E}">
        <p14:creationId xmlns:p14="http://schemas.microsoft.com/office/powerpoint/2010/main" val="145377311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FB9473-8B01-441D-BBE0-879A905619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5F7746-E350-4900-99AD-06F155841CA1}"/>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CDE64CE-3CEB-42CC-84AE-53D8D4BD0668}"/>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58B2059F-6AF1-4417-8B65-0A633F111D59}"/>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9444FDCF-F63E-494E-B1B5-A5E1FBC6E004}"/>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36</a:t>
            </a:r>
          </a:p>
        </p:txBody>
      </p:sp>
      <p:sp>
        <p:nvSpPr>
          <p:cNvPr id="6" name="">
            <a:extLst xmlns:a="http://schemas.openxmlformats.org/drawingml/2006/main">
              <a:ext uri="{FF2B5EF4-FFF2-40B4-BE49-F238E27FC236}">
                <a16:creationId xmlns:a16="http://schemas.microsoft.com/office/drawing/2014/main" id="{8A84EA6F-2F27-4287-A81F-D1E979A0D6FD}"/>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82AD48D6-933A-42F2-983B-B520F2141E42}"/>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5.5 实现成果（2/6）</a:t>
            </a:r>
          </a:p>
        </p:txBody>
      </p:sp>
      <p:sp>
        <p:nvSpPr>
          <p:cNvPr id="8" name="">
            <a:extLst xmlns:a="http://schemas.openxmlformats.org/drawingml/2006/main">
              <a:ext uri="{FF2B5EF4-FFF2-40B4-BE49-F238E27FC236}">
                <a16:creationId xmlns:a16="http://schemas.microsoft.com/office/drawing/2014/main" id="{15EBF65C-B5FE-4438-B18B-E0696D2B141C}"/>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537DA25-6AE7-4E8A-A143-0BDB5B0E5F70}"/>
              </a:ext>
            </a:extLst>
          </p:cNvPr>
          <p:cNvSpPr>
            <a:spLocks xmlns:a="http://schemas.openxmlformats.org/drawingml/2006/main" noGrp="1"/>
          </p:cNvSpPr>
          <p:nvPr/>
        </p:nvSpPr>
        <p:spPr>
          <a:xfrm xmlns:a="http://schemas.openxmlformats.org/drawingml/2006/main">
            <a:off x="685800" y="1905000"/>
            <a:ext cx="10839450" cy="4038600"/>
          </a:xfrm>
          <a:prstGeom xmlns:a="http://schemas.openxmlformats.org/drawingml/2006/main" prst="roundRect">
            <a:avLst>
              <a:gd name="adj" fmla="val 1415"/>
            </a:avLst>
          </a:prstGeom>
          <a:solidFill xmlns:a="http://schemas.openxmlformats.org/drawingml/2006/main">
            <a:srgbClr val="102820"/>
          </a:solidFill>
          <a:ln xmlns:a="http://schemas.openxmlformats.org/drawingml/2006/main" w="9525">
            <a:solidFill>
              <a:srgbClr val="294C3E"/>
            </a:solidFill>
          </a:ln>
        </p:spPr>
      </p:sp>
      <p:sp>
        <p:nvSpPr>
          <p:cNvPr id="10" name="">
            <a:extLst xmlns:a="http://schemas.openxmlformats.org/drawingml/2006/main">
              <a:ext uri="{FF2B5EF4-FFF2-40B4-BE49-F238E27FC236}">
                <a16:creationId xmlns:a16="http://schemas.microsoft.com/office/drawing/2014/main" id="{283D90F1-4077-4838-A02A-D250525988F9}"/>
              </a:ext>
            </a:extLst>
          </p:cNvPr>
          <p:cNvSpPr>
            <a:spLocks xmlns:a="http://schemas.openxmlformats.org/drawingml/2006/main" noGrp="1"/>
          </p:cNvSpPr>
          <p:nvPr/>
        </p:nvSpPr>
        <p:spPr>
          <a:xfrm xmlns:a="http://schemas.openxmlformats.org/drawingml/2006/main">
            <a:off x="838200" y="2038350"/>
            <a:ext cx="1053465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data class GameState(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val players: List&lt;Player&gt;,</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val ruleSet: RuleSet,</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val currentPlayerId: Int,</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val lastPlayedHand: PlayedHand? = null,</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val passCount: Int = 0,</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val firstTurn: Boolean = true,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val winnerId: Int? = null,</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val message: String = "准备开始"</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a:t>
            </a:r>
          </a:p>
        </p:txBody>
      </p:sp>
    </p:spTree>
    <p:extLst>
      <p:ext uri="{BB962C8B-B14F-4D97-AF65-F5344CB8AC3E}">
        <p14:creationId xmlns:p14="http://schemas.microsoft.com/office/powerpoint/2010/main" val="69583530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B9404E7-08EB-4AA3-9F83-A2E9AAEB46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D78998-B655-41EE-BD94-B61632678B94}"/>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B5D54A8-707C-4BB2-95A7-C4FCB673C811}"/>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F02BA7C7-35D8-4BAD-8BEC-620F7E94F6D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00D59BEF-D600-472E-A14B-E3AE6B0BC4AF}"/>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37</a:t>
            </a:r>
          </a:p>
        </p:txBody>
      </p:sp>
      <p:sp>
        <p:nvSpPr>
          <p:cNvPr id="6" name="">
            <a:extLst xmlns:a="http://schemas.openxmlformats.org/drawingml/2006/main">
              <a:ext uri="{FF2B5EF4-FFF2-40B4-BE49-F238E27FC236}">
                <a16:creationId xmlns:a16="http://schemas.microsoft.com/office/drawing/2014/main" id="{BFA968E6-285B-403B-8CC9-4F51A9974FD0}"/>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9F38DDBD-9E10-4A60-B089-1DC966DCD0C1}"/>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5.5 实现成果（3/6）</a:t>
            </a:r>
          </a:p>
        </p:txBody>
      </p:sp>
      <p:sp>
        <p:nvSpPr>
          <p:cNvPr id="8" name="">
            <a:extLst xmlns:a="http://schemas.openxmlformats.org/drawingml/2006/main">
              <a:ext uri="{FF2B5EF4-FFF2-40B4-BE49-F238E27FC236}">
                <a16:creationId xmlns:a16="http://schemas.microsoft.com/office/drawing/2014/main" id="{0BDCC991-01CF-4BE5-94E8-5F2BF98473DE}"/>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A27940-E61A-4240-BDE9-016939731B11}"/>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阶段图片成果如下：</a:t>
            </a:r>
          </a:p>
        </p:txBody>
      </p:sp>
    </p:spTree>
    <p:extLst>
      <p:ext uri="{BB962C8B-B14F-4D97-AF65-F5344CB8AC3E}">
        <p14:creationId xmlns:p14="http://schemas.microsoft.com/office/powerpoint/2010/main" val="1530422857"/>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6B4C10-9004-4DFB-81B4-D81A3BE89A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886C7B-005E-4719-891C-86BF55538AC1}"/>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F3C69E-DA03-44E5-8E14-B4B2ABC1EE35}"/>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91675755-6BC8-45AF-9785-FF8A0EDC6C20}"/>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5CD3FEDE-848B-40DE-9815-7988E2245F7C}"/>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38</a:t>
            </a:r>
          </a:p>
        </p:txBody>
      </p:sp>
      <p:sp>
        <p:nvSpPr>
          <p:cNvPr id="6" name="">
            <a:extLst xmlns:a="http://schemas.openxmlformats.org/drawingml/2006/main">
              <a:ext uri="{FF2B5EF4-FFF2-40B4-BE49-F238E27FC236}">
                <a16:creationId xmlns:a16="http://schemas.microsoft.com/office/drawing/2014/main" id="{0C42C298-B24D-4BDA-A918-AC542363FC09}"/>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620757B7-9520-4A56-970A-717F22ED9AE7}"/>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5.5 实现成果（4/6）</a:t>
            </a:r>
          </a:p>
        </p:txBody>
      </p:sp>
      <p:sp>
        <p:nvSpPr>
          <p:cNvPr id="8" name="">
            <a:extLst xmlns:a="http://schemas.openxmlformats.org/drawingml/2006/main">
              <a:ext uri="{FF2B5EF4-FFF2-40B4-BE49-F238E27FC236}">
                <a16:creationId xmlns:a16="http://schemas.microsoft.com/office/drawing/2014/main" id="{36799C90-5C7F-416E-B0BC-DB5CF7EB41B5}"/>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36931D3-FBCA-4835-9C05-FF6904613C04}"/>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0b15f8295c34a33"/>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4FB7FC6-2227-4A40-A6F1-6413AB36102A}"/>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阶段2类图</a:t>
            </a:r>
          </a:p>
        </p:txBody>
      </p:sp>
    </p:spTree>
    <p:extLst>
      <p:ext uri="{BB962C8B-B14F-4D97-AF65-F5344CB8AC3E}">
        <p14:creationId xmlns:p14="http://schemas.microsoft.com/office/powerpoint/2010/main" val="177189714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5FE745C-36B6-4D9D-8527-E4D6EF45FB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5A28F5-DCE3-4489-A904-FA916F390B00}"/>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70C502-C2D5-442B-A36D-99CA0541AA34}"/>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EC7F520D-D6CC-41D0-A3F5-6FD3FFA6BBFA}"/>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887DCAA9-3DFA-432F-A0CC-228AAF5B09D1}"/>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39</a:t>
            </a:r>
          </a:p>
        </p:txBody>
      </p:sp>
      <p:sp>
        <p:nvSpPr>
          <p:cNvPr id="6" name="">
            <a:extLst xmlns:a="http://schemas.openxmlformats.org/drawingml/2006/main">
              <a:ext uri="{FF2B5EF4-FFF2-40B4-BE49-F238E27FC236}">
                <a16:creationId xmlns:a16="http://schemas.microsoft.com/office/drawing/2014/main" id="{7047BF26-BA88-49DB-867D-3AC16C9EB634}"/>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3411A651-A9A6-4433-AE15-588F7A45CDB9}"/>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5.5 实现成果（5/6）</a:t>
            </a:r>
          </a:p>
        </p:txBody>
      </p:sp>
      <p:sp>
        <p:nvSpPr>
          <p:cNvPr id="8" name="">
            <a:extLst xmlns:a="http://schemas.openxmlformats.org/drawingml/2006/main">
              <a:ext uri="{FF2B5EF4-FFF2-40B4-BE49-F238E27FC236}">
                <a16:creationId xmlns:a16="http://schemas.microsoft.com/office/drawing/2014/main" id="{45F66A3E-3578-4C81-BE2D-A16B14E77771}"/>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B6CAB02-E6EB-4510-92AB-B3BB7DFEA124}"/>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5a29b4fc29f4c3f"/>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6C11305-869A-4817-BC65-09BAAF50CC87}"/>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阶段2顺序图</a:t>
            </a:r>
          </a:p>
        </p:txBody>
      </p:sp>
    </p:spTree>
    <p:extLst>
      <p:ext uri="{BB962C8B-B14F-4D97-AF65-F5344CB8AC3E}">
        <p14:creationId xmlns:p14="http://schemas.microsoft.com/office/powerpoint/2010/main" val="662870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CE7733A-F192-42A8-B461-2BE74F0B28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0565B3-5FAC-4263-858C-D4ED5F14EB41}"/>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39A6574-31F6-4F02-A67F-3FE50989EFD6}"/>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EF0E4411-4940-4329-BA6E-5EABCC134B72}"/>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129868B8-BA40-4F8F-9A73-DACFDD3614A9}"/>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40</a:t>
            </a:r>
          </a:p>
        </p:txBody>
      </p:sp>
      <p:sp>
        <p:nvSpPr>
          <p:cNvPr id="6" name="">
            <a:extLst xmlns:a="http://schemas.openxmlformats.org/drawingml/2006/main">
              <a:ext uri="{FF2B5EF4-FFF2-40B4-BE49-F238E27FC236}">
                <a16:creationId xmlns:a16="http://schemas.microsoft.com/office/drawing/2014/main" id="{5FA60C52-4ED4-4877-9033-209BBB2731F0}"/>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C2A9B461-0BB2-42DE-B121-5859E99C12DC}"/>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5.5 实现成果（6/6）</a:t>
            </a:r>
          </a:p>
        </p:txBody>
      </p:sp>
      <p:sp>
        <p:nvSpPr>
          <p:cNvPr id="8" name="">
            <a:extLst xmlns:a="http://schemas.openxmlformats.org/drawingml/2006/main">
              <a:ext uri="{FF2B5EF4-FFF2-40B4-BE49-F238E27FC236}">
                <a16:creationId xmlns:a16="http://schemas.microsoft.com/office/drawing/2014/main" id="{BCCCFD4F-2E08-4CF5-8329-A9F89A0C3665}"/>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679998F-D6CC-4FEC-9E13-879143CD466D}"/>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a8e4ba48a934402"/>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83769F5-1BEA-4AFF-8A07-616DEBD3832B}"/>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阶段2组件图</a:t>
            </a:r>
          </a:p>
        </p:txBody>
      </p:sp>
    </p:spTree>
    <p:extLst>
      <p:ext uri="{BB962C8B-B14F-4D97-AF65-F5344CB8AC3E}">
        <p14:creationId xmlns:p14="http://schemas.microsoft.com/office/powerpoint/2010/main" val="1936982068"/>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EA90A3-BF7A-4B2D-AD06-BDAC930079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B90680-E2E3-47DC-8631-F1619C0BF2C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7716539-6180-4E0D-9E04-AB77E37DB276}"/>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C035D7DF-E20D-4D51-9503-0FA051DD77CC}"/>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F126AB51-4D79-4F4E-9D5F-329220088AB6}"/>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41</a:t>
            </a:r>
          </a:p>
        </p:txBody>
      </p:sp>
      <p:sp>
        <p:nvSpPr>
          <p:cNvPr id="6" name="">
            <a:extLst xmlns:a="http://schemas.openxmlformats.org/drawingml/2006/main">
              <a:ext uri="{FF2B5EF4-FFF2-40B4-BE49-F238E27FC236}">
                <a16:creationId xmlns:a16="http://schemas.microsoft.com/office/drawing/2014/main" id="{5E2BB8CE-E2E4-473C-A286-0C0409C67342}"/>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D2C30C5E-A2AA-495A-9761-0104949D60A8}"/>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5.6 Codex/GPT 使用情况</a:t>
            </a:r>
          </a:p>
        </p:txBody>
      </p:sp>
      <p:sp>
        <p:nvSpPr>
          <p:cNvPr id="8" name="">
            <a:extLst xmlns:a="http://schemas.openxmlformats.org/drawingml/2006/main">
              <a:ext uri="{FF2B5EF4-FFF2-40B4-BE49-F238E27FC236}">
                <a16:creationId xmlns:a16="http://schemas.microsoft.com/office/drawing/2014/main" id="{5142B688-34F3-4C26-9A0C-2399145CB443}"/>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F2EB5AC-373A-4AA7-80D0-0CED085E17BC}"/>
              </a:ext>
            </a:extLst>
          </p:cNvPr>
          <p:cNvSpPr>
            <a:spLocks xmlns:a="http://schemas.openxmlformats.org/drawingml/2006/main" noGrp="1"/>
          </p:cNvSpPr>
          <p:nvPr/>
        </p:nvSpPr>
        <p:spPr>
          <a:xfrm xmlns:a="http://schemas.openxmlformats.org/drawingml/2006/main">
            <a:off x="457200" y="1905000"/>
            <a:ext cx="215367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FF062CEF-F66B-4727-AEEC-F78EDDB32AC6}"/>
              </a:ext>
            </a:extLst>
          </p:cNvPr>
          <p:cNvSpPr>
            <a:spLocks xmlns:a="http://schemas.openxmlformats.org/drawingml/2006/main" noGrp="1"/>
          </p:cNvSpPr>
          <p:nvPr/>
        </p:nvSpPr>
        <p:spPr>
          <a:xfrm xmlns:a="http://schemas.openxmlformats.org/drawingml/2006/main">
            <a:off x="504825" y="1943100"/>
            <a:ext cx="205842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使用位置</a:t>
            </a:r>
          </a:p>
        </p:txBody>
      </p:sp>
      <p:sp>
        <p:nvSpPr>
          <p:cNvPr id="11" name="">
            <a:extLst xmlns:a="http://schemas.openxmlformats.org/drawingml/2006/main">
              <a:ext uri="{FF2B5EF4-FFF2-40B4-BE49-F238E27FC236}">
                <a16:creationId xmlns:a16="http://schemas.microsoft.com/office/drawing/2014/main" id="{ED172679-D152-4EBF-86B7-336550AEFBD0}"/>
              </a:ext>
            </a:extLst>
          </p:cNvPr>
          <p:cNvSpPr>
            <a:spLocks xmlns:a="http://schemas.openxmlformats.org/drawingml/2006/main" noGrp="1"/>
          </p:cNvSpPr>
          <p:nvPr/>
        </p:nvSpPr>
        <p:spPr>
          <a:xfrm xmlns:a="http://schemas.openxmlformats.org/drawingml/2006/main">
            <a:off x="2610877" y="1905000"/>
            <a:ext cx="3028608"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DFB068F4-482B-43C7-B7A2-438DA7F32506}"/>
              </a:ext>
            </a:extLst>
          </p:cNvPr>
          <p:cNvSpPr>
            <a:spLocks xmlns:a="http://schemas.openxmlformats.org/drawingml/2006/main" noGrp="1"/>
          </p:cNvSpPr>
          <p:nvPr/>
        </p:nvSpPr>
        <p:spPr>
          <a:xfrm xmlns:a="http://schemas.openxmlformats.org/drawingml/2006/main">
            <a:off x="2658502" y="1943100"/>
            <a:ext cx="293335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使用方式</a:t>
            </a:r>
          </a:p>
        </p:txBody>
      </p:sp>
      <p:sp>
        <p:nvSpPr>
          <p:cNvPr id="13" name="">
            <a:extLst xmlns:a="http://schemas.openxmlformats.org/drawingml/2006/main">
              <a:ext uri="{FF2B5EF4-FFF2-40B4-BE49-F238E27FC236}">
                <a16:creationId xmlns:a16="http://schemas.microsoft.com/office/drawing/2014/main" id="{3AB7D6A9-13CF-4517-8080-D7836FA34A9C}"/>
              </a:ext>
            </a:extLst>
          </p:cNvPr>
          <p:cNvSpPr>
            <a:spLocks xmlns:a="http://schemas.openxmlformats.org/drawingml/2006/main" noGrp="1"/>
          </p:cNvSpPr>
          <p:nvPr/>
        </p:nvSpPr>
        <p:spPr>
          <a:xfrm xmlns:a="http://schemas.openxmlformats.org/drawingml/2006/main">
            <a:off x="5639484" y="1905000"/>
            <a:ext cx="3028608"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CF1AA8D3-C5B2-46DC-82BA-7229E1C9C328}"/>
              </a:ext>
            </a:extLst>
          </p:cNvPr>
          <p:cNvSpPr>
            <a:spLocks xmlns:a="http://schemas.openxmlformats.org/drawingml/2006/main" noGrp="1"/>
          </p:cNvSpPr>
          <p:nvPr/>
        </p:nvSpPr>
        <p:spPr>
          <a:xfrm xmlns:a="http://schemas.openxmlformats.org/drawingml/2006/main">
            <a:off x="5687109" y="1943100"/>
            <a:ext cx="293335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Codex/GPT 产出</a:t>
            </a:r>
          </a:p>
        </p:txBody>
      </p:sp>
      <p:sp>
        <p:nvSpPr>
          <p:cNvPr id="15" name="">
            <a:extLst xmlns:a="http://schemas.openxmlformats.org/drawingml/2006/main">
              <a:ext uri="{FF2B5EF4-FFF2-40B4-BE49-F238E27FC236}">
                <a16:creationId xmlns:a16="http://schemas.microsoft.com/office/drawing/2014/main" id="{7A387C19-6A02-45B7-A013-348B5976650F}"/>
              </a:ext>
            </a:extLst>
          </p:cNvPr>
          <p:cNvSpPr>
            <a:spLocks xmlns:a="http://schemas.openxmlformats.org/drawingml/2006/main" noGrp="1"/>
          </p:cNvSpPr>
          <p:nvPr/>
        </p:nvSpPr>
        <p:spPr>
          <a:xfrm xmlns:a="http://schemas.openxmlformats.org/drawingml/2006/main">
            <a:off x="8668092" y="1905000"/>
            <a:ext cx="3028608"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E28C0A08-EB85-48BA-AA2A-1AA0AB72D990}"/>
              </a:ext>
            </a:extLst>
          </p:cNvPr>
          <p:cNvSpPr>
            <a:spLocks xmlns:a="http://schemas.openxmlformats.org/drawingml/2006/main" noGrp="1"/>
          </p:cNvSpPr>
          <p:nvPr/>
        </p:nvSpPr>
        <p:spPr>
          <a:xfrm xmlns:a="http://schemas.openxmlformats.org/drawingml/2006/main">
            <a:off x="8715717" y="1943100"/>
            <a:ext cx="293335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开发者确认与调整</a:t>
            </a:r>
          </a:p>
        </p:txBody>
      </p:sp>
      <p:sp>
        <p:nvSpPr>
          <p:cNvPr id="17" name="">
            <a:extLst xmlns:a="http://schemas.openxmlformats.org/drawingml/2006/main">
              <a:ext uri="{FF2B5EF4-FFF2-40B4-BE49-F238E27FC236}">
                <a16:creationId xmlns:a16="http://schemas.microsoft.com/office/drawing/2014/main" id="{E11F8256-31CE-4215-B163-C1D0DACC7B7A}"/>
              </a:ext>
            </a:extLst>
          </p:cNvPr>
          <p:cNvSpPr>
            <a:spLocks xmlns:a="http://schemas.openxmlformats.org/drawingml/2006/main" noGrp="1"/>
          </p:cNvSpPr>
          <p:nvPr/>
        </p:nvSpPr>
        <p:spPr>
          <a:xfrm xmlns:a="http://schemas.openxmlformats.org/drawingml/2006/main">
            <a:off x="457200" y="2305050"/>
            <a:ext cx="2153677"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A2A3A558-39B4-46C9-854F-AD7CC6C96684}"/>
              </a:ext>
            </a:extLst>
          </p:cNvPr>
          <p:cNvSpPr>
            <a:spLocks xmlns:a="http://schemas.openxmlformats.org/drawingml/2006/main" noGrp="1"/>
          </p:cNvSpPr>
          <p:nvPr/>
        </p:nvSpPr>
        <p:spPr>
          <a:xfrm xmlns:a="http://schemas.openxmlformats.org/drawingml/2006/main">
            <a:off x="504825" y="2333625"/>
            <a:ext cx="205842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领域对象识别</a:t>
            </a:r>
          </a:p>
        </p:txBody>
      </p:sp>
      <p:sp>
        <p:nvSpPr>
          <p:cNvPr id="19" name="">
            <a:extLst xmlns:a="http://schemas.openxmlformats.org/drawingml/2006/main">
              <a:ext uri="{FF2B5EF4-FFF2-40B4-BE49-F238E27FC236}">
                <a16:creationId xmlns:a16="http://schemas.microsoft.com/office/drawing/2014/main" id="{077849BE-6127-4BAC-80E6-F682B1F48B7B}"/>
              </a:ext>
            </a:extLst>
          </p:cNvPr>
          <p:cNvSpPr>
            <a:spLocks xmlns:a="http://schemas.openxmlformats.org/drawingml/2006/main" noGrp="1"/>
          </p:cNvSpPr>
          <p:nvPr/>
        </p:nvSpPr>
        <p:spPr>
          <a:xfrm xmlns:a="http://schemas.openxmlformats.org/drawingml/2006/main">
            <a:off x="2610877" y="2305050"/>
            <a:ext cx="3028608"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8607A353-C82A-46A2-A7CF-A3EB1855DBD3}"/>
              </a:ext>
            </a:extLst>
          </p:cNvPr>
          <p:cNvSpPr>
            <a:spLocks xmlns:a="http://schemas.openxmlformats.org/drawingml/2006/main" noGrp="1"/>
          </p:cNvSpPr>
          <p:nvPr/>
        </p:nvSpPr>
        <p:spPr>
          <a:xfrm xmlns:a="http://schemas.openxmlformats.org/drawingml/2006/main">
            <a:off x="2658502" y="2333625"/>
            <a:ext cx="293335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完成从锄大地流程中抽取 Card、Deck、Player、GameState、Move、RuleSet 等对象</a:t>
            </a:r>
          </a:p>
        </p:txBody>
      </p:sp>
      <p:sp>
        <p:nvSpPr>
          <p:cNvPr id="21" name="">
            <a:extLst xmlns:a="http://schemas.openxmlformats.org/drawingml/2006/main">
              <a:ext uri="{FF2B5EF4-FFF2-40B4-BE49-F238E27FC236}">
                <a16:creationId xmlns:a16="http://schemas.microsoft.com/office/drawing/2014/main" id="{C5F133BB-6402-4DD1-B892-2BFABCA30B15}"/>
              </a:ext>
            </a:extLst>
          </p:cNvPr>
          <p:cNvSpPr>
            <a:spLocks xmlns:a="http://schemas.openxmlformats.org/drawingml/2006/main" noGrp="1"/>
          </p:cNvSpPr>
          <p:nvPr/>
        </p:nvSpPr>
        <p:spPr>
          <a:xfrm xmlns:a="http://schemas.openxmlformats.org/drawingml/2006/main">
            <a:off x="5639484" y="2305050"/>
            <a:ext cx="3028608"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E3834AF3-B862-4F69-9D57-F0AA580197F1}"/>
              </a:ext>
            </a:extLst>
          </p:cNvPr>
          <p:cNvSpPr>
            <a:spLocks xmlns:a="http://schemas.openxmlformats.org/drawingml/2006/main" noGrp="1"/>
          </p:cNvSpPr>
          <p:nvPr/>
        </p:nvSpPr>
        <p:spPr>
          <a:xfrm xmlns:a="http://schemas.openxmlformats.org/drawingml/2006/main">
            <a:off x="5687109" y="2333625"/>
            <a:ext cx="293335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形成面向对象分析对象清单</a:t>
            </a:r>
          </a:p>
        </p:txBody>
      </p:sp>
      <p:sp>
        <p:nvSpPr>
          <p:cNvPr id="23" name="">
            <a:extLst xmlns:a="http://schemas.openxmlformats.org/drawingml/2006/main">
              <a:ext uri="{FF2B5EF4-FFF2-40B4-BE49-F238E27FC236}">
                <a16:creationId xmlns:a16="http://schemas.microsoft.com/office/drawing/2014/main" id="{113A4EE3-77A6-4461-83FF-A8C168F7301C}"/>
              </a:ext>
            </a:extLst>
          </p:cNvPr>
          <p:cNvSpPr>
            <a:spLocks xmlns:a="http://schemas.openxmlformats.org/drawingml/2006/main" noGrp="1"/>
          </p:cNvSpPr>
          <p:nvPr/>
        </p:nvSpPr>
        <p:spPr>
          <a:xfrm xmlns:a="http://schemas.openxmlformats.org/drawingml/2006/main">
            <a:off x="8668092" y="2305050"/>
            <a:ext cx="3028608"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873D3237-CAFE-4211-9458-635D18A4C2DD}"/>
              </a:ext>
            </a:extLst>
          </p:cNvPr>
          <p:cNvSpPr>
            <a:spLocks xmlns:a="http://schemas.openxmlformats.org/drawingml/2006/main" noGrp="1"/>
          </p:cNvSpPr>
          <p:nvPr/>
        </p:nvSpPr>
        <p:spPr>
          <a:xfrm xmlns:a="http://schemas.openxmlformats.org/drawingml/2006/main">
            <a:off x="8715717" y="2333625"/>
            <a:ext cx="293335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Codex 生成主要 Kotlin 数据类和接口，莫均杰在 Android Studio 中运行确认</a:t>
            </a:r>
          </a:p>
        </p:txBody>
      </p:sp>
      <p:sp>
        <p:nvSpPr>
          <p:cNvPr id="25" name="">
            <a:extLst xmlns:a="http://schemas.openxmlformats.org/drawingml/2006/main">
              <a:ext uri="{FF2B5EF4-FFF2-40B4-BE49-F238E27FC236}">
                <a16:creationId xmlns:a16="http://schemas.microsoft.com/office/drawing/2014/main" id="{05CC47BD-B71E-4250-ACF0-EF3DB5A12F77}"/>
              </a:ext>
            </a:extLst>
          </p:cNvPr>
          <p:cNvSpPr>
            <a:spLocks xmlns:a="http://schemas.openxmlformats.org/drawingml/2006/main" noGrp="1"/>
          </p:cNvSpPr>
          <p:nvPr/>
        </p:nvSpPr>
        <p:spPr>
          <a:xfrm xmlns:a="http://schemas.openxmlformats.org/drawingml/2006/main">
            <a:off x="457200" y="3214688"/>
            <a:ext cx="2153677"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8037959E-2542-4518-8817-4448F8D45321}"/>
              </a:ext>
            </a:extLst>
          </p:cNvPr>
          <p:cNvSpPr>
            <a:spLocks xmlns:a="http://schemas.openxmlformats.org/drawingml/2006/main" noGrp="1"/>
          </p:cNvSpPr>
          <p:nvPr/>
        </p:nvSpPr>
        <p:spPr>
          <a:xfrm xmlns:a="http://schemas.openxmlformats.org/drawingml/2006/main">
            <a:off x="504825" y="3243263"/>
            <a:ext cx="205842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MVC 分层设计</a:t>
            </a:r>
          </a:p>
        </p:txBody>
      </p:sp>
      <p:sp>
        <p:nvSpPr>
          <p:cNvPr id="27" name="">
            <a:extLst xmlns:a="http://schemas.openxmlformats.org/drawingml/2006/main">
              <a:ext uri="{FF2B5EF4-FFF2-40B4-BE49-F238E27FC236}">
                <a16:creationId xmlns:a16="http://schemas.microsoft.com/office/drawing/2014/main" id="{8334A06F-EEEB-4F8C-BBA9-85729F9CD6F0}"/>
              </a:ext>
            </a:extLst>
          </p:cNvPr>
          <p:cNvSpPr>
            <a:spLocks xmlns:a="http://schemas.openxmlformats.org/drawingml/2006/main" noGrp="1"/>
          </p:cNvSpPr>
          <p:nvPr/>
        </p:nvSpPr>
        <p:spPr>
          <a:xfrm xmlns:a="http://schemas.openxmlformats.org/drawingml/2006/main">
            <a:off x="2610877" y="3214688"/>
            <a:ext cx="3028608"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D83C9EAD-0A90-4DE7-8AAA-917B4925E225}"/>
              </a:ext>
            </a:extLst>
          </p:cNvPr>
          <p:cNvSpPr>
            <a:spLocks xmlns:a="http://schemas.openxmlformats.org/drawingml/2006/main" noGrp="1"/>
          </p:cNvSpPr>
          <p:nvPr/>
        </p:nvSpPr>
        <p:spPr>
          <a:xfrm xmlns:a="http://schemas.openxmlformats.org/drawingml/2006/main">
            <a:off x="2658502" y="3243263"/>
            <a:ext cx="293335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完成比较 UI 直接写规则与 MVC 分层的维护差异</a:t>
            </a:r>
          </a:p>
        </p:txBody>
      </p:sp>
      <p:sp>
        <p:nvSpPr>
          <p:cNvPr id="29" name="">
            <a:extLst xmlns:a="http://schemas.openxmlformats.org/drawingml/2006/main">
              <a:ext uri="{FF2B5EF4-FFF2-40B4-BE49-F238E27FC236}">
                <a16:creationId xmlns:a16="http://schemas.microsoft.com/office/drawing/2014/main" id="{CD6823A9-D956-4DDF-BDB7-75348D6F2225}"/>
              </a:ext>
            </a:extLst>
          </p:cNvPr>
          <p:cNvSpPr>
            <a:spLocks xmlns:a="http://schemas.openxmlformats.org/drawingml/2006/main" noGrp="1"/>
          </p:cNvSpPr>
          <p:nvPr/>
        </p:nvSpPr>
        <p:spPr>
          <a:xfrm xmlns:a="http://schemas.openxmlformats.org/drawingml/2006/main">
            <a:off x="5639484" y="3214688"/>
            <a:ext cx="3028608"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AF1B964C-25F2-4DA1-89E7-38E0875A75DC}"/>
              </a:ext>
            </a:extLst>
          </p:cNvPr>
          <p:cNvSpPr>
            <a:spLocks xmlns:a="http://schemas.openxmlformats.org/drawingml/2006/main" noGrp="1"/>
          </p:cNvSpPr>
          <p:nvPr/>
        </p:nvSpPr>
        <p:spPr>
          <a:xfrm xmlns:a="http://schemas.openxmlformats.org/drawingml/2006/main">
            <a:off x="5687109" y="3243263"/>
            <a:ext cx="293335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确定 Model/Controller/View/Transport/Profile 的职责边界</a:t>
            </a:r>
          </a:p>
        </p:txBody>
      </p:sp>
      <p:sp>
        <p:nvSpPr>
          <p:cNvPr id="31" name="">
            <a:extLst xmlns:a="http://schemas.openxmlformats.org/drawingml/2006/main">
              <a:ext uri="{FF2B5EF4-FFF2-40B4-BE49-F238E27FC236}">
                <a16:creationId xmlns:a16="http://schemas.microsoft.com/office/drawing/2014/main" id="{78AFEA6D-A5FE-4740-BB1C-8F2C308828D5}"/>
              </a:ext>
            </a:extLst>
          </p:cNvPr>
          <p:cNvSpPr>
            <a:spLocks xmlns:a="http://schemas.openxmlformats.org/drawingml/2006/main" noGrp="1"/>
          </p:cNvSpPr>
          <p:nvPr/>
        </p:nvSpPr>
        <p:spPr>
          <a:xfrm xmlns:a="http://schemas.openxmlformats.org/drawingml/2006/main">
            <a:off x="8668092" y="3214688"/>
            <a:ext cx="3028608"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694030F8-DE84-4AD0-B42A-845B018B1835}"/>
              </a:ext>
            </a:extLst>
          </p:cNvPr>
          <p:cNvSpPr>
            <a:spLocks xmlns:a="http://schemas.openxmlformats.org/drawingml/2006/main" noGrp="1"/>
          </p:cNvSpPr>
          <p:nvPr/>
        </p:nvSpPr>
        <p:spPr>
          <a:xfrm xmlns:a="http://schemas.openxmlformats.org/drawingml/2006/main">
            <a:off x="8715717" y="3243263"/>
            <a:ext cx="293335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通过 docs/design.md 和源码包结构核对</a:t>
            </a:r>
          </a:p>
        </p:txBody>
      </p:sp>
      <p:sp>
        <p:nvSpPr>
          <p:cNvPr id="33" name="">
            <a:extLst xmlns:a="http://schemas.openxmlformats.org/drawingml/2006/main">
              <a:ext uri="{FF2B5EF4-FFF2-40B4-BE49-F238E27FC236}">
                <a16:creationId xmlns:a16="http://schemas.microsoft.com/office/drawing/2014/main" id="{225D2F07-F37E-4514-BE78-AEF217813D20}"/>
              </a:ext>
            </a:extLst>
          </p:cNvPr>
          <p:cNvSpPr>
            <a:spLocks xmlns:a="http://schemas.openxmlformats.org/drawingml/2006/main" noGrp="1"/>
          </p:cNvSpPr>
          <p:nvPr/>
        </p:nvSpPr>
        <p:spPr>
          <a:xfrm xmlns:a="http://schemas.openxmlformats.org/drawingml/2006/main">
            <a:off x="457200" y="4124325"/>
            <a:ext cx="2153677"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C9C61EFB-086F-4480-99E6-70DAC2D136AC}"/>
              </a:ext>
            </a:extLst>
          </p:cNvPr>
          <p:cNvSpPr>
            <a:spLocks xmlns:a="http://schemas.openxmlformats.org/drawingml/2006/main" noGrp="1"/>
          </p:cNvSpPr>
          <p:nvPr/>
        </p:nvSpPr>
        <p:spPr>
          <a:xfrm xmlns:a="http://schemas.openxmlformats.org/drawingml/2006/main">
            <a:off x="504825" y="4152900"/>
            <a:ext cx="205842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UML 草图整理</a:t>
            </a:r>
          </a:p>
        </p:txBody>
      </p:sp>
      <p:sp>
        <p:nvSpPr>
          <p:cNvPr id="35" name="">
            <a:extLst xmlns:a="http://schemas.openxmlformats.org/drawingml/2006/main">
              <a:ext uri="{FF2B5EF4-FFF2-40B4-BE49-F238E27FC236}">
                <a16:creationId xmlns:a16="http://schemas.microsoft.com/office/drawing/2014/main" id="{395F06E6-2170-45F8-8243-72D278843772}"/>
              </a:ext>
            </a:extLst>
          </p:cNvPr>
          <p:cNvSpPr>
            <a:spLocks xmlns:a="http://schemas.openxmlformats.org/drawingml/2006/main" noGrp="1"/>
          </p:cNvSpPr>
          <p:nvPr/>
        </p:nvSpPr>
        <p:spPr>
          <a:xfrm xmlns:a="http://schemas.openxmlformats.org/drawingml/2006/main">
            <a:off x="2610877" y="4124325"/>
            <a:ext cx="3028608"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3800DA10-A791-41F9-B73B-219558384BE4}"/>
              </a:ext>
            </a:extLst>
          </p:cNvPr>
          <p:cNvSpPr>
            <a:spLocks xmlns:a="http://schemas.openxmlformats.org/drawingml/2006/main" noGrp="1"/>
          </p:cNvSpPr>
          <p:nvPr/>
        </p:nvSpPr>
        <p:spPr>
          <a:xfrm xmlns:a="http://schemas.openxmlformats.org/drawingml/2006/main">
            <a:off x="2658502" y="4152900"/>
            <a:ext cx="293335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完成生成类图、顺序图、组件关系的初始元素</a:t>
            </a:r>
          </a:p>
        </p:txBody>
      </p:sp>
      <p:sp>
        <p:nvSpPr>
          <p:cNvPr id="37" name="">
            <a:extLst xmlns:a="http://schemas.openxmlformats.org/drawingml/2006/main">
              <a:ext uri="{FF2B5EF4-FFF2-40B4-BE49-F238E27FC236}">
                <a16:creationId xmlns:a16="http://schemas.microsoft.com/office/drawing/2014/main" id="{C987D16A-FA07-4A64-A65A-60F184A3C3D3}"/>
              </a:ext>
            </a:extLst>
          </p:cNvPr>
          <p:cNvSpPr>
            <a:spLocks xmlns:a="http://schemas.openxmlformats.org/drawingml/2006/main" noGrp="1"/>
          </p:cNvSpPr>
          <p:nvPr/>
        </p:nvSpPr>
        <p:spPr>
          <a:xfrm xmlns:a="http://schemas.openxmlformats.org/drawingml/2006/main">
            <a:off x="5639484" y="4124325"/>
            <a:ext cx="3028608"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1D850A57-2A74-408C-BC13-816DB0F296EE}"/>
              </a:ext>
            </a:extLst>
          </p:cNvPr>
          <p:cNvSpPr>
            <a:spLocks xmlns:a="http://schemas.openxmlformats.org/drawingml/2006/main" noGrp="1"/>
          </p:cNvSpPr>
          <p:nvPr/>
        </p:nvSpPr>
        <p:spPr>
          <a:xfrm xmlns:a="http://schemas.openxmlformats.org/drawingml/2006/main">
            <a:off x="5687109" y="4152900"/>
            <a:ext cx="293335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形成 PlantUML 草图和图中类名、消息名</a:t>
            </a:r>
          </a:p>
        </p:txBody>
      </p:sp>
      <p:sp>
        <p:nvSpPr>
          <p:cNvPr id="39" name="">
            <a:extLst xmlns:a="http://schemas.openxmlformats.org/drawingml/2006/main">
              <a:ext uri="{FF2B5EF4-FFF2-40B4-BE49-F238E27FC236}">
                <a16:creationId xmlns:a16="http://schemas.microsoft.com/office/drawing/2014/main" id="{151FFCB1-B408-4B72-8853-40634290709F}"/>
              </a:ext>
            </a:extLst>
          </p:cNvPr>
          <p:cNvSpPr>
            <a:spLocks xmlns:a="http://schemas.openxmlformats.org/drawingml/2006/main" noGrp="1"/>
          </p:cNvSpPr>
          <p:nvPr/>
        </p:nvSpPr>
        <p:spPr>
          <a:xfrm xmlns:a="http://schemas.openxmlformats.org/drawingml/2006/main">
            <a:off x="8668092" y="4124325"/>
            <a:ext cx="3028608"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345341A5-BEDB-4453-B1E9-8A5A46F6E27C}"/>
              </a:ext>
            </a:extLst>
          </p:cNvPr>
          <p:cNvSpPr>
            <a:spLocks xmlns:a="http://schemas.openxmlformats.org/drawingml/2006/main" noGrp="1"/>
          </p:cNvSpPr>
          <p:nvPr/>
        </p:nvSpPr>
        <p:spPr>
          <a:xfrm xmlns:a="http://schemas.openxmlformats.org/drawingml/2006/main">
            <a:off x="8715717" y="4152900"/>
            <a:ext cx="293335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Annakuliyev Sedar 在 ProcessOn 中校对布局并导出</a:t>
            </a:r>
          </a:p>
        </p:txBody>
      </p:sp>
      <p:sp>
        <p:nvSpPr>
          <p:cNvPr id="41" name="">
            <a:extLst xmlns:a="http://schemas.openxmlformats.org/drawingml/2006/main">
              <a:ext uri="{FF2B5EF4-FFF2-40B4-BE49-F238E27FC236}">
                <a16:creationId xmlns:a16="http://schemas.microsoft.com/office/drawing/2014/main" id="{6274B86A-859D-4D09-96F0-56A1BB8989BA}"/>
              </a:ext>
            </a:extLst>
          </p:cNvPr>
          <p:cNvSpPr>
            <a:spLocks xmlns:a="http://schemas.openxmlformats.org/drawingml/2006/main" noGrp="1"/>
          </p:cNvSpPr>
          <p:nvPr/>
        </p:nvSpPr>
        <p:spPr>
          <a:xfrm xmlns:a="http://schemas.openxmlformats.org/drawingml/2006/main">
            <a:off x="457200" y="5033963"/>
            <a:ext cx="2153677"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D3EF04A5-0EEC-48C3-9356-5B6DED80D071}"/>
              </a:ext>
            </a:extLst>
          </p:cNvPr>
          <p:cNvSpPr>
            <a:spLocks xmlns:a="http://schemas.openxmlformats.org/drawingml/2006/main" noGrp="1"/>
          </p:cNvSpPr>
          <p:nvPr/>
        </p:nvSpPr>
        <p:spPr>
          <a:xfrm xmlns:a="http://schemas.openxmlformats.org/drawingml/2006/main">
            <a:off x="504825" y="5062538"/>
            <a:ext cx="205842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操作契约说明</a:t>
            </a:r>
          </a:p>
        </p:txBody>
      </p:sp>
      <p:sp>
        <p:nvSpPr>
          <p:cNvPr id="43" name="">
            <a:extLst xmlns:a="http://schemas.openxmlformats.org/drawingml/2006/main">
              <a:ext uri="{FF2B5EF4-FFF2-40B4-BE49-F238E27FC236}">
                <a16:creationId xmlns:a16="http://schemas.microsoft.com/office/drawing/2014/main" id="{7FAB2992-649D-4CCC-9BA4-971AAF706E4F}"/>
              </a:ext>
            </a:extLst>
          </p:cNvPr>
          <p:cNvSpPr>
            <a:spLocks xmlns:a="http://schemas.openxmlformats.org/drawingml/2006/main" noGrp="1"/>
          </p:cNvSpPr>
          <p:nvPr/>
        </p:nvSpPr>
        <p:spPr>
          <a:xfrm xmlns:a="http://schemas.openxmlformats.org/drawingml/2006/main">
            <a:off x="2610877" y="5033963"/>
            <a:ext cx="3028608"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8A534382-DB08-4B4C-AE0F-8BB5178BACE5}"/>
              </a:ext>
            </a:extLst>
          </p:cNvPr>
          <p:cNvSpPr>
            <a:spLocks xmlns:a="http://schemas.openxmlformats.org/drawingml/2006/main" noGrp="1"/>
          </p:cNvSpPr>
          <p:nvPr/>
        </p:nvSpPr>
        <p:spPr>
          <a:xfrm xmlns:a="http://schemas.openxmlformats.org/drawingml/2006/main">
            <a:off x="2658502" y="5062538"/>
            <a:ext cx="293335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完成描述出牌、过牌、AI 行动和蓝牙同步的前置条件、后置状态</a:t>
            </a:r>
          </a:p>
        </p:txBody>
      </p:sp>
      <p:sp>
        <p:nvSpPr>
          <p:cNvPr id="45" name="">
            <a:extLst xmlns:a="http://schemas.openxmlformats.org/drawingml/2006/main">
              <a:ext uri="{FF2B5EF4-FFF2-40B4-BE49-F238E27FC236}">
                <a16:creationId xmlns:a16="http://schemas.microsoft.com/office/drawing/2014/main" id="{FAA162B9-805B-43D8-B6C3-2D7A294B24AA}"/>
              </a:ext>
            </a:extLst>
          </p:cNvPr>
          <p:cNvSpPr>
            <a:spLocks xmlns:a="http://schemas.openxmlformats.org/drawingml/2006/main" noGrp="1"/>
          </p:cNvSpPr>
          <p:nvPr/>
        </p:nvSpPr>
        <p:spPr>
          <a:xfrm xmlns:a="http://schemas.openxmlformats.org/drawingml/2006/main">
            <a:off x="5639484" y="5033963"/>
            <a:ext cx="3028608"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2C46C7D0-B3CE-4FE1-BF0C-7B9E3A4716A7}"/>
              </a:ext>
            </a:extLst>
          </p:cNvPr>
          <p:cNvSpPr>
            <a:spLocks xmlns:a="http://schemas.openxmlformats.org/drawingml/2006/main" noGrp="1"/>
          </p:cNvSpPr>
          <p:nvPr/>
        </p:nvSpPr>
        <p:spPr>
          <a:xfrm xmlns:a="http://schemas.openxmlformats.org/drawingml/2006/main">
            <a:off x="5687109" y="5062538"/>
            <a:ext cx="293335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补充顺序图和报告中的交互说明</a:t>
            </a:r>
          </a:p>
        </p:txBody>
      </p:sp>
      <p:sp>
        <p:nvSpPr>
          <p:cNvPr id="47" name="">
            <a:extLst xmlns:a="http://schemas.openxmlformats.org/drawingml/2006/main">
              <a:ext uri="{FF2B5EF4-FFF2-40B4-BE49-F238E27FC236}">
                <a16:creationId xmlns:a16="http://schemas.microsoft.com/office/drawing/2014/main" id="{09DA9A3F-B70E-4506-B6F4-5D1A5FDE2581}"/>
              </a:ext>
            </a:extLst>
          </p:cNvPr>
          <p:cNvSpPr>
            <a:spLocks xmlns:a="http://schemas.openxmlformats.org/drawingml/2006/main" noGrp="1"/>
          </p:cNvSpPr>
          <p:nvPr/>
        </p:nvSpPr>
        <p:spPr>
          <a:xfrm xmlns:a="http://schemas.openxmlformats.org/drawingml/2006/main">
            <a:off x="8668092" y="5033963"/>
            <a:ext cx="3028608"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01217868-5399-49CA-9617-9AFC87116FE6}"/>
              </a:ext>
            </a:extLst>
          </p:cNvPr>
          <p:cNvSpPr>
            <a:spLocks xmlns:a="http://schemas.openxmlformats.org/drawingml/2006/main" noGrp="1"/>
          </p:cNvSpPr>
          <p:nvPr/>
        </p:nvSpPr>
        <p:spPr>
          <a:xfrm xmlns:a="http://schemas.openxmlformats.org/drawingml/2006/main">
            <a:off x="8715717" y="5062538"/>
            <a:ext cx="293335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郭铭涛根据后续测试场景检查流程是否可验证</a:t>
            </a:r>
          </a:p>
        </p:txBody>
      </p:sp>
    </p:spTree>
    <p:extLst>
      <p:ext uri="{BB962C8B-B14F-4D97-AF65-F5344CB8AC3E}">
        <p14:creationId xmlns:p14="http://schemas.microsoft.com/office/powerpoint/2010/main" val="1867802167"/>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A79F35-F59A-4AA2-A416-D8F5C22F185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F745B0-3D8E-4267-A955-E1387EC8ECB9}"/>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CADAF88-0C32-4CCA-BA7B-BC18E65A44AB}"/>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C54955F-0BDB-4A92-B7B5-5DE954DDFCF9}"/>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F4B426EF-5F12-44A2-9D81-AB6A757DB53E}"/>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42</a:t>
            </a:r>
          </a:p>
        </p:txBody>
      </p:sp>
      <p:sp>
        <p:nvSpPr>
          <p:cNvPr id="6" name="">
            <a:extLst xmlns:a="http://schemas.openxmlformats.org/drawingml/2006/main">
              <a:ext uri="{FF2B5EF4-FFF2-40B4-BE49-F238E27FC236}">
                <a16:creationId xmlns:a16="http://schemas.microsoft.com/office/drawing/2014/main" id="{E2D87A17-CBF2-4200-BD8D-CE531815C306}"/>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35B726E7-9DD0-4751-BDEB-CDF05CEBC9A4}"/>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5.7 评分标准对应</a:t>
            </a:r>
          </a:p>
        </p:txBody>
      </p:sp>
      <p:sp>
        <p:nvSpPr>
          <p:cNvPr id="8" name="">
            <a:extLst xmlns:a="http://schemas.openxmlformats.org/drawingml/2006/main">
              <a:ext uri="{FF2B5EF4-FFF2-40B4-BE49-F238E27FC236}">
                <a16:creationId xmlns:a16="http://schemas.microsoft.com/office/drawing/2014/main" id="{48DF8C27-372E-4624-8E11-53DA46E1F411}"/>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4E9F330-DB96-4837-8F4C-314FE69550AA}"/>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本阶段主要对应“需求分析和面向对象设计”“分析建模和设计建模”“ProcessOn UML 7 大图建模”“UI 页面切换基础设计”。通过 MVC 分层、领域对象提取和 UML 图，项目具备了后续扩展规则、蓝牙和 AI 的结构基础。</a:t>
            </a:r>
          </a:p>
        </p:txBody>
      </p:sp>
    </p:spTree>
    <p:extLst>
      <p:ext uri="{BB962C8B-B14F-4D97-AF65-F5344CB8AC3E}">
        <p14:creationId xmlns:p14="http://schemas.microsoft.com/office/powerpoint/2010/main" val="22048570"/>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B94525-6FB3-4418-99B6-AA98EB6697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43A5E4-FBAB-4B8C-B374-FFF91DB44F5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77F1C4A-AAA1-494C-ACC0-82D15491C6FB}"/>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5FE325F2-7B11-4AFE-A7C8-845474CE6001}"/>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5. 阶段 2：细化迭代 1 / 构造（Elaboration / Construction）</a:t>
            </a:r>
          </a:p>
        </p:txBody>
      </p:sp>
      <p:sp>
        <p:nvSpPr>
          <p:cNvPr id="5" name="">
            <a:extLst xmlns:a="http://schemas.openxmlformats.org/drawingml/2006/main">
              <a:ext uri="{FF2B5EF4-FFF2-40B4-BE49-F238E27FC236}">
                <a16:creationId xmlns:a16="http://schemas.microsoft.com/office/drawing/2014/main" id="{8C44774C-A687-4F42-A234-82A12ACA9DFD}"/>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43</a:t>
            </a:r>
          </a:p>
        </p:txBody>
      </p:sp>
      <p:sp>
        <p:nvSpPr>
          <p:cNvPr id="6" name="">
            <a:extLst xmlns:a="http://schemas.openxmlformats.org/drawingml/2006/main">
              <a:ext uri="{FF2B5EF4-FFF2-40B4-BE49-F238E27FC236}">
                <a16:creationId xmlns:a16="http://schemas.microsoft.com/office/drawing/2014/main" id="{CF743DA0-DEB1-4638-8FFD-AC72C0D9A14C}"/>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351FA58-5D64-491F-8512-CDA8869264F0}"/>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5.8 问题与解决</a:t>
            </a:r>
          </a:p>
        </p:txBody>
      </p:sp>
      <p:sp>
        <p:nvSpPr>
          <p:cNvPr id="8" name="">
            <a:extLst xmlns:a="http://schemas.openxmlformats.org/drawingml/2006/main">
              <a:ext uri="{FF2B5EF4-FFF2-40B4-BE49-F238E27FC236}">
                <a16:creationId xmlns:a16="http://schemas.microsoft.com/office/drawing/2014/main" id="{C0AB8DD7-7DCF-443D-901E-93194FFFF66A}"/>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A9EEF60-E32B-4551-B157-7E5201FFE9E7}"/>
              </a:ext>
            </a:extLst>
          </p:cNvPr>
          <p:cNvSpPr>
            <a:spLocks xmlns:a="http://schemas.openxmlformats.org/drawingml/2006/main" noGrp="1"/>
          </p:cNvSpPr>
          <p:nvPr/>
        </p:nvSpPr>
        <p:spPr>
          <a:xfrm xmlns:a="http://schemas.openxmlformats.org/drawingml/2006/main">
            <a:off x="45720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DE033C09-3AF1-48CE-91E6-3F57D18BBACD}"/>
              </a:ext>
            </a:extLst>
          </p:cNvPr>
          <p:cNvSpPr>
            <a:spLocks xmlns:a="http://schemas.openxmlformats.org/drawingml/2006/main" noGrp="1"/>
          </p:cNvSpPr>
          <p:nvPr/>
        </p:nvSpPr>
        <p:spPr>
          <a:xfrm xmlns:a="http://schemas.openxmlformats.org/drawingml/2006/main">
            <a:off x="50482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问题</a:t>
            </a:r>
          </a:p>
        </p:txBody>
      </p:sp>
      <p:sp>
        <p:nvSpPr>
          <p:cNvPr id="11" name="">
            <a:extLst xmlns:a="http://schemas.openxmlformats.org/drawingml/2006/main">
              <a:ext uri="{FF2B5EF4-FFF2-40B4-BE49-F238E27FC236}">
                <a16:creationId xmlns:a16="http://schemas.microsoft.com/office/drawing/2014/main" id="{75AB69FC-7AEA-46DC-8F06-81579522CCBE}"/>
              </a:ext>
            </a:extLst>
          </p:cNvPr>
          <p:cNvSpPr>
            <a:spLocks xmlns:a="http://schemas.openxmlformats.org/drawingml/2006/main" noGrp="1"/>
          </p:cNvSpPr>
          <p:nvPr/>
        </p:nvSpPr>
        <p:spPr>
          <a:xfrm xmlns:a="http://schemas.openxmlformats.org/drawingml/2006/main">
            <a:off x="607695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CF728824-C727-4749-A99B-675312D26EED}"/>
              </a:ext>
            </a:extLst>
          </p:cNvPr>
          <p:cNvSpPr>
            <a:spLocks xmlns:a="http://schemas.openxmlformats.org/drawingml/2006/main" noGrp="1"/>
          </p:cNvSpPr>
          <p:nvPr/>
        </p:nvSpPr>
        <p:spPr>
          <a:xfrm xmlns:a="http://schemas.openxmlformats.org/drawingml/2006/main">
            <a:off x="612457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解决方法</a:t>
            </a:r>
          </a:p>
        </p:txBody>
      </p:sp>
      <p:sp>
        <p:nvSpPr>
          <p:cNvPr id="13" name="">
            <a:extLst xmlns:a="http://schemas.openxmlformats.org/drawingml/2006/main">
              <a:ext uri="{FF2B5EF4-FFF2-40B4-BE49-F238E27FC236}">
                <a16:creationId xmlns:a16="http://schemas.microsoft.com/office/drawing/2014/main" id="{5EF61692-3DFC-4FEB-BBAC-C5E6A22CE9A0}"/>
              </a:ext>
            </a:extLst>
          </p:cNvPr>
          <p:cNvSpPr>
            <a:spLocks xmlns:a="http://schemas.openxmlformats.org/drawingml/2006/main" noGrp="1"/>
          </p:cNvSpPr>
          <p:nvPr/>
        </p:nvSpPr>
        <p:spPr>
          <a:xfrm xmlns:a="http://schemas.openxmlformats.org/drawingml/2006/main">
            <a:off x="457200" y="2305050"/>
            <a:ext cx="5619750"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4" name="">
            <a:extLst xmlns:a="http://schemas.openxmlformats.org/drawingml/2006/main">
              <a:ext uri="{FF2B5EF4-FFF2-40B4-BE49-F238E27FC236}">
                <a16:creationId xmlns:a16="http://schemas.microsoft.com/office/drawing/2014/main" id="{D17BEB97-94E8-441A-A91C-D6E7455803F0}"/>
              </a:ext>
            </a:extLst>
          </p:cNvPr>
          <p:cNvSpPr>
            <a:spLocks xmlns:a="http://schemas.openxmlformats.org/drawingml/2006/main" noGrp="1"/>
          </p:cNvSpPr>
          <p:nvPr/>
        </p:nvSpPr>
        <p:spPr>
          <a:xfrm xmlns:a="http://schemas.openxmlformats.org/drawingml/2006/main">
            <a:off x="504825" y="2333625"/>
            <a:ext cx="5524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UI 直接处理规则会导致代码复杂</a:t>
            </a:r>
          </a:p>
        </p:txBody>
      </p:sp>
      <p:sp>
        <p:nvSpPr>
          <p:cNvPr id="15" name="">
            <a:extLst xmlns:a="http://schemas.openxmlformats.org/drawingml/2006/main">
              <a:ext uri="{FF2B5EF4-FFF2-40B4-BE49-F238E27FC236}">
                <a16:creationId xmlns:a16="http://schemas.microsoft.com/office/drawing/2014/main" id="{B64506E2-E41E-44ED-A506-9A1835A8EAF8}"/>
              </a:ext>
            </a:extLst>
          </p:cNvPr>
          <p:cNvSpPr>
            <a:spLocks xmlns:a="http://schemas.openxmlformats.org/drawingml/2006/main" noGrp="1"/>
          </p:cNvSpPr>
          <p:nvPr/>
        </p:nvSpPr>
        <p:spPr>
          <a:xfrm xmlns:a="http://schemas.openxmlformats.org/drawingml/2006/main">
            <a:off x="6076950" y="2305050"/>
            <a:ext cx="5619750"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E51E6B53-4C23-4067-92D2-04D8E2831EF0}"/>
              </a:ext>
            </a:extLst>
          </p:cNvPr>
          <p:cNvSpPr>
            <a:spLocks xmlns:a="http://schemas.openxmlformats.org/drawingml/2006/main" noGrp="1"/>
          </p:cNvSpPr>
          <p:nvPr/>
        </p:nvSpPr>
        <p:spPr>
          <a:xfrm xmlns:a="http://schemas.openxmlformats.org/drawingml/2006/main">
            <a:off x="6124575" y="2333625"/>
            <a:ext cx="5524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将规则判断下沉到 RuleSet 和 GameController，Compose 只收集用户意图</a:t>
            </a:r>
          </a:p>
        </p:txBody>
      </p:sp>
      <p:sp>
        <p:nvSpPr>
          <p:cNvPr id="17" name="">
            <a:extLst xmlns:a="http://schemas.openxmlformats.org/drawingml/2006/main">
              <a:ext uri="{FF2B5EF4-FFF2-40B4-BE49-F238E27FC236}">
                <a16:creationId xmlns:a16="http://schemas.microsoft.com/office/drawing/2014/main" id="{80499DEB-0F8D-430B-9CE6-AC917AE95D92}"/>
              </a:ext>
            </a:extLst>
          </p:cNvPr>
          <p:cNvSpPr>
            <a:spLocks xmlns:a="http://schemas.openxmlformats.org/drawingml/2006/main" noGrp="1"/>
          </p:cNvSpPr>
          <p:nvPr/>
        </p:nvSpPr>
        <p:spPr>
          <a:xfrm xmlns:a="http://schemas.openxmlformats.org/drawingml/2006/main">
            <a:off x="457200" y="3517900"/>
            <a:ext cx="5619750" cy="12128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3605896A-CE76-4AA6-94FF-83399A7110DC}"/>
              </a:ext>
            </a:extLst>
          </p:cNvPr>
          <p:cNvSpPr>
            <a:spLocks xmlns:a="http://schemas.openxmlformats.org/drawingml/2006/main" noGrp="1"/>
          </p:cNvSpPr>
          <p:nvPr/>
        </p:nvSpPr>
        <p:spPr>
          <a:xfrm xmlns:a="http://schemas.openxmlformats.org/drawingml/2006/main">
            <a:off x="504825" y="3546475"/>
            <a:ext cx="5524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牌型识别需要被规则、AI、测试复用</a:t>
            </a:r>
          </a:p>
        </p:txBody>
      </p:sp>
      <p:sp>
        <p:nvSpPr>
          <p:cNvPr id="19" name="">
            <a:extLst xmlns:a="http://schemas.openxmlformats.org/drawingml/2006/main">
              <a:ext uri="{FF2B5EF4-FFF2-40B4-BE49-F238E27FC236}">
                <a16:creationId xmlns:a16="http://schemas.microsoft.com/office/drawing/2014/main" id="{024FADCC-42BC-4723-93B2-B46EA3B18E3B}"/>
              </a:ext>
            </a:extLst>
          </p:cNvPr>
          <p:cNvSpPr>
            <a:spLocks xmlns:a="http://schemas.openxmlformats.org/drawingml/2006/main" noGrp="1"/>
          </p:cNvSpPr>
          <p:nvPr/>
        </p:nvSpPr>
        <p:spPr>
          <a:xfrm xmlns:a="http://schemas.openxmlformats.org/drawingml/2006/main">
            <a:off x="6076950" y="3517900"/>
            <a:ext cx="5619750" cy="12128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12C40E51-E30B-4A44-93C0-7E09C8395465}"/>
              </a:ext>
            </a:extLst>
          </p:cNvPr>
          <p:cNvSpPr>
            <a:spLocks xmlns:a="http://schemas.openxmlformats.org/drawingml/2006/main" noGrp="1"/>
          </p:cNvSpPr>
          <p:nvPr/>
        </p:nvSpPr>
        <p:spPr>
          <a:xfrm xmlns:a="http://schemas.openxmlformats.org/drawingml/2006/main">
            <a:off x="6124575" y="3546475"/>
            <a:ext cx="5524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独立设计 HandClassifier，避免在多个模块重复实现</a:t>
            </a:r>
          </a:p>
        </p:txBody>
      </p:sp>
      <p:sp>
        <p:nvSpPr>
          <p:cNvPr id="21" name="">
            <a:extLst xmlns:a="http://schemas.openxmlformats.org/drawingml/2006/main">
              <a:ext uri="{FF2B5EF4-FFF2-40B4-BE49-F238E27FC236}">
                <a16:creationId xmlns:a16="http://schemas.microsoft.com/office/drawing/2014/main" id="{13751EA3-AA0B-451C-A902-26FD9FAA70B8}"/>
              </a:ext>
            </a:extLst>
          </p:cNvPr>
          <p:cNvSpPr>
            <a:spLocks xmlns:a="http://schemas.openxmlformats.org/drawingml/2006/main" noGrp="1"/>
          </p:cNvSpPr>
          <p:nvPr/>
        </p:nvSpPr>
        <p:spPr>
          <a:xfrm xmlns:a="http://schemas.openxmlformats.org/drawingml/2006/main">
            <a:off x="457200" y="4730750"/>
            <a:ext cx="5619750"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F845DED8-BC2C-46DE-9466-06EE048C9878}"/>
              </a:ext>
            </a:extLst>
          </p:cNvPr>
          <p:cNvSpPr>
            <a:spLocks xmlns:a="http://schemas.openxmlformats.org/drawingml/2006/main" noGrp="1"/>
          </p:cNvSpPr>
          <p:nvPr/>
        </p:nvSpPr>
        <p:spPr>
          <a:xfrm xmlns:a="http://schemas.openxmlformats.org/drawingml/2006/main">
            <a:off x="504825" y="4759325"/>
            <a:ext cx="5524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UML 容易与代码不同步</a:t>
            </a:r>
          </a:p>
        </p:txBody>
      </p:sp>
      <p:sp>
        <p:nvSpPr>
          <p:cNvPr id="23" name="">
            <a:extLst xmlns:a="http://schemas.openxmlformats.org/drawingml/2006/main">
              <a:ext uri="{FF2B5EF4-FFF2-40B4-BE49-F238E27FC236}">
                <a16:creationId xmlns:a16="http://schemas.microsoft.com/office/drawing/2014/main" id="{E7023FAE-C33B-4F3E-B76D-5BE1C8FC779A}"/>
              </a:ext>
            </a:extLst>
          </p:cNvPr>
          <p:cNvSpPr>
            <a:spLocks xmlns:a="http://schemas.openxmlformats.org/drawingml/2006/main" noGrp="1"/>
          </p:cNvSpPr>
          <p:nvPr/>
        </p:nvSpPr>
        <p:spPr>
          <a:xfrm xmlns:a="http://schemas.openxmlformats.org/drawingml/2006/main">
            <a:off x="6076950" y="4730750"/>
            <a:ext cx="5619750" cy="12128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13DBEE45-802A-4ECC-8A31-9A558F9EADAD}"/>
              </a:ext>
            </a:extLst>
          </p:cNvPr>
          <p:cNvSpPr>
            <a:spLocks xmlns:a="http://schemas.openxmlformats.org/drawingml/2006/main" noGrp="1"/>
          </p:cNvSpPr>
          <p:nvPr/>
        </p:nvSpPr>
        <p:spPr>
          <a:xfrm xmlns:a="http://schemas.openxmlformats.org/drawingml/2006/main">
            <a:off x="6124575" y="4759325"/>
            <a:ext cx="5524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先用 PlantUML 文本记录结构，再迁移到 ProcessOn 并按最终代码校对</a:t>
            </a:r>
          </a:p>
        </p:txBody>
      </p:sp>
    </p:spTree>
    <p:extLst>
      <p:ext uri="{BB962C8B-B14F-4D97-AF65-F5344CB8AC3E}">
        <p14:creationId xmlns:p14="http://schemas.microsoft.com/office/powerpoint/2010/main" val="2045750830"/>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148120-DD1D-4D0A-8958-814D8715B0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07D248-7321-403C-BFB8-48C3B000F349}"/>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FCE639-29A4-4C07-8C7F-5A48AE37DF54}"/>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0AEA8ED5-B592-4CE5-A130-68C0DA37C3F9}"/>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83F2EFCF-4400-4753-9A4A-3902B1F99865}"/>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44</a:t>
            </a:r>
          </a:p>
        </p:txBody>
      </p:sp>
      <p:sp>
        <p:nvSpPr>
          <p:cNvPr id="6" name="">
            <a:extLst xmlns:a="http://schemas.openxmlformats.org/drawingml/2006/main">
              <a:ext uri="{FF2B5EF4-FFF2-40B4-BE49-F238E27FC236}">
                <a16:creationId xmlns:a16="http://schemas.microsoft.com/office/drawing/2014/main" id="{87E46923-48C7-41CC-A698-F05192AE3F6B}"/>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13D79C3A-D835-4638-947B-463B1011971B}"/>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6.1 阶段目标</a:t>
            </a:r>
          </a:p>
        </p:txBody>
      </p:sp>
      <p:sp>
        <p:nvSpPr>
          <p:cNvPr id="8" name="">
            <a:extLst xmlns:a="http://schemas.openxmlformats.org/drawingml/2006/main">
              <a:ext uri="{FF2B5EF4-FFF2-40B4-BE49-F238E27FC236}">
                <a16:creationId xmlns:a16="http://schemas.microsoft.com/office/drawing/2014/main" id="{AB9F113D-60DD-463A-980F-601FD7E31309}"/>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D21BDA-A414-45A0-9474-FA108164797A}"/>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本阶段目标是完成出牌规则模块和多人通信模块，并把与规则、蓝牙和协议相关的设计模式落到代码中。设计模式不是只集中在本阶段，前一阶段已经形成 MVC 和命令对象基础，本阶段重点补充规则抽象、传输适配、房主权威和消息编解码。</a:t>
            </a:r>
          </a:p>
        </p:txBody>
      </p:sp>
    </p:spTree>
    <p:extLst>
      <p:ext uri="{BB962C8B-B14F-4D97-AF65-F5344CB8AC3E}">
        <p14:creationId xmlns:p14="http://schemas.microsoft.com/office/powerpoint/2010/main" val="803523246"/>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DB92CA-88B4-4015-8611-643FA23587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365972-BC6F-4D1A-B6B5-3FFD3559E6E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925328-F2C1-4801-9EA8-C613F16AD16B}"/>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B46DABF4-8939-40F3-A488-DA337C14A97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77E2BED0-4E2B-4978-8AB6-4EBAE50B0BE1}"/>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45</a:t>
            </a:r>
          </a:p>
        </p:txBody>
      </p:sp>
      <p:sp>
        <p:nvSpPr>
          <p:cNvPr id="6" name="">
            <a:extLst xmlns:a="http://schemas.openxmlformats.org/drawingml/2006/main">
              <a:ext uri="{FF2B5EF4-FFF2-40B4-BE49-F238E27FC236}">
                <a16:creationId xmlns:a16="http://schemas.microsoft.com/office/drawing/2014/main" id="{B5F14800-F304-4C01-B678-1E83027609BD}"/>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F2049083-6F8B-4460-910B-FB9A7906B6A5}"/>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6.2 出牌规则模块</a:t>
            </a:r>
          </a:p>
        </p:txBody>
      </p:sp>
      <p:sp>
        <p:nvSpPr>
          <p:cNvPr id="8" name="">
            <a:extLst xmlns:a="http://schemas.openxmlformats.org/drawingml/2006/main">
              <a:ext uri="{FF2B5EF4-FFF2-40B4-BE49-F238E27FC236}">
                <a16:creationId xmlns:a16="http://schemas.microsoft.com/office/drawing/2014/main" id="{3ADF6166-9885-4BFE-B3D3-64589468E0A1}"/>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82BEE6C-A348-40B2-8F33-DA5F3D8E274A}"/>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77817"/>
          </a:bodyPr>
          <a:lstStyle xmlns:a="http://schemas.openxmlformats.org/drawingml/2006/main"/>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项目使用 RuleSet 表示规则接口，并通过 NorthRuleSet 和 SouthRuleSet 适配南北玩法差异：</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牌型识别由 HandClassifier 完成，支持单张、对子、三张、顺子、同花、葫芦、四带一和同花顺。GameController 在玩家出牌时调用规则模块进行合法性校验，并根据三家过牌、上一手牌和当前玩家推进牌局状态。</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规则模块的详细执行流程如下：</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1. 玩家或 AI 选择若干张牌后，GameController.play() 首先判断是否轮到该玩家。</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2. 控制器调用 state.ruleSet.classify(cards) 识别牌型；无法识别时返回非法提示。</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3. 如果是首出，调用 state.ruleSet.canLead(cards, state.firstTurn) 检查是否包含规则指定首牌。</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4. 如果是跟牌，调用 state.ruleSet.canBeat(previous, next) 判断是否可以压过上一手。</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5. 合法出牌会从玩家手牌中移除对应牌，刷新 lastMove、currentPlayerId 和提示消息。</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6. 三家连续不出后，上一手清空，下一位玩家获得自由出牌权。</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7. 某玩家手牌为 0 时，winnerId 产生，进入结算。</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南北规则的设计不是把整套流程复制两遍，而是把差异封装在 RuleProfile 和 RuleSet 内。这样 UI、AI、蓝牙都只依赖规则接口，不需要知道当前是北方还是南方玩法。蓝牙开局时，房主把规则名放入 START 消息，客户端用本地 ruleSetByIdOrName(ruleName) 转换为同一规则对象，保证多端比较结果一致。</a:t>
            </a:r>
          </a:p>
        </p:txBody>
      </p:sp>
      <p:sp>
        <p:nvSpPr>
          <p:cNvPr id="10" name="">
            <a:extLst xmlns:a="http://schemas.openxmlformats.org/drawingml/2006/main">
              <a:ext uri="{FF2B5EF4-FFF2-40B4-BE49-F238E27FC236}">
                <a16:creationId xmlns:a16="http://schemas.microsoft.com/office/drawing/2014/main" id="{5D78EFE7-576B-44E8-B89F-2A431984BFA7}"/>
              </a:ext>
            </a:extLst>
          </p:cNvPr>
          <p:cNvSpPr>
            <a:spLocks xmlns:a="http://schemas.openxmlformats.org/drawingml/2006/main" noGrp="1"/>
          </p:cNvSpPr>
          <p:nvPr/>
        </p:nvSpPr>
        <p:spPr>
          <a:xfrm xmlns:a="http://schemas.openxmlformats.org/drawingml/2006/main">
            <a:off x="5191125" y="1905000"/>
            <a:ext cx="1112415"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FBA6F0D6-8DD4-432A-88E8-F1AFFF1BAFF4}"/>
              </a:ext>
            </a:extLst>
          </p:cNvPr>
          <p:cNvSpPr>
            <a:spLocks xmlns:a="http://schemas.openxmlformats.org/drawingml/2006/main" noGrp="1"/>
          </p:cNvSpPr>
          <p:nvPr/>
        </p:nvSpPr>
        <p:spPr>
          <a:xfrm xmlns:a="http://schemas.openxmlformats.org/drawingml/2006/main">
            <a:off x="5238750" y="1943100"/>
            <a:ext cx="101716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规则项</a:t>
            </a:r>
          </a:p>
        </p:txBody>
      </p:sp>
      <p:sp>
        <p:nvSpPr>
          <p:cNvPr id="12" name="">
            <a:extLst xmlns:a="http://schemas.openxmlformats.org/drawingml/2006/main">
              <a:ext uri="{FF2B5EF4-FFF2-40B4-BE49-F238E27FC236}">
                <a16:creationId xmlns:a16="http://schemas.microsoft.com/office/drawing/2014/main" id="{E4277BFE-C337-431B-968A-EF324D0FCB80}"/>
              </a:ext>
            </a:extLst>
          </p:cNvPr>
          <p:cNvSpPr>
            <a:spLocks xmlns:a="http://schemas.openxmlformats.org/drawingml/2006/main" noGrp="1"/>
          </p:cNvSpPr>
          <p:nvPr/>
        </p:nvSpPr>
        <p:spPr>
          <a:xfrm xmlns:a="http://schemas.openxmlformats.org/drawingml/2006/main">
            <a:off x="6303540" y="1905000"/>
            <a:ext cx="263466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C31A498F-131A-473F-ADC3-949C7A210906}"/>
              </a:ext>
            </a:extLst>
          </p:cNvPr>
          <p:cNvSpPr>
            <a:spLocks xmlns:a="http://schemas.openxmlformats.org/drawingml/2006/main" noGrp="1"/>
          </p:cNvSpPr>
          <p:nvPr/>
        </p:nvSpPr>
        <p:spPr>
          <a:xfrm xmlns:a="http://schemas.openxmlformats.org/drawingml/2006/main">
            <a:off x="6351165" y="1943100"/>
            <a:ext cx="253941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北方规则</a:t>
            </a:r>
          </a:p>
        </p:txBody>
      </p:sp>
      <p:sp>
        <p:nvSpPr>
          <p:cNvPr id="14" name="">
            <a:extLst xmlns:a="http://schemas.openxmlformats.org/drawingml/2006/main">
              <a:ext uri="{FF2B5EF4-FFF2-40B4-BE49-F238E27FC236}">
                <a16:creationId xmlns:a16="http://schemas.microsoft.com/office/drawing/2014/main" id="{D1815020-55FA-48C9-89CC-AAC20E654303}"/>
              </a:ext>
            </a:extLst>
          </p:cNvPr>
          <p:cNvSpPr>
            <a:spLocks xmlns:a="http://schemas.openxmlformats.org/drawingml/2006/main" noGrp="1"/>
          </p:cNvSpPr>
          <p:nvPr/>
        </p:nvSpPr>
        <p:spPr>
          <a:xfrm xmlns:a="http://schemas.openxmlformats.org/drawingml/2006/main">
            <a:off x="8938208" y="1905000"/>
            <a:ext cx="263466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9142A119-2CD6-424B-AE09-6F9EE5B4F83C}"/>
              </a:ext>
            </a:extLst>
          </p:cNvPr>
          <p:cNvSpPr>
            <a:spLocks xmlns:a="http://schemas.openxmlformats.org/drawingml/2006/main" noGrp="1"/>
          </p:cNvSpPr>
          <p:nvPr/>
        </p:nvSpPr>
        <p:spPr>
          <a:xfrm xmlns:a="http://schemas.openxmlformats.org/drawingml/2006/main">
            <a:off x="8985833" y="1943100"/>
            <a:ext cx="253941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南方规则</a:t>
            </a:r>
          </a:p>
        </p:txBody>
      </p:sp>
      <p:sp>
        <p:nvSpPr>
          <p:cNvPr id="16" name="">
            <a:extLst xmlns:a="http://schemas.openxmlformats.org/drawingml/2006/main">
              <a:ext uri="{FF2B5EF4-FFF2-40B4-BE49-F238E27FC236}">
                <a16:creationId xmlns:a16="http://schemas.microsoft.com/office/drawing/2014/main" id="{1D09F4A9-A8A2-41AF-AA2C-CB8EF441BC40}"/>
              </a:ext>
            </a:extLst>
          </p:cNvPr>
          <p:cNvSpPr>
            <a:spLocks xmlns:a="http://schemas.openxmlformats.org/drawingml/2006/main" noGrp="1"/>
          </p:cNvSpPr>
          <p:nvPr/>
        </p:nvSpPr>
        <p:spPr>
          <a:xfrm xmlns:a="http://schemas.openxmlformats.org/drawingml/2006/main">
            <a:off x="5191125" y="2305050"/>
            <a:ext cx="111241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60D11E2E-FA29-45A6-AC8B-C21AE2C6070D}"/>
              </a:ext>
            </a:extLst>
          </p:cNvPr>
          <p:cNvSpPr>
            <a:spLocks xmlns:a="http://schemas.openxmlformats.org/drawingml/2006/main" noGrp="1"/>
          </p:cNvSpPr>
          <p:nvPr/>
        </p:nvSpPr>
        <p:spPr>
          <a:xfrm xmlns:a="http://schemas.openxmlformats.org/drawingml/2006/main">
            <a:off x="5238750" y="2333625"/>
            <a:ext cx="101716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首出牌</a:t>
            </a:r>
          </a:p>
        </p:txBody>
      </p:sp>
      <p:sp>
        <p:nvSpPr>
          <p:cNvPr id="18" name="">
            <a:extLst xmlns:a="http://schemas.openxmlformats.org/drawingml/2006/main">
              <a:ext uri="{FF2B5EF4-FFF2-40B4-BE49-F238E27FC236}">
                <a16:creationId xmlns:a16="http://schemas.microsoft.com/office/drawing/2014/main" id="{77211944-E7ED-4395-9106-39D5F33C1D7D}"/>
              </a:ext>
            </a:extLst>
          </p:cNvPr>
          <p:cNvSpPr>
            <a:spLocks xmlns:a="http://schemas.openxmlformats.org/drawingml/2006/main" noGrp="1"/>
          </p:cNvSpPr>
          <p:nvPr/>
        </p:nvSpPr>
        <p:spPr>
          <a:xfrm xmlns:a="http://schemas.openxmlformats.org/drawingml/2006/main">
            <a:off x="6303540" y="2305050"/>
            <a:ext cx="2634667"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D19C9EFA-35A7-4D7A-8AD7-FE87498B821D}"/>
              </a:ext>
            </a:extLst>
          </p:cNvPr>
          <p:cNvSpPr>
            <a:spLocks xmlns:a="http://schemas.openxmlformats.org/drawingml/2006/main" noGrp="1"/>
          </p:cNvSpPr>
          <p:nvPr/>
        </p:nvSpPr>
        <p:spPr>
          <a:xfrm xmlns:a="http://schemas.openxmlformats.org/drawingml/2006/main">
            <a:off x="6351165" y="2333625"/>
            <a:ext cx="253941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黑桃 3 首出</a:t>
            </a:r>
          </a:p>
        </p:txBody>
      </p:sp>
      <p:sp>
        <p:nvSpPr>
          <p:cNvPr id="20" name="">
            <a:extLst xmlns:a="http://schemas.openxmlformats.org/drawingml/2006/main">
              <a:ext uri="{FF2B5EF4-FFF2-40B4-BE49-F238E27FC236}">
                <a16:creationId xmlns:a16="http://schemas.microsoft.com/office/drawing/2014/main" id="{D1E8F1C4-D298-4906-AF8F-352A4B6A1A6B}"/>
              </a:ext>
            </a:extLst>
          </p:cNvPr>
          <p:cNvSpPr>
            <a:spLocks xmlns:a="http://schemas.openxmlformats.org/drawingml/2006/main" noGrp="1"/>
          </p:cNvSpPr>
          <p:nvPr/>
        </p:nvSpPr>
        <p:spPr>
          <a:xfrm xmlns:a="http://schemas.openxmlformats.org/drawingml/2006/main">
            <a:off x="8938208" y="2305050"/>
            <a:ext cx="2634667"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FB44E41F-9801-44B4-8FA5-61D219248116}"/>
              </a:ext>
            </a:extLst>
          </p:cNvPr>
          <p:cNvSpPr>
            <a:spLocks xmlns:a="http://schemas.openxmlformats.org/drawingml/2006/main" noGrp="1"/>
          </p:cNvSpPr>
          <p:nvPr/>
        </p:nvSpPr>
        <p:spPr>
          <a:xfrm xmlns:a="http://schemas.openxmlformats.org/drawingml/2006/main">
            <a:off x="8985833" y="2333625"/>
            <a:ext cx="253941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方块 3 首出</a:t>
            </a:r>
          </a:p>
        </p:txBody>
      </p:sp>
      <p:sp>
        <p:nvSpPr>
          <p:cNvPr id="22" name="">
            <a:extLst xmlns:a="http://schemas.openxmlformats.org/drawingml/2006/main">
              <a:ext uri="{FF2B5EF4-FFF2-40B4-BE49-F238E27FC236}">
                <a16:creationId xmlns:a16="http://schemas.microsoft.com/office/drawing/2014/main" id="{F2736EF6-A60A-420D-BEBD-22E0EC282342}"/>
              </a:ext>
            </a:extLst>
          </p:cNvPr>
          <p:cNvSpPr>
            <a:spLocks xmlns:a="http://schemas.openxmlformats.org/drawingml/2006/main" noGrp="1"/>
          </p:cNvSpPr>
          <p:nvPr/>
        </p:nvSpPr>
        <p:spPr>
          <a:xfrm xmlns:a="http://schemas.openxmlformats.org/drawingml/2006/main">
            <a:off x="5191125" y="3214688"/>
            <a:ext cx="111241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C5D58343-B0D0-4D78-ACEF-1005E202D7CA}"/>
              </a:ext>
            </a:extLst>
          </p:cNvPr>
          <p:cNvSpPr>
            <a:spLocks xmlns:a="http://schemas.openxmlformats.org/drawingml/2006/main" noGrp="1"/>
          </p:cNvSpPr>
          <p:nvPr/>
        </p:nvSpPr>
        <p:spPr>
          <a:xfrm xmlns:a="http://schemas.openxmlformats.org/drawingml/2006/main">
            <a:off x="5238750" y="3243263"/>
            <a:ext cx="101716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五张牌比较</a:t>
            </a:r>
          </a:p>
        </p:txBody>
      </p:sp>
      <p:sp>
        <p:nvSpPr>
          <p:cNvPr id="24" name="">
            <a:extLst xmlns:a="http://schemas.openxmlformats.org/drawingml/2006/main">
              <a:ext uri="{FF2B5EF4-FFF2-40B4-BE49-F238E27FC236}">
                <a16:creationId xmlns:a16="http://schemas.microsoft.com/office/drawing/2014/main" id="{060D29D5-482D-4ECA-AA0E-4BA3BEFD2D7D}"/>
              </a:ext>
            </a:extLst>
          </p:cNvPr>
          <p:cNvSpPr>
            <a:spLocks xmlns:a="http://schemas.openxmlformats.org/drawingml/2006/main" noGrp="1"/>
          </p:cNvSpPr>
          <p:nvPr/>
        </p:nvSpPr>
        <p:spPr>
          <a:xfrm xmlns:a="http://schemas.openxmlformats.org/drawingml/2006/main">
            <a:off x="6303540" y="3214688"/>
            <a:ext cx="2634667"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FFF873F7-3FE9-462A-B532-8D18F2D256A0}"/>
              </a:ext>
            </a:extLst>
          </p:cNvPr>
          <p:cNvSpPr>
            <a:spLocks xmlns:a="http://schemas.openxmlformats.org/drawingml/2006/main" noGrp="1"/>
          </p:cNvSpPr>
          <p:nvPr/>
        </p:nvSpPr>
        <p:spPr>
          <a:xfrm xmlns:a="http://schemas.openxmlformats.org/drawingml/2006/main">
            <a:off x="6351165" y="3243263"/>
            <a:ext cx="253941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四带一、同花顺可作为增强强牌跨牌型压制普通牌</a:t>
            </a:r>
          </a:p>
        </p:txBody>
      </p:sp>
      <p:sp>
        <p:nvSpPr>
          <p:cNvPr id="26" name="">
            <a:extLst xmlns:a="http://schemas.openxmlformats.org/drawingml/2006/main">
              <a:ext uri="{FF2B5EF4-FFF2-40B4-BE49-F238E27FC236}">
                <a16:creationId xmlns:a16="http://schemas.microsoft.com/office/drawing/2014/main" id="{FEDE4E6B-AA5D-4201-9EE8-D23A5576EA7C}"/>
              </a:ext>
            </a:extLst>
          </p:cNvPr>
          <p:cNvSpPr>
            <a:spLocks xmlns:a="http://schemas.openxmlformats.org/drawingml/2006/main" noGrp="1"/>
          </p:cNvSpPr>
          <p:nvPr/>
        </p:nvSpPr>
        <p:spPr>
          <a:xfrm xmlns:a="http://schemas.openxmlformats.org/drawingml/2006/main">
            <a:off x="8938208" y="3214688"/>
            <a:ext cx="2634667"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8CD384F3-0BDF-44F8-AF13-70BDDD487734}"/>
              </a:ext>
            </a:extLst>
          </p:cNvPr>
          <p:cNvSpPr>
            <a:spLocks xmlns:a="http://schemas.openxmlformats.org/drawingml/2006/main" noGrp="1"/>
          </p:cNvSpPr>
          <p:nvPr/>
        </p:nvSpPr>
        <p:spPr>
          <a:xfrm xmlns:a="http://schemas.openxmlformats.org/drawingml/2006/main">
            <a:off x="8985833" y="3243263"/>
            <a:ext cx="253941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五张牌之间按顺子、同花、葫芦、四带一、同花顺等级比较</a:t>
            </a:r>
          </a:p>
        </p:txBody>
      </p:sp>
      <p:sp>
        <p:nvSpPr>
          <p:cNvPr id="28" name="">
            <a:extLst xmlns:a="http://schemas.openxmlformats.org/drawingml/2006/main">
              <a:ext uri="{FF2B5EF4-FFF2-40B4-BE49-F238E27FC236}">
                <a16:creationId xmlns:a16="http://schemas.microsoft.com/office/drawing/2014/main" id="{D20E1F56-8365-4EBD-892F-4EB7CAC70E4A}"/>
              </a:ext>
            </a:extLst>
          </p:cNvPr>
          <p:cNvSpPr>
            <a:spLocks xmlns:a="http://schemas.openxmlformats.org/drawingml/2006/main" noGrp="1"/>
          </p:cNvSpPr>
          <p:nvPr/>
        </p:nvSpPr>
        <p:spPr>
          <a:xfrm xmlns:a="http://schemas.openxmlformats.org/drawingml/2006/main">
            <a:off x="5191125" y="4124325"/>
            <a:ext cx="111241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FFC6F6E6-0A7A-4786-867C-BA07BFF04975}"/>
              </a:ext>
            </a:extLst>
          </p:cNvPr>
          <p:cNvSpPr>
            <a:spLocks xmlns:a="http://schemas.openxmlformats.org/drawingml/2006/main" noGrp="1"/>
          </p:cNvSpPr>
          <p:nvPr/>
        </p:nvSpPr>
        <p:spPr>
          <a:xfrm xmlns:a="http://schemas.openxmlformats.org/drawingml/2006/main">
            <a:off x="5238750" y="4152900"/>
            <a:ext cx="101716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压牌限制</a:t>
            </a:r>
          </a:p>
        </p:txBody>
      </p:sp>
      <p:sp>
        <p:nvSpPr>
          <p:cNvPr id="30" name="">
            <a:extLst xmlns:a="http://schemas.openxmlformats.org/drawingml/2006/main">
              <a:ext uri="{FF2B5EF4-FFF2-40B4-BE49-F238E27FC236}">
                <a16:creationId xmlns:a16="http://schemas.microsoft.com/office/drawing/2014/main" id="{082F005A-B0F6-4D70-BFD6-99B91AD48778}"/>
              </a:ext>
            </a:extLst>
          </p:cNvPr>
          <p:cNvSpPr>
            <a:spLocks xmlns:a="http://schemas.openxmlformats.org/drawingml/2006/main" noGrp="1"/>
          </p:cNvSpPr>
          <p:nvPr/>
        </p:nvSpPr>
        <p:spPr>
          <a:xfrm xmlns:a="http://schemas.openxmlformats.org/drawingml/2006/main">
            <a:off x="6303540" y="4124325"/>
            <a:ext cx="2634667"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971AB1D6-873D-4C64-9FF3-445C91E8321F}"/>
              </a:ext>
            </a:extLst>
          </p:cNvPr>
          <p:cNvSpPr>
            <a:spLocks xmlns:a="http://schemas.openxmlformats.org/drawingml/2006/main" noGrp="1"/>
          </p:cNvSpPr>
          <p:nvPr/>
        </p:nvSpPr>
        <p:spPr>
          <a:xfrm xmlns:a="http://schemas.openxmlformats.org/drawingml/2006/main">
            <a:off x="6351165" y="4152900"/>
            <a:ext cx="253941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根据北方增强牌规则判断</a:t>
            </a:r>
          </a:p>
        </p:txBody>
      </p:sp>
      <p:sp>
        <p:nvSpPr>
          <p:cNvPr id="32" name="">
            <a:extLst xmlns:a="http://schemas.openxmlformats.org/drawingml/2006/main">
              <a:ext uri="{FF2B5EF4-FFF2-40B4-BE49-F238E27FC236}">
                <a16:creationId xmlns:a16="http://schemas.microsoft.com/office/drawing/2014/main" id="{85B7EF09-3D9C-4125-96AC-95ED18D24637}"/>
              </a:ext>
            </a:extLst>
          </p:cNvPr>
          <p:cNvSpPr>
            <a:spLocks xmlns:a="http://schemas.openxmlformats.org/drawingml/2006/main" noGrp="1"/>
          </p:cNvSpPr>
          <p:nvPr/>
        </p:nvSpPr>
        <p:spPr>
          <a:xfrm xmlns:a="http://schemas.openxmlformats.org/drawingml/2006/main">
            <a:off x="8938208" y="4124325"/>
            <a:ext cx="2634667"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2BCE675E-FDCC-43F5-8E11-322591BBEAE3}"/>
              </a:ext>
            </a:extLst>
          </p:cNvPr>
          <p:cNvSpPr>
            <a:spLocks xmlns:a="http://schemas.openxmlformats.org/drawingml/2006/main" noGrp="1"/>
          </p:cNvSpPr>
          <p:nvPr/>
        </p:nvSpPr>
        <p:spPr>
          <a:xfrm xmlns:a="http://schemas.openxmlformats.org/drawingml/2006/main">
            <a:off x="8985833" y="4152900"/>
            <a:ext cx="253941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更强调同张数压制和五张牌等级</a:t>
            </a:r>
          </a:p>
        </p:txBody>
      </p:sp>
      <p:sp>
        <p:nvSpPr>
          <p:cNvPr id="34" name="">
            <a:extLst xmlns:a="http://schemas.openxmlformats.org/drawingml/2006/main">
              <a:ext uri="{FF2B5EF4-FFF2-40B4-BE49-F238E27FC236}">
                <a16:creationId xmlns:a16="http://schemas.microsoft.com/office/drawing/2014/main" id="{F2DFCA63-06DB-4D3E-9730-6DF96D17BA62}"/>
              </a:ext>
            </a:extLst>
          </p:cNvPr>
          <p:cNvSpPr>
            <a:spLocks xmlns:a="http://schemas.openxmlformats.org/drawingml/2006/main" noGrp="1"/>
          </p:cNvSpPr>
          <p:nvPr/>
        </p:nvSpPr>
        <p:spPr>
          <a:xfrm xmlns:a="http://schemas.openxmlformats.org/drawingml/2006/main">
            <a:off x="5191125" y="5033963"/>
            <a:ext cx="111241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5" name="">
            <a:extLst xmlns:a="http://schemas.openxmlformats.org/drawingml/2006/main">
              <a:ext uri="{FF2B5EF4-FFF2-40B4-BE49-F238E27FC236}">
                <a16:creationId xmlns:a16="http://schemas.microsoft.com/office/drawing/2014/main" id="{90D1D37E-C65F-4677-BCBF-7BB9F5AEBF90}"/>
              </a:ext>
            </a:extLst>
          </p:cNvPr>
          <p:cNvSpPr>
            <a:spLocks xmlns:a="http://schemas.openxmlformats.org/drawingml/2006/main" noGrp="1"/>
          </p:cNvSpPr>
          <p:nvPr/>
        </p:nvSpPr>
        <p:spPr>
          <a:xfrm xmlns:a="http://schemas.openxmlformats.org/drawingml/2006/main">
            <a:off x="5238750" y="5062538"/>
            <a:ext cx="101716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配置方式</a:t>
            </a:r>
          </a:p>
        </p:txBody>
      </p:sp>
      <p:sp>
        <p:nvSpPr>
          <p:cNvPr id="36" name="">
            <a:extLst xmlns:a="http://schemas.openxmlformats.org/drawingml/2006/main">
              <a:ext uri="{FF2B5EF4-FFF2-40B4-BE49-F238E27FC236}">
                <a16:creationId xmlns:a16="http://schemas.microsoft.com/office/drawing/2014/main" id="{9B3EB1FE-2617-40BE-B090-55F698E1EF30}"/>
              </a:ext>
            </a:extLst>
          </p:cNvPr>
          <p:cNvSpPr>
            <a:spLocks xmlns:a="http://schemas.openxmlformats.org/drawingml/2006/main" noGrp="1"/>
          </p:cNvSpPr>
          <p:nvPr/>
        </p:nvSpPr>
        <p:spPr>
          <a:xfrm xmlns:a="http://schemas.openxmlformats.org/drawingml/2006/main">
            <a:off x="6303540" y="5033963"/>
            <a:ext cx="2634667"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7" name="">
            <a:extLst xmlns:a="http://schemas.openxmlformats.org/drawingml/2006/main">
              <a:ext uri="{FF2B5EF4-FFF2-40B4-BE49-F238E27FC236}">
                <a16:creationId xmlns:a16="http://schemas.microsoft.com/office/drawing/2014/main" id="{F78D3237-3E12-45FA-A840-05B3F29B041F}"/>
              </a:ext>
            </a:extLst>
          </p:cNvPr>
          <p:cNvSpPr>
            <a:spLocks xmlns:a="http://schemas.openxmlformats.org/drawingml/2006/main" noGrp="1"/>
          </p:cNvSpPr>
          <p:nvPr/>
        </p:nvSpPr>
        <p:spPr>
          <a:xfrm xmlns:a="http://schemas.openxmlformats.org/drawingml/2006/main">
            <a:off x="6351165" y="5062538"/>
            <a:ext cx="253941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通过规则设置保存到本机</a:t>
            </a:r>
          </a:p>
        </p:txBody>
      </p:sp>
      <p:sp>
        <p:nvSpPr>
          <p:cNvPr id="38" name="">
            <a:extLst xmlns:a="http://schemas.openxmlformats.org/drawingml/2006/main">
              <a:ext uri="{FF2B5EF4-FFF2-40B4-BE49-F238E27FC236}">
                <a16:creationId xmlns:a16="http://schemas.microsoft.com/office/drawing/2014/main" id="{C948DED6-4EB5-4E64-96AB-DD5F14432DD7}"/>
              </a:ext>
            </a:extLst>
          </p:cNvPr>
          <p:cNvSpPr>
            <a:spLocks xmlns:a="http://schemas.openxmlformats.org/drawingml/2006/main" noGrp="1"/>
          </p:cNvSpPr>
          <p:nvPr/>
        </p:nvSpPr>
        <p:spPr>
          <a:xfrm xmlns:a="http://schemas.openxmlformats.org/drawingml/2006/main">
            <a:off x="8938208" y="5033963"/>
            <a:ext cx="2634667"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9" name="">
            <a:extLst xmlns:a="http://schemas.openxmlformats.org/drawingml/2006/main">
              <a:ext uri="{FF2B5EF4-FFF2-40B4-BE49-F238E27FC236}">
                <a16:creationId xmlns:a16="http://schemas.microsoft.com/office/drawing/2014/main" id="{9AF719BC-DB5E-43EF-8890-BE416FD47384}"/>
              </a:ext>
            </a:extLst>
          </p:cNvPr>
          <p:cNvSpPr>
            <a:spLocks xmlns:a="http://schemas.openxmlformats.org/drawingml/2006/main" noGrp="1"/>
          </p:cNvSpPr>
          <p:nvPr/>
        </p:nvSpPr>
        <p:spPr>
          <a:xfrm xmlns:a="http://schemas.openxmlformats.org/drawingml/2006/main">
            <a:off x="8985833" y="5062538"/>
            <a:ext cx="253941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通过规则设置保存到本机</a:t>
            </a:r>
          </a:p>
        </p:txBody>
      </p:sp>
    </p:spTree>
    <p:extLst>
      <p:ext uri="{BB962C8B-B14F-4D97-AF65-F5344CB8AC3E}">
        <p14:creationId xmlns:p14="http://schemas.microsoft.com/office/powerpoint/2010/main" val="913429184"/>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B3B0CF-7224-4E48-BD1F-E56C04076A0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C5EAA9-7872-48A6-B18D-37EE9095F18F}"/>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796EF65-E81C-4086-9413-3401C89C55D6}"/>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E57040D8-2607-4380-817F-780502AA3FAD}"/>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C19B5EE2-2E46-4520-BF67-FBF58C5330CB}"/>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46</a:t>
            </a:r>
          </a:p>
        </p:txBody>
      </p:sp>
      <p:sp>
        <p:nvSpPr>
          <p:cNvPr id="6" name="">
            <a:extLst xmlns:a="http://schemas.openxmlformats.org/drawingml/2006/main">
              <a:ext uri="{FF2B5EF4-FFF2-40B4-BE49-F238E27FC236}">
                <a16:creationId xmlns:a16="http://schemas.microsoft.com/office/drawing/2014/main" id="{2341074F-AD12-495A-8757-495C482D66DE}"/>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3F3FBF96-1483-4D9A-9956-C90BFB5F42FE}"/>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6.3 蓝牙通信模块（1/4）</a:t>
            </a:r>
          </a:p>
        </p:txBody>
      </p:sp>
      <p:sp>
        <p:nvSpPr>
          <p:cNvPr id="8" name="">
            <a:extLst xmlns:a="http://schemas.openxmlformats.org/drawingml/2006/main">
              <a:ext uri="{FF2B5EF4-FFF2-40B4-BE49-F238E27FC236}">
                <a16:creationId xmlns:a16="http://schemas.microsoft.com/office/drawing/2014/main" id="{68EC3D1F-E325-4815-90A6-FFD5C65C58F4}"/>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AC312ED-700B-4357-9123-D6496191393E}"/>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 多人联机采用房主权威的 C/S 模式，而不是一对一蓝牙匹配。房主手机创建房间并监听连接，加入者手机作为客户端连接房主。房间固定四个座位，房主可以添加人机补位，满四座并准备后开始游戏。</a:t>
            </a:r>
          </a:p>
          <a:p xmlns:a="http://schemas.openxmlformats.org/drawingml/2006/main">
            <a:r>
              <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 蓝牙通信的核心流程：</a:t>
            </a:r>
          </a:p>
          <a:p xmlns:a="http://schemas.openxmlformats.org/drawingml/2006/main">
            <a:r>
              <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1. 房主创建房间，建立 BluetoothHostTransport，持续监听加入者连接。</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2. 加入者搜索附近或已配对设备，并通过 BluetoothClientTransport 连接房主。</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3. 加入者发送 HELLO，其中包含昵称和客户端标识等基础信息。</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4. 房主维护四座位 RoomSeat，记录 SeatConnectionState、clientId、设备地址和是否由 AI 托管。</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5. 房主广播 ROOM(roomId, hostEpoch, seats)，使所有客户端看到一致座位。</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6. 开局时房主生成 seed、同步规则并广播 START 消息。</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7. 客户端只发送 MOVE_REQUEST，不直接修改本地牌局。</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8. 房主使用 NetworkMoveGuard 判断是否为当前玩家的有效请求。</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9. 房主调用 GameController 校验和推进状态。</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10. 房主广播 MOVE_ACCEPTED 和 STATE_SNAPSHOT，所有客户端以房主快照为准刷新牌桌。</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11. 如果客户端断线，传输层发出 TransportEvent.PeerDisconnected，房主把对应座位标记为“断线，人机托管中”，并广播 DISCONNECT_NOTICE。</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12. 当前发布版没有实现自动断线重连；断线客户端需要重新进入蓝牙流程。</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13. 如果房主断线，客户端弹窗提示连接断开，关闭当前传输并退出房间，提示重新创建或重新加入。</a:t>
            </a:r>
          </a:p>
          <a:p xmlns:a="http://schemas.openxmlformats.org/drawingml/2006/main">
            <a:r>
              <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 这种方式可以避免多台手机各自结算导致的状态分叉，也便于测试时用 LocalRoomTransport 和 SimulatedBluetoothHubTest 模拟多人房间。由于房主是权威端，当前版本对房主断线采用保守处理：直接提示并退出，而不尝试新房主迁移，避免恢复过程中出现多端状态不一致。</a:t>
            </a:r>
          </a:p>
        </p:txBody>
      </p:sp>
    </p:spTree>
    <p:extLst>
      <p:ext uri="{BB962C8B-B14F-4D97-AF65-F5344CB8AC3E}">
        <p14:creationId xmlns:p14="http://schemas.microsoft.com/office/powerpoint/2010/main" val="293146129"/>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A77AD25-6DD6-4774-81BF-76FA7AA619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4100C6-EDEF-4A8F-8456-B4E9058EEE11}"/>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EF7F86-349F-40C5-881D-381537FA6319}"/>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E730D6C9-2D6C-484E-94C2-7AB235F8747D}"/>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CCC2D973-290C-4023-8424-7F50CC802F67}"/>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47</a:t>
            </a:r>
          </a:p>
        </p:txBody>
      </p:sp>
      <p:sp>
        <p:nvSpPr>
          <p:cNvPr id="6" name="">
            <a:extLst xmlns:a="http://schemas.openxmlformats.org/drawingml/2006/main">
              <a:ext uri="{FF2B5EF4-FFF2-40B4-BE49-F238E27FC236}">
                <a16:creationId xmlns:a16="http://schemas.microsoft.com/office/drawing/2014/main" id="{AC70144F-F20F-48B9-9540-C2049BBBD9DF}"/>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71754E11-D000-4DA9-948E-D79D8C724B6C}"/>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6.3 蓝牙通信模块（2/4）</a:t>
            </a:r>
          </a:p>
        </p:txBody>
      </p:sp>
      <p:sp>
        <p:nvSpPr>
          <p:cNvPr id="8" name="">
            <a:extLst xmlns:a="http://schemas.openxmlformats.org/drawingml/2006/main">
              <a:ext uri="{FF2B5EF4-FFF2-40B4-BE49-F238E27FC236}">
                <a16:creationId xmlns:a16="http://schemas.microsoft.com/office/drawing/2014/main" id="{BFFF6E38-41E9-4981-A743-7F618001DDC7}"/>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9958308-B83C-4AA6-9A83-4EAF5D126AC5}"/>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传输层和协议层的最新实现细节：</a:t>
            </a:r>
          </a:p>
        </p:txBody>
      </p:sp>
    </p:spTree>
    <p:extLst>
      <p:ext uri="{BB962C8B-B14F-4D97-AF65-F5344CB8AC3E}">
        <p14:creationId xmlns:p14="http://schemas.microsoft.com/office/powerpoint/2010/main" val="933256480"/>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DEB9A1-77C2-49C9-A79D-364C1CE7AC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90CA8A-30F3-49FC-94EF-9C734BB96FD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A525331-07A6-46C7-972D-5C2664489652}"/>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4ED170BF-1DF3-4225-A149-BFD45C0186F6}"/>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81BAB9FD-F6F6-49C8-AB90-E15EB0FA619A}"/>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48</a:t>
            </a:r>
          </a:p>
        </p:txBody>
      </p:sp>
      <p:sp>
        <p:nvSpPr>
          <p:cNvPr id="6" name="">
            <a:extLst xmlns:a="http://schemas.openxmlformats.org/drawingml/2006/main">
              <a:ext uri="{FF2B5EF4-FFF2-40B4-BE49-F238E27FC236}">
                <a16:creationId xmlns:a16="http://schemas.microsoft.com/office/drawing/2014/main" id="{A869160F-C069-4C17-85F1-B5B3884D5548}"/>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C473A805-93D3-437A-A5E7-AF6EDB0683A2}"/>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6.3 蓝牙通信模块（3/4）</a:t>
            </a:r>
          </a:p>
        </p:txBody>
      </p:sp>
      <p:sp>
        <p:nvSpPr>
          <p:cNvPr id="8" name="">
            <a:extLst xmlns:a="http://schemas.openxmlformats.org/drawingml/2006/main">
              <a:ext uri="{FF2B5EF4-FFF2-40B4-BE49-F238E27FC236}">
                <a16:creationId xmlns:a16="http://schemas.microsoft.com/office/drawing/2014/main" id="{51DE75AF-4BC2-4614-938F-4897AD2488C7}"/>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7E6437A-0EA6-4F97-9D7A-ABD7D442C6FC}"/>
              </a:ext>
            </a:extLst>
          </p:cNvPr>
          <p:cNvSpPr>
            <a:spLocks xmlns:a="http://schemas.openxmlformats.org/drawingml/2006/main" noGrp="1"/>
          </p:cNvSpPr>
          <p:nvPr/>
        </p:nvSpPr>
        <p:spPr>
          <a:xfrm xmlns:a="http://schemas.openxmlformats.org/drawingml/2006/main">
            <a:off x="457200" y="1905000"/>
            <a:ext cx="2948066"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5B6FBB95-E848-4AC3-9534-9E8C9C81AB08}"/>
              </a:ext>
            </a:extLst>
          </p:cNvPr>
          <p:cNvSpPr>
            <a:spLocks xmlns:a="http://schemas.openxmlformats.org/drawingml/2006/main" noGrp="1"/>
          </p:cNvSpPr>
          <p:nvPr/>
        </p:nvSpPr>
        <p:spPr>
          <a:xfrm xmlns:a="http://schemas.openxmlformats.org/drawingml/2006/main">
            <a:off x="504825" y="1943100"/>
            <a:ext cx="285281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类型</a:t>
            </a:r>
          </a:p>
        </p:txBody>
      </p:sp>
      <p:sp>
        <p:nvSpPr>
          <p:cNvPr id="11" name="">
            <a:extLst xmlns:a="http://schemas.openxmlformats.org/drawingml/2006/main">
              <a:ext uri="{FF2B5EF4-FFF2-40B4-BE49-F238E27FC236}">
                <a16:creationId xmlns:a16="http://schemas.microsoft.com/office/drawing/2014/main" id="{057ABB80-1270-4155-93B4-BED04248F919}"/>
              </a:ext>
            </a:extLst>
          </p:cNvPr>
          <p:cNvSpPr>
            <a:spLocks xmlns:a="http://schemas.openxmlformats.org/drawingml/2006/main" noGrp="1"/>
          </p:cNvSpPr>
          <p:nvPr/>
        </p:nvSpPr>
        <p:spPr>
          <a:xfrm xmlns:a="http://schemas.openxmlformats.org/drawingml/2006/main">
            <a:off x="3405266" y="1905000"/>
            <a:ext cx="414571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9F25C597-9052-41A0-AA7C-41B092AAB035}"/>
              </a:ext>
            </a:extLst>
          </p:cNvPr>
          <p:cNvSpPr>
            <a:spLocks xmlns:a="http://schemas.openxmlformats.org/drawingml/2006/main" noGrp="1"/>
          </p:cNvSpPr>
          <p:nvPr/>
        </p:nvSpPr>
        <p:spPr>
          <a:xfrm xmlns:a="http://schemas.openxmlformats.org/drawingml/2006/main">
            <a:off x="3452891" y="1943100"/>
            <a:ext cx="405046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代码落点</a:t>
            </a:r>
          </a:p>
        </p:txBody>
      </p:sp>
      <p:sp>
        <p:nvSpPr>
          <p:cNvPr id="13" name="">
            <a:extLst xmlns:a="http://schemas.openxmlformats.org/drawingml/2006/main">
              <a:ext uri="{FF2B5EF4-FFF2-40B4-BE49-F238E27FC236}">
                <a16:creationId xmlns:a16="http://schemas.microsoft.com/office/drawing/2014/main" id="{854972D7-031C-4448-8587-646C29C252D8}"/>
              </a:ext>
            </a:extLst>
          </p:cNvPr>
          <p:cNvSpPr>
            <a:spLocks xmlns:a="http://schemas.openxmlformats.org/drawingml/2006/main" noGrp="1"/>
          </p:cNvSpPr>
          <p:nvPr/>
        </p:nvSpPr>
        <p:spPr>
          <a:xfrm xmlns:a="http://schemas.openxmlformats.org/drawingml/2006/main">
            <a:off x="7550983" y="1905000"/>
            <a:ext cx="414571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DD8691E0-FAE1-46BE-B6A3-7F005CED7897}"/>
              </a:ext>
            </a:extLst>
          </p:cNvPr>
          <p:cNvSpPr>
            <a:spLocks xmlns:a="http://schemas.openxmlformats.org/drawingml/2006/main" noGrp="1"/>
          </p:cNvSpPr>
          <p:nvPr/>
        </p:nvSpPr>
        <p:spPr>
          <a:xfrm xmlns:a="http://schemas.openxmlformats.org/drawingml/2006/main">
            <a:off x="7598608" y="1943100"/>
            <a:ext cx="405046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说明</a:t>
            </a:r>
          </a:p>
        </p:txBody>
      </p:sp>
      <p:sp>
        <p:nvSpPr>
          <p:cNvPr id="15" name="">
            <a:extLst xmlns:a="http://schemas.openxmlformats.org/drawingml/2006/main">
              <a:ext uri="{FF2B5EF4-FFF2-40B4-BE49-F238E27FC236}">
                <a16:creationId xmlns:a16="http://schemas.microsoft.com/office/drawing/2014/main" id="{EF55CD4F-A849-4440-994A-1F6468060021}"/>
              </a:ext>
            </a:extLst>
          </p:cNvPr>
          <p:cNvSpPr>
            <a:spLocks xmlns:a="http://schemas.openxmlformats.org/drawingml/2006/main" noGrp="1"/>
          </p:cNvSpPr>
          <p:nvPr/>
        </p:nvSpPr>
        <p:spPr>
          <a:xfrm xmlns:a="http://schemas.openxmlformats.org/drawingml/2006/main">
            <a:off x="457200" y="2305050"/>
            <a:ext cx="2948066"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E91FA3A9-D86A-4C8E-9E78-70275D36DD23}"/>
              </a:ext>
            </a:extLst>
          </p:cNvPr>
          <p:cNvSpPr>
            <a:spLocks xmlns:a="http://schemas.openxmlformats.org/drawingml/2006/main" noGrp="1"/>
          </p:cNvSpPr>
          <p:nvPr/>
        </p:nvSpPr>
        <p:spPr>
          <a:xfrm xmlns:a="http://schemas.openxmlformats.org/drawingml/2006/main">
            <a:off x="504825" y="2333625"/>
            <a:ext cx="2852816"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传输事件</a:t>
            </a:r>
          </a:p>
        </p:txBody>
      </p:sp>
      <p:sp>
        <p:nvSpPr>
          <p:cNvPr id="17" name="">
            <a:extLst xmlns:a="http://schemas.openxmlformats.org/drawingml/2006/main">
              <a:ext uri="{FF2B5EF4-FFF2-40B4-BE49-F238E27FC236}">
                <a16:creationId xmlns:a16="http://schemas.microsoft.com/office/drawing/2014/main" id="{79977FF3-AB77-4E2F-AF2F-82037C1EADB2}"/>
              </a:ext>
            </a:extLst>
          </p:cNvPr>
          <p:cNvSpPr>
            <a:spLocks xmlns:a="http://schemas.openxmlformats.org/drawingml/2006/main" noGrp="1"/>
          </p:cNvSpPr>
          <p:nvPr/>
        </p:nvSpPr>
        <p:spPr>
          <a:xfrm xmlns:a="http://schemas.openxmlformats.org/drawingml/2006/main">
            <a:off x="3405266" y="2305050"/>
            <a:ext cx="4145717"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8B24D64A-EF0C-4902-92BE-9282D56FA169}"/>
              </a:ext>
            </a:extLst>
          </p:cNvPr>
          <p:cNvSpPr>
            <a:spLocks xmlns:a="http://schemas.openxmlformats.org/drawingml/2006/main" noGrp="1"/>
          </p:cNvSpPr>
          <p:nvPr/>
        </p:nvSpPr>
        <p:spPr>
          <a:xfrm xmlns:a="http://schemas.openxmlformats.org/drawingml/2006/main">
            <a:off x="3452891" y="2333625"/>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TransportEvent.Message、PeerConnected、PeerDisconnected、Error</a:t>
            </a:r>
          </a:p>
        </p:txBody>
      </p:sp>
      <p:sp>
        <p:nvSpPr>
          <p:cNvPr id="19" name="">
            <a:extLst xmlns:a="http://schemas.openxmlformats.org/drawingml/2006/main">
              <a:ext uri="{FF2B5EF4-FFF2-40B4-BE49-F238E27FC236}">
                <a16:creationId xmlns:a16="http://schemas.microsoft.com/office/drawing/2014/main" id="{F4A7226C-5EFB-4D8B-97D2-F4E19646B722}"/>
              </a:ext>
            </a:extLst>
          </p:cNvPr>
          <p:cNvSpPr>
            <a:spLocks xmlns:a="http://schemas.openxmlformats.org/drawingml/2006/main" noGrp="1"/>
          </p:cNvSpPr>
          <p:nvPr/>
        </p:nvSpPr>
        <p:spPr>
          <a:xfrm xmlns:a="http://schemas.openxmlformats.org/drawingml/2006/main">
            <a:off x="7550983" y="2305050"/>
            <a:ext cx="4145717"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4A90582D-D875-4D9A-8BDE-71D2A403C445}"/>
              </a:ext>
            </a:extLst>
          </p:cNvPr>
          <p:cNvSpPr>
            <a:spLocks xmlns:a="http://schemas.openxmlformats.org/drawingml/2006/main" noGrp="1"/>
          </p:cNvSpPr>
          <p:nvPr/>
        </p:nvSpPr>
        <p:spPr>
          <a:xfrm xmlns:a="http://schemas.openxmlformats.org/drawingml/2006/main">
            <a:off x="7598608" y="2333625"/>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socket 线程不再只回调字符串，而是能区分收到消息、连接、断开和错误</a:t>
            </a:r>
          </a:p>
        </p:txBody>
      </p:sp>
      <p:sp>
        <p:nvSpPr>
          <p:cNvPr id="21" name="">
            <a:extLst xmlns:a="http://schemas.openxmlformats.org/drawingml/2006/main">
              <a:ext uri="{FF2B5EF4-FFF2-40B4-BE49-F238E27FC236}">
                <a16:creationId xmlns:a16="http://schemas.microsoft.com/office/drawing/2014/main" id="{31E5F759-DCF8-4263-88AC-90DA6D4CFA30}"/>
              </a:ext>
            </a:extLst>
          </p:cNvPr>
          <p:cNvSpPr>
            <a:spLocks xmlns:a="http://schemas.openxmlformats.org/drawingml/2006/main" noGrp="1"/>
          </p:cNvSpPr>
          <p:nvPr/>
        </p:nvSpPr>
        <p:spPr>
          <a:xfrm xmlns:a="http://schemas.openxmlformats.org/drawingml/2006/main">
            <a:off x="457200" y="2824843"/>
            <a:ext cx="2948066"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8133B2E5-8C81-49F8-88D4-1723CA228296}"/>
              </a:ext>
            </a:extLst>
          </p:cNvPr>
          <p:cNvSpPr>
            <a:spLocks xmlns:a="http://schemas.openxmlformats.org/drawingml/2006/main" noGrp="1"/>
          </p:cNvSpPr>
          <p:nvPr/>
        </p:nvSpPr>
        <p:spPr>
          <a:xfrm xmlns:a="http://schemas.openxmlformats.org/drawingml/2006/main">
            <a:off x="504825" y="2853418"/>
            <a:ext cx="2852816"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定向发送</a:t>
            </a:r>
          </a:p>
        </p:txBody>
      </p:sp>
      <p:sp>
        <p:nvSpPr>
          <p:cNvPr id="23" name="">
            <a:extLst xmlns:a="http://schemas.openxmlformats.org/drawingml/2006/main">
              <a:ext uri="{FF2B5EF4-FFF2-40B4-BE49-F238E27FC236}">
                <a16:creationId xmlns:a16="http://schemas.microsoft.com/office/drawing/2014/main" id="{91DB8403-084A-43B2-99A2-240628C00FF7}"/>
              </a:ext>
            </a:extLst>
          </p:cNvPr>
          <p:cNvSpPr>
            <a:spLocks xmlns:a="http://schemas.openxmlformats.org/drawingml/2006/main" noGrp="1"/>
          </p:cNvSpPr>
          <p:nvPr/>
        </p:nvSpPr>
        <p:spPr>
          <a:xfrm xmlns:a="http://schemas.openxmlformats.org/drawingml/2006/main">
            <a:off x="3405266" y="2824843"/>
            <a:ext cx="4145717"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E41537FD-AD6A-4A4D-9CAF-6914C47320DA}"/>
              </a:ext>
            </a:extLst>
          </p:cNvPr>
          <p:cNvSpPr>
            <a:spLocks xmlns:a="http://schemas.openxmlformats.org/drawingml/2006/main" noGrp="1"/>
          </p:cNvSpPr>
          <p:nvPr/>
        </p:nvSpPr>
        <p:spPr>
          <a:xfrm xmlns:a="http://schemas.openxmlformats.org/drawingml/2006/main">
            <a:off x="3452891" y="2853418"/>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GameTransport.sendTo(peerKey, message)</a:t>
            </a:r>
          </a:p>
        </p:txBody>
      </p:sp>
      <p:sp>
        <p:nvSpPr>
          <p:cNvPr id="25" name="">
            <a:extLst xmlns:a="http://schemas.openxmlformats.org/drawingml/2006/main">
              <a:ext uri="{FF2B5EF4-FFF2-40B4-BE49-F238E27FC236}">
                <a16:creationId xmlns:a16="http://schemas.microsoft.com/office/drawing/2014/main" id="{FD46C115-AA23-44C1-899A-4FA944C24091}"/>
              </a:ext>
            </a:extLst>
          </p:cNvPr>
          <p:cNvSpPr>
            <a:spLocks xmlns:a="http://schemas.openxmlformats.org/drawingml/2006/main" noGrp="1"/>
          </p:cNvSpPr>
          <p:nvPr/>
        </p:nvSpPr>
        <p:spPr>
          <a:xfrm xmlns:a="http://schemas.openxmlformats.org/drawingml/2006/main">
            <a:off x="7550983" y="2824843"/>
            <a:ext cx="4145717"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58643617-D177-49C2-9057-725E2884897A}"/>
              </a:ext>
            </a:extLst>
          </p:cNvPr>
          <p:cNvSpPr>
            <a:spLocks xmlns:a="http://schemas.openxmlformats.org/drawingml/2006/main" noGrp="1"/>
          </p:cNvSpPr>
          <p:nvPr/>
        </p:nvSpPr>
        <p:spPr>
          <a:xfrm xmlns:a="http://schemas.openxmlformats.org/drawingml/2006/main">
            <a:off x="7598608" y="2853418"/>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房主可以只回复某个客户端，例如房满错误或同步快照</a:t>
            </a:r>
          </a:p>
        </p:txBody>
      </p:sp>
      <p:sp>
        <p:nvSpPr>
          <p:cNvPr id="27" name="">
            <a:extLst xmlns:a="http://schemas.openxmlformats.org/drawingml/2006/main">
              <a:ext uri="{FF2B5EF4-FFF2-40B4-BE49-F238E27FC236}">
                <a16:creationId xmlns:a16="http://schemas.microsoft.com/office/drawing/2014/main" id="{59888B76-8787-40F6-BB28-EEEA48A4711C}"/>
              </a:ext>
            </a:extLst>
          </p:cNvPr>
          <p:cNvSpPr>
            <a:spLocks xmlns:a="http://schemas.openxmlformats.org/drawingml/2006/main" noGrp="1"/>
          </p:cNvSpPr>
          <p:nvPr/>
        </p:nvSpPr>
        <p:spPr>
          <a:xfrm xmlns:a="http://schemas.openxmlformats.org/drawingml/2006/main">
            <a:off x="457200" y="3344636"/>
            <a:ext cx="2948066"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F50A2DEF-C01A-4E93-B25E-E9B3CBED0EFD}"/>
              </a:ext>
            </a:extLst>
          </p:cNvPr>
          <p:cNvSpPr>
            <a:spLocks xmlns:a="http://schemas.openxmlformats.org/drawingml/2006/main" noGrp="1"/>
          </p:cNvSpPr>
          <p:nvPr/>
        </p:nvSpPr>
        <p:spPr>
          <a:xfrm xmlns:a="http://schemas.openxmlformats.org/drawingml/2006/main">
            <a:off x="504825" y="3373211"/>
            <a:ext cx="2852816"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房间标识</a:t>
            </a:r>
          </a:p>
        </p:txBody>
      </p:sp>
      <p:sp>
        <p:nvSpPr>
          <p:cNvPr id="29" name="">
            <a:extLst xmlns:a="http://schemas.openxmlformats.org/drawingml/2006/main">
              <a:ext uri="{FF2B5EF4-FFF2-40B4-BE49-F238E27FC236}">
                <a16:creationId xmlns:a16="http://schemas.microsoft.com/office/drawing/2014/main" id="{2AEBED45-F9C3-482E-B1A2-7330ED4D1C4B}"/>
              </a:ext>
            </a:extLst>
          </p:cNvPr>
          <p:cNvSpPr>
            <a:spLocks xmlns:a="http://schemas.openxmlformats.org/drawingml/2006/main" noGrp="1"/>
          </p:cNvSpPr>
          <p:nvPr/>
        </p:nvSpPr>
        <p:spPr>
          <a:xfrm xmlns:a="http://schemas.openxmlformats.org/drawingml/2006/main">
            <a:off x="3405266" y="3344636"/>
            <a:ext cx="4145717"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6F81FDA3-36B4-42EA-85CB-8A9346165297}"/>
              </a:ext>
            </a:extLst>
          </p:cNvPr>
          <p:cNvSpPr>
            <a:spLocks xmlns:a="http://schemas.openxmlformats.org/drawingml/2006/main" noGrp="1"/>
          </p:cNvSpPr>
          <p:nvPr/>
        </p:nvSpPr>
        <p:spPr>
          <a:xfrm xmlns:a="http://schemas.openxmlformats.org/drawingml/2006/main">
            <a:off x="3452891" y="3373211"/>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roomId</a:t>
            </a:r>
          </a:p>
        </p:txBody>
      </p:sp>
      <p:sp>
        <p:nvSpPr>
          <p:cNvPr id="31" name="">
            <a:extLst xmlns:a="http://schemas.openxmlformats.org/drawingml/2006/main">
              <a:ext uri="{FF2B5EF4-FFF2-40B4-BE49-F238E27FC236}">
                <a16:creationId xmlns:a16="http://schemas.microsoft.com/office/drawing/2014/main" id="{7889E96A-04B4-4841-B446-65D599901537}"/>
              </a:ext>
            </a:extLst>
          </p:cNvPr>
          <p:cNvSpPr>
            <a:spLocks xmlns:a="http://schemas.openxmlformats.org/drawingml/2006/main" noGrp="1"/>
          </p:cNvSpPr>
          <p:nvPr/>
        </p:nvSpPr>
        <p:spPr>
          <a:xfrm xmlns:a="http://schemas.openxmlformats.org/drawingml/2006/main">
            <a:off x="7550983" y="3344636"/>
            <a:ext cx="4145717"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2D81FBF2-A37B-4871-BE39-D5E4727C3E56}"/>
              </a:ext>
            </a:extLst>
          </p:cNvPr>
          <p:cNvSpPr>
            <a:spLocks xmlns:a="http://schemas.openxmlformats.org/drawingml/2006/main" noGrp="1"/>
          </p:cNvSpPr>
          <p:nvPr/>
        </p:nvSpPr>
        <p:spPr>
          <a:xfrm xmlns:a="http://schemas.openxmlformats.org/drawingml/2006/main">
            <a:off x="7598608" y="3373211"/>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区分不同房间和再开局，避免旧消息混入新房间</a:t>
            </a:r>
          </a:p>
        </p:txBody>
      </p:sp>
      <p:sp>
        <p:nvSpPr>
          <p:cNvPr id="33" name="">
            <a:extLst xmlns:a="http://schemas.openxmlformats.org/drawingml/2006/main">
              <a:ext uri="{FF2B5EF4-FFF2-40B4-BE49-F238E27FC236}">
                <a16:creationId xmlns:a16="http://schemas.microsoft.com/office/drawing/2014/main" id="{51AA05C9-F8BE-4D46-9740-F9C695136654}"/>
              </a:ext>
            </a:extLst>
          </p:cNvPr>
          <p:cNvSpPr>
            <a:spLocks xmlns:a="http://schemas.openxmlformats.org/drawingml/2006/main" noGrp="1"/>
          </p:cNvSpPr>
          <p:nvPr/>
        </p:nvSpPr>
        <p:spPr>
          <a:xfrm xmlns:a="http://schemas.openxmlformats.org/drawingml/2006/main">
            <a:off x="457200" y="3864429"/>
            <a:ext cx="2948066"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EA338AB2-3022-4E7F-B279-209203E62B51}"/>
              </a:ext>
            </a:extLst>
          </p:cNvPr>
          <p:cNvSpPr>
            <a:spLocks xmlns:a="http://schemas.openxmlformats.org/drawingml/2006/main" noGrp="1"/>
          </p:cNvSpPr>
          <p:nvPr/>
        </p:nvSpPr>
        <p:spPr>
          <a:xfrm xmlns:a="http://schemas.openxmlformats.org/drawingml/2006/main">
            <a:off x="504825" y="3893004"/>
            <a:ext cx="2852816"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房主时代</a:t>
            </a:r>
          </a:p>
        </p:txBody>
      </p:sp>
      <p:sp>
        <p:nvSpPr>
          <p:cNvPr id="35" name="">
            <a:extLst xmlns:a="http://schemas.openxmlformats.org/drawingml/2006/main">
              <a:ext uri="{FF2B5EF4-FFF2-40B4-BE49-F238E27FC236}">
                <a16:creationId xmlns:a16="http://schemas.microsoft.com/office/drawing/2014/main" id="{1E8931C3-E6BB-4959-B5D8-C7E9ADA5C5DC}"/>
              </a:ext>
            </a:extLst>
          </p:cNvPr>
          <p:cNvSpPr>
            <a:spLocks xmlns:a="http://schemas.openxmlformats.org/drawingml/2006/main" noGrp="1"/>
          </p:cNvSpPr>
          <p:nvPr/>
        </p:nvSpPr>
        <p:spPr>
          <a:xfrm xmlns:a="http://schemas.openxmlformats.org/drawingml/2006/main">
            <a:off x="3405266" y="3864429"/>
            <a:ext cx="4145717"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AAD4C715-3563-4968-870F-9B41757B1F18}"/>
              </a:ext>
            </a:extLst>
          </p:cNvPr>
          <p:cNvSpPr>
            <a:spLocks xmlns:a="http://schemas.openxmlformats.org/drawingml/2006/main" noGrp="1"/>
          </p:cNvSpPr>
          <p:nvPr/>
        </p:nvSpPr>
        <p:spPr>
          <a:xfrm xmlns:a="http://schemas.openxmlformats.org/drawingml/2006/main">
            <a:off x="3452891" y="3893004"/>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hostEpoch</a:t>
            </a:r>
          </a:p>
        </p:txBody>
      </p:sp>
      <p:sp>
        <p:nvSpPr>
          <p:cNvPr id="37" name="">
            <a:extLst xmlns:a="http://schemas.openxmlformats.org/drawingml/2006/main">
              <a:ext uri="{FF2B5EF4-FFF2-40B4-BE49-F238E27FC236}">
                <a16:creationId xmlns:a16="http://schemas.microsoft.com/office/drawing/2014/main" id="{516FAD6C-FB88-46DB-A112-45859D55D089}"/>
              </a:ext>
            </a:extLst>
          </p:cNvPr>
          <p:cNvSpPr>
            <a:spLocks xmlns:a="http://schemas.openxmlformats.org/drawingml/2006/main" noGrp="1"/>
          </p:cNvSpPr>
          <p:nvPr/>
        </p:nvSpPr>
        <p:spPr>
          <a:xfrm xmlns:a="http://schemas.openxmlformats.org/drawingml/2006/main">
            <a:off x="7550983" y="3864429"/>
            <a:ext cx="4145717"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E3DBED18-42A4-4F7F-B39A-6F3D70E4AA19}"/>
              </a:ext>
            </a:extLst>
          </p:cNvPr>
          <p:cNvSpPr>
            <a:spLocks xmlns:a="http://schemas.openxmlformats.org/drawingml/2006/main" noGrp="1"/>
          </p:cNvSpPr>
          <p:nvPr/>
        </p:nvSpPr>
        <p:spPr>
          <a:xfrm xmlns:a="http://schemas.openxmlformats.org/drawingml/2006/main">
            <a:off x="7598608" y="3893004"/>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协议中保留的版本字段，用于过滤旧快照或后续扩展</a:t>
            </a:r>
          </a:p>
        </p:txBody>
      </p:sp>
      <p:sp>
        <p:nvSpPr>
          <p:cNvPr id="39" name="">
            <a:extLst xmlns:a="http://schemas.openxmlformats.org/drawingml/2006/main">
              <a:ext uri="{FF2B5EF4-FFF2-40B4-BE49-F238E27FC236}">
                <a16:creationId xmlns:a16="http://schemas.microsoft.com/office/drawing/2014/main" id="{0E79DD5D-E2B3-406F-B6F7-F6695DAB8E16}"/>
              </a:ext>
            </a:extLst>
          </p:cNvPr>
          <p:cNvSpPr>
            <a:spLocks xmlns:a="http://schemas.openxmlformats.org/drawingml/2006/main" noGrp="1"/>
          </p:cNvSpPr>
          <p:nvPr/>
        </p:nvSpPr>
        <p:spPr>
          <a:xfrm xmlns:a="http://schemas.openxmlformats.org/drawingml/2006/main">
            <a:off x="457200" y="4384221"/>
            <a:ext cx="2948066"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C64A08E5-F156-4FCC-B50F-6D14F1AB758F}"/>
              </a:ext>
            </a:extLst>
          </p:cNvPr>
          <p:cNvSpPr>
            <a:spLocks xmlns:a="http://schemas.openxmlformats.org/drawingml/2006/main" noGrp="1"/>
          </p:cNvSpPr>
          <p:nvPr/>
        </p:nvSpPr>
        <p:spPr>
          <a:xfrm xmlns:a="http://schemas.openxmlformats.org/drawingml/2006/main">
            <a:off x="504825" y="4412796"/>
            <a:ext cx="2852816"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客户端标识</a:t>
            </a:r>
          </a:p>
        </p:txBody>
      </p:sp>
      <p:sp>
        <p:nvSpPr>
          <p:cNvPr id="41" name="">
            <a:extLst xmlns:a="http://schemas.openxmlformats.org/drawingml/2006/main">
              <a:ext uri="{FF2B5EF4-FFF2-40B4-BE49-F238E27FC236}">
                <a16:creationId xmlns:a16="http://schemas.microsoft.com/office/drawing/2014/main" id="{3A85098E-4EDE-494E-8F48-E9D76BF0C206}"/>
              </a:ext>
            </a:extLst>
          </p:cNvPr>
          <p:cNvSpPr>
            <a:spLocks xmlns:a="http://schemas.openxmlformats.org/drawingml/2006/main" noGrp="1"/>
          </p:cNvSpPr>
          <p:nvPr/>
        </p:nvSpPr>
        <p:spPr>
          <a:xfrm xmlns:a="http://schemas.openxmlformats.org/drawingml/2006/main">
            <a:off x="3405266" y="4384221"/>
            <a:ext cx="4145717"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5F47D8E3-C7A2-4658-AB59-C9573A3AEF5A}"/>
              </a:ext>
            </a:extLst>
          </p:cNvPr>
          <p:cNvSpPr>
            <a:spLocks xmlns:a="http://schemas.openxmlformats.org/drawingml/2006/main" noGrp="1"/>
          </p:cNvSpPr>
          <p:nvPr/>
        </p:nvSpPr>
        <p:spPr>
          <a:xfrm xmlns:a="http://schemas.openxmlformats.org/drawingml/2006/main">
            <a:off x="3452891" y="4412796"/>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clientId</a:t>
            </a:r>
          </a:p>
        </p:txBody>
      </p:sp>
      <p:sp>
        <p:nvSpPr>
          <p:cNvPr id="43" name="">
            <a:extLst xmlns:a="http://schemas.openxmlformats.org/drawingml/2006/main">
              <a:ext uri="{FF2B5EF4-FFF2-40B4-BE49-F238E27FC236}">
                <a16:creationId xmlns:a16="http://schemas.microsoft.com/office/drawing/2014/main" id="{4EA69A6A-6043-4591-929A-0154A217C3EC}"/>
              </a:ext>
            </a:extLst>
          </p:cNvPr>
          <p:cNvSpPr>
            <a:spLocks xmlns:a="http://schemas.openxmlformats.org/drawingml/2006/main" noGrp="1"/>
          </p:cNvSpPr>
          <p:nvPr/>
        </p:nvSpPr>
        <p:spPr>
          <a:xfrm xmlns:a="http://schemas.openxmlformats.org/drawingml/2006/main">
            <a:off x="7550983" y="4384221"/>
            <a:ext cx="4145717"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733F0D48-C5BA-4BE1-9D2F-145734CACBFD}"/>
              </a:ext>
            </a:extLst>
          </p:cNvPr>
          <p:cNvSpPr>
            <a:spLocks xmlns:a="http://schemas.openxmlformats.org/drawingml/2006/main" noGrp="1"/>
          </p:cNvSpPr>
          <p:nvPr/>
        </p:nvSpPr>
        <p:spPr>
          <a:xfrm xmlns:a="http://schemas.openxmlformats.org/drawingml/2006/main">
            <a:off x="7598608" y="4412796"/>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用于标记加入者身份和座位信息，当前版本不承诺自动断线恢复</a:t>
            </a:r>
          </a:p>
        </p:txBody>
      </p:sp>
      <p:sp>
        <p:nvSpPr>
          <p:cNvPr id="45" name="">
            <a:extLst xmlns:a="http://schemas.openxmlformats.org/drawingml/2006/main">
              <a:ext uri="{FF2B5EF4-FFF2-40B4-BE49-F238E27FC236}">
                <a16:creationId xmlns:a16="http://schemas.microsoft.com/office/drawing/2014/main" id="{0BC9E096-A956-4402-B38C-5C3BB9EF88B9}"/>
              </a:ext>
            </a:extLst>
          </p:cNvPr>
          <p:cNvSpPr>
            <a:spLocks xmlns:a="http://schemas.openxmlformats.org/drawingml/2006/main" noGrp="1"/>
          </p:cNvSpPr>
          <p:nvPr/>
        </p:nvSpPr>
        <p:spPr>
          <a:xfrm xmlns:a="http://schemas.openxmlformats.org/drawingml/2006/main">
            <a:off x="457200" y="4904014"/>
            <a:ext cx="2948066"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015EA387-DB80-4ADF-BFF8-0EABFA4B6D76}"/>
              </a:ext>
            </a:extLst>
          </p:cNvPr>
          <p:cNvSpPr>
            <a:spLocks xmlns:a="http://schemas.openxmlformats.org/drawingml/2006/main" noGrp="1"/>
          </p:cNvSpPr>
          <p:nvPr/>
        </p:nvSpPr>
        <p:spPr>
          <a:xfrm xmlns:a="http://schemas.openxmlformats.org/drawingml/2006/main">
            <a:off x="504825" y="4932589"/>
            <a:ext cx="2852816"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连接状态</a:t>
            </a:r>
          </a:p>
        </p:txBody>
      </p:sp>
      <p:sp>
        <p:nvSpPr>
          <p:cNvPr id="47" name="">
            <a:extLst xmlns:a="http://schemas.openxmlformats.org/drawingml/2006/main">
              <a:ext uri="{FF2B5EF4-FFF2-40B4-BE49-F238E27FC236}">
                <a16:creationId xmlns:a16="http://schemas.microsoft.com/office/drawing/2014/main" id="{2CBA2206-8E06-4479-B7BB-00FC98BC8139}"/>
              </a:ext>
            </a:extLst>
          </p:cNvPr>
          <p:cNvSpPr>
            <a:spLocks xmlns:a="http://schemas.openxmlformats.org/drawingml/2006/main" noGrp="1"/>
          </p:cNvSpPr>
          <p:nvPr/>
        </p:nvSpPr>
        <p:spPr>
          <a:xfrm xmlns:a="http://schemas.openxmlformats.org/drawingml/2006/main">
            <a:off x="3405266" y="4904014"/>
            <a:ext cx="4145717"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2D9AEA07-1BBE-4FAC-9D4B-E29D8A74D9BC}"/>
              </a:ext>
            </a:extLst>
          </p:cNvPr>
          <p:cNvSpPr>
            <a:spLocks xmlns:a="http://schemas.openxmlformats.org/drawingml/2006/main" noGrp="1"/>
          </p:cNvSpPr>
          <p:nvPr/>
        </p:nvSpPr>
        <p:spPr>
          <a:xfrm xmlns:a="http://schemas.openxmlformats.org/drawingml/2006/main">
            <a:off x="3452891" y="4932589"/>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SeatConnectionState</a:t>
            </a:r>
          </a:p>
        </p:txBody>
      </p:sp>
      <p:sp>
        <p:nvSpPr>
          <p:cNvPr id="49" name="">
            <a:extLst xmlns:a="http://schemas.openxmlformats.org/drawingml/2006/main">
              <a:ext uri="{FF2B5EF4-FFF2-40B4-BE49-F238E27FC236}">
                <a16:creationId xmlns:a16="http://schemas.microsoft.com/office/drawing/2014/main" id="{18F93E6E-27DC-429C-AA93-6FB34E476049}"/>
              </a:ext>
            </a:extLst>
          </p:cNvPr>
          <p:cNvSpPr>
            <a:spLocks xmlns:a="http://schemas.openxmlformats.org/drawingml/2006/main" noGrp="1"/>
          </p:cNvSpPr>
          <p:nvPr/>
        </p:nvSpPr>
        <p:spPr>
          <a:xfrm xmlns:a="http://schemas.openxmlformats.org/drawingml/2006/main">
            <a:off x="7550983" y="4904014"/>
            <a:ext cx="4145717"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1DD1FEA2-4B1C-43B7-8143-DB964E4C2189}"/>
              </a:ext>
            </a:extLst>
          </p:cNvPr>
          <p:cNvSpPr>
            <a:spLocks xmlns:a="http://schemas.openxmlformats.org/drawingml/2006/main" noGrp="1"/>
          </p:cNvSpPr>
          <p:nvPr/>
        </p:nvSpPr>
        <p:spPr>
          <a:xfrm xmlns:a="http://schemas.openxmlformats.org/drawingml/2006/main">
            <a:off x="7598608" y="4932589"/>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座位可显示在线、断线、空位等状态</a:t>
            </a:r>
          </a:p>
        </p:txBody>
      </p:sp>
      <p:sp>
        <p:nvSpPr>
          <p:cNvPr id="51" name="">
            <a:extLst xmlns:a="http://schemas.openxmlformats.org/drawingml/2006/main">
              <a:ext uri="{FF2B5EF4-FFF2-40B4-BE49-F238E27FC236}">
                <a16:creationId xmlns:a16="http://schemas.microsoft.com/office/drawing/2014/main" id="{46E25D5D-36C7-4B9C-8AF8-8F7A377B3D1B}"/>
              </a:ext>
            </a:extLst>
          </p:cNvPr>
          <p:cNvSpPr>
            <a:spLocks xmlns:a="http://schemas.openxmlformats.org/drawingml/2006/main" noGrp="1"/>
          </p:cNvSpPr>
          <p:nvPr/>
        </p:nvSpPr>
        <p:spPr>
          <a:xfrm xmlns:a="http://schemas.openxmlformats.org/drawingml/2006/main">
            <a:off x="457200" y="5423807"/>
            <a:ext cx="2948066"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8C4B5678-2C00-4B47-A4EC-F7D1E46E4512}"/>
              </a:ext>
            </a:extLst>
          </p:cNvPr>
          <p:cNvSpPr>
            <a:spLocks xmlns:a="http://schemas.openxmlformats.org/drawingml/2006/main" noGrp="1"/>
          </p:cNvSpPr>
          <p:nvPr/>
        </p:nvSpPr>
        <p:spPr>
          <a:xfrm xmlns:a="http://schemas.openxmlformats.org/drawingml/2006/main">
            <a:off x="504825" y="5452382"/>
            <a:ext cx="2852816"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AI 托管</a:t>
            </a:r>
          </a:p>
        </p:txBody>
      </p:sp>
      <p:sp>
        <p:nvSpPr>
          <p:cNvPr id="53" name="">
            <a:extLst xmlns:a="http://schemas.openxmlformats.org/drawingml/2006/main">
              <a:ext uri="{FF2B5EF4-FFF2-40B4-BE49-F238E27FC236}">
                <a16:creationId xmlns:a16="http://schemas.microsoft.com/office/drawing/2014/main" id="{CA338418-93B0-4FA5-81F4-0DDA65193A5F}"/>
              </a:ext>
            </a:extLst>
          </p:cNvPr>
          <p:cNvSpPr>
            <a:spLocks xmlns:a="http://schemas.openxmlformats.org/drawingml/2006/main" noGrp="1"/>
          </p:cNvSpPr>
          <p:nvPr/>
        </p:nvSpPr>
        <p:spPr>
          <a:xfrm xmlns:a="http://schemas.openxmlformats.org/drawingml/2006/main">
            <a:off x="3405266" y="5423807"/>
            <a:ext cx="4145717"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5B37FB7C-E3DE-4B2A-BA9F-C88018C179F6}"/>
              </a:ext>
            </a:extLst>
          </p:cNvPr>
          <p:cNvSpPr>
            <a:spLocks xmlns:a="http://schemas.openxmlformats.org/drawingml/2006/main" noGrp="1"/>
          </p:cNvSpPr>
          <p:nvPr/>
        </p:nvSpPr>
        <p:spPr>
          <a:xfrm xmlns:a="http://schemas.openxmlformats.org/drawingml/2006/main">
            <a:off x="3452891" y="5452382"/>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takeoverByAi</a:t>
            </a:r>
          </a:p>
        </p:txBody>
      </p:sp>
      <p:sp>
        <p:nvSpPr>
          <p:cNvPr id="55" name="">
            <a:extLst xmlns:a="http://schemas.openxmlformats.org/drawingml/2006/main">
              <a:ext uri="{FF2B5EF4-FFF2-40B4-BE49-F238E27FC236}">
                <a16:creationId xmlns:a16="http://schemas.microsoft.com/office/drawing/2014/main" id="{A66F8FFB-BC2D-4368-9316-8953CEFE4CAD}"/>
              </a:ext>
            </a:extLst>
          </p:cNvPr>
          <p:cNvSpPr>
            <a:spLocks xmlns:a="http://schemas.openxmlformats.org/drawingml/2006/main" noGrp="1"/>
          </p:cNvSpPr>
          <p:nvPr/>
        </p:nvSpPr>
        <p:spPr>
          <a:xfrm xmlns:a="http://schemas.openxmlformats.org/drawingml/2006/main">
            <a:off x="7550983" y="5423807"/>
            <a:ext cx="4145717"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AF5FFBC1-DBF2-4350-A529-3E042D4EAC65}"/>
              </a:ext>
            </a:extLst>
          </p:cNvPr>
          <p:cNvSpPr>
            <a:spLocks xmlns:a="http://schemas.openxmlformats.org/drawingml/2006/main" noGrp="1"/>
          </p:cNvSpPr>
          <p:nvPr/>
        </p:nvSpPr>
        <p:spPr>
          <a:xfrm xmlns:a="http://schemas.openxmlformats.org/drawingml/2006/main">
            <a:off x="7598608" y="5452382"/>
            <a:ext cx="4050467"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真人断线时座位不删除，由房主 AI 继续托管</a:t>
            </a:r>
          </a:p>
        </p:txBody>
      </p:sp>
    </p:spTree>
    <p:extLst>
      <p:ext uri="{BB962C8B-B14F-4D97-AF65-F5344CB8AC3E}">
        <p14:creationId xmlns:p14="http://schemas.microsoft.com/office/powerpoint/2010/main" val="7165773"/>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7904CC-0F1D-4D53-B2DE-A085DC3C8A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379642-ED6D-4AD1-95C9-FC66C7A7B26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895859A-26AB-482D-B4CE-25A066AC3E65}"/>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AF1C8EC2-F5D8-4852-BAD9-A83FDD7A30CC}"/>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5B871AC4-C13B-483E-95F3-B762E0547B61}"/>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49</a:t>
            </a:r>
          </a:p>
        </p:txBody>
      </p:sp>
      <p:sp>
        <p:nvSpPr>
          <p:cNvPr id="6" name="">
            <a:extLst xmlns:a="http://schemas.openxmlformats.org/drawingml/2006/main">
              <a:ext uri="{FF2B5EF4-FFF2-40B4-BE49-F238E27FC236}">
                <a16:creationId xmlns:a16="http://schemas.microsoft.com/office/drawing/2014/main" id="{823E5AB8-BAD7-4784-ACD4-240CFD96DBF7}"/>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3DEB4287-4495-4D7F-BA3A-EFC2B5E638F8}"/>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6.3 蓝牙通信模块（4/4）</a:t>
            </a:r>
          </a:p>
        </p:txBody>
      </p:sp>
      <p:sp>
        <p:nvSpPr>
          <p:cNvPr id="8" name="">
            <a:extLst xmlns:a="http://schemas.openxmlformats.org/drawingml/2006/main">
              <a:ext uri="{FF2B5EF4-FFF2-40B4-BE49-F238E27FC236}">
                <a16:creationId xmlns:a16="http://schemas.microsoft.com/office/drawing/2014/main" id="{DD6B8991-6545-492B-9BBE-002840C3C355}"/>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77ADEAF-E0DE-43F9-B71D-2BCA1299189E}"/>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885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新增或扩展的消息包括：</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客户端断线时，房主通过 TransportEvent.PeerDisconnected(peerKey) 定位座位，调用 markHumanDisconnected(takeoverByAi = true) 保留座位。UI 显示“某玩家断线，已由人机托管”，如果轮到该座位，由房主运行普通难度 AI 出牌并继续广播快照。当前版本没有实现自动断线重连，断线客户端需要重新进入蓝牙流程。</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房主断线时，客户端弹窗提示房主连接已断开，暂停并退出当前对局。因为房主端保存权威牌局状态，当前版本不做新房主迁移，恢复方式是重新创建房间或重新加入。</a:t>
            </a:r>
          </a:p>
        </p:txBody>
      </p:sp>
      <p:sp>
        <p:nvSpPr>
          <p:cNvPr id="10" name="">
            <a:extLst xmlns:a="http://schemas.openxmlformats.org/drawingml/2006/main">
              <a:ext uri="{FF2B5EF4-FFF2-40B4-BE49-F238E27FC236}">
                <a16:creationId xmlns:a16="http://schemas.microsoft.com/office/drawing/2014/main" id="{5F091FB8-2E5F-47AA-8FDC-390C38395DB4}"/>
              </a:ext>
            </a:extLst>
          </p:cNvPr>
          <p:cNvSpPr>
            <a:spLocks xmlns:a="http://schemas.openxmlformats.org/drawingml/2006/main" noGrp="1"/>
          </p:cNvSpPr>
          <p:nvPr/>
        </p:nvSpPr>
        <p:spPr>
          <a:xfrm xmlns:a="http://schemas.openxmlformats.org/drawingml/2006/main">
            <a:off x="5191125" y="1905000"/>
            <a:ext cx="3190875"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A0728BBF-8A09-45FF-B2E6-041807D50F14}"/>
              </a:ext>
            </a:extLst>
          </p:cNvPr>
          <p:cNvSpPr>
            <a:spLocks xmlns:a="http://schemas.openxmlformats.org/drawingml/2006/main" noGrp="1"/>
          </p:cNvSpPr>
          <p:nvPr/>
        </p:nvSpPr>
        <p:spPr>
          <a:xfrm xmlns:a="http://schemas.openxmlformats.org/drawingml/2006/main">
            <a:off x="5238750" y="19431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消息</a:t>
            </a:r>
          </a:p>
        </p:txBody>
      </p:sp>
      <p:sp>
        <p:nvSpPr>
          <p:cNvPr id="12" name="">
            <a:extLst xmlns:a="http://schemas.openxmlformats.org/drawingml/2006/main">
              <a:ext uri="{FF2B5EF4-FFF2-40B4-BE49-F238E27FC236}">
                <a16:creationId xmlns:a16="http://schemas.microsoft.com/office/drawing/2014/main" id="{1D6F6266-354F-45F6-A616-24A68A8F2B2A}"/>
              </a:ext>
            </a:extLst>
          </p:cNvPr>
          <p:cNvSpPr>
            <a:spLocks xmlns:a="http://schemas.openxmlformats.org/drawingml/2006/main" noGrp="1"/>
          </p:cNvSpPr>
          <p:nvPr/>
        </p:nvSpPr>
        <p:spPr>
          <a:xfrm xmlns:a="http://schemas.openxmlformats.org/drawingml/2006/main">
            <a:off x="8382000" y="1905000"/>
            <a:ext cx="3190875"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4DB29F05-DCC8-4B9A-9E67-883163057757}"/>
              </a:ext>
            </a:extLst>
          </p:cNvPr>
          <p:cNvSpPr>
            <a:spLocks xmlns:a="http://schemas.openxmlformats.org/drawingml/2006/main" noGrp="1"/>
          </p:cNvSpPr>
          <p:nvPr/>
        </p:nvSpPr>
        <p:spPr>
          <a:xfrm xmlns:a="http://schemas.openxmlformats.org/drawingml/2006/main">
            <a:off x="8429625" y="19431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用途</a:t>
            </a:r>
          </a:p>
        </p:txBody>
      </p:sp>
      <p:sp>
        <p:nvSpPr>
          <p:cNvPr id="14" name="">
            <a:extLst xmlns:a="http://schemas.openxmlformats.org/drawingml/2006/main">
              <a:ext uri="{FF2B5EF4-FFF2-40B4-BE49-F238E27FC236}">
                <a16:creationId xmlns:a16="http://schemas.microsoft.com/office/drawing/2014/main" id="{934D7BFD-7502-49B1-93D3-BF110C78BFD3}"/>
              </a:ext>
            </a:extLst>
          </p:cNvPr>
          <p:cNvSpPr>
            <a:spLocks xmlns:a="http://schemas.openxmlformats.org/drawingml/2006/main" noGrp="1"/>
          </p:cNvSpPr>
          <p:nvPr/>
        </p:nvSpPr>
        <p:spPr>
          <a:xfrm xmlns:a="http://schemas.openxmlformats.org/drawingml/2006/main">
            <a:off x="5191125" y="2305050"/>
            <a:ext cx="319087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5" name="">
            <a:extLst xmlns:a="http://schemas.openxmlformats.org/drawingml/2006/main">
              <a:ext uri="{FF2B5EF4-FFF2-40B4-BE49-F238E27FC236}">
                <a16:creationId xmlns:a16="http://schemas.microsoft.com/office/drawing/2014/main" id="{90D5A4E0-DC82-413E-A892-AA5854ABE2C3}"/>
              </a:ext>
            </a:extLst>
          </p:cNvPr>
          <p:cNvSpPr>
            <a:spLocks xmlns:a="http://schemas.openxmlformats.org/drawingml/2006/main" noGrp="1"/>
          </p:cNvSpPr>
          <p:nvPr/>
        </p:nvSpPr>
        <p:spPr>
          <a:xfrm xmlns:a="http://schemas.openxmlformats.org/drawingml/2006/main">
            <a:off x="5238750" y="2333625"/>
            <a:ext cx="30956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DISCONNECT_NOTICE</a:t>
            </a:r>
          </a:p>
        </p:txBody>
      </p:sp>
      <p:sp>
        <p:nvSpPr>
          <p:cNvPr id="16" name="">
            <a:extLst xmlns:a="http://schemas.openxmlformats.org/drawingml/2006/main">
              <a:ext uri="{FF2B5EF4-FFF2-40B4-BE49-F238E27FC236}">
                <a16:creationId xmlns:a16="http://schemas.microsoft.com/office/drawing/2014/main" id="{2BE725B6-B859-4D8B-A51A-EBD85F325B5F}"/>
              </a:ext>
            </a:extLst>
          </p:cNvPr>
          <p:cNvSpPr>
            <a:spLocks xmlns:a="http://schemas.openxmlformats.org/drawingml/2006/main" noGrp="1"/>
          </p:cNvSpPr>
          <p:nvPr/>
        </p:nvSpPr>
        <p:spPr>
          <a:xfrm xmlns:a="http://schemas.openxmlformats.org/drawingml/2006/main">
            <a:off x="8382000" y="2305050"/>
            <a:ext cx="319087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591C9B47-F041-443C-8EED-A777CE8D242C}"/>
              </a:ext>
            </a:extLst>
          </p:cNvPr>
          <p:cNvSpPr>
            <a:spLocks xmlns:a="http://schemas.openxmlformats.org/drawingml/2006/main" noGrp="1"/>
          </p:cNvSpPr>
          <p:nvPr/>
        </p:nvSpPr>
        <p:spPr>
          <a:xfrm xmlns:a="http://schemas.openxmlformats.org/drawingml/2006/main">
            <a:off x="8429625" y="2333625"/>
            <a:ext cx="30956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通知某座位断线并已进入 AI 托管</a:t>
            </a:r>
          </a:p>
        </p:txBody>
      </p:sp>
      <p:sp>
        <p:nvSpPr>
          <p:cNvPr id="18" name="">
            <a:extLst xmlns:a="http://schemas.openxmlformats.org/drawingml/2006/main">
              <a:ext uri="{FF2B5EF4-FFF2-40B4-BE49-F238E27FC236}">
                <a16:creationId xmlns:a16="http://schemas.microsoft.com/office/drawing/2014/main" id="{C1F45E2F-7AF8-43AB-BDAE-906903970ACE}"/>
              </a:ext>
            </a:extLst>
          </p:cNvPr>
          <p:cNvSpPr>
            <a:spLocks xmlns:a="http://schemas.openxmlformats.org/drawingml/2006/main" noGrp="1"/>
          </p:cNvSpPr>
          <p:nvPr/>
        </p:nvSpPr>
        <p:spPr>
          <a:xfrm xmlns:a="http://schemas.openxmlformats.org/drawingml/2006/main">
            <a:off x="5191125" y="3214688"/>
            <a:ext cx="319087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46E3C28F-E7CE-4AE2-9C6F-24F04DB66905}"/>
              </a:ext>
            </a:extLst>
          </p:cNvPr>
          <p:cNvSpPr>
            <a:spLocks xmlns:a="http://schemas.openxmlformats.org/drawingml/2006/main" noGrp="1"/>
          </p:cNvSpPr>
          <p:nvPr/>
        </p:nvSpPr>
        <p:spPr>
          <a:xfrm xmlns:a="http://schemas.openxmlformats.org/drawingml/2006/main">
            <a:off x="5238750" y="3243263"/>
            <a:ext cx="30956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HEARTBEAT</a:t>
            </a:r>
          </a:p>
        </p:txBody>
      </p:sp>
      <p:sp>
        <p:nvSpPr>
          <p:cNvPr id="20" name="">
            <a:extLst xmlns:a="http://schemas.openxmlformats.org/drawingml/2006/main">
              <a:ext uri="{FF2B5EF4-FFF2-40B4-BE49-F238E27FC236}">
                <a16:creationId xmlns:a16="http://schemas.microsoft.com/office/drawing/2014/main" id="{6F160B76-3956-4A2F-B8AE-A1923024651B}"/>
              </a:ext>
            </a:extLst>
          </p:cNvPr>
          <p:cNvSpPr>
            <a:spLocks xmlns:a="http://schemas.openxmlformats.org/drawingml/2006/main" noGrp="1"/>
          </p:cNvSpPr>
          <p:nvPr/>
        </p:nvSpPr>
        <p:spPr>
          <a:xfrm xmlns:a="http://schemas.openxmlformats.org/drawingml/2006/main">
            <a:off x="8382000" y="3214688"/>
            <a:ext cx="319087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8AE44AA7-CB98-49D5-A071-D625303689A9}"/>
              </a:ext>
            </a:extLst>
          </p:cNvPr>
          <p:cNvSpPr>
            <a:spLocks xmlns:a="http://schemas.openxmlformats.org/drawingml/2006/main" noGrp="1"/>
          </p:cNvSpPr>
          <p:nvPr/>
        </p:nvSpPr>
        <p:spPr>
          <a:xfrm xmlns:a="http://schemas.openxmlformats.org/drawingml/2006/main">
            <a:off x="8429625" y="3243263"/>
            <a:ext cx="30956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协议预留的连接健康消息，当前主要依靠 socket 断开和错误事件提示</a:t>
            </a:r>
          </a:p>
        </p:txBody>
      </p:sp>
      <p:sp>
        <p:nvSpPr>
          <p:cNvPr id="22" name="">
            <a:extLst xmlns:a="http://schemas.openxmlformats.org/drawingml/2006/main">
              <a:ext uri="{FF2B5EF4-FFF2-40B4-BE49-F238E27FC236}">
                <a16:creationId xmlns:a16="http://schemas.microsoft.com/office/drawing/2014/main" id="{D863646A-D459-4F8D-821D-E8DC41213E76}"/>
              </a:ext>
            </a:extLst>
          </p:cNvPr>
          <p:cNvSpPr>
            <a:spLocks xmlns:a="http://schemas.openxmlformats.org/drawingml/2006/main" noGrp="1"/>
          </p:cNvSpPr>
          <p:nvPr/>
        </p:nvSpPr>
        <p:spPr>
          <a:xfrm xmlns:a="http://schemas.openxmlformats.org/drawingml/2006/main">
            <a:off x="5191125" y="4124325"/>
            <a:ext cx="319087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8E819B70-E8AC-492C-8CB1-2A124EA635EE}"/>
              </a:ext>
            </a:extLst>
          </p:cNvPr>
          <p:cNvSpPr>
            <a:spLocks xmlns:a="http://schemas.openxmlformats.org/drawingml/2006/main" noGrp="1"/>
          </p:cNvSpPr>
          <p:nvPr/>
        </p:nvSpPr>
        <p:spPr>
          <a:xfrm xmlns:a="http://schemas.openxmlformats.org/drawingml/2006/main">
            <a:off x="5238750" y="4152900"/>
            <a:ext cx="30956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HOST_MIGRATION、REJOIN_REQUEST / REJOIN_ACCEPTED</a:t>
            </a:r>
          </a:p>
        </p:txBody>
      </p:sp>
      <p:sp>
        <p:nvSpPr>
          <p:cNvPr id="24" name="">
            <a:extLst xmlns:a="http://schemas.openxmlformats.org/drawingml/2006/main">
              <a:ext uri="{FF2B5EF4-FFF2-40B4-BE49-F238E27FC236}">
                <a16:creationId xmlns:a16="http://schemas.microsoft.com/office/drawing/2014/main" id="{7309E407-0738-4275-A5DF-159C0A5AB71E}"/>
              </a:ext>
            </a:extLst>
          </p:cNvPr>
          <p:cNvSpPr>
            <a:spLocks xmlns:a="http://schemas.openxmlformats.org/drawingml/2006/main" noGrp="1"/>
          </p:cNvSpPr>
          <p:nvPr/>
        </p:nvSpPr>
        <p:spPr>
          <a:xfrm xmlns:a="http://schemas.openxmlformats.org/drawingml/2006/main">
            <a:off x="8382000" y="4124325"/>
            <a:ext cx="319087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82E18A30-CDDB-49C2-8387-C2533111EAD4}"/>
              </a:ext>
            </a:extLst>
          </p:cNvPr>
          <p:cNvSpPr>
            <a:spLocks xmlns:a="http://schemas.openxmlformats.org/drawingml/2006/main" noGrp="1"/>
          </p:cNvSpPr>
          <p:nvPr/>
        </p:nvSpPr>
        <p:spPr>
          <a:xfrm xmlns:a="http://schemas.openxmlformats.org/drawingml/2006/main">
            <a:off x="8429625" y="4152900"/>
            <a:ext cx="30956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协议模型中保留过扩展入口，但当前发布版不承诺自动房主迁移或断线重连</a:t>
            </a:r>
          </a:p>
        </p:txBody>
      </p:sp>
      <p:sp>
        <p:nvSpPr>
          <p:cNvPr id="26" name="">
            <a:extLst xmlns:a="http://schemas.openxmlformats.org/drawingml/2006/main">
              <a:ext uri="{FF2B5EF4-FFF2-40B4-BE49-F238E27FC236}">
                <a16:creationId xmlns:a16="http://schemas.microsoft.com/office/drawing/2014/main" id="{A5167D74-3FA3-4831-9C94-9947E329147E}"/>
              </a:ext>
            </a:extLst>
          </p:cNvPr>
          <p:cNvSpPr>
            <a:spLocks xmlns:a="http://schemas.openxmlformats.org/drawingml/2006/main" noGrp="1"/>
          </p:cNvSpPr>
          <p:nvPr/>
        </p:nvSpPr>
        <p:spPr>
          <a:xfrm xmlns:a="http://schemas.openxmlformats.org/drawingml/2006/main">
            <a:off x="5191125" y="5033963"/>
            <a:ext cx="319087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E47CB59D-97CF-43F8-A7CC-C176BA39CD35}"/>
              </a:ext>
            </a:extLst>
          </p:cNvPr>
          <p:cNvSpPr>
            <a:spLocks xmlns:a="http://schemas.openxmlformats.org/drawingml/2006/main" noGrp="1"/>
          </p:cNvSpPr>
          <p:nvPr/>
        </p:nvSpPr>
        <p:spPr>
          <a:xfrm xmlns:a="http://schemas.openxmlformats.org/drawingml/2006/main">
            <a:off x="5238750" y="5062538"/>
            <a:ext cx="30956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STATE_SNAPSHOT</a:t>
            </a:r>
          </a:p>
        </p:txBody>
      </p:sp>
      <p:sp>
        <p:nvSpPr>
          <p:cNvPr id="28" name="">
            <a:extLst xmlns:a="http://schemas.openxmlformats.org/drawingml/2006/main">
              <a:ext uri="{FF2B5EF4-FFF2-40B4-BE49-F238E27FC236}">
                <a16:creationId xmlns:a16="http://schemas.microsoft.com/office/drawing/2014/main" id="{57FBBC28-9852-46F3-8909-98F7393BAAEF}"/>
              </a:ext>
            </a:extLst>
          </p:cNvPr>
          <p:cNvSpPr>
            <a:spLocks xmlns:a="http://schemas.openxmlformats.org/drawingml/2006/main" noGrp="1"/>
          </p:cNvSpPr>
          <p:nvPr/>
        </p:nvSpPr>
        <p:spPr>
          <a:xfrm xmlns:a="http://schemas.openxmlformats.org/drawingml/2006/main">
            <a:off x="8382000" y="5033963"/>
            <a:ext cx="319087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EEE4CEAB-D86D-43E1-8716-F33AD6B02D41}"/>
              </a:ext>
            </a:extLst>
          </p:cNvPr>
          <p:cNvSpPr>
            <a:spLocks xmlns:a="http://schemas.openxmlformats.org/drawingml/2006/main" noGrp="1"/>
          </p:cNvSpPr>
          <p:nvPr/>
        </p:nvSpPr>
        <p:spPr>
          <a:xfrm xmlns:a="http://schemas.openxmlformats.org/drawingml/2006/main">
            <a:off x="8429625" y="5062538"/>
            <a:ext cx="309562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完整牌局快照，包含 roomId、hostEpoch、玩家、手牌、桌面和提示</a:t>
            </a:r>
          </a:p>
        </p:txBody>
      </p:sp>
    </p:spTree>
    <p:extLst>
      <p:ext uri="{BB962C8B-B14F-4D97-AF65-F5344CB8AC3E}">
        <p14:creationId xmlns:p14="http://schemas.microsoft.com/office/powerpoint/2010/main" val="1701575844"/>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606B01-6B7D-4A11-9906-D8CE22C106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67220B-6EA9-4AAD-B732-09719E13EA0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2EDA1B7-6212-4FFD-A46B-4071594D9E94}"/>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8DF95628-76B6-4819-B239-E10F8DE4A10B}"/>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C920624E-6AC4-4081-9545-90EAC654C04C}"/>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50</a:t>
            </a:r>
          </a:p>
        </p:txBody>
      </p:sp>
      <p:sp>
        <p:nvSpPr>
          <p:cNvPr id="6" name="">
            <a:extLst xmlns:a="http://schemas.openxmlformats.org/drawingml/2006/main">
              <a:ext uri="{FF2B5EF4-FFF2-40B4-BE49-F238E27FC236}">
                <a16:creationId xmlns:a16="http://schemas.microsoft.com/office/drawing/2014/main" id="{2CBFAA41-BFF6-4EA6-8DC8-CA0D8933665D}"/>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B465EFD-EF78-4461-968E-A8534E3EC1F5}"/>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6.4 本阶段设计模式应用（1/2）</a:t>
            </a:r>
          </a:p>
        </p:txBody>
      </p:sp>
      <p:sp>
        <p:nvSpPr>
          <p:cNvPr id="8" name="">
            <a:extLst xmlns:a="http://schemas.openxmlformats.org/drawingml/2006/main">
              <a:ext uri="{FF2B5EF4-FFF2-40B4-BE49-F238E27FC236}">
                <a16:creationId xmlns:a16="http://schemas.microsoft.com/office/drawing/2014/main" id="{A8503536-0217-4C9B-B7CD-B78580888B7F}"/>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AAC6F8A-6D08-4AEC-AF8A-09D32F1B1B35}"/>
              </a:ext>
            </a:extLst>
          </p:cNvPr>
          <p:cNvSpPr>
            <a:spLocks xmlns:a="http://schemas.openxmlformats.org/drawingml/2006/main" noGrp="1"/>
          </p:cNvSpPr>
          <p:nvPr/>
        </p:nvSpPr>
        <p:spPr>
          <a:xfrm xmlns:a="http://schemas.openxmlformats.org/drawingml/2006/main">
            <a:off x="457200" y="1905000"/>
            <a:ext cx="3746500" cy="367145"/>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F50FCCDE-7CA6-499E-9BAC-3F8F06879DFD}"/>
              </a:ext>
            </a:extLst>
          </p:cNvPr>
          <p:cNvSpPr>
            <a:spLocks xmlns:a="http://schemas.openxmlformats.org/drawingml/2006/main" noGrp="1"/>
          </p:cNvSpPr>
          <p:nvPr/>
        </p:nvSpPr>
        <p:spPr>
          <a:xfrm xmlns:a="http://schemas.openxmlformats.org/drawingml/2006/main">
            <a:off x="504825" y="1943100"/>
            <a:ext cx="3651250" cy="290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设计模式/原则</a:t>
            </a:r>
          </a:p>
        </p:txBody>
      </p:sp>
      <p:sp>
        <p:nvSpPr>
          <p:cNvPr id="11" name="">
            <a:extLst xmlns:a="http://schemas.openxmlformats.org/drawingml/2006/main">
              <a:ext uri="{FF2B5EF4-FFF2-40B4-BE49-F238E27FC236}">
                <a16:creationId xmlns:a16="http://schemas.microsoft.com/office/drawing/2014/main" id="{ECC41FE3-1772-4852-A1B0-D09F8BD13264}"/>
              </a:ext>
            </a:extLst>
          </p:cNvPr>
          <p:cNvSpPr>
            <a:spLocks xmlns:a="http://schemas.openxmlformats.org/drawingml/2006/main" noGrp="1"/>
          </p:cNvSpPr>
          <p:nvPr/>
        </p:nvSpPr>
        <p:spPr>
          <a:xfrm xmlns:a="http://schemas.openxmlformats.org/drawingml/2006/main">
            <a:off x="4203700" y="1905000"/>
            <a:ext cx="3746500" cy="367145"/>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0AF9154F-1A72-4290-9E09-8C637F92B081}"/>
              </a:ext>
            </a:extLst>
          </p:cNvPr>
          <p:cNvSpPr>
            <a:spLocks xmlns:a="http://schemas.openxmlformats.org/drawingml/2006/main" noGrp="1"/>
          </p:cNvSpPr>
          <p:nvPr/>
        </p:nvSpPr>
        <p:spPr>
          <a:xfrm xmlns:a="http://schemas.openxmlformats.org/drawingml/2006/main">
            <a:off x="4251325" y="1943100"/>
            <a:ext cx="3651250" cy="290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代码落点</a:t>
            </a:r>
          </a:p>
        </p:txBody>
      </p:sp>
      <p:sp>
        <p:nvSpPr>
          <p:cNvPr id="13" name="">
            <a:extLst xmlns:a="http://schemas.openxmlformats.org/drawingml/2006/main">
              <a:ext uri="{FF2B5EF4-FFF2-40B4-BE49-F238E27FC236}">
                <a16:creationId xmlns:a16="http://schemas.microsoft.com/office/drawing/2014/main" id="{7666101C-D974-451A-9F44-FFB991027CC1}"/>
              </a:ext>
            </a:extLst>
          </p:cNvPr>
          <p:cNvSpPr>
            <a:spLocks xmlns:a="http://schemas.openxmlformats.org/drawingml/2006/main" noGrp="1"/>
          </p:cNvSpPr>
          <p:nvPr/>
        </p:nvSpPr>
        <p:spPr>
          <a:xfrm xmlns:a="http://schemas.openxmlformats.org/drawingml/2006/main">
            <a:off x="7950200" y="1905000"/>
            <a:ext cx="3746500" cy="367145"/>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4BB583EC-3426-4C70-81F4-595DE0FFA10A}"/>
              </a:ext>
            </a:extLst>
          </p:cNvPr>
          <p:cNvSpPr>
            <a:spLocks xmlns:a="http://schemas.openxmlformats.org/drawingml/2006/main" noGrp="1"/>
          </p:cNvSpPr>
          <p:nvPr/>
        </p:nvSpPr>
        <p:spPr>
          <a:xfrm xmlns:a="http://schemas.openxmlformats.org/drawingml/2006/main">
            <a:off x="7997825" y="1943100"/>
            <a:ext cx="3651250" cy="290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解决的问题</a:t>
            </a:r>
          </a:p>
        </p:txBody>
      </p:sp>
      <p:sp>
        <p:nvSpPr>
          <p:cNvPr id="15" name="">
            <a:extLst xmlns:a="http://schemas.openxmlformats.org/drawingml/2006/main">
              <a:ext uri="{FF2B5EF4-FFF2-40B4-BE49-F238E27FC236}">
                <a16:creationId xmlns:a16="http://schemas.microsoft.com/office/drawing/2014/main" id="{A2E7EA29-1595-4682-A223-188F437AA3F3}"/>
              </a:ext>
            </a:extLst>
          </p:cNvPr>
          <p:cNvSpPr>
            <a:spLocks xmlns:a="http://schemas.openxmlformats.org/drawingml/2006/main" noGrp="1"/>
          </p:cNvSpPr>
          <p:nvPr/>
        </p:nvSpPr>
        <p:spPr>
          <a:xfrm xmlns:a="http://schemas.openxmlformats.org/drawingml/2006/main">
            <a:off x="457200" y="2272145"/>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477613DD-2F59-49AC-9A28-A78D78D8CBDC}"/>
              </a:ext>
            </a:extLst>
          </p:cNvPr>
          <p:cNvSpPr>
            <a:spLocks xmlns:a="http://schemas.openxmlformats.org/drawingml/2006/main" noGrp="1"/>
          </p:cNvSpPr>
          <p:nvPr/>
        </p:nvSpPr>
        <p:spPr>
          <a:xfrm xmlns:a="http://schemas.openxmlformats.org/drawingml/2006/main">
            <a:off x="504825" y="2300720"/>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策略模式</a:t>
            </a:r>
          </a:p>
        </p:txBody>
      </p:sp>
      <p:sp>
        <p:nvSpPr>
          <p:cNvPr id="17" name="">
            <a:extLst xmlns:a="http://schemas.openxmlformats.org/drawingml/2006/main">
              <a:ext uri="{FF2B5EF4-FFF2-40B4-BE49-F238E27FC236}">
                <a16:creationId xmlns:a16="http://schemas.microsoft.com/office/drawing/2014/main" id="{D340BCA4-0898-48FA-83BF-8FACA337B0B5}"/>
              </a:ext>
            </a:extLst>
          </p:cNvPr>
          <p:cNvSpPr>
            <a:spLocks xmlns:a="http://schemas.openxmlformats.org/drawingml/2006/main" noGrp="1"/>
          </p:cNvSpPr>
          <p:nvPr/>
        </p:nvSpPr>
        <p:spPr>
          <a:xfrm xmlns:a="http://schemas.openxmlformats.org/drawingml/2006/main">
            <a:off x="4203700" y="2272145"/>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16DD2B22-8549-4152-8B6A-703DD38EBA48}"/>
              </a:ext>
            </a:extLst>
          </p:cNvPr>
          <p:cNvSpPr>
            <a:spLocks xmlns:a="http://schemas.openxmlformats.org/drawingml/2006/main" noGrp="1"/>
          </p:cNvSpPr>
          <p:nvPr/>
        </p:nvSpPr>
        <p:spPr>
          <a:xfrm xmlns:a="http://schemas.openxmlformats.org/drawingml/2006/main">
            <a:off x="4251325" y="2300720"/>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AiStrategy 及三种 AI 实现</a:t>
            </a:r>
          </a:p>
        </p:txBody>
      </p:sp>
      <p:sp>
        <p:nvSpPr>
          <p:cNvPr id="19" name="">
            <a:extLst xmlns:a="http://schemas.openxmlformats.org/drawingml/2006/main">
              <a:ext uri="{FF2B5EF4-FFF2-40B4-BE49-F238E27FC236}">
                <a16:creationId xmlns:a16="http://schemas.microsoft.com/office/drawing/2014/main" id="{6D1F9FF4-D11C-4489-9621-6B19CE5896CD}"/>
              </a:ext>
            </a:extLst>
          </p:cNvPr>
          <p:cNvSpPr>
            <a:spLocks xmlns:a="http://schemas.openxmlformats.org/drawingml/2006/main" noGrp="1"/>
          </p:cNvSpPr>
          <p:nvPr/>
        </p:nvSpPr>
        <p:spPr>
          <a:xfrm xmlns:a="http://schemas.openxmlformats.org/drawingml/2006/main">
            <a:off x="7950200" y="2272145"/>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CFE572FC-70A5-4FE3-BBAA-1CD3BCAB3344}"/>
              </a:ext>
            </a:extLst>
          </p:cNvPr>
          <p:cNvSpPr>
            <a:spLocks xmlns:a="http://schemas.openxmlformats.org/drawingml/2006/main" noGrp="1"/>
          </p:cNvSpPr>
          <p:nvPr/>
        </p:nvSpPr>
        <p:spPr>
          <a:xfrm xmlns:a="http://schemas.openxmlformats.org/drawingml/2006/main">
            <a:off x="7997825" y="2300720"/>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不同 AI 算法可替换，控制器只依赖接口</a:t>
            </a:r>
          </a:p>
        </p:txBody>
      </p:sp>
      <p:sp>
        <p:nvSpPr>
          <p:cNvPr id="21" name="">
            <a:extLst xmlns:a="http://schemas.openxmlformats.org/drawingml/2006/main">
              <a:ext uri="{FF2B5EF4-FFF2-40B4-BE49-F238E27FC236}">
                <a16:creationId xmlns:a16="http://schemas.microsoft.com/office/drawing/2014/main" id="{B18D5726-E89E-49CE-8F80-DD752BE87718}"/>
              </a:ext>
            </a:extLst>
          </p:cNvPr>
          <p:cNvSpPr>
            <a:spLocks xmlns:a="http://schemas.openxmlformats.org/drawingml/2006/main" noGrp="1"/>
          </p:cNvSpPr>
          <p:nvPr/>
        </p:nvSpPr>
        <p:spPr>
          <a:xfrm xmlns:a="http://schemas.openxmlformats.org/drawingml/2006/main">
            <a:off x="457200" y="2639291"/>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0D9EA393-CCDF-42F2-B1FE-0F6428524410}"/>
              </a:ext>
            </a:extLst>
          </p:cNvPr>
          <p:cNvSpPr>
            <a:spLocks xmlns:a="http://schemas.openxmlformats.org/drawingml/2006/main" noGrp="1"/>
          </p:cNvSpPr>
          <p:nvPr/>
        </p:nvSpPr>
        <p:spPr>
          <a:xfrm xmlns:a="http://schemas.openxmlformats.org/drawingml/2006/main">
            <a:off x="504825" y="2667866"/>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接口隔离/适配器思想</a:t>
            </a:r>
          </a:p>
        </p:txBody>
      </p:sp>
      <p:sp>
        <p:nvSpPr>
          <p:cNvPr id="23" name="">
            <a:extLst xmlns:a="http://schemas.openxmlformats.org/drawingml/2006/main">
              <a:ext uri="{FF2B5EF4-FFF2-40B4-BE49-F238E27FC236}">
                <a16:creationId xmlns:a16="http://schemas.microsoft.com/office/drawing/2014/main" id="{595F84AB-D83C-4777-9B28-3D61B027158A}"/>
              </a:ext>
            </a:extLst>
          </p:cNvPr>
          <p:cNvSpPr>
            <a:spLocks xmlns:a="http://schemas.openxmlformats.org/drawingml/2006/main" noGrp="1"/>
          </p:cNvSpPr>
          <p:nvPr/>
        </p:nvSpPr>
        <p:spPr>
          <a:xfrm xmlns:a="http://schemas.openxmlformats.org/drawingml/2006/main">
            <a:off x="4203700" y="2639291"/>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8F6AD289-8C12-428A-B6ED-4CF0902E4520}"/>
              </a:ext>
            </a:extLst>
          </p:cNvPr>
          <p:cNvSpPr>
            <a:spLocks xmlns:a="http://schemas.openxmlformats.org/drawingml/2006/main" noGrp="1"/>
          </p:cNvSpPr>
          <p:nvPr/>
        </p:nvSpPr>
        <p:spPr>
          <a:xfrm xmlns:a="http://schemas.openxmlformats.org/drawingml/2006/main">
            <a:off x="4251325" y="2667866"/>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GameTransport、真实蓝牙传输和本地模拟传输</a:t>
            </a:r>
          </a:p>
        </p:txBody>
      </p:sp>
      <p:sp>
        <p:nvSpPr>
          <p:cNvPr id="25" name="">
            <a:extLst xmlns:a="http://schemas.openxmlformats.org/drawingml/2006/main">
              <a:ext uri="{FF2B5EF4-FFF2-40B4-BE49-F238E27FC236}">
                <a16:creationId xmlns:a16="http://schemas.microsoft.com/office/drawing/2014/main" id="{62474097-B2E1-405C-8A14-84CD77896868}"/>
              </a:ext>
            </a:extLst>
          </p:cNvPr>
          <p:cNvSpPr>
            <a:spLocks xmlns:a="http://schemas.openxmlformats.org/drawingml/2006/main" noGrp="1"/>
          </p:cNvSpPr>
          <p:nvPr/>
        </p:nvSpPr>
        <p:spPr>
          <a:xfrm xmlns:a="http://schemas.openxmlformats.org/drawingml/2006/main">
            <a:off x="7950200" y="2639291"/>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DE50CFBA-8D87-49E0-A557-DD8D2092F0AA}"/>
              </a:ext>
            </a:extLst>
          </p:cNvPr>
          <p:cNvSpPr>
            <a:spLocks xmlns:a="http://schemas.openxmlformats.org/drawingml/2006/main" noGrp="1"/>
          </p:cNvSpPr>
          <p:nvPr/>
        </p:nvSpPr>
        <p:spPr>
          <a:xfrm xmlns:a="http://schemas.openxmlformats.org/drawingml/2006/main">
            <a:off x="7997825" y="2667866"/>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UI 和房间逻辑不直接依赖 BluetoothSocket</a:t>
            </a:r>
          </a:p>
        </p:txBody>
      </p:sp>
      <p:sp>
        <p:nvSpPr>
          <p:cNvPr id="27" name="">
            <a:extLst xmlns:a="http://schemas.openxmlformats.org/drawingml/2006/main">
              <a:ext uri="{FF2B5EF4-FFF2-40B4-BE49-F238E27FC236}">
                <a16:creationId xmlns:a16="http://schemas.microsoft.com/office/drawing/2014/main" id="{F2C9DC64-05A4-49CB-BDE4-A3EFE401982D}"/>
              </a:ext>
            </a:extLst>
          </p:cNvPr>
          <p:cNvSpPr>
            <a:spLocks xmlns:a="http://schemas.openxmlformats.org/drawingml/2006/main" noGrp="1"/>
          </p:cNvSpPr>
          <p:nvPr/>
        </p:nvSpPr>
        <p:spPr>
          <a:xfrm xmlns:a="http://schemas.openxmlformats.org/drawingml/2006/main">
            <a:off x="457200" y="3006436"/>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ACCBA2BB-65CC-46C3-9D47-147EA7DC3C1D}"/>
              </a:ext>
            </a:extLst>
          </p:cNvPr>
          <p:cNvSpPr>
            <a:spLocks xmlns:a="http://schemas.openxmlformats.org/drawingml/2006/main" noGrp="1"/>
          </p:cNvSpPr>
          <p:nvPr/>
        </p:nvSpPr>
        <p:spPr>
          <a:xfrm xmlns:a="http://schemas.openxmlformats.org/drawingml/2006/main">
            <a:off x="504825" y="3035011"/>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主机权威同步模式</a:t>
            </a:r>
          </a:p>
        </p:txBody>
      </p:sp>
      <p:sp>
        <p:nvSpPr>
          <p:cNvPr id="29" name="">
            <a:extLst xmlns:a="http://schemas.openxmlformats.org/drawingml/2006/main">
              <a:ext uri="{FF2B5EF4-FFF2-40B4-BE49-F238E27FC236}">
                <a16:creationId xmlns:a16="http://schemas.microsoft.com/office/drawing/2014/main" id="{828D2A26-B9AC-4D01-9F86-06E8DF3A0E96}"/>
              </a:ext>
            </a:extLst>
          </p:cNvPr>
          <p:cNvSpPr>
            <a:spLocks xmlns:a="http://schemas.openxmlformats.org/drawingml/2006/main" noGrp="1"/>
          </p:cNvSpPr>
          <p:nvPr/>
        </p:nvSpPr>
        <p:spPr>
          <a:xfrm xmlns:a="http://schemas.openxmlformats.org/drawingml/2006/main">
            <a:off x="4203700" y="3006436"/>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C7E3312F-8ED7-40B9-A200-96A03E39BC3B}"/>
              </a:ext>
            </a:extLst>
          </p:cNvPr>
          <p:cNvSpPr>
            <a:spLocks xmlns:a="http://schemas.openxmlformats.org/drawingml/2006/main" noGrp="1"/>
          </p:cNvSpPr>
          <p:nvPr/>
        </p:nvSpPr>
        <p:spPr>
          <a:xfrm xmlns:a="http://schemas.openxmlformats.org/drawingml/2006/main">
            <a:off x="4251325" y="3035011"/>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NetworkMoveGuard、GameSnapshot、GameMessageCodec</a:t>
            </a:r>
          </a:p>
        </p:txBody>
      </p:sp>
      <p:sp>
        <p:nvSpPr>
          <p:cNvPr id="31" name="">
            <a:extLst xmlns:a="http://schemas.openxmlformats.org/drawingml/2006/main">
              <a:ext uri="{FF2B5EF4-FFF2-40B4-BE49-F238E27FC236}">
                <a16:creationId xmlns:a16="http://schemas.microsoft.com/office/drawing/2014/main" id="{D79DEAB5-E365-4372-B0C5-276FC33FD3E7}"/>
              </a:ext>
            </a:extLst>
          </p:cNvPr>
          <p:cNvSpPr>
            <a:spLocks xmlns:a="http://schemas.openxmlformats.org/drawingml/2006/main" noGrp="1"/>
          </p:cNvSpPr>
          <p:nvPr/>
        </p:nvSpPr>
        <p:spPr>
          <a:xfrm xmlns:a="http://schemas.openxmlformats.org/drawingml/2006/main">
            <a:off x="7950200" y="3006436"/>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4104FEE9-3CDB-413D-B13B-7C27DE493094}"/>
              </a:ext>
            </a:extLst>
          </p:cNvPr>
          <p:cNvSpPr>
            <a:spLocks xmlns:a="http://schemas.openxmlformats.org/drawingml/2006/main" noGrp="1"/>
          </p:cNvSpPr>
          <p:nvPr/>
        </p:nvSpPr>
        <p:spPr>
          <a:xfrm xmlns:a="http://schemas.openxmlformats.org/drawingml/2006/main">
            <a:off x="7997825" y="3035011"/>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避免多端状态分叉，统一由房主校验并广播</a:t>
            </a:r>
          </a:p>
        </p:txBody>
      </p:sp>
      <p:sp>
        <p:nvSpPr>
          <p:cNvPr id="33" name="">
            <a:extLst xmlns:a="http://schemas.openxmlformats.org/drawingml/2006/main">
              <a:ext uri="{FF2B5EF4-FFF2-40B4-BE49-F238E27FC236}">
                <a16:creationId xmlns:a16="http://schemas.microsoft.com/office/drawing/2014/main" id="{91EF4AEB-0E36-4F4F-BDB0-02F417F11680}"/>
              </a:ext>
            </a:extLst>
          </p:cNvPr>
          <p:cNvSpPr>
            <a:spLocks xmlns:a="http://schemas.openxmlformats.org/drawingml/2006/main" noGrp="1"/>
          </p:cNvSpPr>
          <p:nvPr/>
        </p:nvSpPr>
        <p:spPr>
          <a:xfrm xmlns:a="http://schemas.openxmlformats.org/drawingml/2006/main">
            <a:off x="457200" y="3373582"/>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A55A736E-CCBD-47F3-8513-3631FC08D02B}"/>
              </a:ext>
            </a:extLst>
          </p:cNvPr>
          <p:cNvSpPr>
            <a:spLocks xmlns:a="http://schemas.openxmlformats.org/drawingml/2006/main" noGrp="1"/>
          </p:cNvSpPr>
          <p:nvPr/>
        </p:nvSpPr>
        <p:spPr>
          <a:xfrm xmlns:a="http://schemas.openxmlformats.org/drawingml/2006/main">
            <a:off x="504825" y="3402157"/>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事件驱动模式</a:t>
            </a:r>
          </a:p>
        </p:txBody>
      </p:sp>
      <p:sp>
        <p:nvSpPr>
          <p:cNvPr id="35" name="">
            <a:extLst xmlns:a="http://schemas.openxmlformats.org/drawingml/2006/main">
              <a:ext uri="{FF2B5EF4-FFF2-40B4-BE49-F238E27FC236}">
                <a16:creationId xmlns:a16="http://schemas.microsoft.com/office/drawing/2014/main" id="{5A0E94E7-F453-4528-A917-26FE330BC9E2}"/>
              </a:ext>
            </a:extLst>
          </p:cNvPr>
          <p:cNvSpPr>
            <a:spLocks xmlns:a="http://schemas.openxmlformats.org/drawingml/2006/main" noGrp="1"/>
          </p:cNvSpPr>
          <p:nvPr/>
        </p:nvSpPr>
        <p:spPr>
          <a:xfrm xmlns:a="http://schemas.openxmlformats.org/drawingml/2006/main">
            <a:off x="4203700" y="3373582"/>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64969142-777F-4E9A-BBED-6DBA0F33FD18}"/>
              </a:ext>
            </a:extLst>
          </p:cNvPr>
          <p:cNvSpPr>
            <a:spLocks xmlns:a="http://schemas.openxmlformats.org/drawingml/2006/main" noGrp="1"/>
          </p:cNvSpPr>
          <p:nvPr/>
        </p:nvSpPr>
        <p:spPr>
          <a:xfrm xmlns:a="http://schemas.openxmlformats.org/drawingml/2006/main">
            <a:off x="4251325" y="3402157"/>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6537"/>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TransportEvent.Message、PeerConnected、PeerDisconnected、Error</a:t>
            </a:r>
          </a:p>
        </p:txBody>
      </p:sp>
      <p:sp>
        <p:nvSpPr>
          <p:cNvPr id="37" name="">
            <a:extLst xmlns:a="http://schemas.openxmlformats.org/drawingml/2006/main">
              <a:ext uri="{FF2B5EF4-FFF2-40B4-BE49-F238E27FC236}">
                <a16:creationId xmlns:a16="http://schemas.microsoft.com/office/drawing/2014/main" id="{A0570791-3EFF-42D1-BA60-FA7BB182AE69}"/>
              </a:ext>
            </a:extLst>
          </p:cNvPr>
          <p:cNvSpPr>
            <a:spLocks xmlns:a="http://schemas.openxmlformats.org/drawingml/2006/main" noGrp="1"/>
          </p:cNvSpPr>
          <p:nvPr/>
        </p:nvSpPr>
        <p:spPr>
          <a:xfrm xmlns:a="http://schemas.openxmlformats.org/drawingml/2006/main">
            <a:off x="7950200" y="3373582"/>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ED0F7A1D-BAFF-4CAB-A977-018BC98975BF}"/>
              </a:ext>
            </a:extLst>
          </p:cNvPr>
          <p:cNvSpPr>
            <a:spLocks xmlns:a="http://schemas.openxmlformats.org/drawingml/2006/main" noGrp="1"/>
          </p:cNvSpPr>
          <p:nvPr/>
        </p:nvSpPr>
        <p:spPr>
          <a:xfrm xmlns:a="http://schemas.openxmlformats.org/drawingml/2006/main">
            <a:off x="7997825" y="3402157"/>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将蓝牙 socket 的消息、连接、断开和错误统一转换为业务事件</a:t>
            </a:r>
          </a:p>
        </p:txBody>
      </p:sp>
      <p:sp>
        <p:nvSpPr>
          <p:cNvPr id="39" name="">
            <a:extLst xmlns:a="http://schemas.openxmlformats.org/drawingml/2006/main">
              <a:ext uri="{FF2B5EF4-FFF2-40B4-BE49-F238E27FC236}">
                <a16:creationId xmlns:a16="http://schemas.microsoft.com/office/drawing/2014/main" id="{DAB9C356-A1D6-4C80-ADEA-22FEDBC0D221}"/>
              </a:ext>
            </a:extLst>
          </p:cNvPr>
          <p:cNvSpPr>
            <a:spLocks xmlns:a="http://schemas.openxmlformats.org/drawingml/2006/main" noGrp="1"/>
          </p:cNvSpPr>
          <p:nvPr/>
        </p:nvSpPr>
        <p:spPr>
          <a:xfrm xmlns:a="http://schemas.openxmlformats.org/drawingml/2006/main">
            <a:off x="457200" y="3740727"/>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1918B871-45C4-427C-B415-5241F002776F}"/>
              </a:ext>
            </a:extLst>
          </p:cNvPr>
          <p:cNvSpPr>
            <a:spLocks xmlns:a="http://schemas.openxmlformats.org/drawingml/2006/main" noGrp="1"/>
          </p:cNvSpPr>
          <p:nvPr/>
        </p:nvSpPr>
        <p:spPr>
          <a:xfrm xmlns:a="http://schemas.openxmlformats.org/drawingml/2006/main">
            <a:off x="504825" y="3769302"/>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断线托管模式</a:t>
            </a:r>
          </a:p>
        </p:txBody>
      </p:sp>
      <p:sp>
        <p:nvSpPr>
          <p:cNvPr id="41" name="">
            <a:extLst xmlns:a="http://schemas.openxmlformats.org/drawingml/2006/main">
              <a:ext uri="{FF2B5EF4-FFF2-40B4-BE49-F238E27FC236}">
                <a16:creationId xmlns:a16="http://schemas.microsoft.com/office/drawing/2014/main" id="{B63EEF04-7F37-4127-92F8-18792DF8EA6F}"/>
              </a:ext>
            </a:extLst>
          </p:cNvPr>
          <p:cNvSpPr>
            <a:spLocks xmlns:a="http://schemas.openxmlformats.org/drawingml/2006/main" noGrp="1"/>
          </p:cNvSpPr>
          <p:nvPr/>
        </p:nvSpPr>
        <p:spPr>
          <a:xfrm xmlns:a="http://schemas.openxmlformats.org/drawingml/2006/main">
            <a:off x="4203700" y="3740727"/>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DF147090-AA08-4B51-8716-459C0DFCD5D2}"/>
              </a:ext>
            </a:extLst>
          </p:cNvPr>
          <p:cNvSpPr>
            <a:spLocks xmlns:a="http://schemas.openxmlformats.org/drawingml/2006/main" noGrp="1"/>
          </p:cNvSpPr>
          <p:nvPr/>
        </p:nvSpPr>
        <p:spPr>
          <a:xfrm xmlns:a="http://schemas.openxmlformats.org/drawingml/2006/main">
            <a:off x="4251325" y="3769302"/>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takeoverByAi、DISCONNECT_NOTICE</a:t>
            </a:r>
          </a:p>
        </p:txBody>
      </p:sp>
      <p:sp>
        <p:nvSpPr>
          <p:cNvPr id="43" name="">
            <a:extLst xmlns:a="http://schemas.openxmlformats.org/drawingml/2006/main">
              <a:ext uri="{FF2B5EF4-FFF2-40B4-BE49-F238E27FC236}">
                <a16:creationId xmlns:a16="http://schemas.microsoft.com/office/drawing/2014/main" id="{3D62EC0B-7DA2-4F3B-987C-9230B9000EC7}"/>
              </a:ext>
            </a:extLst>
          </p:cNvPr>
          <p:cNvSpPr>
            <a:spLocks xmlns:a="http://schemas.openxmlformats.org/drawingml/2006/main" noGrp="1"/>
          </p:cNvSpPr>
          <p:nvPr/>
        </p:nvSpPr>
        <p:spPr>
          <a:xfrm xmlns:a="http://schemas.openxmlformats.org/drawingml/2006/main">
            <a:off x="7950200" y="3740727"/>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C6055C37-B04C-45DC-89C4-ADC70395BDEA}"/>
              </a:ext>
            </a:extLst>
          </p:cNvPr>
          <p:cNvSpPr>
            <a:spLocks xmlns:a="http://schemas.openxmlformats.org/drawingml/2006/main" noGrp="1"/>
          </p:cNvSpPr>
          <p:nvPr/>
        </p:nvSpPr>
        <p:spPr>
          <a:xfrm xmlns:a="http://schemas.openxmlformats.org/drawingml/2006/main">
            <a:off x="7997825" y="3769302"/>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客户端断线时保留座位并由 AI 接管；当前版本不实现自动重连恢复</a:t>
            </a:r>
          </a:p>
        </p:txBody>
      </p:sp>
      <p:sp>
        <p:nvSpPr>
          <p:cNvPr id="45" name="">
            <a:extLst xmlns:a="http://schemas.openxmlformats.org/drawingml/2006/main">
              <a:ext uri="{FF2B5EF4-FFF2-40B4-BE49-F238E27FC236}">
                <a16:creationId xmlns:a16="http://schemas.microsoft.com/office/drawing/2014/main" id="{6A00AB23-A080-4ED2-B5B6-8EA9BCACF84F}"/>
              </a:ext>
            </a:extLst>
          </p:cNvPr>
          <p:cNvSpPr>
            <a:spLocks xmlns:a="http://schemas.openxmlformats.org/drawingml/2006/main" noGrp="1"/>
          </p:cNvSpPr>
          <p:nvPr/>
        </p:nvSpPr>
        <p:spPr>
          <a:xfrm xmlns:a="http://schemas.openxmlformats.org/drawingml/2006/main">
            <a:off x="457200" y="4107873"/>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74F44226-48BF-4524-B6C1-A87F2AAA5769}"/>
              </a:ext>
            </a:extLst>
          </p:cNvPr>
          <p:cNvSpPr>
            <a:spLocks xmlns:a="http://schemas.openxmlformats.org/drawingml/2006/main" noGrp="1"/>
          </p:cNvSpPr>
          <p:nvPr/>
        </p:nvSpPr>
        <p:spPr>
          <a:xfrm xmlns:a="http://schemas.openxmlformats.org/drawingml/2006/main">
            <a:off x="504825" y="4136448"/>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命令对象思想</a:t>
            </a:r>
          </a:p>
        </p:txBody>
      </p:sp>
      <p:sp>
        <p:nvSpPr>
          <p:cNvPr id="47" name="">
            <a:extLst xmlns:a="http://schemas.openxmlformats.org/drawingml/2006/main">
              <a:ext uri="{FF2B5EF4-FFF2-40B4-BE49-F238E27FC236}">
                <a16:creationId xmlns:a16="http://schemas.microsoft.com/office/drawing/2014/main" id="{759B80F0-F542-4A84-A5D0-27CBFD2C3277}"/>
              </a:ext>
            </a:extLst>
          </p:cNvPr>
          <p:cNvSpPr>
            <a:spLocks xmlns:a="http://schemas.openxmlformats.org/drawingml/2006/main" noGrp="1"/>
          </p:cNvSpPr>
          <p:nvPr/>
        </p:nvSpPr>
        <p:spPr>
          <a:xfrm xmlns:a="http://schemas.openxmlformats.org/drawingml/2006/main">
            <a:off x="4203700" y="4107873"/>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DC942D84-393E-4D62-9C85-347375F1DE00}"/>
              </a:ext>
            </a:extLst>
          </p:cNvPr>
          <p:cNvSpPr>
            <a:spLocks xmlns:a="http://schemas.openxmlformats.org/drawingml/2006/main" noGrp="1"/>
          </p:cNvSpPr>
          <p:nvPr/>
        </p:nvSpPr>
        <p:spPr>
          <a:xfrm xmlns:a="http://schemas.openxmlformats.org/drawingml/2006/main">
            <a:off x="4251325" y="4136448"/>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Move.Play、Move.Pass、MoveRequest</a:t>
            </a:r>
          </a:p>
        </p:txBody>
      </p:sp>
      <p:sp>
        <p:nvSpPr>
          <p:cNvPr id="49" name="">
            <a:extLst xmlns:a="http://schemas.openxmlformats.org/drawingml/2006/main">
              <a:ext uri="{FF2B5EF4-FFF2-40B4-BE49-F238E27FC236}">
                <a16:creationId xmlns:a16="http://schemas.microsoft.com/office/drawing/2014/main" id="{A5C03E9C-895E-4FC9-8E9B-17038B32439A}"/>
              </a:ext>
            </a:extLst>
          </p:cNvPr>
          <p:cNvSpPr>
            <a:spLocks xmlns:a="http://schemas.openxmlformats.org/drawingml/2006/main" noGrp="1"/>
          </p:cNvSpPr>
          <p:nvPr/>
        </p:nvSpPr>
        <p:spPr>
          <a:xfrm xmlns:a="http://schemas.openxmlformats.org/drawingml/2006/main">
            <a:off x="7950200" y="4107873"/>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A241D5E5-DFB8-4BAB-B29B-CF68E7A889DF}"/>
              </a:ext>
            </a:extLst>
          </p:cNvPr>
          <p:cNvSpPr>
            <a:spLocks xmlns:a="http://schemas.openxmlformats.org/drawingml/2006/main" noGrp="1"/>
          </p:cNvSpPr>
          <p:nvPr/>
        </p:nvSpPr>
        <p:spPr>
          <a:xfrm xmlns:a="http://schemas.openxmlformats.org/drawingml/2006/main">
            <a:off x="7997825" y="4136448"/>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玩家、人机和远端动作统一表达</a:t>
            </a:r>
          </a:p>
        </p:txBody>
      </p:sp>
      <p:sp>
        <p:nvSpPr>
          <p:cNvPr id="51" name="">
            <a:extLst xmlns:a="http://schemas.openxmlformats.org/drawingml/2006/main">
              <a:ext uri="{FF2B5EF4-FFF2-40B4-BE49-F238E27FC236}">
                <a16:creationId xmlns:a16="http://schemas.microsoft.com/office/drawing/2014/main" id="{82D9B5DC-513B-41E2-BE69-4F79F6A14FCD}"/>
              </a:ext>
            </a:extLst>
          </p:cNvPr>
          <p:cNvSpPr>
            <a:spLocks xmlns:a="http://schemas.openxmlformats.org/drawingml/2006/main" noGrp="1"/>
          </p:cNvSpPr>
          <p:nvPr/>
        </p:nvSpPr>
        <p:spPr>
          <a:xfrm xmlns:a="http://schemas.openxmlformats.org/drawingml/2006/main">
            <a:off x="457200" y="4475018"/>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DFB49A94-1107-4CBB-8937-22A4583C05C3}"/>
              </a:ext>
            </a:extLst>
          </p:cNvPr>
          <p:cNvSpPr>
            <a:spLocks xmlns:a="http://schemas.openxmlformats.org/drawingml/2006/main" noGrp="1"/>
          </p:cNvSpPr>
          <p:nvPr/>
        </p:nvSpPr>
        <p:spPr>
          <a:xfrm xmlns:a="http://schemas.openxmlformats.org/drawingml/2006/main">
            <a:off x="504825" y="4503593"/>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编码器/解码器模式</a:t>
            </a:r>
          </a:p>
        </p:txBody>
      </p:sp>
      <p:sp>
        <p:nvSpPr>
          <p:cNvPr id="53" name="">
            <a:extLst xmlns:a="http://schemas.openxmlformats.org/drawingml/2006/main">
              <a:ext uri="{FF2B5EF4-FFF2-40B4-BE49-F238E27FC236}">
                <a16:creationId xmlns:a16="http://schemas.microsoft.com/office/drawing/2014/main" id="{31EB3DBB-3161-4776-AD0A-B3E2BB220930}"/>
              </a:ext>
            </a:extLst>
          </p:cNvPr>
          <p:cNvSpPr>
            <a:spLocks xmlns:a="http://schemas.openxmlformats.org/drawingml/2006/main" noGrp="1"/>
          </p:cNvSpPr>
          <p:nvPr/>
        </p:nvSpPr>
        <p:spPr>
          <a:xfrm xmlns:a="http://schemas.openxmlformats.org/drawingml/2006/main">
            <a:off x="4203700" y="4475018"/>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5FFB763F-DA5B-4F09-B780-3EA33F86A423}"/>
              </a:ext>
            </a:extLst>
          </p:cNvPr>
          <p:cNvSpPr>
            <a:spLocks xmlns:a="http://schemas.openxmlformats.org/drawingml/2006/main" noGrp="1"/>
          </p:cNvSpPr>
          <p:nvPr/>
        </p:nvSpPr>
        <p:spPr>
          <a:xfrm xmlns:a="http://schemas.openxmlformats.org/drawingml/2006/main">
            <a:off x="4251325" y="4503593"/>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GameMessageCodec</a:t>
            </a:r>
          </a:p>
        </p:txBody>
      </p:sp>
      <p:sp>
        <p:nvSpPr>
          <p:cNvPr id="55" name="">
            <a:extLst xmlns:a="http://schemas.openxmlformats.org/drawingml/2006/main">
              <a:ext uri="{FF2B5EF4-FFF2-40B4-BE49-F238E27FC236}">
                <a16:creationId xmlns:a16="http://schemas.microsoft.com/office/drawing/2014/main" id="{E39ADD63-4964-493F-A3C8-554885F01BE6}"/>
              </a:ext>
            </a:extLst>
          </p:cNvPr>
          <p:cNvSpPr>
            <a:spLocks xmlns:a="http://schemas.openxmlformats.org/drawingml/2006/main" noGrp="1"/>
          </p:cNvSpPr>
          <p:nvPr/>
        </p:nvSpPr>
        <p:spPr>
          <a:xfrm xmlns:a="http://schemas.openxmlformats.org/drawingml/2006/main">
            <a:off x="7950200" y="4475018"/>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D4812DFF-50FF-48F4-9B07-EB387CC74F08}"/>
              </a:ext>
            </a:extLst>
          </p:cNvPr>
          <p:cNvSpPr>
            <a:spLocks xmlns:a="http://schemas.openxmlformats.org/drawingml/2006/main" noGrp="1"/>
          </p:cNvSpPr>
          <p:nvPr/>
        </p:nvSpPr>
        <p:spPr>
          <a:xfrm xmlns:a="http://schemas.openxmlformats.org/drawingml/2006/main">
            <a:off x="7997825" y="4503593"/>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联机协议集中管理，减少散落解析</a:t>
            </a:r>
          </a:p>
        </p:txBody>
      </p:sp>
      <p:sp>
        <p:nvSpPr>
          <p:cNvPr id="57" name="">
            <a:extLst xmlns:a="http://schemas.openxmlformats.org/drawingml/2006/main">
              <a:ext uri="{FF2B5EF4-FFF2-40B4-BE49-F238E27FC236}">
                <a16:creationId xmlns:a16="http://schemas.microsoft.com/office/drawing/2014/main" id="{A87DEFDE-15E1-4749-98B4-B02569472170}"/>
              </a:ext>
            </a:extLst>
          </p:cNvPr>
          <p:cNvSpPr>
            <a:spLocks xmlns:a="http://schemas.openxmlformats.org/drawingml/2006/main" noGrp="1"/>
          </p:cNvSpPr>
          <p:nvPr/>
        </p:nvSpPr>
        <p:spPr>
          <a:xfrm xmlns:a="http://schemas.openxmlformats.org/drawingml/2006/main">
            <a:off x="457200" y="4842164"/>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8" name="">
            <a:extLst xmlns:a="http://schemas.openxmlformats.org/drawingml/2006/main">
              <a:ext uri="{FF2B5EF4-FFF2-40B4-BE49-F238E27FC236}">
                <a16:creationId xmlns:a16="http://schemas.microsoft.com/office/drawing/2014/main" id="{D449B3F6-9D86-4708-9635-C3173069717D}"/>
              </a:ext>
            </a:extLst>
          </p:cNvPr>
          <p:cNvSpPr>
            <a:spLocks xmlns:a="http://schemas.openxmlformats.org/drawingml/2006/main" noGrp="1"/>
          </p:cNvSpPr>
          <p:nvPr/>
        </p:nvSpPr>
        <p:spPr>
          <a:xfrm xmlns:a="http://schemas.openxmlformats.org/drawingml/2006/main">
            <a:off x="504825" y="4870739"/>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仓储模式</a:t>
            </a:r>
          </a:p>
        </p:txBody>
      </p:sp>
      <p:sp>
        <p:nvSpPr>
          <p:cNvPr id="59" name="">
            <a:extLst xmlns:a="http://schemas.openxmlformats.org/drawingml/2006/main">
              <a:ext uri="{FF2B5EF4-FFF2-40B4-BE49-F238E27FC236}">
                <a16:creationId xmlns:a16="http://schemas.microsoft.com/office/drawing/2014/main" id="{87195FF5-4904-425F-A5AD-81E90F05DE25}"/>
              </a:ext>
            </a:extLst>
          </p:cNvPr>
          <p:cNvSpPr>
            <a:spLocks xmlns:a="http://schemas.openxmlformats.org/drawingml/2006/main" noGrp="1"/>
          </p:cNvSpPr>
          <p:nvPr/>
        </p:nvSpPr>
        <p:spPr>
          <a:xfrm xmlns:a="http://schemas.openxmlformats.org/drawingml/2006/main">
            <a:off x="4203700" y="4842164"/>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0" name="">
            <a:extLst xmlns:a="http://schemas.openxmlformats.org/drawingml/2006/main">
              <a:ext uri="{FF2B5EF4-FFF2-40B4-BE49-F238E27FC236}">
                <a16:creationId xmlns:a16="http://schemas.microsoft.com/office/drawing/2014/main" id="{6889E615-2EB8-4CDA-889D-B80D496AA1A0}"/>
              </a:ext>
            </a:extLst>
          </p:cNvPr>
          <p:cNvSpPr>
            <a:spLocks xmlns:a="http://schemas.openxmlformats.org/drawingml/2006/main" noGrp="1"/>
          </p:cNvSpPr>
          <p:nvPr/>
        </p:nvSpPr>
        <p:spPr>
          <a:xfrm xmlns:a="http://schemas.openxmlformats.org/drawingml/2006/main">
            <a:off x="4251325" y="4870739"/>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ProfileStore</a:t>
            </a:r>
          </a:p>
        </p:txBody>
      </p:sp>
      <p:sp>
        <p:nvSpPr>
          <p:cNvPr id="61" name="">
            <a:extLst xmlns:a="http://schemas.openxmlformats.org/drawingml/2006/main">
              <a:ext uri="{FF2B5EF4-FFF2-40B4-BE49-F238E27FC236}">
                <a16:creationId xmlns:a16="http://schemas.microsoft.com/office/drawing/2014/main" id="{C2D46493-72B2-4139-B20A-425C23E73432}"/>
              </a:ext>
            </a:extLst>
          </p:cNvPr>
          <p:cNvSpPr>
            <a:spLocks xmlns:a="http://schemas.openxmlformats.org/drawingml/2006/main" noGrp="1"/>
          </p:cNvSpPr>
          <p:nvPr/>
        </p:nvSpPr>
        <p:spPr>
          <a:xfrm xmlns:a="http://schemas.openxmlformats.org/drawingml/2006/main">
            <a:off x="7950200" y="4842164"/>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2" name="">
            <a:extLst xmlns:a="http://schemas.openxmlformats.org/drawingml/2006/main">
              <a:ext uri="{FF2B5EF4-FFF2-40B4-BE49-F238E27FC236}">
                <a16:creationId xmlns:a16="http://schemas.microsoft.com/office/drawing/2014/main" id="{AA9A8921-D156-411A-BC41-F57001289F82}"/>
              </a:ext>
            </a:extLst>
          </p:cNvPr>
          <p:cNvSpPr>
            <a:spLocks xmlns:a="http://schemas.openxmlformats.org/drawingml/2006/main" noGrp="1"/>
          </p:cNvSpPr>
          <p:nvPr/>
        </p:nvSpPr>
        <p:spPr>
          <a:xfrm xmlns:a="http://schemas.openxmlformats.org/drawingml/2006/main">
            <a:off x="7997825" y="4870739"/>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玩家数据和设置统一持久化</a:t>
            </a:r>
          </a:p>
        </p:txBody>
      </p:sp>
      <p:sp>
        <p:nvSpPr>
          <p:cNvPr id="63" name="">
            <a:extLst xmlns:a="http://schemas.openxmlformats.org/drawingml/2006/main">
              <a:ext uri="{FF2B5EF4-FFF2-40B4-BE49-F238E27FC236}">
                <a16:creationId xmlns:a16="http://schemas.microsoft.com/office/drawing/2014/main" id="{3FEC4B39-3656-450C-8301-E09E45583682}"/>
              </a:ext>
            </a:extLst>
          </p:cNvPr>
          <p:cNvSpPr>
            <a:spLocks xmlns:a="http://schemas.openxmlformats.org/drawingml/2006/main" noGrp="1"/>
          </p:cNvSpPr>
          <p:nvPr/>
        </p:nvSpPr>
        <p:spPr>
          <a:xfrm xmlns:a="http://schemas.openxmlformats.org/drawingml/2006/main">
            <a:off x="457200" y="5209309"/>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4" name="">
            <a:extLst xmlns:a="http://schemas.openxmlformats.org/drawingml/2006/main">
              <a:ext uri="{FF2B5EF4-FFF2-40B4-BE49-F238E27FC236}">
                <a16:creationId xmlns:a16="http://schemas.microsoft.com/office/drawing/2014/main" id="{A5E930B9-425D-4C7B-AD3F-6D102E310FC6}"/>
              </a:ext>
            </a:extLst>
          </p:cNvPr>
          <p:cNvSpPr>
            <a:spLocks xmlns:a="http://schemas.openxmlformats.org/drawingml/2006/main" noGrp="1"/>
          </p:cNvSpPr>
          <p:nvPr/>
        </p:nvSpPr>
        <p:spPr>
          <a:xfrm xmlns:a="http://schemas.openxmlformats.org/drawingml/2006/main">
            <a:off x="504825" y="5237884"/>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状态模式</a:t>
            </a:r>
          </a:p>
        </p:txBody>
      </p:sp>
      <p:sp>
        <p:nvSpPr>
          <p:cNvPr id="65" name="">
            <a:extLst xmlns:a="http://schemas.openxmlformats.org/drawingml/2006/main">
              <a:ext uri="{FF2B5EF4-FFF2-40B4-BE49-F238E27FC236}">
                <a16:creationId xmlns:a16="http://schemas.microsoft.com/office/drawing/2014/main" id="{5F6B6799-F1E1-4964-B7F7-D711094BCCB2}"/>
              </a:ext>
            </a:extLst>
          </p:cNvPr>
          <p:cNvSpPr>
            <a:spLocks xmlns:a="http://schemas.openxmlformats.org/drawingml/2006/main" noGrp="1"/>
          </p:cNvSpPr>
          <p:nvPr/>
        </p:nvSpPr>
        <p:spPr>
          <a:xfrm xmlns:a="http://schemas.openxmlformats.org/drawingml/2006/main">
            <a:off x="4203700" y="5209309"/>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6" name="">
            <a:extLst xmlns:a="http://schemas.openxmlformats.org/drawingml/2006/main">
              <a:ext uri="{FF2B5EF4-FFF2-40B4-BE49-F238E27FC236}">
                <a16:creationId xmlns:a16="http://schemas.microsoft.com/office/drawing/2014/main" id="{D1F201CA-F1FC-40BF-A6F0-17B12B5463C2}"/>
              </a:ext>
            </a:extLst>
          </p:cNvPr>
          <p:cNvSpPr>
            <a:spLocks xmlns:a="http://schemas.openxmlformats.org/drawingml/2006/main" noGrp="1"/>
          </p:cNvSpPr>
          <p:nvPr/>
        </p:nvSpPr>
        <p:spPr>
          <a:xfrm xmlns:a="http://schemas.openxmlformats.org/drawingml/2006/main">
            <a:off x="4251325" y="5237884"/>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Screen、BluetoothEntryMode、GameStartPhase</a:t>
            </a:r>
          </a:p>
        </p:txBody>
      </p:sp>
      <p:sp>
        <p:nvSpPr>
          <p:cNvPr id="67" name="">
            <a:extLst xmlns:a="http://schemas.openxmlformats.org/drawingml/2006/main">
              <a:ext uri="{FF2B5EF4-FFF2-40B4-BE49-F238E27FC236}">
                <a16:creationId xmlns:a16="http://schemas.microsoft.com/office/drawing/2014/main" id="{0B5F80A4-00C4-4EC9-A023-FF26A7F51A0B}"/>
              </a:ext>
            </a:extLst>
          </p:cNvPr>
          <p:cNvSpPr>
            <a:spLocks xmlns:a="http://schemas.openxmlformats.org/drawingml/2006/main" noGrp="1"/>
          </p:cNvSpPr>
          <p:nvPr/>
        </p:nvSpPr>
        <p:spPr>
          <a:xfrm xmlns:a="http://schemas.openxmlformats.org/drawingml/2006/main">
            <a:off x="7950200" y="5209309"/>
            <a:ext cx="3746500" cy="36714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8" name="">
            <a:extLst xmlns:a="http://schemas.openxmlformats.org/drawingml/2006/main">
              <a:ext uri="{FF2B5EF4-FFF2-40B4-BE49-F238E27FC236}">
                <a16:creationId xmlns:a16="http://schemas.microsoft.com/office/drawing/2014/main" id="{2D189048-2BC0-4B7A-A1C8-43DFFC7B9A47}"/>
              </a:ext>
            </a:extLst>
          </p:cNvPr>
          <p:cNvSpPr>
            <a:spLocks xmlns:a="http://schemas.openxmlformats.org/drawingml/2006/main" noGrp="1"/>
          </p:cNvSpPr>
          <p:nvPr/>
        </p:nvSpPr>
        <p:spPr>
          <a:xfrm xmlns:a="http://schemas.openxmlformats.org/drawingml/2006/main">
            <a:off x="7997825" y="5237884"/>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页面和牌局阶段由明确状态驱动</a:t>
            </a:r>
          </a:p>
        </p:txBody>
      </p:sp>
      <p:sp>
        <p:nvSpPr>
          <p:cNvPr id="69" name="">
            <a:extLst xmlns:a="http://schemas.openxmlformats.org/drawingml/2006/main">
              <a:ext uri="{FF2B5EF4-FFF2-40B4-BE49-F238E27FC236}">
                <a16:creationId xmlns:a16="http://schemas.microsoft.com/office/drawing/2014/main" id="{E5645D42-A771-4CD1-9E9D-779F18B21ABA}"/>
              </a:ext>
            </a:extLst>
          </p:cNvPr>
          <p:cNvSpPr>
            <a:spLocks xmlns:a="http://schemas.openxmlformats.org/drawingml/2006/main" noGrp="1"/>
          </p:cNvSpPr>
          <p:nvPr/>
        </p:nvSpPr>
        <p:spPr>
          <a:xfrm xmlns:a="http://schemas.openxmlformats.org/drawingml/2006/main">
            <a:off x="457200" y="5576455"/>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0" name="">
            <a:extLst xmlns:a="http://schemas.openxmlformats.org/drawingml/2006/main">
              <a:ext uri="{FF2B5EF4-FFF2-40B4-BE49-F238E27FC236}">
                <a16:creationId xmlns:a16="http://schemas.microsoft.com/office/drawing/2014/main" id="{81391067-FF77-434B-A840-079A31CAF985}"/>
              </a:ext>
            </a:extLst>
          </p:cNvPr>
          <p:cNvSpPr>
            <a:spLocks xmlns:a="http://schemas.openxmlformats.org/drawingml/2006/main" noGrp="1"/>
          </p:cNvSpPr>
          <p:nvPr/>
        </p:nvSpPr>
        <p:spPr>
          <a:xfrm xmlns:a="http://schemas.openxmlformats.org/drawingml/2006/main">
            <a:off x="504825" y="5605030"/>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单一职责</a:t>
            </a:r>
          </a:p>
        </p:txBody>
      </p:sp>
      <p:sp>
        <p:nvSpPr>
          <p:cNvPr id="71" name="">
            <a:extLst xmlns:a="http://schemas.openxmlformats.org/drawingml/2006/main">
              <a:ext uri="{FF2B5EF4-FFF2-40B4-BE49-F238E27FC236}">
                <a16:creationId xmlns:a16="http://schemas.microsoft.com/office/drawing/2014/main" id="{E210B5A0-F320-44EB-B8FA-B783D888779A}"/>
              </a:ext>
            </a:extLst>
          </p:cNvPr>
          <p:cNvSpPr>
            <a:spLocks xmlns:a="http://schemas.openxmlformats.org/drawingml/2006/main" noGrp="1"/>
          </p:cNvSpPr>
          <p:nvPr/>
        </p:nvSpPr>
        <p:spPr>
          <a:xfrm xmlns:a="http://schemas.openxmlformats.org/drawingml/2006/main">
            <a:off x="4203700" y="5576455"/>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2" name="">
            <a:extLst xmlns:a="http://schemas.openxmlformats.org/drawingml/2006/main">
              <a:ext uri="{FF2B5EF4-FFF2-40B4-BE49-F238E27FC236}">
                <a16:creationId xmlns:a16="http://schemas.microsoft.com/office/drawing/2014/main" id="{2008EC56-BCEF-46BF-A505-EF52132CD968}"/>
              </a:ext>
            </a:extLst>
          </p:cNvPr>
          <p:cNvSpPr>
            <a:spLocks xmlns:a="http://schemas.openxmlformats.org/drawingml/2006/main" noGrp="1"/>
          </p:cNvSpPr>
          <p:nvPr/>
        </p:nvSpPr>
        <p:spPr>
          <a:xfrm xmlns:a="http://schemas.openxmlformats.org/drawingml/2006/main">
            <a:off x="4251325" y="5605030"/>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规则、控制器、AI、蓝牙、UI、玩家成长拆分</a:t>
            </a:r>
          </a:p>
        </p:txBody>
      </p:sp>
      <p:sp>
        <p:nvSpPr>
          <p:cNvPr id="73" name="">
            <a:extLst xmlns:a="http://schemas.openxmlformats.org/drawingml/2006/main">
              <a:ext uri="{FF2B5EF4-FFF2-40B4-BE49-F238E27FC236}">
                <a16:creationId xmlns:a16="http://schemas.microsoft.com/office/drawing/2014/main" id="{121BBCF9-9FBB-4F92-85D1-07E8CC87431A}"/>
              </a:ext>
            </a:extLst>
          </p:cNvPr>
          <p:cNvSpPr>
            <a:spLocks xmlns:a="http://schemas.openxmlformats.org/drawingml/2006/main" noGrp="1"/>
          </p:cNvSpPr>
          <p:nvPr/>
        </p:nvSpPr>
        <p:spPr>
          <a:xfrm xmlns:a="http://schemas.openxmlformats.org/drawingml/2006/main">
            <a:off x="7950200" y="5576455"/>
            <a:ext cx="3746500" cy="36714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4" name="">
            <a:extLst xmlns:a="http://schemas.openxmlformats.org/drawingml/2006/main">
              <a:ext uri="{FF2B5EF4-FFF2-40B4-BE49-F238E27FC236}">
                <a16:creationId xmlns:a16="http://schemas.microsoft.com/office/drawing/2014/main" id="{717ABD67-3A01-432E-BD16-1879CC5DC6F5}"/>
              </a:ext>
            </a:extLst>
          </p:cNvPr>
          <p:cNvSpPr>
            <a:spLocks xmlns:a="http://schemas.openxmlformats.org/drawingml/2006/main" noGrp="1"/>
          </p:cNvSpPr>
          <p:nvPr/>
        </p:nvSpPr>
        <p:spPr>
          <a:xfrm xmlns:a="http://schemas.openxmlformats.org/drawingml/2006/main">
            <a:off x="7997825" y="5605030"/>
            <a:ext cx="3651250" cy="309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降低模块耦合，方便测试和迭代</a:t>
            </a:r>
          </a:p>
        </p:txBody>
      </p:sp>
    </p:spTree>
    <p:extLst>
      <p:ext uri="{BB962C8B-B14F-4D97-AF65-F5344CB8AC3E}">
        <p14:creationId xmlns:p14="http://schemas.microsoft.com/office/powerpoint/2010/main" val="123488674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290449-6B2B-483D-A740-4EA44D667C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9C6200-C950-4611-B281-F21342DA98EF}"/>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568DD3-7D23-49C8-8494-D902BD3C4830}"/>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AB17C096-3CCB-48A6-918E-AFBB2594AC1C}"/>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E104E866-E890-4654-AEDE-8D9B41EC4B28}"/>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51</a:t>
            </a:r>
          </a:p>
        </p:txBody>
      </p:sp>
      <p:sp>
        <p:nvSpPr>
          <p:cNvPr id="6" name="">
            <a:extLst xmlns:a="http://schemas.openxmlformats.org/drawingml/2006/main">
              <a:ext uri="{FF2B5EF4-FFF2-40B4-BE49-F238E27FC236}">
                <a16:creationId xmlns:a16="http://schemas.microsoft.com/office/drawing/2014/main" id="{84971A29-B217-490A-88F2-697246778A5C}"/>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F919C4C4-B025-42E6-848A-31D07EBA6B96}"/>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6.4 本阶段设计模式应用（2/2）</a:t>
            </a:r>
          </a:p>
        </p:txBody>
      </p:sp>
      <p:sp>
        <p:nvSpPr>
          <p:cNvPr id="8" name="">
            <a:extLst xmlns:a="http://schemas.openxmlformats.org/drawingml/2006/main">
              <a:ext uri="{FF2B5EF4-FFF2-40B4-BE49-F238E27FC236}">
                <a16:creationId xmlns:a16="http://schemas.microsoft.com/office/drawing/2014/main" id="{D9806B91-7971-4C5E-B4C2-D08CE697D76E}"/>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CE440A7-1E66-4B12-9418-4E866A7152D3}"/>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这些设计模式对应的技术讲解点如下：</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1. 策略模式是最核心的评分点之一。GameController 不知道具体 AI 算法，只接收 AiStrategy.chooseMove(...) 的结果；简单、普通、困难只是不同策略实现。</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2. 适配器思想体现在 GameTransport，UI 和房间逻辑面对的是统一接口，真实蓝牙和模拟蓝牙都能接入。</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3. 主机权威同步是联机稳定性的关键。客户端不直接修改牌局，只发 MOVE_REQUEST；房主过滤重复/过期/非当前玩家请求后再广播权威状态。</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4. 编码器/解码器模式把所有文本协议集中在 GameMessageCodec，避免 UI 或 socket 线程散落解析逻辑。</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5. 仓储模式让 ProfileStore 统一处理 SharedPreferences，昵称、金币、头像、战绩、成就不直接由页面拼字符串保存。</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6. 事件驱动和断线托管是蓝牙稳定性改造的重点，让客户端断线和房主断线不再只是 socket 异常，而是可被 UI 弹窗、座位托管和退出流程处理的状态。</a:t>
            </a:r>
          </a:p>
        </p:txBody>
      </p:sp>
    </p:spTree>
    <p:extLst>
      <p:ext uri="{BB962C8B-B14F-4D97-AF65-F5344CB8AC3E}">
        <p14:creationId xmlns:p14="http://schemas.microsoft.com/office/powerpoint/2010/main" val="847546172"/>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7C72A2E-9BEF-4A69-AB3D-EE97684E9E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5979FD-5C4A-4BE3-9BF3-1E618CD01670}"/>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E0467E-8DA8-4C5E-845A-2F4234AD8D3C}"/>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36C17AF8-5BF6-409D-845F-56114E4093A5}"/>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67804A10-5B1A-41FF-B18E-9EFB86A9CF79}"/>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52</a:t>
            </a:r>
          </a:p>
        </p:txBody>
      </p:sp>
      <p:sp>
        <p:nvSpPr>
          <p:cNvPr id="6" name="">
            <a:extLst xmlns:a="http://schemas.openxmlformats.org/drawingml/2006/main">
              <a:ext uri="{FF2B5EF4-FFF2-40B4-BE49-F238E27FC236}">
                <a16:creationId xmlns:a16="http://schemas.microsoft.com/office/drawing/2014/main" id="{0107752F-4A22-421A-8B97-14EDF82783D6}"/>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1FAD7B52-C131-4A23-B951-037A0AACF02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6.5 实现成果（1/8）</a:t>
            </a:r>
          </a:p>
        </p:txBody>
      </p:sp>
      <p:sp>
        <p:nvSpPr>
          <p:cNvPr id="8" name="">
            <a:extLst xmlns:a="http://schemas.openxmlformats.org/drawingml/2006/main">
              <a:ext uri="{FF2B5EF4-FFF2-40B4-BE49-F238E27FC236}">
                <a16:creationId xmlns:a16="http://schemas.microsoft.com/office/drawing/2014/main" id="{547EEBA7-205D-47E6-8778-64EBCA19EAB9}"/>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51FB0CF-8F14-412F-A93C-4974220E704F}"/>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本阶段完成南北规则模块、牌型识别、联机消息协议、四座位房间、房主广播同步、本地模拟传输，以及蓝牙断线处理机制。传输层通过 TransportEvent 上报连接和断开，客户端断线时房主保留座位并让 AI 托管，房主断线时客户端弹窗提示并退出房间。项目满足“多人蓝牙连接，而不是一对一蓝牙匹配”的核心要求，并且通过测试覆盖规则差异、消息编解码、房间座位、客户端断线托管和蓝牙模拟场景。</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阶段成果展示：</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南北规则代码片段如下：</a:t>
            </a:r>
          </a:p>
        </p:txBody>
      </p:sp>
      <p:sp>
        <p:nvSpPr>
          <p:cNvPr id="10" name="">
            <a:extLst xmlns:a="http://schemas.openxmlformats.org/drawingml/2006/main">
              <a:ext uri="{FF2B5EF4-FFF2-40B4-BE49-F238E27FC236}">
                <a16:creationId xmlns:a16="http://schemas.microsoft.com/office/drawing/2014/main" id="{6B3C1967-C453-4ADE-B06F-D52944CDA626}"/>
              </a:ext>
            </a:extLst>
          </p:cNvPr>
          <p:cNvSpPr>
            <a:spLocks xmlns:a="http://schemas.openxmlformats.org/drawingml/2006/main" noGrp="1"/>
          </p:cNvSpPr>
          <p:nvPr/>
        </p:nvSpPr>
        <p:spPr>
          <a:xfrm xmlns:a="http://schemas.openxmlformats.org/drawingml/2006/main">
            <a:off x="5191125" y="1905000"/>
            <a:ext cx="1343526"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3B792E73-B8E0-4CCE-BCC6-D0E9B62E8E59}"/>
              </a:ext>
            </a:extLst>
          </p:cNvPr>
          <p:cNvSpPr>
            <a:spLocks xmlns:a="http://schemas.openxmlformats.org/drawingml/2006/main" noGrp="1"/>
          </p:cNvSpPr>
          <p:nvPr/>
        </p:nvSpPr>
        <p:spPr>
          <a:xfrm xmlns:a="http://schemas.openxmlformats.org/drawingml/2006/main">
            <a:off x="5238750" y="1943100"/>
            <a:ext cx="124827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成果类型</a:t>
            </a:r>
          </a:p>
        </p:txBody>
      </p:sp>
      <p:sp>
        <p:nvSpPr>
          <p:cNvPr id="12" name="">
            <a:extLst xmlns:a="http://schemas.openxmlformats.org/drawingml/2006/main">
              <a:ext uri="{FF2B5EF4-FFF2-40B4-BE49-F238E27FC236}">
                <a16:creationId xmlns:a16="http://schemas.microsoft.com/office/drawing/2014/main" id="{B5C25866-F0B6-4352-A3AB-A275379A7936}"/>
              </a:ext>
            </a:extLst>
          </p:cNvPr>
          <p:cNvSpPr>
            <a:spLocks xmlns:a="http://schemas.openxmlformats.org/drawingml/2006/main" noGrp="1"/>
          </p:cNvSpPr>
          <p:nvPr/>
        </p:nvSpPr>
        <p:spPr>
          <a:xfrm xmlns:a="http://schemas.openxmlformats.org/drawingml/2006/main">
            <a:off x="6534651" y="1905000"/>
            <a:ext cx="2519112"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72FEBA1B-6063-4FF3-ADD3-1F591C90EA46}"/>
              </a:ext>
            </a:extLst>
          </p:cNvPr>
          <p:cNvSpPr>
            <a:spLocks xmlns:a="http://schemas.openxmlformats.org/drawingml/2006/main" noGrp="1"/>
          </p:cNvSpPr>
          <p:nvPr/>
        </p:nvSpPr>
        <p:spPr>
          <a:xfrm xmlns:a="http://schemas.openxmlformats.org/drawingml/2006/main">
            <a:off x="6582276" y="1943100"/>
            <a:ext cx="242386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展示内容</a:t>
            </a:r>
          </a:p>
        </p:txBody>
      </p:sp>
      <p:sp>
        <p:nvSpPr>
          <p:cNvPr id="14" name="">
            <a:extLst xmlns:a="http://schemas.openxmlformats.org/drawingml/2006/main">
              <a:ext uri="{FF2B5EF4-FFF2-40B4-BE49-F238E27FC236}">
                <a16:creationId xmlns:a16="http://schemas.microsoft.com/office/drawing/2014/main" id="{12228FD2-4A8F-436A-B6F2-7776C7F75684}"/>
              </a:ext>
            </a:extLst>
          </p:cNvPr>
          <p:cNvSpPr>
            <a:spLocks xmlns:a="http://schemas.openxmlformats.org/drawingml/2006/main" noGrp="1"/>
          </p:cNvSpPr>
          <p:nvPr/>
        </p:nvSpPr>
        <p:spPr>
          <a:xfrm xmlns:a="http://schemas.openxmlformats.org/drawingml/2006/main">
            <a:off x="9053763" y="1905000"/>
            <a:ext cx="2519112"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DF33476D-DB96-4C76-B3D2-B021F9588E03}"/>
              </a:ext>
            </a:extLst>
          </p:cNvPr>
          <p:cNvSpPr>
            <a:spLocks xmlns:a="http://schemas.openxmlformats.org/drawingml/2006/main" noGrp="1"/>
          </p:cNvSpPr>
          <p:nvPr/>
        </p:nvSpPr>
        <p:spPr>
          <a:xfrm xmlns:a="http://schemas.openxmlformats.org/drawingml/2006/main">
            <a:off x="9101388" y="1943100"/>
            <a:ext cx="242386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证据材料</a:t>
            </a:r>
          </a:p>
        </p:txBody>
      </p:sp>
      <p:sp>
        <p:nvSpPr>
          <p:cNvPr id="16" name="">
            <a:extLst xmlns:a="http://schemas.openxmlformats.org/drawingml/2006/main">
              <a:ext uri="{FF2B5EF4-FFF2-40B4-BE49-F238E27FC236}">
                <a16:creationId xmlns:a16="http://schemas.microsoft.com/office/drawing/2014/main" id="{86505222-4966-4649-91E7-C6692D269CEC}"/>
              </a:ext>
            </a:extLst>
          </p:cNvPr>
          <p:cNvSpPr>
            <a:spLocks xmlns:a="http://schemas.openxmlformats.org/drawingml/2006/main" noGrp="1"/>
          </p:cNvSpPr>
          <p:nvPr/>
        </p:nvSpPr>
        <p:spPr>
          <a:xfrm xmlns:a="http://schemas.openxmlformats.org/drawingml/2006/main">
            <a:off x="5191125" y="2305050"/>
            <a:ext cx="134352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24D504CB-ACFC-4156-A7BC-0A001C9924AD}"/>
              </a:ext>
            </a:extLst>
          </p:cNvPr>
          <p:cNvSpPr>
            <a:spLocks xmlns:a="http://schemas.openxmlformats.org/drawingml/2006/main" noGrp="1"/>
          </p:cNvSpPr>
          <p:nvPr/>
        </p:nvSpPr>
        <p:spPr>
          <a:xfrm xmlns:a="http://schemas.openxmlformats.org/drawingml/2006/main">
            <a:off x="5238750" y="2333625"/>
            <a:ext cx="124827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代码成果</a:t>
            </a:r>
          </a:p>
        </p:txBody>
      </p:sp>
      <p:sp>
        <p:nvSpPr>
          <p:cNvPr id="18" name="">
            <a:extLst xmlns:a="http://schemas.openxmlformats.org/drawingml/2006/main">
              <a:ext uri="{FF2B5EF4-FFF2-40B4-BE49-F238E27FC236}">
                <a16:creationId xmlns:a16="http://schemas.microsoft.com/office/drawing/2014/main" id="{EB93A843-5BD7-4FB0-A115-F4F8A865D4A5}"/>
              </a:ext>
            </a:extLst>
          </p:cNvPr>
          <p:cNvSpPr>
            <a:spLocks xmlns:a="http://schemas.openxmlformats.org/drawingml/2006/main" noGrp="1"/>
          </p:cNvSpPr>
          <p:nvPr/>
        </p:nvSpPr>
        <p:spPr>
          <a:xfrm xmlns:a="http://schemas.openxmlformats.org/drawingml/2006/main">
            <a:off x="6534651" y="2305050"/>
            <a:ext cx="251911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C40EBFF7-9246-4734-A58D-27243E5EAD36}"/>
              </a:ext>
            </a:extLst>
          </p:cNvPr>
          <p:cNvSpPr>
            <a:spLocks xmlns:a="http://schemas.openxmlformats.org/drawingml/2006/main" noGrp="1"/>
          </p:cNvSpPr>
          <p:nvPr/>
        </p:nvSpPr>
        <p:spPr>
          <a:xfrm xmlns:a="http://schemas.openxmlformats.org/drawingml/2006/main">
            <a:off x="6582276" y="2333625"/>
            <a:ext cx="242386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RuleSet、NorthRuleSet、SouthRuleSet 封装南北规则差异</a:t>
            </a:r>
          </a:p>
        </p:txBody>
      </p:sp>
      <p:sp>
        <p:nvSpPr>
          <p:cNvPr id="20" name="">
            <a:extLst xmlns:a="http://schemas.openxmlformats.org/drawingml/2006/main">
              <a:ext uri="{FF2B5EF4-FFF2-40B4-BE49-F238E27FC236}">
                <a16:creationId xmlns:a16="http://schemas.microsoft.com/office/drawing/2014/main" id="{28631BB0-BF76-4476-8723-B3CB63FB399F}"/>
              </a:ext>
            </a:extLst>
          </p:cNvPr>
          <p:cNvSpPr>
            <a:spLocks xmlns:a="http://schemas.openxmlformats.org/drawingml/2006/main" noGrp="1"/>
          </p:cNvSpPr>
          <p:nvPr/>
        </p:nvSpPr>
        <p:spPr>
          <a:xfrm xmlns:a="http://schemas.openxmlformats.org/drawingml/2006/main">
            <a:off x="9053763" y="2305050"/>
            <a:ext cx="251911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F8F2FF67-71B4-44C9-B48D-14F9062DAAC2}"/>
              </a:ext>
            </a:extLst>
          </p:cNvPr>
          <p:cNvSpPr>
            <a:spLocks xmlns:a="http://schemas.openxmlformats.org/drawingml/2006/main" noGrp="1"/>
          </p:cNvSpPr>
          <p:nvPr/>
        </p:nvSpPr>
        <p:spPr>
          <a:xfrm xmlns:a="http://schemas.openxmlformats.org/drawingml/2006/main">
            <a:off x="9101388" y="2333625"/>
            <a:ext cx="242386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app/src/main/java/com/example/uml_chudadi/model/RuleSet.kt</a:t>
            </a:r>
          </a:p>
        </p:txBody>
      </p:sp>
      <p:sp>
        <p:nvSpPr>
          <p:cNvPr id="22" name="">
            <a:extLst xmlns:a="http://schemas.openxmlformats.org/drawingml/2006/main">
              <a:ext uri="{FF2B5EF4-FFF2-40B4-BE49-F238E27FC236}">
                <a16:creationId xmlns:a16="http://schemas.microsoft.com/office/drawing/2014/main" id="{52426D9C-3B6F-453D-9A59-D109BDC3AE3D}"/>
              </a:ext>
            </a:extLst>
          </p:cNvPr>
          <p:cNvSpPr>
            <a:spLocks xmlns:a="http://schemas.openxmlformats.org/drawingml/2006/main" noGrp="1"/>
          </p:cNvSpPr>
          <p:nvPr/>
        </p:nvSpPr>
        <p:spPr>
          <a:xfrm xmlns:a="http://schemas.openxmlformats.org/drawingml/2006/main">
            <a:off x="5191125" y="3032760"/>
            <a:ext cx="1343526"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4AC972AB-7E7A-45F3-988D-92E1194BFDF1}"/>
              </a:ext>
            </a:extLst>
          </p:cNvPr>
          <p:cNvSpPr>
            <a:spLocks xmlns:a="http://schemas.openxmlformats.org/drawingml/2006/main" noGrp="1"/>
          </p:cNvSpPr>
          <p:nvPr/>
        </p:nvSpPr>
        <p:spPr>
          <a:xfrm xmlns:a="http://schemas.openxmlformats.org/drawingml/2006/main">
            <a:off x="5238750" y="3061335"/>
            <a:ext cx="124827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代码成果</a:t>
            </a:r>
          </a:p>
        </p:txBody>
      </p:sp>
      <p:sp>
        <p:nvSpPr>
          <p:cNvPr id="24" name="">
            <a:extLst xmlns:a="http://schemas.openxmlformats.org/drawingml/2006/main">
              <a:ext uri="{FF2B5EF4-FFF2-40B4-BE49-F238E27FC236}">
                <a16:creationId xmlns:a16="http://schemas.microsoft.com/office/drawing/2014/main" id="{29DBB109-7613-405F-A550-800BCBE539F9}"/>
              </a:ext>
            </a:extLst>
          </p:cNvPr>
          <p:cNvSpPr>
            <a:spLocks xmlns:a="http://schemas.openxmlformats.org/drawingml/2006/main" noGrp="1"/>
          </p:cNvSpPr>
          <p:nvPr/>
        </p:nvSpPr>
        <p:spPr>
          <a:xfrm xmlns:a="http://schemas.openxmlformats.org/drawingml/2006/main">
            <a:off x="6534651" y="3032760"/>
            <a:ext cx="2519112"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B124149F-B16F-4515-BEA6-511DDCC6B6E1}"/>
              </a:ext>
            </a:extLst>
          </p:cNvPr>
          <p:cNvSpPr>
            <a:spLocks xmlns:a="http://schemas.openxmlformats.org/drawingml/2006/main" noGrp="1"/>
          </p:cNvSpPr>
          <p:nvPr/>
        </p:nvSpPr>
        <p:spPr>
          <a:xfrm xmlns:a="http://schemas.openxmlformats.org/drawingml/2006/main">
            <a:off x="6582276" y="3061335"/>
            <a:ext cx="242386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GameTransport 与 TransportEvent 把蓝牙消息、连接、断开、错误统一为事件</a:t>
            </a:r>
          </a:p>
        </p:txBody>
      </p:sp>
      <p:sp>
        <p:nvSpPr>
          <p:cNvPr id="26" name="">
            <a:extLst xmlns:a="http://schemas.openxmlformats.org/drawingml/2006/main">
              <a:ext uri="{FF2B5EF4-FFF2-40B4-BE49-F238E27FC236}">
                <a16:creationId xmlns:a16="http://schemas.microsoft.com/office/drawing/2014/main" id="{43C0CC2C-9671-479F-ACCA-9A293D9F6B4B}"/>
              </a:ext>
            </a:extLst>
          </p:cNvPr>
          <p:cNvSpPr>
            <a:spLocks xmlns:a="http://schemas.openxmlformats.org/drawingml/2006/main" noGrp="1"/>
          </p:cNvSpPr>
          <p:nvPr/>
        </p:nvSpPr>
        <p:spPr>
          <a:xfrm xmlns:a="http://schemas.openxmlformats.org/drawingml/2006/main">
            <a:off x="9053763" y="3032760"/>
            <a:ext cx="2519112"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DA79D6E7-D2A3-4F7C-BFDB-C73C8B18EDA1}"/>
              </a:ext>
            </a:extLst>
          </p:cNvPr>
          <p:cNvSpPr>
            <a:spLocks xmlns:a="http://schemas.openxmlformats.org/drawingml/2006/main" noGrp="1"/>
          </p:cNvSpPr>
          <p:nvPr/>
        </p:nvSpPr>
        <p:spPr>
          <a:xfrm xmlns:a="http://schemas.openxmlformats.org/drawingml/2006/main">
            <a:off x="9101388" y="3061335"/>
            <a:ext cx="242386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app/src/main/java/com/example/uml_chudadi/transport/GameTransport.kt</a:t>
            </a:r>
          </a:p>
        </p:txBody>
      </p:sp>
      <p:sp>
        <p:nvSpPr>
          <p:cNvPr id="28" name="">
            <a:extLst xmlns:a="http://schemas.openxmlformats.org/drawingml/2006/main">
              <a:ext uri="{FF2B5EF4-FFF2-40B4-BE49-F238E27FC236}">
                <a16:creationId xmlns:a16="http://schemas.microsoft.com/office/drawing/2014/main" id="{F4B7D0A4-D766-4E2B-B3D1-9A6C0D0D3D17}"/>
              </a:ext>
            </a:extLst>
          </p:cNvPr>
          <p:cNvSpPr>
            <a:spLocks xmlns:a="http://schemas.openxmlformats.org/drawingml/2006/main" noGrp="1"/>
          </p:cNvSpPr>
          <p:nvPr/>
        </p:nvSpPr>
        <p:spPr>
          <a:xfrm xmlns:a="http://schemas.openxmlformats.org/drawingml/2006/main">
            <a:off x="5191125" y="3760470"/>
            <a:ext cx="134352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9DB25FF6-3CB3-44AA-A7D9-2657666C6919}"/>
              </a:ext>
            </a:extLst>
          </p:cNvPr>
          <p:cNvSpPr>
            <a:spLocks xmlns:a="http://schemas.openxmlformats.org/drawingml/2006/main" noGrp="1"/>
          </p:cNvSpPr>
          <p:nvPr/>
        </p:nvSpPr>
        <p:spPr>
          <a:xfrm xmlns:a="http://schemas.openxmlformats.org/drawingml/2006/main">
            <a:off x="5238750" y="3789045"/>
            <a:ext cx="124827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协议成果</a:t>
            </a:r>
          </a:p>
        </p:txBody>
      </p:sp>
      <p:sp>
        <p:nvSpPr>
          <p:cNvPr id="30" name="">
            <a:extLst xmlns:a="http://schemas.openxmlformats.org/drawingml/2006/main">
              <a:ext uri="{FF2B5EF4-FFF2-40B4-BE49-F238E27FC236}">
                <a16:creationId xmlns:a16="http://schemas.microsoft.com/office/drawing/2014/main" id="{601DC789-AE5E-4592-BB97-B0CB4E0C4DD0}"/>
              </a:ext>
            </a:extLst>
          </p:cNvPr>
          <p:cNvSpPr>
            <a:spLocks xmlns:a="http://schemas.openxmlformats.org/drawingml/2006/main" noGrp="1"/>
          </p:cNvSpPr>
          <p:nvPr/>
        </p:nvSpPr>
        <p:spPr>
          <a:xfrm xmlns:a="http://schemas.openxmlformats.org/drawingml/2006/main">
            <a:off x="6534651" y="3760470"/>
            <a:ext cx="251911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D075CE50-3D8F-4BF1-B67F-235EF1BB56CD}"/>
              </a:ext>
            </a:extLst>
          </p:cNvPr>
          <p:cNvSpPr>
            <a:spLocks xmlns:a="http://schemas.openxmlformats.org/drawingml/2006/main" noGrp="1"/>
          </p:cNvSpPr>
          <p:nvPr/>
        </p:nvSpPr>
        <p:spPr>
          <a:xfrm xmlns:a="http://schemas.openxmlformats.org/drawingml/2006/main">
            <a:off x="6582276" y="3789045"/>
            <a:ext cx="242386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DISCONNECT_NOTICE、STATE_SNAPSHOT 等消息支持断线提示、托管和状态同步；迁移/重连消息仅作为后续扩展入口保留</a:t>
            </a:r>
          </a:p>
        </p:txBody>
      </p:sp>
      <p:sp>
        <p:nvSpPr>
          <p:cNvPr id="32" name="">
            <a:extLst xmlns:a="http://schemas.openxmlformats.org/drawingml/2006/main">
              <a:ext uri="{FF2B5EF4-FFF2-40B4-BE49-F238E27FC236}">
                <a16:creationId xmlns:a16="http://schemas.microsoft.com/office/drawing/2014/main" id="{108259CC-16C9-498A-9979-206119278D8B}"/>
              </a:ext>
            </a:extLst>
          </p:cNvPr>
          <p:cNvSpPr>
            <a:spLocks xmlns:a="http://schemas.openxmlformats.org/drawingml/2006/main" noGrp="1"/>
          </p:cNvSpPr>
          <p:nvPr/>
        </p:nvSpPr>
        <p:spPr>
          <a:xfrm xmlns:a="http://schemas.openxmlformats.org/drawingml/2006/main">
            <a:off x="9053763" y="3760470"/>
            <a:ext cx="251911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81B7C481-17D8-4F1A-A739-CF30356345C7}"/>
              </a:ext>
            </a:extLst>
          </p:cNvPr>
          <p:cNvSpPr>
            <a:spLocks xmlns:a="http://schemas.openxmlformats.org/drawingml/2006/main" noGrp="1"/>
          </p:cNvSpPr>
          <p:nvPr/>
        </p:nvSpPr>
        <p:spPr>
          <a:xfrm xmlns:a="http://schemas.openxmlformats.org/drawingml/2006/main">
            <a:off x="9101388" y="3789045"/>
            <a:ext cx="242386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app/src/main/java/com/example/uml_chudadi/transport/GameMessage.kt</a:t>
            </a:r>
          </a:p>
        </p:txBody>
      </p:sp>
      <p:sp>
        <p:nvSpPr>
          <p:cNvPr id="34" name="">
            <a:extLst xmlns:a="http://schemas.openxmlformats.org/drawingml/2006/main">
              <a:ext uri="{FF2B5EF4-FFF2-40B4-BE49-F238E27FC236}">
                <a16:creationId xmlns:a16="http://schemas.microsoft.com/office/drawing/2014/main" id="{39987055-E5B9-43A6-AC61-BBDD9EDFBBB1}"/>
              </a:ext>
            </a:extLst>
          </p:cNvPr>
          <p:cNvSpPr>
            <a:spLocks xmlns:a="http://schemas.openxmlformats.org/drawingml/2006/main" noGrp="1"/>
          </p:cNvSpPr>
          <p:nvPr/>
        </p:nvSpPr>
        <p:spPr>
          <a:xfrm xmlns:a="http://schemas.openxmlformats.org/drawingml/2006/main">
            <a:off x="5191125" y="4488180"/>
            <a:ext cx="1343526"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5" name="">
            <a:extLst xmlns:a="http://schemas.openxmlformats.org/drawingml/2006/main">
              <a:ext uri="{FF2B5EF4-FFF2-40B4-BE49-F238E27FC236}">
                <a16:creationId xmlns:a16="http://schemas.microsoft.com/office/drawing/2014/main" id="{1A8B198F-B2EE-4648-83CC-F2D88D70A90F}"/>
              </a:ext>
            </a:extLst>
          </p:cNvPr>
          <p:cNvSpPr>
            <a:spLocks xmlns:a="http://schemas.openxmlformats.org/drawingml/2006/main" noGrp="1"/>
          </p:cNvSpPr>
          <p:nvPr/>
        </p:nvSpPr>
        <p:spPr>
          <a:xfrm xmlns:a="http://schemas.openxmlformats.org/drawingml/2006/main">
            <a:off x="5238750" y="4516755"/>
            <a:ext cx="124827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图片成果</a:t>
            </a:r>
          </a:p>
        </p:txBody>
      </p:sp>
      <p:sp>
        <p:nvSpPr>
          <p:cNvPr id="36" name="">
            <a:extLst xmlns:a="http://schemas.openxmlformats.org/drawingml/2006/main">
              <a:ext uri="{FF2B5EF4-FFF2-40B4-BE49-F238E27FC236}">
                <a16:creationId xmlns:a16="http://schemas.microsoft.com/office/drawing/2014/main" id="{ACC2CAF4-5156-4439-91C3-D59EABA20F67}"/>
              </a:ext>
            </a:extLst>
          </p:cNvPr>
          <p:cNvSpPr>
            <a:spLocks xmlns:a="http://schemas.openxmlformats.org/drawingml/2006/main" noGrp="1"/>
          </p:cNvSpPr>
          <p:nvPr/>
        </p:nvSpPr>
        <p:spPr>
          <a:xfrm xmlns:a="http://schemas.openxmlformats.org/drawingml/2006/main">
            <a:off x="6534651" y="4488180"/>
            <a:ext cx="2519112"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7" name="">
            <a:extLst xmlns:a="http://schemas.openxmlformats.org/drawingml/2006/main">
              <a:ext uri="{FF2B5EF4-FFF2-40B4-BE49-F238E27FC236}">
                <a16:creationId xmlns:a16="http://schemas.microsoft.com/office/drawing/2014/main" id="{EC06AA54-6AAC-47AF-8E0A-9FF2E1E107B8}"/>
              </a:ext>
            </a:extLst>
          </p:cNvPr>
          <p:cNvSpPr>
            <a:spLocks xmlns:a="http://schemas.openxmlformats.org/drawingml/2006/main" noGrp="1"/>
          </p:cNvSpPr>
          <p:nvPr/>
        </p:nvSpPr>
        <p:spPr>
          <a:xfrm xmlns:a="http://schemas.openxmlformats.org/drawingml/2006/main">
            <a:off x="6582276" y="4516755"/>
            <a:ext cx="242386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顺序图展示客户端发请求、房主校验、广播快照的权威同步流程</a:t>
            </a:r>
          </a:p>
        </p:txBody>
      </p:sp>
      <p:sp>
        <p:nvSpPr>
          <p:cNvPr id="38" name="">
            <a:extLst xmlns:a="http://schemas.openxmlformats.org/drawingml/2006/main">
              <a:ext uri="{FF2B5EF4-FFF2-40B4-BE49-F238E27FC236}">
                <a16:creationId xmlns:a16="http://schemas.microsoft.com/office/drawing/2014/main" id="{62687E8B-131A-44D6-912A-8A12049AD4F6}"/>
              </a:ext>
            </a:extLst>
          </p:cNvPr>
          <p:cNvSpPr>
            <a:spLocks xmlns:a="http://schemas.openxmlformats.org/drawingml/2006/main" noGrp="1"/>
          </p:cNvSpPr>
          <p:nvPr/>
        </p:nvSpPr>
        <p:spPr>
          <a:xfrm xmlns:a="http://schemas.openxmlformats.org/drawingml/2006/main">
            <a:off x="9053763" y="4488180"/>
            <a:ext cx="2519112"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9" name="">
            <a:extLst xmlns:a="http://schemas.openxmlformats.org/drawingml/2006/main">
              <a:ext uri="{FF2B5EF4-FFF2-40B4-BE49-F238E27FC236}">
                <a16:creationId xmlns:a16="http://schemas.microsoft.com/office/drawing/2014/main" id="{5017E1FE-04C1-4DCE-82DA-883385835917}"/>
              </a:ext>
            </a:extLst>
          </p:cNvPr>
          <p:cNvSpPr>
            <a:spLocks xmlns:a="http://schemas.openxmlformats.org/drawingml/2006/main" noGrp="1"/>
          </p:cNvSpPr>
          <p:nvPr/>
        </p:nvSpPr>
        <p:spPr>
          <a:xfrm xmlns:a="http://schemas.openxmlformats.org/drawingml/2006/main">
            <a:off x="9101388" y="4516755"/>
            <a:ext cx="242386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docs/uml/sequence_game_turn.png</a:t>
            </a:r>
          </a:p>
        </p:txBody>
      </p:sp>
      <p:sp>
        <p:nvSpPr>
          <p:cNvPr id="40" name="">
            <a:extLst xmlns:a="http://schemas.openxmlformats.org/drawingml/2006/main">
              <a:ext uri="{FF2B5EF4-FFF2-40B4-BE49-F238E27FC236}">
                <a16:creationId xmlns:a16="http://schemas.microsoft.com/office/drawing/2014/main" id="{8E62E775-C384-45A5-A3DB-ACCAAE9C355A}"/>
              </a:ext>
            </a:extLst>
          </p:cNvPr>
          <p:cNvSpPr>
            <a:spLocks xmlns:a="http://schemas.openxmlformats.org/drawingml/2006/main" noGrp="1"/>
          </p:cNvSpPr>
          <p:nvPr/>
        </p:nvSpPr>
        <p:spPr>
          <a:xfrm xmlns:a="http://schemas.openxmlformats.org/drawingml/2006/main">
            <a:off x="5191125" y="5215890"/>
            <a:ext cx="1343526"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1" name="">
            <a:extLst xmlns:a="http://schemas.openxmlformats.org/drawingml/2006/main">
              <a:ext uri="{FF2B5EF4-FFF2-40B4-BE49-F238E27FC236}">
                <a16:creationId xmlns:a16="http://schemas.microsoft.com/office/drawing/2014/main" id="{C96068BC-B6C1-41E8-9F9F-0B8DE878ED5B}"/>
              </a:ext>
            </a:extLst>
          </p:cNvPr>
          <p:cNvSpPr>
            <a:spLocks xmlns:a="http://schemas.openxmlformats.org/drawingml/2006/main" noGrp="1"/>
          </p:cNvSpPr>
          <p:nvPr/>
        </p:nvSpPr>
        <p:spPr>
          <a:xfrm xmlns:a="http://schemas.openxmlformats.org/drawingml/2006/main">
            <a:off x="5238750" y="5244465"/>
            <a:ext cx="1248276"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测试成果</a:t>
            </a:r>
          </a:p>
        </p:txBody>
      </p:sp>
      <p:sp>
        <p:nvSpPr>
          <p:cNvPr id="42" name="">
            <a:extLst xmlns:a="http://schemas.openxmlformats.org/drawingml/2006/main">
              <a:ext uri="{FF2B5EF4-FFF2-40B4-BE49-F238E27FC236}">
                <a16:creationId xmlns:a16="http://schemas.microsoft.com/office/drawing/2014/main" id="{6DAF2E59-D46E-40A5-8519-AD8F7BEC365D}"/>
              </a:ext>
            </a:extLst>
          </p:cNvPr>
          <p:cNvSpPr>
            <a:spLocks xmlns:a="http://schemas.openxmlformats.org/drawingml/2006/main" noGrp="1"/>
          </p:cNvSpPr>
          <p:nvPr/>
        </p:nvSpPr>
        <p:spPr>
          <a:xfrm xmlns:a="http://schemas.openxmlformats.org/drawingml/2006/main">
            <a:off x="6534651" y="5215890"/>
            <a:ext cx="251911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3" name="">
            <a:extLst xmlns:a="http://schemas.openxmlformats.org/drawingml/2006/main">
              <a:ext uri="{FF2B5EF4-FFF2-40B4-BE49-F238E27FC236}">
                <a16:creationId xmlns:a16="http://schemas.microsoft.com/office/drawing/2014/main" id="{BD337EAF-9EDC-4885-9BC8-A162346B4C65}"/>
              </a:ext>
            </a:extLst>
          </p:cNvPr>
          <p:cNvSpPr>
            <a:spLocks xmlns:a="http://schemas.openxmlformats.org/drawingml/2006/main" noGrp="1"/>
          </p:cNvSpPr>
          <p:nvPr/>
        </p:nvSpPr>
        <p:spPr>
          <a:xfrm xmlns:a="http://schemas.openxmlformats.org/drawingml/2006/main">
            <a:off x="6582276" y="5244465"/>
            <a:ext cx="242386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模拟蓝牙覆盖三人加入、房满拒绝、房主广播、移动请求和客户端断线托管</a:t>
            </a:r>
          </a:p>
        </p:txBody>
      </p:sp>
      <p:sp>
        <p:nvSpPr>
          <p:cNvPr id="44" name="">
            <a:extLst xmlns:a="http://schemas.openxmlformats.org/drawingml/2006/main">
              <a:ext uri="{FF2B5EF4-FFF2-40B4-BE49-F238E27FC236}">
                <a16:creationId xmlns:a16="http://schemas.microsoft.com/office/drawing/2014/main" id="{2CE7101B-28EA-4291-97FF-08C7B4CF31F5}"/>
              </a:ext>
            </a:extLst>
          </p:cNvPr>
          <p:cNvSpPr>
            <a:spLocks xmlns:a="http://schemas.openxmlformats.org/drawingml/2006/main" noGrp="1"/>
          </p:cNvSpPr>
          <p:nvPr/>
        </p:nvSpPr>
        <p:spPr>
          <a:xfrm xmlns:a="http://schemas.openxmlformats.org/drawingml/2006/main">
            <a:off x="9053763" y="5215890"/>
            <a:ext cx="251911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5" name="">
            <a:extLst xmlns:a="http://schemas.openxmlformats.org/drawingml/2006/main">
              <a:ext uri="{FF2B5EF4-FFF2-40B4-BE49-F238E27FC236}">
                <a16:creationId xmlns:a16="http://schemas.microsoft.com/office/drawing/2014/main" id="{2AE89BBD-C758-485A-90A5-1F4BF1BD65D0}"/>
              </a:ext>
            </a:extLst>
          </p:cNvPr>
          <p:cNvSpPr>
            <a:spLocks xmlns:a="http://schemas.openxmlformats.org/drawingml/2006/main" noGrp="1"/>
          </p:cNvSpPr>
          <p:nvPr/>
        </p:nvSpPr>
        <p:spPr>
          <a:xfrm xmlns:a="http://schemas.openxmlformats.org/drawingml/2006/main">
            <a:off x="9101388" y="5244465"/>
            <a:ext cx="242386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app/src/test/java/com/example/uml_chudadi/transport/SimulatedBluetoothHubTest.kt</a:t>
            </a:r>
          </a:p>
        </p:txBody>
      </p:sp>
    </p:spTree>
    <p:extLst>
      <p:ext uri="{BB962C8B-B14F-4D97-AF65-F5344CB8AC3E}">
        <p14:creationId xmlns:p14="http://schemas.microsoft.com/office/powerpoint/2010/main" val="1890780950"/>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B31C28-636E-4F2A-91C6-1593ADB7E3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DD797C-B2CA-46A8-9844-2ADF7444119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DAA3A56-A04E-4410-8DD5-42870A02E582}"/>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F4A6EFB3-9B34-42CE-9B09-C58BB9536F50}"/>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0EDF97E9-8430-4AD5-9B0E-B3F4251B348A}"/>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53</a:t>
            </a:r>
          </a:p>
        </p:txBody>
      </p:sp>
      <p:sp>
        <p:nvSpPr>
          <p:cNvPr id="6" name="">
            <a:extLst xmlns:a="http://schemas.openxmlformats.org/drawingml/2006/main">
              <a:ext uri="{FF2B5EF4-FFF2-40B4-BE49-F238E27FC236}">
                <a16:creationId xmlns:a16="http://schemas.microsoft.com/office/drawing/2014/main" id="{2D60B7EA-125B-4B78-95EC-B4771CA3AA0A}"/>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EBA68A4-1A85-40B3-A19C-9597D677B5F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6.5 实现成果（2/8）</a:t>
            </a:r>
          </a:p>
        </p:txBody>
      </p:sp>
      <p:sp>
        <p:nvSpPr>
          <p:cNvPr id="8" name="">
            <a:extLst xmlns:a="http://schemas.openxmlformats.org/drawingml/2006/main">
              <a:ext uri="{FF2B5EF4-FFF2-40B4-BE49-F238E27FC236}">
                <a16:creationId xmlns:a16="http://schemas.microsoft.com/office/drawing/2014/main" id="{110946B4-19C5-47EF-A480-7539F1B79AB3}"/>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9B97A74-9113-435F-94E4-1E7F530722D5}"/>
              </a:ext>
            </a:extLst>
          </p:cNvPr>
          <p:cNvSpPr>
            <a:spLocks xmlns:a="http://schemas.openxmlformats.org/drawingml/2006/main" noGrp="1"/>
          </p:cNvSpPr>
          <p:nvPr/>
        </p:nvSpPr>
        <p:spPr>
          <a:xfrm xmlns:a="http://schemas.openxmlformats.org/drawingml/2006/main">
            <a:off x="685800" y="1905000"/>
            <a:ext cx="10839450" cy="4038600"/>
          </a:xfrm>
          <a:prstGeom xmlns:a="http://schemas.openxmlformats.org/drawingml/2006/main" prst="roundRect">
            <a:avLst>
              <a:gd name="adj" fmla="val 1415"/>
            </a:avLst>
          </a:prstGeom>
          <a:solidFill xmlns:a="http://schemas.openxmlformats.org/drawingml/2006/main">
            <a:srgbClr val="102820"/>
          </a:solidFill>
          <a:ln xmlns:a="http://schemas.openxmlformats.org/drawingml/2006/main" w="9525">
            <a:solidFill>
              <a:srgbClr val="294C3E"/>
            </a:solidFill>
          </a:ln>
        </p:spPr>
      </p:sp>
      <p:sp>
        <p:nvSpPr>
          <p:cNvPr id="10" name="">
            <a:extLst xmlns:a="http://schemas.openxmlformats.org/drawingml/2006/main">
              <a:ext uri="{FF2B5EF4-FFF2-40B4-BE49-F238E27FC236}">
                <a16:creationId xmlns:a16="http://schemas.microsoft.com/office/drawing/2014/main" id="{B4E9CAAF-BA2B-4C80-AB06-166315C3D0C6}"/>
              </a:ext>
            </a:extLst>
          </p:cNvPr>
          <p:cNvSpPr>
            <a:spLocks xmlns:a="http://schemas.openxmlformats.org/drawingml/2006/main" noGrp="1"/>
          </p:cNvSpPr>
          <p:nvPr/>
        </p:nvSpPr>
        <p:spPr>
          <a:xfrm xmlns:a="http://schemas.openxmlformats.org/drawingml/2006/main">
            <a:off x="838200" y="2038350"/>
            <a:ext cx="1053465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object NorthRuleSet : RuleSet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override val profile = RuleProfile(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id = "north",</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title = "北方规则",</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firstCard = Card(Suit.Spades, Rank.Three),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bombMode = BombMode.Enhanced,</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fiveCardRanking = true,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sameSizeOnly = false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a:t>
            </a:r>
          </a:p>
          <a:p xmlns:a="http://schemas.openxmlformats.org/drawingml/2006/main">
            <a:r>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object SouthRuleSet : RuleSet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override val profile = RuleProfile(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id = "south",</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title = "南方规则",</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firstCard = Card(Suit.Diamonds, Rank.Three),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bombMode = BombMode.None,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fiveCardRanking = true,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sameSizeOnly = true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a:t>
            </a:r>
          </a:p>
        </p:txBody>
      </p:sp>
    </p:spTree>
    <p:extLst>
      <p:ext uri="{BB962C8B-B14F-4D97-AF65-F5344CB8AC3E}">
        <p14:creationId xmlns:p14="http://schemas.microsoft.com/office/powerpoint/2010/main" val="23493254"/>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E2E5FE-C5FE-4A40-8150-1A51AFB050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AB2206-F42C-44F7-B693-54FAE300AB8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FE89C2-593C-4534-8EC1-4A37FC054E6F}"/>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784A54F9-2B08-4DF5-9E12-62747DDEA667}"/>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8D169C22-09F8-47DE-9E5A-87AEE540AC59}"/>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54</a:t>
            </a:r>
          </a:p>
        </p:txBody>
      </p:sp>
      <p:sp>
        <p:nvSpPr>
          <p:cNvPr id="6" name="">
            <a:extLst xmlns:a="http://schemas.openxmlformats.org/drawingml/2006/main">
              <a:ext uri="{FF2B5EF4-FFF2-40B4-BE49-F238E27FC236}">
                <a16:creationId xmlns:a16="http://schemas.microsoft.com/office/drawing/2014/main" id="{1816A788-E25F-4D4B-A56B-E86172AA2832}"/>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A56200F-6742-4CFE-8272-4FF5C7F9E0C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6.5 实现成果（3/8）</a:t>
            </a:r>
          </a:p>
        </p:txBody>
      </p:sp>
      <p:sp>
        <p:nvSpPr>
          <p:cNvPr id="8" name="">
            <a:extLst xmlns:a="http://schemas.openxmlformats.org/drawingml/2006/main">
              <a:ext uri="{FF2B5EF4-FFF2-40B4-BE49-F238E27FC236}">
                <a16:creationId xmlns:a16="http://schemas.microsoft.com/office/drawing/2014/main" id="{7883D02C-A810-4E87-9D81-220C57945D70}"/>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BCC050C-A74C-4A47-8C16-1CFDB08B9056}"/>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蓝牙传输抽象代码片段如下：</a:t>
            </a:r>
          </a:p>
        </p:txBody>
      </p:sp>
    </p:spTree>
    <p:extLst>
      <p:ext uri="{BB962C8B-B14F-4D97-AF65-F5344CB8AC3E}">
        <p14:creationId xmlns:p14="http://schemas.microsoft.com/office/powerpoint/2010/main" val="697184944"/>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DF03B0-AA43-4929-AAA4-61A1248C2AA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3D8735-FC1C-41DF-9301-7F8B109B7E49}"/>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B2722C-80C6-4F97-883E-980955D7FAFE}"/>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6D657124-27A6-4206-8992-E253552DC64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AAF6B209-C1F3-4F95-A52E-B4D6FE791A52}"/>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55</a:t>
            </a:r>
          </a:p>
        </p:txBody>
      </p:sp>
      <p:sp>
        <p:nvSpPr>
          <p:cNvPr id="6" name="">
            <a:extLst xmlns:a="http://schemas.openxmlformats.org/drawingml/2006/main">
              <a:ext uri="{FF2B5EF4-FFF2-40B4-BE49-F238E27FC236}">
                <a16:creationId xmlns:a16="http://schemas.microsoft.com/office/drawing/2014/main" id="{BBF5BAEF-3291-4134-8E50-14F81088866D}"/>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876EE3F0-D46F-4C7D-B0FB-E66078AD6545}"/>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6.5 实现成果（4/8）</a:t>
            </a:r>
          </a:p>
        </p:txBody>
      </p:sp>
      <p:sp>
        <p:nvSpPr>
          <p:cNvPr id="8" name="">
            <a:extLst xmlns:a="http://schemas.openxmlformats.org/drawingml/2006/main">
              <a:ext uri="{FF2B5EF4-FFF2-40B4-BE49-F238E27FC236}">
                <a16:creationId xmlns:a16="http://schemas.microsoft.com/office/drawing/2014/main" id="{A211548A-3AC1-4082-B536-ADAB1B1FDE69}"/>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3C06B14-8F14-48E2-B722-86012CF37BBB}"/>
              </a:ext>
            </a:extLst>
          </p:cNvPr>
          <p:cNvSpPr>
            <a:spLocks xmlns:a="http://schemas.openxmlformats.org/drawingml/2006/main" noGrp="1"/>
          </p:cNvSpPr>
          <p:nvPr/>
        </p:nvSpPr>
        <p:spPr>
          <a:xfrm xmlns:a="http://schemas.openxmlformats.org/drawingml/2006/main">
            <a:off x="685800" y="1905000"/>
            <a:ext cx="10839450" cy="4038600"/>
          </a:xfrm>
          <a:prstGeom xmlns:a="http://schemas.openxmlformats.org/drawingml/2006/main" prst="roundRect">
            <a:avLst>
              <a:gd name="adj" fmla="val 1415"/>
            </a:avLst>
          </a:prstGeom>
          <a:solidFill xmlns:a="http://schemas.openxmlformats.org/drawingml/2006/main">
            <a:srgbClr val="102820"/>
          </a:solidFill>
          <a:ln xmlns:a="http://schemas.openxmlformats.org/drawingml/2006/main" w="9525">
            <a:solidFill>
              <a:srgbClr val="294C3E"/>
            </a:solidFill>
          </a:ln>
        </p:spPr>
      </p:sp>
      <p:sp>
        <p:nvSpPr>
          <p:cNvPr id="10" name="">
            <a:extLst xmlns:a="http://schemas.openxmlformats.org/drawingml/2006/main">
              <a:ext uri="{FF2B5EF4-FFF2-40B4-BE49-F238E27FC236}">
                <a16:creationId xmlns:a16="http://schemas.microsoft.com/office/drawing/2014/main" id="{BCDDE35D-B0FD-4DCB-8D81-1013DC99C816}"/>
              </a:ext>
            </a:extLst>
          </p:cNvPr>
          <p:cNvSpPr>
            <a:spLocks xmlns:a="http://schemas.openxmlformats.org/drawingml/2006/main" noGrp="1"/>
          </p:cNvSpPr>
          <p:nvPr/>
        </p:nvSpPr>
        <p:spPr>
          <a:xfrm xmlns:a="http://schemas.openxmlformats.org/drawingml/2006/main">
            <a:off x="838200" y="2038350"/>
            <a:ext cx="1053465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sealed class TransportEvent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data class Message(val raw: String, val peerKey: String? = null) : TransportEvent()</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data class PeerConnected(val peerKey: String, val deviceName: String = "") : TransportEvent()</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data class PeerDisconnected(val peerKey: String, val reason: String = "连接已断开") : TransportEvent()</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data class Error(val reason: String, val peerKey: String? = null) : TransportEvent()</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a:t>
            </a:r>
          </a:p>
        </p:txBody>
      </p:sp>
    </p:spTree>
    <p:extLst>
      <p:ext uri="{BB962C8B-B14F-4D97-AF65-F5344CB8AC3E}">
        <p14:creationId xmlns:p14="http://schemas.microsoft.com/office/powerpoint/2010/main" val="477889640"/>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FC27CE-9FB8-4DA6-AC8E-57A284DB10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1862F1-559D-4E6C-9739-2AB7750DF5A0}"/>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19A426-3D98-4162-ACFF-FB7894A43D0A}"/>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F31E362F-EC00-42E1-881C-49AB1835606E}"/>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0EDF3E47-93AD-4D95-A259-03674D092DB9}"/>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56</a:t>
            </a:r>
          </a:p>
        </p:txBody>
      </p:sp>
      <p:sp>
        <p:nvSpPr>
          <p:cNvPr id="6" name="">
            <a:extLst xmlns:a="http://schemas.openxmlformats.org/drawingml/2006/main">
              <a:ext uri="{FF2B5EF4-FFF2-40B4-BE49-F238E27FC236}">
                <a16:creationId xmlns:a16="http://schemas.microsoft.com/office/drawing/2014/main" id="{BD345CA6-69A2-41AB-BB05-00BC965C67CF}"/>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2794B3EB-F280-4A5F-A723-66260ECB198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6.5 实现成果（5/8）</a:t>
            </a:r>
          </a:p>
        </p:txBody>
      </p:sp>
      <p:sp>
        <p:nvSpPr>
          <p:cNvPr id="8" name="">
            <a:extLst xmlns:a="http://schemas.openxmlformats.org/drawingml/2006/main">
              <a:ext uri="{FF2B5EF4-FFF2-40B4-BE49-F238E27FC236}">
                <a16:creationId xmlns:a16="http://schemas.microsoft.com/office/drawing/2014/main" id="{87F1DF33-9E07-4F51-BEAE-29740CB77848}"/>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CB25FFB-E806-4A39-9ACC-F3803FF67168}"/>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阶段图片成果如下：</a:t>
            </a:r>
          </a:p>
        </p:txBody>
      </p:sp>
    </p:spTree>
    <p:extLst>
      <p:ext uri="{BB962C8B-B14F-4D97-AF65-F5344CB8AC3E}">
        <p14:creationId xmlns:p14="http://schemas.microsoft.com/office/powerpoint/2010/main" val="1730210468"/>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28AF94-4CE3-4346-A3D6-4823452B28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DE8B1A-FBA8-4A96-BAC8-8B0663D0B564}"/>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7FAB7B-304F-435A-B4C1-429584AB4DA5}"/>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D31D792F-8AE7-450B-8489-66EFC8530E71}"/>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056A66C0-99D9-4804-997B-063805E5B8CD}"/>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57</a:t>
            </a:r>
          </a:p>
        </p:txBody>
      </p:sp>
      <p:sp>
        <p:nvSpPr>
          <p:cNvPr id="6" name="">
            <a:extLst xmlns:a="http://schemas.openxmlformats.org/drawingml/2006/main">
              <a:ext uri="{FF2B5EF4-FFF2-40B4-BE49-F238E27FC236}">
                <a16:creationId xmlns:a16="http://schemas.microsoft.com/office/drawing/2014/main" id="{D14650CF-1A5A-4306-80E4-30591C924166}"/>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1B0E005-3AF5-4CC5-9337-7786873DE03D}"/>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6.5 实现成果（6/8）</a:t>
            </a:r>
          </a:p>
        </p:txBody>
      </p:sp>
      <p:sp>
        <p:nvSpPr>
          <p:cNvPr id="8" name="">
            <a:extLst xmlns:a="http://schemas.openxmlformats.org/drawingml/2006/main">
              <a:ext uri="{FF2B5EF4-FFF2-40B4-BE49-F238E27FC236}">
                <a16:creationId xmlns:a16="http://schemas.microsoft.com/office/drawing/2014/main" id="{75A6AA01-9FB1-43D1-805E-6099550932F6}"/>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9972FE6-CC76-45D4-A018-1A0ACE94C611}"/>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f925c240b1e40dd"/>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0F99D4A-61BF-421F-88FA-1A99F7EB36AF}"/>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阶段3顺序图</a:t>
            </a:r>
          </a:p>
        </p:txBody>
      </p:sp>
    </p:spTree>
    <p:extLst>
      <p:ext uri="{BB962C8B-B14F-4D97-AF65-F5344CB8AC3E}">
        <p14:creationId xmlns:p14="http://schemas.microsoft.com/office/powerpoint/2010/main" val="1487326791"/>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D7768B-F5A7-47ED-84EC-DACB767FB2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B2F3D2-8EAB-48D2-A00F-8EEB8258773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74B188-426B-42F7-B32A-C25829EF1F14}"/>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949F2BAC-5571-45E0-99AA-A1D14DA88B4A}"/>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90A926AA-F554-454B-AC74-0FD6EC4F12FB}"/>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58</a:t>
            </a:r>
          </a:p>
        </p:txBody>
      </p:sp>
      <p:sp>
        <p:nvSpPr>
          <p:cNvPr id="6" name="">
            <a:extLst xmlns:a="http://schemas.openxmlformats.org/drawingml/2006/main">
              <a:ext uri="{FF2B5EF4-FFF2-40B4-BE49-F238E27FC236}">
                <a16:creationId xmlns:a16="http://schemas.microsoft.com/office/drawing/2014/main" id="{70D3F1AA-8073-455A-AA20-8FA107442518}"/>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D62C30D-99BF-4B61-AC36-00362663D201}"/>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6.5 实现成果（7/8）</a:t>
            </a:r>
          </a:p>
        </p:txBody>
      </p:sp>
      <p:sp>
        <p:nvSpPr>
          <p:cNvPr id="8" name="">
            <a:extLst xmlns:a="http://schemas.openxmlformats.org/drawingml/2006/main">
              <a:ext uri="{FF2B5EF4-FFF2-40B4-BE49-F238E27FC236}">
                <a16:creationId xmlns:a16="http://schemas.microsoft.com/office/drawing/2014/main" id="{583F6DBE-8DD1-407A-9252-CCC758ABFBCD}"/>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09467F8-AF19-4E19-85DD-0C00796B1BAA}"/>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65a24790db14261"/>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FC0B80A-1EB8-4EFB-8E17-E1DCFF1FF7D4}"/>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阶段3活动图</a:t>
            </a:r>
          </a:p>
        </p:txBody>
      </p:sp>
    </p:spTree>
    <p:extLst>
      <p:ext uri="{BB962C8B-B14F-4D97-AF65-F5344CB8AC3E}">
        <p14:creationId xmlns:p14="http://schemas.microsoft.com/office/powerpoint/2010/main" val="1938650263"/>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7AFD11-A059-42F3-914D-2C2DA735B6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4183D0-53A0-4581-B70B-39AB6C905C2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20AEE5-9497-460F-9B8F-AD68C87FA765}"/>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2ED8AA63-E1CC-4A15-BEC0-BC27EAD0D4F8}"/>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D30A670F-77EB-423C-8797-9C7BE880A347}"/>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59</a:t>
            </a:r>
          </a:p>
        </p:txBody>
      </p:sp>
      <p:sp>
        <p:nvSpPr>
          <p:cNvPr id="6" name="">
            <a:extLst xmlns:a="http://schemas.openxmlformats.org/drawingml/2006/main">
              <a:ext uri="{FF2B5EF4-FFF2-40B4-BE49-F238E27FC236}">
                <a16:creationId xmlns:a16="http://schemas.microsoft.com/office/drawing/2014/main" id="{3CCDEF1B-2719-472C-BC8B-6AA7392B344C}"/>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DBF06B10-87ED-4CFF-BBD3-13FA11BBF7C1}"/>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6.5 实现成果（8/8）</a:t>
            </a:r>
          </a:p>
        </p:txBody>
      </p:sp>
      <p:sp>
        <p:nvSpPr>
          <p:cNvPr id="8" name="">
            <a:extLst xmlns:a="http://schemas.openxmlformats.org/drawingml/2006/main">
              <a:ext uri="{FF2B5EF4-FFF2-40B4-BE49-F238E27FC236}">
                <a16:creationId xmlns:a16="http://schemas.microsoft.com/office/drawing/2014/main" id="{78ECBD50-0DD1-4BBC-B619-166CE6FAF4B4}"/>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F5ED634-7AAA-4AA0-8720-4ABF635A99F1}"/>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9f20037ffa4480d"/>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E1DF9B6-5FA3-401B-B4C9-BCC3F004BAAC}"/>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阶段3部署图</a:t>
            </a:r>
          </a:p>
        </p:txBody>
      </p:sp>
    </p:spTree>
    <p:extLst>
      <p:ext uri="{BB962C8B-B14F-4D97-AF65-F5344CB8AC3E}">
        <p14:creationId xmlns:p14="http://schemas.microsoft.com/office/powerpoint/2010/main" val="1524516579"/>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03B198A-CC8F-4CE4-A038-F7659FC6553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C9D372-5A23-4840-98F6-D0F600EA536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9EA6AE-1BE4-49A2-AB89-66BFEDB3B208}"/>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7CC851F1-E9A7-4F39-9597-A50C1662A435}"/>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B1E276C6-F562-4211-BF91-E16AD1A49F34}"/>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60</a:t>
            </a:r>
          </a:p>
        </p:txBody>
      </p:sp>
      <p:sp>
        <p:nvSpPr>
          <p:cNvPr id="6" name="">
            <a:extLst xmlns:a="http://schemas.openxmlformats.org/drawingml/2006/main">
              <a:ext uri="{FF2B5EF4-FFF2-40B4-BE49-F238E27FC236}">
                <a16:creationId xmlns:a16="http://schemas.microsoft.com/office/drawing/2014/main" id="{3B15FE36-38F6-4057-8AA8-51EEF944DF91}"/>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BFBF1BE3-D256-4D22-9236-660499CDC744}"/>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6.6 Codex/GPT 使用情况</a:t>
            </a:r>
          </a:p>
        </p:txBody>
      </p:sp>
      <p:sp>
        <p:nvSpPr>
          <p:cNvPr id="8" name="">
            <a:extLst xmlns:a="http://schemas.openxmlformats.org/drawingml/2006/main">
              <a:ext uri="{FF2B5EF4-FFF2-40B4-BE49-F238E27FC236}">
                <a16:creationId xmlns:a16="http://schemas.microsoft.com/office/drawing/2014/main" id="{C08729BE-95B1-4455-9DC3-7DAF02C07918}"/>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486AC2C-46B2-42FF-868D-D980B73E8F83}"/>
              </a:ext>
            </a:extLst>
          </p:cNvPr>
          <p:cNvSpPr>
            <a:spLocks xmlns:a="http://schemas.openxmlformats.org/drawingml/2006/main" noGrp="1"/>
          </p:cNvSpPr>
          <p:nvPr/>
        </p:nvSpPr>
        <p:spPr>
          <a:xfrm xmlns:a="http://schemas.openxmlformats.org/drawingml/2006/main">
            <a:off x="457200" y="1905000"/>
            <a:ext cx="1930712"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398CFA3C-3C53-4036-8D48-AC3904199A2D}"/>
              </a:ext>
            </a:extLst>
          </p:cNvPr>
          <p:cNvSpPr>
            <a:spLocks xmlns:a="http://schemas.openxmlformats.org/drawingml/2006/main" noGrp="1"/>
          </p:cNvSpPr>
          <p:nvPr/>
        </p:nvSpPr>
        <p:spPr>
          <a:xfrm xmlns:a="http://schemas.openxmlformats.org/drawingml/2006/main">
            <a:off x="504825" y="1943100"/>
            <a:ext cx="183546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使用位置</a:t>
            </a:r>
          </a:p>
        </p:txBody>
      </p:sp>
      <p:sp>
        <p:nvSpPr>
          <p:cNvPr id="11" name="">
            <a:extLst xmlns:a="http://schemas.openxmlformats.org/drawingml/2006/main">
              <a:ext uri="{FF2B5EF4-FFF2-40B4-BE49-F238E27FC236}">
                <a16:creationId xmlns:a16="http://schemas.microsoft.com/office/drawing/2014/main" id="{C2DB7FF1-4B66-4867-B643-E259C273AB9C}"/>
              </a:ext>
            </a:extLst>
          </p:cNvPr>
          <p:cNvSpPr>
            <a:spLocks xmlns:a="http://schemas.openxmlformats.org/drawingml/2006/main" noGrp="1"/>
          </p:cNvSpPr>
          <p:nvPr/>
        </p:nvSpPr>
        <p:spPr>
          <a:xfrm xmlns:a="http://schemas.openxmlformats.org/drawingml/2006/main">
            <a:off x="2387912" y="1905000"/>
            <a:ext cx="310292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B305CC93-B860-4B7C-9A28-4172C10F87F5}"/>
              </a:ext>
            </a:extLst>
          </p:cNvPr>
          <p:cNvSpPr>
            <a:spLocks xmlns:a="http://schemas.openxmlformats.org/drawingml/2006/main" noGrp="1"/>
          </p:cNvSpPr>
          <p:nvPr/>
        </p:nvSpPr>
        <p:spPr>
          <a:xfrm xmlns:a="http://schemas.openxmlformats.org/drawingml/2006/main">
            <a:off x="2435537" y="1943100"/>
            <a:ext cx="300767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使用方式</a:t>
            </a:r>
          </a:p>
        </p:txBody>
      </p:sp>
      <p:sp>
        <p:nvSpPr>
          <p:cNvPr id="13" name="">
            <a:extLst xmlns:a="http://schemas.openxmlformats.org/drawingml/2006/main">
              <a:ext uri="{FF2B5EF4-FFF2-40B4-BE49-F238E27FC236}">
                <a16:creationId xmlns:a16="http://schemas.microsoft.com/office/drawing/2014/main" id="{9A431160-7226-4AEA-9B85-6F3D8C95BD14}"/>
              </a:ext>
            </a:extLst>
          </p:cNvPr>
          <p:cNvSpPr>
            <a:spLocks xmlns:a="http://schemas.openxmlformats.org/drawingml/2006/main" noGrp="1"/>
          </p:cNvSpPr>
          <p:nvPr/>
        </p:nvSpPr>
        <p:spPr>
          <a:xfrm xmlns:a="http://schemas.openxmlformats.org/drawingml/2006/main">
            <a:off x="5490841" y="1905000"/>
            <a:ext cx="310292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9E52B244-FF56-45FF-96B0-6CBC4A519DB8}"/>
              </a:ext>
            </a:extLst>
          </p:cNvPr>
          <p:cNvSpPr>
            <a:spLocks xmlns:a="http://schemas.openxmlformats.org/drawingml/2006/main" noGrp="1"/>
          </p:cNvSpPr>
          <p:nvPr/>
        </p:nvSpPr>
        <p:spPr>
          <a:xfrm xmlns:a="http://schemas.openxmlformats.org/drawingml/2006/main">
            <a:off x="5538466" y="1943100"/>
            <a:ext cx="300767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Codex/GPT 产出</a:t>
            </a:r>
          </a:p>
        </p:txBody>
      </p:sp>
      <p:sp>
        <p:nvSpPr>
          <p:cNvPr id="15" name="">
            <a:extLst xmlns:a="http://schemas.openxmlformats.org/drawingml/2006/main">
              <a:ext uri="{FF2B5EF4-FFF2-40B4-BE49-F238E27FC236}">
                <a16:creationId xmlns:a16="http://schemas.microsoft.com/office/drawing/2014/main" id="{4EBEBB68-D583-4BCB-B11E-F9558D506F9E}"/>
              </a:ext>
            </a:extLst>
          </p:cNvPr>
          <p:cNvSpPr>
            <a:spLocks xmlns:a="http://schemas.openxmlformats.org/drawingml/2006/main" noGrp="1"/>
          </p:cNvSpPr>
          <p:nvPr/>
        </p:nvSpPr>
        <p:spPr>
          <a:xfrm xmlns:a="http://schemas.openxmlformats.org/drawingml/2006/main">
            <a:off x="8593771" y="1905000"/>
            <a:ext cx="310292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F55DA7F6-6A97-489C-8D24-D993D86F5E60}"/>
              </a:ext>
            </a:extLst>
          </p:cNvPr>
          <p:cNvSpPr>
            <a:spLocks xmlns:a="http://schemas.openxmlformats.org/drawingml/2006/main" noGrp="1"/>
          </p:cNvSpPr>
          <p:nvPr/>
        </p:nvSpPr>
        <p:spPr>
          <a:xfrm xmlns:a="http://schemas.openxmlformats.org/drawingml/2006/main">
            <a:off x="8641396" y="1943100"/>
            <a:ext cx="300767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开发者确认与调整</a:t>
            </a:r>
          </a:p>
        </p:txBody>
      </p:sp>
      <p:sp>
        <p:nvSpPr>
          <p:cNvPr id="17" name="">
            <a:extLst xmlns:a="http://schemas.openxmlformats.org/drawingml/2006/main">
              <a:ext uri="{FF2B5EF4-FFF2-40B4-BE49-F238E27FC236}">
                <a16:creationId xmlns:a16="http://schemas.microsoft.com/office/drawing/2014/main" id="{30EEC63D-8EEF-46E2-A4F2-A659F388B8AD}"/>
              </a:ext>
            </a:extLst>
          </p:cNvPr>
          <p:cNvSpPr>
            <a:spLocks xmlns:a="http://schemas.openxmlformats.org/drawingml/2006/main" noGrp="1"/>
          </p:cNvSpPr>
          <p:nvPr/>
        </p:nvSpPr>
        <p:spPr>
          <a:xfrm xmlns:a="http://schemas.openxmlformats.org/drawingml/2006/main">
            <a:off x="457200" y="2305050"/>
            <a:ext cx="1930712"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C261D076-6352-4E3C-870A-33866E89A4CB}"/>
              </a:ext>
            </a:extLst>
          </p:cNvPr>
          <p:cNvSpPr>
            <a:spLocks xmlns:a="http://schemas.openxmlformats.org/drawingml/2006/main" noGrp="1"/>
          </p:cNvSpPr>
          <p:nvPr/>
        </p:nvSpPr>
        <p:spPr>
          <a:xfrm xmlns:a="http://schemas.openxmlformats.org/drawingml/2006/main">
            <a:off x="504825" y="2333625"/>
            <a:ext cx="183546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南北规则比较</a:t>
            </a:r>
          </a:p>
        </p:txBody>
      </p:sp>
      <p:sp>
        <p:nvSpPr>
          <p:cNvPr id="19" name="">
            <a:extLst xmlns:a="http://schemas.openxmlformats.org/drawingml/2006/main">
              <a:ext uri="{FF2B5EF4-FFF2-40B4-BE49-F238E27FC236}">
                <a16:creationId xmlns:a16="http://schemas.microsoft.com/office/drawing/2014/main" id="{DC1228CF-336E-456F-8465-A9F2E85A609D}"/>
              </a:ext>
            </a:extLst>
          </p:cNvPr>
          <p:cNvSpPr>
            <a:spLocks xmlns:a="http://schemas.openxmlformats.org/drawingml/2006/main" noGrp="1"/>
          </p:cNvSpPr>
          <p:nvPr/>
        </p:nvSpPr>
        <p:spPr>
          <a:xfrm xmlns:a="http://schemas.openxmlformats.org/drawingml/2006/main">
            <a:off x="2387912" y="2305050"/>
            <a:ext cx="3102929"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3001449C-7536-4608-A320-6702B95A0B64}"/>
              </a:ext>
            </a:extLst>
          </p:cNvPr>
          <p:cNvSpPr>
            <a:spLocks xmlns:a="http://schemas.openxmlformats.org/drawingml/2006/main" noGrp="1"/>
          </p:cNvSpPr>
          <p:nvPr/>
        </p:nvSpPr>
        <p:spPr>
          <a:xfrm xmlns:a="http://schemas.openxmlformats.org/drawingml/2006/main">
            <a:off x="2435537" y="2333625"/>
            <a:ext cx="3007679"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完成规则差异分析和 Kotlin 规则模块实现</a:t>
            </a:r>
          </a:p>
        </p:txBody>
      </p:sp>
      <p:sp>
        <p:nvSpPr>
          <p:cNvPr id="21" name="">
            <a:extLst xmlns:a="http://schemas.openxmlformats.org/drawingml/2006/main">
              <a:ext uri="{FF2B5EF4-FFF2-40B4-BE49-F238E27FC236}">
                <a16:creationId xmlns:a16="http://schemas.microsoft.com/office/drawing/2014/main" id="{81C2E6FC-C13E-491B-840E-61FBD6BAF5D5}"/>
              </a:ext>
            </a:extLst>
          </p:cNvPr>
          <p:cNvSpPr>
            <a:spLocks xmlns:a="http://schemas.openxmlformats.org/drawingml/2006/main" noGrp="1"/>
          </p:cNvSpPr>
          <p:nvPr/>
        </p:nvSpPr>
        <p:spPr>
          <a:xfrm xmlns:a="http://schemas.openxmlformats.org/drawingml/2006/main">
            <a:off x="5490841" y="2305050"/>
            <a:ext cx="3102929"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EE2F2DE1-3478-49F9-9653-3AD1A8874C7D}"/>
              </a:ext>
            </a:extLst>
          </p:cNvPr>
          <p:cNvSpPr>
            <a:spLocks xmlns:a="http://schemas.openxmlformats.org/drawingml/2006/main" noGrp="1"/>
          </p:cNvSpPr>
          <p:nvPr/>
        </p:nvSpPr>
        <p:spPr>
          <a:xfrm xmlns:a="http://schemas.openxmlformats.org/drawingml/2006/main">
            <a:off x="5538466" y="2333625"/>
            <a:ext cx="3007679"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形成 RuleProfile、NorthRuleSet、SouthRuleSet 和规则测试思路</a:t>
            </a:r>
          </a:p>
        </p:txBody>
      </p:sp>
      <p:sp>
        <p:nvSpPr>
          <p:cNvPr id="23" name="">
            <a:extLst xmlns:a="http://schemas.openxmlformats.org/drawingml/2006/main">
              <a:ext uri="{FF2B5EF4-FFF2-40B4-BE49-F238E27FC236}">
                <a16:creationId xmlns:a16="http://schemas.microsoft.com/office/drawing/2014/main" id="{746AD6EA-4DC1-4252-A5B6-879CBC6C6633}"/>
              </a:ext>
            </a:extLst>
          </p:cNvPr>
          <p:cNvSpPr>
            <a:spLocks xmlns:a="http://schemas.openxmlformats.org/drawingml/2006/main" noGrp="1"/>
          </p:cNvSpPr>
          <p:nvPr/>
        </p:nvSpPr>
        <p:spPr>
          <a:xfrm xmlns:a="http://schemas.openxmlformats.org/drawingml/2006/main">
            <a:off x="8593771" y="2305050"/>
            <a:ext cx="3102929"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4D0CD343-1229-4773-A20E-914385BB8BF8}"/>
              </a:ext>
            </a:extLst>
          </p:cNvPr>
          <p:cNvSpPr>
            <a:spLocks xmlns:a="http://schemas.openxmlformats.org/drawingml/2006/main" noGrp="1"/>
          </p:cNvSpPr>
          <p:nvPr/>
        </p:nvSpPr>
        <p:spPr>
          <a:xfrm xmlns:a="http://schemas.openxmlformats.org/drawingml/2006/main">
            <a:off x="8641396" y="2333625"/>
            <a:ext cx="3007679"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开发者运行规则测试并按实际玩法修正</a:t>
            </a:r>
          </a:p>
        </p:txBody>
      </p:sp>
      <p:sp>
        <p:nvSpPr>
          <p:cNvPr id="25" name="">
            <a:extLst xmlns:a="http://schemas.openxmlformats.org/drawingml/2006/main">
              <a:ext uri="{FF2B5EF4-FFF2-40B4-BE49-F238E27FC236}">
                <a16:creationId xmlns:a16="http://schemas.microsoft.com/office/drawing/2014/main" id="{9D92C1A8-BC91-4475-AF29-13584EAB33FC}"/>
              </a:ext>
            </a:extLst>
          </p:cNvPr>
          <p:cNvSpPr>
            <a:spLocks xmlns:a="http://schemas.openxmlformats.org/drawingml/2006/main" noGrp="1"/>
          </p:cNvSpPr>
          <p:nvPr/>
        </p:nvSpPr>
        <p:spPr>
          <a:xfrm xmlns:a="http://schemas.openxmlformats.org/drawingml/2006/main">
            <a:off x="457200" y="3214688"/>
            <a:ext cx="1930712"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20631ED4-5E72-4DFF-8AD1-8BED21FABC6A}"/>
              </a:ext>
            </a:extLst>
          </p:cNvPr>
          <p:cNvSpPr>
            <a:spLocks xmlns:a="http://schemas.openxmlformats.org/drawingml/2006/main" noGrp="1"/>
          </p:cNvSpPr>
          <p:nvPr/>
        </p:nvSpPr>
        <p:spPr>
          <a:xfrm xmlns:a="http://schemas.openxmlformats.org/drawingml/2006/main">
            <a:off x="504825" y="3243263"/>
            <a:ext cx="183546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蓝牙拓扑选择</a:t>
            </a:r>
          </a:p>
        </p:txBody>
      </p:sp>
      <p:sp>
        <p:nvSpPr>
          <p:cNvPr id="27" name="">
            <a:extLst xmlns:a="http://schemas.openxmlformats.org/drawingml/2006/main">
              <a:ext uri="{FF2B5EF4-FFF2-40B4-BE49-F238E27FC236}">
                <a16:creationId xmlns:a16="http://schemas.microsoft.com/office/drawing/2014/main" id="{0BA24583-6F6E-42F2-80B4-31262224B776}"/>
              </a:ext>
            </a:extLst>
          </p:cNvPr>
          <p:cNvSpPr>
            <a:spLocks xmlns:a="http://schemas.openxmlformats.org/drawingml/2006/main" noGrp="1"/>
          </p:cNvSpPr>
          <p:nvPr/>
        </p:nvSpPr>
        <p:spPr>
          <a:xfrm xmlns:a="http://schemas.openxmlformats.org/drawingml/2006/main">
            <a:off x="2387912" y="3214688"/>
            <a:ext cx="3102929"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D590F371-C451-4150-A2A9-8C6F9F69F9AC}"/>
              </a:ext>
            </a:extLst>
          </p:cNvPr>
          <p:cNvSpPr>
            <a:spLocks xmlns:a="http://schemas.openxmlformats.org/drawingml/2006/main" noGrp="1"/>
          </p:cNvSpPr>
          <p:nvPr/>
        </p:nvSpPr>
        <p:spPr>
          <a:xfrm xmlns:a="http://schemas.openxmlformats.org/drawingml/2006/main">
            <a:off x="2435537" y="3243263"/>
            <a:ext cx="3007679"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完成比较一对一匹配、网状连接和房主 C/S 方案</a:t>
            </a:r>
          </a:p>
        </p:txBody>
      </p:sp>
      <p:sp>
        <p:nvSpPr>
          <p:cNvPr id="29" name="">
            <a:extLst xmlns:a="http://schemas.openxmlformats.org/drawingml/2006/main">
              <a:ext uri="{FF2B5EF4-FFF2-40B4-BE49-F238E27FC236}">
                <a16:creationId xmlns:a16="http://schemas.microsoft.com/office/drawing/2014/main" id="{B77AAC62-55CD-4CD0-BEA5-7BE7D5F1B75F}"/>
              </a:ext>
            </a:extLst>
          </p:cNvPr>
          <p:cNvSpPr>
            <a:spLocks xmlns:a="http://schemas.openxmlformats.org/drawingml/2006/main" noGrp="1"/>
          </p:cNvSpPr>
          <p:nvPr/>
        </p:nvSpPr>
        <p:spPr>
          <a:xfrm xmlns:a="http://schemas.openxmlformats.org/drawingml/2006/main">
            <a:off x="5490841" y="3214688"/>
            <a:ext cx="3102929"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52179469-E14C-4C92-8FFD-5D0B86A38D05}"/>
              </a:ext>
            </a:extLst>
          </p:cNvPr>
          <p:cNvSpPr>
            <a:spLocks xmlns:a="http://schemas.openxmlformats.org/drawingml/2006/main" noGrp="1"/>
          </p:cNvSpPr>
          <p:nvPr/>
        </p:nvSpPr>
        <p:spPr>
          <a:xfrm xmlns:a="http://schemas.openxmlformats.org/drawingml/2006/main">
            <a:off x="5538466" y="3243263"/>
            <a:ext cx="3007679"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选择房主权威 C/S 模式，避免多端状态分叉</a:t>
            </a:r>
          </a:p>
        </p:txBody>
      </p:sp>
      <p:sp>
        <p:nvSpPr>
          <p:cNvPr id="31" name="">
            <a:extLst xmlns:a="http://schemas.openxmlformats.org/drawingml/2006/main">
              <a:ext uri="{FF2B5EF4-FFF2-40B4-BE49-F238E27FC236}">
                <a16:creationId xmlns:a16="http://schemas.microsoft.com/office/drawing/2014/main" id="{AAEB37AC-F986-4856-806D-B3EEA140E84D}"/>
              </a:ext>
            </a:extLst>
          </p:cNvPr>
          <p:cNvSpPr>
            <a:spLocks xmlns:a="http://schemas.openxmlformats.org/drawingml/2006/main" noGrp="1"/>
          </p:cNvSpPr>
          <p:nvPr/>
        </p:nvSpPr>
        <p:spPr>
          <a:xfrm xmlns:a="http://schemas.openxmlformats.org/drawingml/2006/main">
            <a:off x="8593771" y="3214688"/>
            <a:ext cx="3102929"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81AD40C7-3FBE-4ABB-B0DE-7EEC4B4E6D2F}"/>
              </a:ext>
            </a:extLst>
          </p:cNvPr>
          <p:cNvSpPr>
            <a:spLocks xmlns:a="http://schemas.openxmlformats.org/drawingml/2006/main" noGrp="1"/>
          </p:cNvSpPr>
          <p:nvPr/>
        </p:nvSpPr>
        <p:spPr>
          <a:xfrm xmlns:a="http://schemas.openxmlformats.org/drawingml/2006/main">
            <a:off x="8641396" y="3243263"/>
            <a:ext cx="3007679"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通过 GameTransport、GameMessageCodec 和模拟测试落地</a:t>
            </a:r>
          </a:p>
        </p:txBody>
      </p:sp>
      <p:sp>
        <p:nvSpPr>
          <p:cNvPr id="33" name="">
            <a:extLst xmlns:a="http://schemas.openxmlformats.org/drawingml/2006/main">
              <a:ext uri="{FF2B5EF4-FFF2-40B4-BE49-F238E27FC236}">
                <a16:creationId xmlns:a16="http://schemas.microsoft.com/office/drawing/2014/main" id="{FD6D6EFB-8BE5-4092-930C-485062E6504B}"/>
              </a:ext>
            </a:extLst>
          </p:cNvPr>
          <p:cNvSpPr>
            <a:spLocks xmlns:a="http://schemas.openxmlformats.org/drawingml/2006/main" noGrp="1"/>
          </p:cNvSpPr>
          <p:nvPr/>
        </p:nvSpPr>
        <p:spPr>
          <a:xfrm xmlns:a="http://schemas.openxmlformats.org/drawingml/2006/main">
            <a:off x="457200" y="4124325"/>
            <a:ext cx="1930712"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C183A1F3-2644-48BB-A79B-2F6949858D4E}"/>
              </a:ext>
            </a:extLst>
          </p:cNvPr>
          <p:cNvSpPr>
            <a:spLocks xmlns:a="http://schemas.openxmlformats.org/drawingml/2006/main" noGrp="1"/>
          </p:cNvSpPr>
          <p:nvPr/>
        </p:nvSpPr>
        <p:spPr>
          <a:xfrm xmlns:a="http://schemas.openxmlformats.org/drawingml/2006/main">
            <a:off x="504825" y="4152900"/>
            <a:ext cx="183546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断线处理方案</a:t>
            </a:r>
          </a:p>
        </p:txBody>
      </p:sp>
      <p:sp>
        <p:nvSpPr>
          <p:cNvPr id="35" name="">
            <a:extLst xmlns:a="http://schemas.openxmlformats.org/drawingml/2006/main">
              <a:ext uri="{FF2B5EF4-FFF2-40B4-BE49-F238E27FC236}">
                <a16:creationId xmlns:a16="http://schemas.microsoft.com/office/drawing/2014/main" id="{4A76B042-ECC9-41DB-BC94-EE46BA2055EE}"/>
              </a:ext>
            </a:extLst>
          </p:cNvPr>
          <p:cNvSpPr>
            <a:spLocks xmlns:a="http://schemas.openxmlformats.org/drawingml/2006/main" noGrp="1"/>
          </p:cNvSpPr>
          <p:nvPr/>
        </p:nvSpPr>
        <p:spPr>
          <a:xfrm xmlns:a="http://schemas.openxmlformats.org/drawingml/2006/main">
            <a:off x="2387912" y="4124325"/>
            <a:ext cx="3102929"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7D2FD702-2F45-4823-8B71-7D5C12FE0F9A}"/>
              </a:ext>
            </a:extLst>
          </p:cNvPr>
          <p:cNvSpPr>
            <a:spLocks xmlns:a="http://schemas.openxmlformats.org/drawingml/2006/main" noGrp="1"/>
          </p:cNvSpPr>
          <p:nvPr/>
        </p:nvSpPr>
        <p:spPr>
          <a:xfrm xmlns:a="http://schemas.openxmlformats.org/drawingml/2006/main">
            <a:off x="2435537" y="4152900"/>
            <a:ext cx="3007679"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完成分析客户端断线、房主断线、重复请求和旧消息覆盖等风险</a:t>
            </a:r>
          </a:p>
        </p:txBody>
      </p:sp>
      <p:sp>
        <p:nvSpPr>
          <p:cNvPr id="37" name="">
            <a:extLst xmlns:a="http://schemas.openxmlformats.org/drawingml/2006/main">
              <a:ext uri="{FF2B5EF4-FFF2-40B4-BE49-F238E27FC236}">
                <a16:creationId xmlns:a16="http://schemas.microsoft.com/office/drawing/2014/main" id="{F06DCCAC-008E-4F20-94B4-E0738FFC2013}"/>
              </a:ext>
            </a:extLst>
          </p:cNvPr>
          <p:cNvSpPr>
            <a:spLocks xmlns:a="http://schemas.openxmlformats.org/drawingml/2006/main" noGrp="1"/>
          </p:cNvSpPr>
          <p:nvPr/>
        </p:nvSpPr>
        <p:spPr>
          <a:xfrm xmlns:a="http://schemas.openxmlformats.org/drawingml/2006/main">
            <a:off x="5490841" y="4124325"/>
            <a:ext cx="3102929"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61F080FD-30A0-46E9-89A9-1119508DDB52}"/>
              </a:ext>
            </a:extLst>
          </p:cNvPr>
          <p:cNvSpPr>
            <a:spLocks xmlns:a="http://schemas.openxmlformats.org/drawingml/2006/main" noGrp="1"/>
          </p:cNvSpPr>
          <p:nvPr/>
        </p:nvSpPr>
        <p:spPr>
          <a:xfrm xmlns:a="http://schemas.openxmlformats.org/drawingml/2006/main">
            <a:off x="5538466" y="4152900"/>
            <a:ext cx="3007679"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当前代码采用 takeoverByAi 客户端托管、房主断线弹窗退出的保守方案；clientId、hostEpoch 保留为协议扩展字段</a:t>
            </a:r>
          </a:p>
        </p:txBody>
      </p:sp>
      <p:sp>
        <p:nvSpPr>
          <p:cNvPr id="39" name="">
            <a:extLst xmlns:a="http://schemas.openxmlformats.org/drawingml/2006/main">
              <a:ext uri="{FF2B5EF4-FFF2-40B4-BE49-F238E27FC236}">
                <a16:creationId xmlns:a16="http://schemas.microsoft.com/office/drawing/2014/main" id="{5AD78BE3-7645-479F-A352-AAF5E17F3D30}"/>
              </a:ext>
            </a:extLst>
          </p:cNvPr>
          <p:cNvSpPr>
            <a:spLocks xmlns:a="http://schemas.openxmlformats.org/drawingml/2006/main" noGrp="1"/>
          </p:cNvSpPr>
          <p:nvPr/>
        </p:nvSpPr>
        <p:spPr>
          <a:xfrm xmlns:a="http://schemas.openxmlformats.org/drawingml/2006/main">
            <a:off x="8593771" y="4124325"/>
            <a:ext cx="3102929"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86373026-A8EB-4B4F-919B-270179EFF45C}"/>
              </a:ext>
            </a:extLst>
          </p:cNvPr>
          <p:cNvSpPr>
            <a:spLocks xmlns:a="http://schemas.openxmlformats.org/drawingml/2006/main" noGrp="1"/>
          </p:cNvSpPr>
          <p:nvPr/>
        </p:nvSpPr>
        <p:spPr>
          <a:xfrm xmlns:a="http://schemas.openxmlformats.org/drawingml/2006/main">
            <a:off x="8641396" y="4152900"/>
            <a:ext cx="3007679"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通过 RoomSeatTest、SimulatedBluetoothHubTest 覆盖客户端断线托管和房间边界</a:t>
            </a:r>
          </a:p>
        </p:txBody>
      </p:sp>
      <p:sp>
        <p:nvSpPr>
          <p:cNvPr id="41" name="">
            <a:extLst xmlns:a="http://schemas.openxmlformats.org/drawingml/2006/main">
              <a:ext uri="{FF2B5EF4-FFF2-40B4-BE49-F238E27FC236}">
                <a16:creationId xmlns:a16="http://schemas.microsoft.com/office/drawing/2014/main" id="{012A97EC-2EEC-41E8-BC45-2595AE4428CB}"/>
              </a:ext>
            </a:extLst>
          </p:cNvPr>
          <p:cNvSpPr>
            <a:spLocks xmlns:a="http://schemas.openxmlformats.org/drawingml/2006/main" noGrp="1"/>
          </p:cNvSpPr>
          <p:nvPr/>
        </p:nvSpPr>
        <p:spPr>
          <a:xfrm xmlns:a="http://schemas.openxmlformats.org/drawingml/2006/main">
            <a:off x="457200" y="5033963"/>
            <a:ext cx="1930712"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5CC28250-356E-4754-9116-54DE4D68BC8C}"/>
              </a:ext>
            </a:extLst>
          </p:cNvPr>
          <p:cNvSpPr>
            <a:spLocks xmlns:a="http://schemas.openxmlformats.org/drawingml/2006/main" noGrp="1"/>
          </p:cNvSpPr>
          <p:nvPr/>
        </p:nvSpPr>
        <p:spPr>
          <a:xfrm xmlns:a="http://schemas.openxmlformats.org/drawingml/2006/main">
            <a:off x="504825" y="5062538"/>
            <a:ext cx="183546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设计模式说明</a:t>
            </a:r>
          </a:p>
        </p:txBody>
      </p:sp>
      <p:sp>
        <p:nvSpPr>
          <p:cNvPr id="43" name="">
            <a:extLst xmlns:a="http://schemas.openxmlformats.org/drawingml/2006/main">
              <a:ext uri="{FF2B5EF4-FFF2-40B4-BE49-F238E27FC236}">
                <a16:creationId xmlns:a16="http://schemas.microsoft.com/office/drawing/2014/main" id="{FEF0BAB3-6CBA-41AF-969D-7650B912F932}"/>
              </a:ext>
            </a:extLst>
          </p:cNvPr>
          <p:cNvSpPr>
            <a:spLocks xmlns:a="http://schemas.openxmlformats.org/drawingml/2006/main" noGrp="1"/>
          </p:cNvSpPr>
          <p:nvPr/>
        </p:nvSpPr>
        <p:spPr>
          <a:xfrm xmlns:a="http://schemas.openxmlformats.org/drawingml/2006/main">
            <a:off x="2387912" y="5033963"/>
            <a:ext cx="3102929"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DE1231B9-52B7-47DA-9A2C-2739C7C57A3A}"/>
              </a:ext>
            </a:extLst>
          </p:cNvPr>
          <p:cNvSpPr>
            <a:spLocks xmlns:a="http://schemas.openxmlformats.org/drawingml/2006/main" noGrp="1"/>
          </p:cNvSpPr>
          <p:nvPr/>
        </p:nvSpPr>
        <p:spPr>
          <a:xfrm xmlns:a="http://schemas.openxmlformats.org/drawingml/2006/main">
            <a:off x="2435537" y="5062538"/>
            <a:ext cx="3007679"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完成把接口隔离、主机权威、编解码器、事件驱动和托管恢复对应到代码点</a:t>
            </a:r>
          </a:p>
        </p:txBody>
      </p:sp>
      <p:sp>
        <p:nvSpPr>
          <p:cNvPr id="45" name="">
            <a:extLst xmlns:a="http://schemas.openxmlformats.org/drawingml/2006/main">
              <a:ext uri="{FF2B5EF4-FFF2-40B4-BE49-F238E27FC236}">
                <a16:creationId xmlns:a16="http://schemas.microsoft.com/office/drawing/2014/main" id="{82218E23-DB63-43F1-9AD8-7568E48AE7D9}"/>
              </a:ext>
            </a:extLst>
          </p:cNvPr>
          <p:cNvSpPr>
            <a:spLocks xmlns:a="http://schemas.openxmlformats.org/drawingml/2006/main" noGrp="1"/>
          </p:cNvSpPr>
          <p:nvPr/>
        </p:nvSpPr>
        <p:spPr>
          <a:xfrm xmlns:a="http://schemas.openxmlformats.org/drawingml/2006/main">
            <a:off x="5490841" y="5033963"/>
            <a:ext cx="3102929"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C03AFCED-9D79-43F0-A028-528190C1CBAE}"/>
              </a:ext>
            </a:extLst>
          </p:cNvPr>
          <p:cNvSpPr>
            <a:spLocks xmlns:a="http://schemas.openxmlformats.org/drawingml/2006/main" noGrp="1"/>
          </p:cNvSpPr>
          <p:nvPr/>
        </p:nvSpPr>
        <p:spPr>
          <a:xfrm xmlns:a="http://schemas.openxmlformats.org/drawingml/2006/main">
            <a:off x="5538466" y="5062538"/>
            <a:ext cx="3007679"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形成报告第 6.4 节设计模式表</a:t>
            </a:r>
          </a:p>
        </p:txBody>
      </p:sp>
      <p:sp>
        <p:nvSpPr>
          <p:cNvPr id="47" name="">
            <a:extLst xmlns:a="http://schemas.openxmlformats.org/drawingml/2006/main">
              <a:ext uri="{FF2B5EF4-FFF2-40B4-BE49-F238E27FC236}">
                <a16:creationId xmlns:a16="http://schemas.microsoft.com/office/drawing/2014/main" id="{1C9BCB20-2EF0-4919-A8BA-BC6D3D016EE4}"/>
              </a:ext>
            </a:extLst>
          </p:cNvPr>
          <p:cNvSpPr>
            <a:spLocks xmlns:a="http://schemas.openxmlformats.org/drawingml/2006/main" noGrp="1"/>
          </p:cNvSpPr>
          <p:nvPr/>
        </p:nvSpPr>
        <p:spPr>
          <a:xfrm xmlns:a="http://schemas.openxmlformats.org/drawingml/2006/main">
            <a:off x="8593771" y="5033963"/>
            <a:ext cx="3102929"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EEAC5F23-C5C7-457E-B0D1-3AA9B084682E}"/>
              </a:ext>
            </a:extLst>
          </p:cNvPr>
          <p:cNvSpPr>
            <a:spLocks xmlns:a="http://schemas.openxmlformats.org/drawingml/2006/main" noGrp="1"/>
          </p:cNvSpPr>
          <p:nvPr/>
        </p:nvSpPr>
        <p:spPr>
          <a:xfrm xmlns:a="http://schemas.openxmlformats.org/drawingml/2006/main">
            <a:off x="8641396" y="5062538"/>
            <a:ext cx="3007679"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小组按实际源码文件逐项核对，避免空写模式名称</a:t>
            </a:r>
          </a:p>
        </p:txBody>
      </p:sp>
    </p:spTree>
    <p:extLst>
      <p:ext uri="{BB962C8B-B14F-4D97-AF65-F5344CB8AC3E}">
        <p14:creationId xmlns:p14="http://schemas.microsoft.com/office/powerpoint/2010/main" val="856815924"/>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876458-EE72-40AB-8B48-70AFDDB1F3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65B5B2-EDE0-4FE7-A1F7-ED3FB6091C24}"/>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3CA1156-ABF5-45CD-A880-8B1382AFCD81}"/>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C163B801-159C-46BE-A1ED-7140B972FDD3}"/>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0D63FC83-1641-44B8-917C-413ED23EE414}"/>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61</a:t>
            </a:r>
          </a:p>
        </p:txBody>
      </p:sp>
      <p:sp>
        <p:nvSpPr>
          <p:cNvPr id="6" name="">
            <a:extLst xmlns:a="http://schemas.openxmlformats.org/drawingml/2006/main">
              <a:ext uri="{FF2B5EF4-FFF2-40B4-BE49-F238E27FC236}">
                <a16:creationId xmlns:a16="http://schemas.microsoft.com/office/drawing/2014/main" id="{F7B92211-1D56-479E-9C6B-28B81355C615}"/>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330F9248-86DA-4A82-A4AA-DB23A1102887}"/>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6.7 评分标准对应</a:t>
            </a:r>
          </a:p>
        </p:txBody>
      </p:sp>
      <p:sp>
        <p:nvSpPr>
          <p:cNvPr id="8" name="">
            <a:extLst xmlns:a="http://schemas.openxmlformats.org/drawingml/2006/main">
              <a:ext uri="{FF2B5EF4-FFF2-40B4-BE49-F238E27FC236}">
                <a16:creationId xmlns:a16="http://schemas.microsoft.com/office/drawing/2014/main" id="{C48E9DB6-22B6-4C74-A077-AD1928734787}"/>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EF8ABBF-1E42-460E-BCAB-D490AF8D2EA4}"/>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本阶段对应评分标准：</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1. 适配玩家自由选择南北规则的不同玩法。</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2. 实现多人的蓝牙连接，提供多名玩家联机对战功能。</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3. 详细设计时引入必要设计模式，优化设计。</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4. 通过 UML 顺序图、组件图和部署图说明联机结构。</a:t>
            </a:r>
          </a:p>
        </p:txBody>
      </p:sp>
    </p:spTree>
    <p:extLst>
      <p:ext uri="{BB962C8B-B14F-4D97-AF65-F5344CB8AC3E}">
        <p14:creationId xmlns:p14="http://schemas.microsoft.com/office/powerpoint/2010/main" val="1274105155"/>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0DCFE1-F712-4BCC-8F7E-C7DE8A6553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6BA119-0A77-4761-A150-5FA245F91EE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D2292D0-6674-4A4D-8D2C-1F139A32769B}"/>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DB520DC8-6545-475F-AB4C-2185B020C61B}"/>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6. 阶段 3：细化迭代 2 / 构造（Elaboration / Construction）</a:t>
            </a:r>
          </a:p>
        </p:txBody>
      </p:sp>
      <p:sp>
        <p:nvSpPr>
          <p:cNvPr id="5" name="">
            <a:extLst xmlns:a="http://schemas.openxmlformats.org/drawingml/2006/main">
              <a:ext uri="{FF2B5EF4-FFF2-40B4-BE49-F238E27FC236}">
                <a16:creationId xmlns:a16="http://schemas.microsoft.com/office/drawing/2014/main" id="{E45D7B27-2AD8-44D5-B914-F1F2DD4D05B2}"/>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62</a:t>
            </a:r>
          </a:p>
        </p:txBody>
      </p:sp>
      <p:sp>
        <p:nvSpPr>
          <p:cNvPr id="6" name="">
            <a:extLst xmlns:a="http://schemas.openxmlformats.org/drawingml/2006/main">
              <a:ext uri="{FF2B5EF4-FFF2-40B4-BE49-F238E27FC236}">
                <a16:creationId xmlns:a16="http://schemas.microsoft.com/office/drawing/2014/main" id="{1357EC0B-8458-4BAA-A11F-64F74301AE62}"/>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2B1F4F2D-210B-4B57-8C4F-0514A6C04384}"/>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6.8 问题与解决</a:t>
            </a:r>
          </a:p>
        </p:txBody>
      </p:sp>
      <p:sp>
        <p:nvSpPr>
          <p:cNvPr id="8" name="">
            <a:extLst xmlns:a="http://schemas.openxmlformats.org/drawingml/2006/main">
              <a:ext uri="{FF2B5EF4-FFF2-40B4-BE49-F238E27FC236}">
                <a16:creationId xmlns:a16="http://schemas.microsoft.com/office/drawing/2014/main" id="{0127DD0F-7EDD-4963-809C-C6D12B71D572}"/>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9576A7A-BA5C-4F9F-A00E-6B0A942A2E77}"/>
              </a:ext>
            </a:extLst>
          </p:cNvPr>
          <p:cNvSpPr>
            <a:spLocks xmlns:a="http://schemas.openxmlformats.org/drawingml/2006/main" noGrp="1"/>
          </p:cNvSpPr>
          <p:nvPr/>
        </p:nvSpPr>
        <p:spPr>
          <a:xfrm xmlns:a="http://schemas.openxmlformats.org/drawingml/2006/main">
            <a:off x="45720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1A1FBDDE-2C7C-4C00-BCCE-50873470BE0E}"/>
              </a:ext>
            </a:extLst>
          </p:cNvPr>
          <p:cNvSpPr>
            <a:spLocks xmlns:a="http://schemas.openxmlformats.org/drawingml/2006/main" noGrp="1"/>
          </p:cNvSpPr>
          <p:nvPr/>
        </p:nvSpPr>
        <p:spPr>
          <a:xfrm xmlns:a="http://schemas.openxmlformats.org/drawingml/2006/main">
            <a:off x="50482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问题</a:t>
            </a:r>
          </a:p>
        </p:txBody>
      </p:sp>
      <p:sp>
        <p:nvSpPr>
          <p:cNvPr id="11" name="">
            <a:extLst xmlns:a="http://schemas.openxmlformats.org/drawingml/2006/main">
              <a:ext uri="{FF2B5EF4-FFF2-40B4-BE49-F238E27FC236}">
                <a16:creationId xmlns:a16="http://schemas.microsoft.com/office/drawing/2014/main" id="{40DF453B-5D2A-442A-A0B5-C63F2D9BF18A}"/>
              </a:ext>
            </a:extLst>
          </p:cNvPr>
          <p:cNvSpPr>
            <a:spLocks xmlns:a="http://schemas.openxmlformats.org/drawingml/2006/main" noGrp="1"/>
          </p:cNvSpPr>
          <p:nvPr/>
        </p:nvSpPr>
        <p:spPr>
          <a:xfrm xmlns:a="http://schemas.openxmlformats.org/drawingml/2006/main">
            <a:off x="607695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72CC4AD6-3580-4366-A20F-586B5F3E6DB3}"/>
              </a:ext>
            </a:extLst>
          </p:cNvPr>
          <p:cNvSpPr>
            <a:spLocks xmlns:a="http://schemas.openxmlformats.org/drawingml/2006/main" noGrp="1"/>
          </p:cNvSpPr>
          <p:nvPr/>
        </p:nvSpPr>
        <p:spPr>
          <a:xfrm xmlns:a="http://schemas.openxmlformats.org/drawingml/2006/main">
            <a:off x="612457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解决方法</a:t>
            </a:r>
          </a:p>
        </p:txBody>
      </p:sp>
      <p:sp>
        <p:nvSpPr>
          <p:cNvPr id="13" name="">
            <a:extLst xmlns:a="http://schemas.openxmlformats.org/drawingml/2006/main">
              <a:ext uri="{FF2B5EF4-FFF2-40B4-BE49-F238E27FC236}">
                <a16:creationId xmlns:a16="http://schemas.microsoft.com/office/drawing/2014/main" id="{ED571308-EC8D-41A1-904D-679D9F9E0F71}"/>
              </a:ext>
            </a:extLst>
          </p:cNvPr>
          <p:cNvSpPr>
            <a:spLocks xmlns:a="http://schemas.openxmlformats.org/drawingml/2006/main" noGrp="1"/>
          </p:cNvSpPr>
          <p:nvPr/>
        </p:nvSpPr>
        <p:spPr>
          <a:xfrm xmlns:a="http://schemas.openxmlformats.org/drawingml/2006/main">
            <a:off x="457200" y="2305050"/>
            <a:ext cx="56197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4" name="">
            <a:extLst xmlns:a="http://schemas.openxmlformats.org/drawingml/2006/main">
              <a:ext uri="{FF2B5EF4-FFF2-40B4-BE49-F238E27FC236}">
                <a16:creationId xmlns:a16="http://schemas.microsoft.com/office/drawing/2014/main" id="{20BD908E-DA4C-4292-9A28-CA78C907633F}"/>
              </a:ext>
            </a:extLst>
          </p:cNvPr>
          <p:cNvSpPr>
            <a:spLocks xmlns:a="http://schemas.openxmlformats.org/drawingml/2006/main" noGrp="1"/>
          </p:cNvSpPr>
          <p:nvPr/>
        </p:nvSpPr>
        <p:spPr>
          <a:xfrm xmlns:a="http://schemas.openxmlformats.org/drawingml/2006/main">
            <a:off x="504825" y="2333625"/>
            <a:ext cx="55245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蓝牙多机连接容易出现状态不一致</a:t>
            </a:r>
          </a:p>
        </p:txBody>
      </p:sp>
      <p:sp>
        <p:nvSpPr>
          <p:cNvPr id="15" name="">
            <a:extLst xmlns:a="http://schemas.openxmlformats.org/drawingml/2006/main">
              <a:ext uri="{FF2B5EF4-FFF2-40B4-BE49-F238E27FC236}">
                <a16:creationId xmlns:a16="http://schemas.microsoft.com/office/drawing/2014/main" id="{71BC7343-FE4A-486D-B948-9F574CE63E53}"/>
              </a:ext>
            </a:extLst>
          </p:cNvPr>
          <p:cNvSpPr>
            <a:spLocks xmlns:a="http://schemas.openxmlformats.org/drawingml/2006/main" noGrp="1"/>
          </p:cNvSpPr>
          <p:nvPr/>
        </p:nvSpPr>
        <p:spPr>
          <a:xfrm xmlns:a="http://schemas.openxmlformats.org/drawingml/2006/main">
            <a:off x="6076950" y="2305050"/>
            <a:ext cx="56197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345DD146-ADD5-4116-9B72-8ED67706D2AC}"/>
              </a:ext>
            </a:extLst>
          </p:cNvPr>
          <p:cNvSpPr>
            <a:spLocks xmlns:a="http://schemas.openxmlformats.org/drawingml/2006/main" noGrp="1"/>
          </p:cNvSpPr>
          <p:nvPr/>
        </p:nvSpPr>
        <p:spPr>
          <a:xfrm xmlns:a="http://schemas.openxmlformats.org/drawingml/2006/main">
            <a:off x="6124575" y="2333625"/>
            <a:ext cx="55245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使用房主权威同步，客户端只提交请求，最终以房主快照为准</a:t>
            </a:r>
          </a:p>
        </p:txBody>
      </p:sp>
      <p:sp>
        <p:nvSpPr>
          <p:cNvPr id="17" name="">
            <a:extLst xmlns:a="http://schemas.openxmlformats.org/drawingml/2006/main">
              <a:ext uri="{FF2B5EF4-FFF2-40B4-BE49-F238E27FC236}">
                <a16:creationId xmlns:a16="http://schemas.microsoft.com/office/drawing/2014/main" id="{901C6E20-0964-4F9F-B185-370A7DF36D27}"/>
              </a:ext>
            </a:extLst>
          </p:cNvPr>
          <p:cNvSpPr>
            <a:spLocks xmlns:a="http://schemas.openxmlformats.org/drawingml/2006/main" noGrp="1"/>
          </p:cNvSpPr>
          <p:nvPr/>
        </p:nvSpPr>
        <p:spPr>
          <a:xfrm xmlns:a="http://schemas.openxmlformats.org/drawingml/2006/main">
            <a:off x="457200" y="2911475"/>
            <a:ext cx="56197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3F1E801B-3126-4654-BAE6-5BDAA45ED8DB}"/>
              </a:ext>
            </a:extLst>
          </p:cNvPr>
          <p:cNvSpPr>
            <a:spLocks xmlns:a="http://schemas.openxmlformats.org/drawingml/2006/main" noGrp="1"/>
          </p:cNvSpPr>
          <p:nvPr/>
        </p:nvSpPr>
        <p:spPr>
          <a:xfrm xmlns:a="http://schemas.openxmlformats.org/drawingml/2006/main">
            <a:off x="504825" y="2940050"/>
            <a:ext cx="55245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真机数量不足会影响联机测试</a:t>
            </a:r>
          </a:p>
        </p:txBody>
      </p:sp>
      <p:sp>
        <p:nvSpPr>
          <p:cNvPr id="19" name="">
            <a:extLst xmlns:a="http://schemas.openxmlformats.org/drawingml/2006/main">
              <a:ext uri="{FF2B5EF4-FFF2-40B4-BE49-F238E27FC236}">
                <a16:creationId xmlns:a16="http://schemas.microsoft.com/office/drawing/2014/main" id="{4FF5475C-2927-4B31-9EB6-323078D06F48}"/>
              </a:ext>
            </a:extLst>
          </p:cNvPr>
          <p:cNvSpPr>
            <a:spLocks xmlns:a="http://schemas.openxmlformats.org/drawingml/2006/main" noGrp="1"/>
          </p:cNvSpPr>
          <p:nvPr/>
        </p:nvSpPr>
        <p:spPr>
          <a:xfrm xmlns:a="http://schemas.openxmlformats.org/drawingml/2006/main">
            <a:off x="6076950" y="2911475"/>
            <a:ext cx="56197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8FEA1C5E-8C72-4B34-B1E1-C5E7D051ABA8}"/>
              </a:ext>
            </a:extLst>
          </p:cNvPr>
          <p:cNvSpPr>
            <a:spLocks xmlns:a="http://schemas.openxmlformats.org/drawingml/2006/main" noGrp="1"/>
          </p:cNvSpPr>
          <p:nvPr/>
        </p:nvSpPr>
        <p:spPr>
          <a:xfrm xmlns:a="http://schemas.openxmlformats.org/drawingml/2006/main">
            <a:off x="6124575" y="2940050"/>
            <a:ext cx="55245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使用 SimulatedBluetoothHubTest 覆盖三人加入、房满拒绝、广播、移动请求和客户端断线托管</a:t>
            </a:r>
          </a:p>
        </p:txBody>
      </p:sp>
      <p:sp>
        <p:nvSpPr>
          <p:cNvPr id="21" name="">
            <a:extLst xmlns:a="http://schemas.openxmlformats.org/drawingml/2006/main">
              <a:ext uri="{FF2B5EF4-FFF2-40B4-BE49-F238E27FC236}">
                <a16:creationId xmlns:a16="http://schemas.microsoft.com/office/drawing/2014/main" id="{FB935374-DDEB-4567-BB78-F593B0C84B34}"/>
              </a:ext>
            </a:extLst>
          </p:cNvPr>
          <p:cNvSpPr>
            <a:spLocks xmlns:a="http://schemas.openxmlformats.org/drawingml/2006/main" noGrp="1"/>
          </p:cNvSpPr>
          <p:nvPr/>
        </p:nvSpPr>
        <p:spPr>
          <a:xfrm xmlns:a="http://schemas.openxmlformats.org/drawingml/2006/main">
            <a:off x="457200" y="3517900"/>
            <a:ext cx="56197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13648086-C7DB-426E-94AE-20536086C556}"/>
              </a:ext>
            </a:extLst>
          </p:cNvPr>
          <p:cNvSpPr>
            <a:spLocks xmlns:a="http://schemas.openxmlformats.org/drawingml/2006/main" noGrp="1"/>
          </p:cNvSpPr>
          <p:nvPr/>
        </p:nvSpPr>
        <p:spPr>
          <a:xfrm xmlns:a="http://schemas.openxmlformats.org/drawingml/2006/main">
            <a:off x="504825" y="3546475"/>
            <a:ext cx="55245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客户端断线会导致座位空缺和牌局中断</a:t>
            </a:r>
          </a:p>
        </p:txBody>
      </p:sp>
      <p:sp>
        <p:nvSpPr>
          <p:cNvPr id="23" name="">
            <a:extLst xmlns:a="http://schemas.openxmlformats.org/drawingml/2006/main">
              <a:ext uri="{FF2B5EF4-FFF2-40B4-BE49-F238E27FC236}">
                <a16:creationId xmlns:a16="http://schemas.microsoft.com/office/drawing/2014/main" id="{3D99F698-3D73-458D-903B-C801046A38CC}"/>
              </a:ext>
            </a:extLst>
          </p:cNvPr>
          <p:cNvSpPr>
            <a:spLocks xmlns:a="http://schemas.openxmlformats.org/drawingml/2006/main" noGrp="1"/>
          </p:cNvSpPr>
          <p:nvPr/>
        </p:nvSpPr>
        <p:spPr>
          <a:xfrm xmlns:a="http://schemas.openxmlformats.org/drawingml/2006/main">
            <a:off x="6076950" y="3517900"/>
            <a:ext cx="56197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1D291950-9067-4DF9-A5D4-7038C6271730}"/>
              </a:ext>
            </a:extLst>
          </p:cNvPr>
          <p:cNvSpPr>
            <a:spLocks xmlns:a="http://schemas.openxmlformats.org/drawingml/2006/main" noGrp="1"/>
          </p:cNvSpPr>
          <p:nvPr/>
        </p:nvSpPr>
        <p:spPr>
          <a:xfrm xmlns:a="http://schemas.openxmlformats.org/drawingml/2006/main">
            <a:off x="6124575" y="3546475"/>
            <a:ext cx="55245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保留原座位并设置 takeoverByAi，房主用普通 AI 继续代打；当前版本不承诺自动重连恢复</a:t>
            </a:r>
          </a:p>
        </p:txBody>
      </p:sp>
      <p:sp>
        <p:nvSpPr>
          <p:cNvPr id="25" name="">
            <a:extLst xmlns:a="http://schemas.openxmlformats.org/drawingml/2006/main">
              <a:ext uri="{FF2B5EF4-FFF2-40B4-BE49-F238E27FC236}">
                <a16:creationId xmlns:a16="http://schemas.microsoft.com/office/drawing/2014/main" id="{ED7D90F3-2A14-4069-94C6-58400DF58505}"/>
              </a:ext>
            </a:extLst>
          </p:cNvPr>
          <p:cNvSpPr>
            <a:spLocks xmlns:a="http://schemas.openxmlformats.org/drawingml/2006/main" noGrp="1"/>
          </p:cNvSpPr>
          <p:nvPr/>
        </p:nvSpPr>
        <p:spPr>
          <a:xfrm xmlns:a="http://schemas.openxmlformats.org/drawingml/2006/main">
            <a:off x="457200" y="4124325"/>
            <a:ext cx="56197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05F5A068-322E-4E27-A041-4D3B87B8C5F4}"/>
              </a:ext>
            </a:extLst>
          </p:cNvPr>
          <p:cNvSpPr>
            <a:spLocks xmlns:a="http://schemas.openxmlformats.org/drawingml/2006/main" noGrp="1"/>
          </p:cNvSpPr>
          <p:nvPr/>
        </p:nvSpPr>
        <p:spPr>
          <a:xfrm xmlns:a="http://schemas.openxmlformats.org/drawingml/2006/main">
            <a:off x="504825" y="4152900"/>
            <a:ext cx="55245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房主断线会导致权威端丢失</a:t>
            </a:r>
          </a:p>
        </p:txBody>
      </p:sp>
      <p:sp>
        <p:nvSpPr>
          <p:cNvPr id="27" name="">
            <a:extLst xmlns:a="http://schemas.openxmlformats.org/drawingml/2006/main">
              <a:ext uri="{FF2B5EF4-FFF2-40B4-BE49-F238E27FC236}">
                <a16:creationId xmlns:a16="http://schemas.microsoft.com/office/drawing/2014/main" id="{6FBDB6EB-3E58-4BCB-A8B0-A0A233F29054}"/>
              </a:ext>
            </a:extLst>
          </p:cNvPr>
          <p:cNvSpPr>
            <a:spLocks xmlns:a="http://schemas.openxmlformats.org/drawingml/2006/main" noGrp="1"/>
          </p:cNvSpPr>
          <p:nvPr/>
        </p:nvSpPr>
        <p:spPr>
          <a:xfrm xmlns:a="http://schemas.openxmlformats.org/drawingml/2006/main">
            <a:off x="6076950" y="4124325"/>
            <a:ext cx="56197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8AE6F336-EA38-4403-B30C-7AF4EEA2800A}"/>
              </a:ext>
            </a:extLst>
          </p:cNvPr>
          <p:cNvSpPr>
            <a:spLocks xmlns:a="http://schemas.openxmlformats.org/drawingml/2006/main" noGrp="1"/>
          </p:cNvSpPr>
          <p:nvPr/>
        </p:nvSpPr>
        <p:spPr>
          <a:xfrm xmlns:a="http://schemas.openxmlformats.org/drawingml/2006/main">
            <a:off x="6124575" y="4152900"/>
            <a:ext cx="55245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当前版本弹窗提示后退出房间，要求重新创建或重新加入，避免无权威端时状态分叉</a:t>
            </a:r>
          </a:p>
        </p:txBody>
      </p:sp>
      <p:sp>
        <p:nvSpPr>
          <p:cNvPr id="29" name="">
            <a:extLst xmlns:a="http://schemas.openxmlformats.org/drawingml/2006/main">
              <a:ext uri="{FF2B5EF4-FFF2-40B4-BE49-F238E27FC236}">
                <a16:creationId xmlns:a16="http://schemas.microsoft.com/office/drawing/2014/main" id="{B295BDFF-6C7F-47C9-88CC-4864F994D43C}"/>
              </a:ext>
            </a:extLst>
          </p:cNvPr>
          <p:cNvSpPr>
            <a:spLocks xmlns:a="http://schemas.openxmlformats.org/drawingml/2006/main" noGrp="1"/>
          </p:cNvSpPr>
          <p:nvPr/>
        </p:nvSpPr>
        <p:spPr>
          <a:xfrm xmlns:a="http://schemas.openxmlformats.org/drawingml/2006/main">
            <a:off x="457200" y="4730750"/>
            <a:ext cx="56197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EB9CC2F6-9378-41DC-A270-22AAF1F1884B}"/>
              </a:ext>
            </a:extLst>
          </p:cNvPr>
          <p:cNvSpPr>
            <a:spLocks xmlns:a="http://schemas.openxmlformats.org/drawingml/2006/main" noGrp="1"/>
          </p:cNvSpPr>
          <p:nvPr/>
        </p:nvSpPr>
        <p:spPr>
          <a:xfrm xmlns:a="http://schemas.openxmlformats.org/drawingml/2006/main">
            <a:off x="504825" y="4759325"/>
            <a:ext cx="55245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南北规则差异会影响首出和压牌</a:t>
            </a:r>
          </a:p>
        </p:txBody>
      </p:sp>
      <p:sp>
        <p:nvSpPr>
          <p:cNvPr id="31" name="">
            <a:extLst xmlns:a="http://schemas.openxmlformats.org/drawingml/2006/main">
              <a:ext uri="{FF2B5EF4-FFF2-40B4-BE49-F238E27FC236}">
                <a16:creationId xmlns:a16="http://schemas.microsoft.com/office/drawing/2014/main" id="{E56FD30B-DFE6-4E1D-8F2C-5AAB6190D290}"/>
              </a:ext>
            </a:extLst>
          </p:cNvPr>
          <p:cNvSpPr>
            <a:spLocks xmlns:a="http://schemas.openxmlformats.org/drawingml/2006/main" noGrp="1"/>
          </p:cNvSpPr>
          <p:nvPr/>
        </p:nvSpPr>
        <p:spPr>
          <a:xfrm xmlns:a="http://schemas.openxmlformats.org/drawingml/2006/main">
            <a:off x="6076950" y="4730750"/>
            <a:ext cx="56197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4FDBD0FB-0EFE-4247-8278-FA8EE4FD2DFC}"/>
              </a:ext>
            </a:extLst>
          </p:cNvPr>
          <p:cNvSpPr>
            <a:spLocks xmlns:a="http://schemas.openxmlformats.org/drawingml/2006/main" noGrp="1"/>
          </p:cNvSpPr>
          <p:nvPr/>
        </p:nvSpPr>
        <p:spPr>
          <a:xfrm xmlns:a="http://schemas.openxmlformats.org/drawingml/2006/main">
            <a:off x="6124575" y="4759325"/>
            <a:ext cx="55245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使用 RuleProfile、NorthRuleSet、SouthRuleSet 拆分规则</a:t>
            </a:r>
          </a:p>
        </p:txBody>
      </p:sp>
      <p:sp>
        <p:nvSpPr>
          <p:cNvPr id="33" name="">
            <a:extLst xmlns:a="http://schemas.openxmlformats.org/drawingml/2006/main">
              <a:ext uri="{FF2B5EF4-FFF2-40B4-BE49-F238E27FC236}">
                <a16:creationId xmlns:a16="http://schemas.microsoft.com/office/drawing/2014/main" id="{914DA14D-4D91-4FF0-926B-C9B501E715A6}"/>
              </a:ext>
            </a:extLst>
          </p:cNvPr>
          <p:cNvSpPr>
            <a:spLocks xmlns:a="http://schemas.openxmlformats.org/drawingml/2006/main" noGrp="1"/>
          </p:cNvSpPr>
          <p:nvPr/>
        </p:nvSpPr>
        <p:spPr>
          <a:xfrm xmlns:a="http://schemas.openxmlformats.org/drawingml/2006/main">
            <a:off x="457200" y="5337175"/>
            <a:ext cx="56197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4AD5F0AB-E393-450E-B3E1-DD56B95D9132}"/>
              </a:ext>
            </a:extLst>
          </p:cNvPr>
          <p:cNvSpPr>
            <a:spLocks xmlns:a="http://schemas.openxmlformats.org/drawingml/2006/main" noGrp="1"/>
          </p:cNvSpPr>
          <p:nvPr/>
        </p:nvSpPr>
        <p:spPr>
          <a:xfrm xmlns:a="http://schemas.openxmlformats.org/drawingml/2006/main">
            <a:off x="504825" y="5365750"/>
            <a:ext cx="55245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蓝牙协议容易散落在 UI 代码中</a:t>
            </a:r>
          </a:p>
        </p:txBody>
      </p:sp>
      <p:sp>
        <p:nvSpPr>
          <p:cNvPr id="35" name="">
            <a:extLst xmlns:a="http://schemas.openxmlformats.org/drawingml/2006/main">
              <a:ext uri="{FF2B5EF4-FFF2-40B4-BE49-F238E27FC236}">
                <a16:creationId xmlns:a16="http://schemas.microsoft.com/office/drawing/2014/main" id="{4D5CDCBD-B306-4B8D-8784-2A712AB100B8}"/>
              </a:ext>
            </a:extLst>
          </p:cNvPr>
          <p:cNvSpPr>
            <a:spLocks xmlns:a="http://schemas.openxmlformats.org/drawingml/2006/main" noGrp="1"/>
          </p:cNvSpPr>
          <p:nvPr/>
        </p:nvSpPr>
        <p:spPr>
          <a:xfrm xmlns:a="http://schemas.openxmlformats.org/drawingml/2006/main">
            <a:off x="6076950" y="5337175"/>
            <a:ext cx="56197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A7EF64B3-1169-420E-A812-0CBEE939407B}"/>
              </a:ext>
            </a:extLst>
          </p:cNvPr>
          <p:cNvSpPr>
            <a:spLocks xmlns:a="http://schemas.openxmlformats.org/drawingml/2006/main" noGrp="1"/>
          </p:cNvSpPr>
          <p:nvPr/>
        </p:nvSpPr>
        <p:spPr>
          <a:xfrm xmlns:a="http://schemas.openxmlformats.org/drawingml/2006/main">
            <a:off x="6124575" y="5365750"/>
            <a:ext cx="55245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使用 GameMessageCodec 集中编码和解码</a:t>
            </a:r>
          </a:p>
        </p:txBody>
      </p:sp>
    </p:spTree>
    <p:extLst>
      <p:ext uri="{BB962C8B-B14F-4D97-AF65-F5344CB8AC3E}">
        <p14:creationId xmlns:p14="http://schemas.microsoft.com/office/powerpoint/2010/main" val="699227298"/>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B0DA443-A0C3-4AEA-AF61-B53A7089EB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5E6D62-B9CE-4160-8BCD-A63FDBF8573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7BB0C5-50E0-4589-BFA7-A838DA376E79}"/>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53C3F856-6866-480B-AC4B-08D8A8A379BE}"/>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A95E51A7-8386-4CEB-8375-435CE30F78B5}"/>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63</a:t>
            </a:r>
          </a:p>
        </p:txBody>
      </p:sp>
      <p:sp>
        <p:nvSpPr>
          <p:cNvPr id="6" name="">
            <a:extLst xmlns:a="http://schemas.openxmlformats.org/drawingml/2006/main">
              <a:ext uri="{FF2B5EF4-FFF2-40B4-BE49-F238E27FC236}">
                <a16:creationId xmlns:a16="http://schemas.microsoft.com/office/drawing/2014/main" id="{2B066C8A-2FD7-4124-BDE6-B2ECF84FB182}"/>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C2F768BA-9D0E-4406-8928-20F90D584488}"/>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7.1 阶段目标</a:t>
            </a:r>
          </a:p>
        </p:txBody>
      </p:sp>
      <p:sp>
        <p:nvSpPr>
          <p:cNvPr id="8" name="">
            <a:extLst xmlns:a="http://schemas.openxmlformats.org/drawingml/2006/main">
              <a:ext uri="{FF2B5EF4-FFF2-40B4-BE49-F238E27FC236}">
                <a16:creationId xmlns:a16="http://schemas.microsoft.com/office/drawing/2014/main" id="{EEA637A4-DFC1-4D4E-9EB7-EF5A1EC005A1}"/>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233BE34-139A-4A95-A7AE-8C9B5436EDB3}"/>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本阶段目标是完成 AI 算法模块，完善状态建模，并补齐玩家成长系统与牌桌体验。评分标准要求扑克牌博弈 AI 至少提供两种算法策略，并使用策略模式。本项目实现简单、普通、困难三档 AI，满足并超过该要求；同时把大厅顶部的头像、等级、金币、战绩入口从静态展示改成真实可用的本地成长系统。</a:t>
            </a:r>
          </a:p>
        </p:txBody>
      </p:sp>
    </p:spTree>
    <p:extLst>
      <p:ext uri="{BB962C8B-B14F-4D97-AF65-F5344CB8AC3E}">
        <p14:creationId xmlns:p14="http://schemas.microsoft.com/office/powerpoint/2010/main" val="2130544952"/>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80CCAE3-3E06-4533-A100-F2E3D9A547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DF0AC2-BCB8-45CA-AA32-FF66B2E67754}"/>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C2EB11-1766-4952-843D-45191C5EEC76}"/>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9EFFAB8-6E2F-4271-B061-980A9D29A610}"/>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19025CD1-F4D3-4127-A66D-D4A2D9A10F68}"/>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64</a:t>
            </a:r>
          </a:p>
        </p:txBody>
      </p:sp>
      <p:sp>
        <p:nvSpPr>
          <p:cNvPr id="6" name="">
            <a:extLst xmlns:a="http://schemas.openxmlformats.org/drawingml/2006/main">
              <a:ext uri="{FF2B5EF4-FFF2-40B4-BE49-F238E27FC236}">
                <a16:creationId xmlns:a16="http://schemas.microsoft.com/office/drawing/2014/main" id="{4581CE85-5430-4ECC-BD68-2198B33A8659}"/>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4E4C83C-6250-43CB-BD84-33612A938754}"/>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7.2 AI 算法模块（1/3）</a:t>
            </a:r>
          </a:p>
        </p:txBody>
      </p:sp>
      <p:sp>
        <p:nvSpPr>
          <p:cNvPr id="8" name="">
            <a:extLst xmlns:a="http://schemas.openxmlformats.org/drawingml/2006/main">
              <a:ext uri="{FF2B5EF4-FFF2-40B4-BE49-F238E27FC236}">
                <a16:creationId xmlns:a16="http://schemas.microsoft.com/office/drawing/2014/main" id="{D3FAAB56-844A-4393-80F3-679904EBD3BC}"/>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2E024BB-0AAD-4825-8304-382CD09DA30D}"/>
              </a:ext>
            </a:extLst>
          </p:cNvPr>
          <p:cNvSpPr>
            <a:spLocks xmlns:a="http://schemas.openxmlformats.org/drawingml/2006/main" noGrp="1"/>
          </p:cNvSpPr>
          <p:nvPr/>
        </p:nvSpPr>
        <p:spPr>
          <a:xfrm xmlns:a="http://schemas.openxmlformats.org/drawingml/2006/main">
            <a:off x="685800" y="19050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AI 模块通过 AiStrategy 接口统一不同算法：</a:t>
            </a:r>
          </a:p>
        </p:txBody>
      </p:sp>
      <p:sp>
        <p:nvSpPr>
          <p:cNvPr id="10" name="">
            <a:extLst xmlns:a="http://schemas.openxmlformats.org/drawingml/2006/main">
              <a:ext uri="{FF2B5EF4-FFF2-40B4-BE49-F238E27FC236}">
                <a16:creationId xmlns:a16="http://schemas.microsoft.com/office/drawing/2014/main" id="{5F575A44-19FF-4258-B422-66D269298C2C}"/>
              </a:ext>
            </a:extLst>
          </p:cNvPr>
          <p:cNvSpPr>
            <a:spLocks xmlns:a="http://schemas.openxmlformats.org/drawingml/2006/main" noGrp="1"/>
          </p:cNvSpPr>
          <p:nvPr/>
        </p:nvSpPr>
        <p:spPr>
          <a:xfrm xmlns:a="http://schemas.openxmlformats.org/drawingml/2006/main">
            <a:off x="685800" y="2647950"/>
            <a:ext cx="1161861"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622BAF2E-104F-4058-826E-1C0903C97EF8}"/>
              </a:ext>
            </a:extLst>
          </p:cNvPr>
          <p:cNvSpPr>
            <a:spLocks xmlns:a="http://schemas.openxmlformats.org/drawingml/2006/main" noGrp="1"/>
          </p:cNvSpPr>
          <p:nvPr/>
        </p:nvSpPr>
        <p:spPr>
          <a:xfrm xmlns:a="http://schemas.openxmlformats.org/drawingml/2006/main">
            <a:off x="733425" y="2686050"/>
            <a:ext cx="106661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AI 难度</a:t>
            </a:r>
          </a:p>
        </p:txBody>
      </p:sp>
      <p:sp>
        <p:nvSpPr>
          <p:cNvPr id="12" name="">
            <a:extLst xmlns:a="http://schemas.openxmlformats.org/drawingml/2006/main">
              <a:ext uri="{FF2B5EF4-FFF2-40B4-BE49-F238E27FC236}">
                <a16:creationId xmlns:a16="http://schemas.microsoft.com/office/drawing/2014/main" id="{CC43C77F-7370-4177-8666-672B4287DAEE}"/>
              </a:ext>
            </a:extLst>
          </p:cNvPr>
          <p:cNvSpPr>
            <a:spLocks xmlns:a="http://schemas.openxmlformats.org/drawingml/2006/main" noGrp="1"/>
          </p:cNvSpPr>
          <p:nvPr/>
        </p:nvSpPr>
        <p:spPr>
          <a:xfrm xmlns:a="http://schemas.openxmlformats.org/drawingml/2006/main">
            <a:off x="1847661" y="2647950"/>
            <a:ext cx="475306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49717D8A-7B6A-435D-88FC-2EA529C17D97}"/>
              </a:ext>
            </a:extLst>
          </p:cNvPr>
          <p:cNvSpPr>
            <a:spLocks xmlns:a="http://schemas.openxmlformats.org/drawingml/2006/main" noGrp="1"/>
          </p:cNvSpPr>
          <p:nvPr/>
        </p:nvSpPr>
        <p:spPr>
          <a:xfrm xmlns:a="http://schemas.openxmlformats.org/drawingml/2006/main">
            <a:off x="1895286" y="2686050"/>
            <a:ext cx="465781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策略类</a:t>
            </a:r>
          </a:p>
        </p:txBody>
      </p:sp>
      <p:sp>
        <p:nvSpPr>
          <p:cNvPr id="14" name="">
            <a:extLst xmlns:a="http://schemas.openxmlformats.org/drawingml/2006/main">
              <a:ext uri="{FF2B5EF4-FFF2-40B4-BE49-F238E27FC236}">
                <a16:creationId xmlns:a16="http://schemas.microsoft.com/office/drawing/2014/main" id="{355AE891-9511-4A21-969B-DA262C06ADA6}"/>
              </a:ext>
            </a:extLst>
          </p:cNvPr>
          <p:cNvSpPr>
            <a:spLocks xmlns:a="http://schemas.openxmlformats.org/drawingml/2006/main" noGrp="1"/>
          </p:cNvSpPr>
          <p:nvPr/>
        </p:nvSpPr>
        <p:spPr>
          <a:xfrm xmlns:a="http://schemas.openxmlformats.org/drawingml/2006/main">
            <a:off x="6600731" y="2647950"/>
            <a:ext cx="475306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4AA7CB0B-1462-4E3B-8A0F-48E88E5A71DF}"/>
              </a:ext>
            </a:extLst>
          </p:cNvPr>
          <p:cNvSpPr>
            <a:spLocks xmlns:a="http://schemas.openxmlformats.org/drawingml/2006/main" noGrp="1"/>
          </p:cNvSpPr>
          <p:nvPr/>
        </p:nvSpPr>
        <p:spPr>
          <a:xfrm xmlns:a="http://schemas.openxmlformats.org/drawingml/2006/main">
            <a:off x="6648356" y="2686050"/>
            <a:ext cx="465781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基本思路</a:t>
            </a:r>
          </a:p>
        </p:txBody>
      </p:sp>
      <p:sp>
        <p:nvSpPr>
          <p:cNvPr id="16" name="">
            <a:extLst xmlns:a="http://schemas.openxmlformats.org/drawingml/2006/main">
              <a:ext uri="{FF2B5EF4-FFF2-40B4-BE49-F238E27FC236}">
                <a16:creationId xmlns:a16="http://schemas.microsoft.com/office/drawing/2014/main" id="{AC347D21-4C54-4371-BCE7-60D51187FB19}"/>
              </a:ext>
            </a:extLst>
          </p:cNvPr>
          <p:cNvSpPr>
            <a:spLocks xmlns:a="http://schemas.openxmlformats.org/drawingml/2006/main" noGrp="1"/>
          </p:cNvSpPr>
          <p:nvPr/>
        </p:nvSpPr>
        <p:spPr>
          <a:xfrm xmlns:a="http://schemas.openxmlformats.org/drawingml/2006/main">
            <a:off x="685800" y="3048000"/>
            <a:ext cx="1161861" cy="6921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7014F4E7-AD33-4309-8D23-C5FECFE177BA}"/>
              </a:ext>
            </a:extLst>
          </p:cNvPr>
          <p:cNvSpPr>
            <a:spLocks xmlns:a="http://schemas.openxmlformats.org/drawingml/2006/main" noGrp="1"/>
          </p:cNvSpPr>
          <p:nvPr/>
        </p:nvSpPr>
        <p:spPr>
          <a:xfrm xmlns:a="http://schemas.openxmlformats.org/drawingml/2006/main">
            <a:off x="733425" y="3076575"/>
            <a:ext cx="1066611"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简单</a:t>
            </a:r>
          </a:p>
        </p:txBody>
      </p:sp>
      <p:sp>
        <p:nvSpPr>
          <p:cNvPr id="18" name="">
            <a:extLst xmlns:a="http://schemas.openxmlformats.org/drawingml/2006/main">
              <a:ext uri="{FF2B5EF4-FFF2-40B4-BE49-F238E27FC236}">
                <a16:creationId xmlns:a16="http://schemas.microsoft.com/office/drawing/2014/main" id="{DABCC679-CD1D-4D3C-BF51-C2D57B3FF1A9}"/>
              </a:ext>
            </a:extLst>
          </p:cNvPr>
          <p:cNvSpPr>
            <a:spLocks xmlns:a="http://schemas.openxmlformats.org/drawingml/2006/main" noGrp="1"/>
          </p:cNvSpPr>
          <p:nvPr/>
        </p:nvSpPr>
        <p:spPr>
          <a:xfrm xmlns:a="http://schemas.openxmlformats.org/drawingml/2006/main">
            <a:off x="1847661" y="3048000"/>
            <a:ext cx="4753069" cy="6921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CFD4C8E9-F62F-4166-97E3-635C9105B544}"/>
              </a:ext>
            </a:extLst>
          </p:cNvPr>
          <p:cNvSpPr>
            <a:spLocks xmlns:a="http://schemas.openxmlformats.org/drawingml/2006/main" noGrp="1"/>
          </p:cNvSpPr>
          <p:nvPr/>
        </p:nvSpPr>
        <p:spPr>
          <a:xfrm xmlns:a="http://schemas.openxmlformats.org/drawingml/2006/main">
            <a:off x="1895286" y="3076575"/>
            <a:ext cx="4657819"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GreedyAiStrategy</a:t>
            </a:r>
          </a:p>
        </p:txBody>
      </p:sp>
      <p:sp>
        <p:nvSpPr>
          <p:cNvPr id="20" name="">
            <a:extLst xmlns:a="http://schemas.openxmlformats.org/drawingml/2006/main">
              <a:ext uri="{FF2B5EF4-FFF2-40B4-BE49-F238E27FC236}">
                <a16:creationId xmlns:a16="http://schemas.microsoft.com/office/drawing/2014/main" id="{F7B060CE-A5D0-4420-A607-61047645C7E2}"/>
              </a:ext>
            </a:extLst>
          </p:cNvPr>
          <p:cNvSpPr>
            <a:spLocks xmlns:a="http://schemas.openxmlformats.org/drawingml/2006/main" noGrp="1"/>
          </p:cNvSpPr>
          <p:nvPr/>
        </p:nvSpPr>
        <p:spPr>
          <a:xfrm xmlns:a="http://schemas.openxmlformats.org/drawingml/2006/main">
            <a:off x="6600731" y="3048000"/>
            <a:ext cx="4753069" cy="6921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79856390-0F7B-4879-BC46-3B41B7DD6B71}"/>
              </a:ext>
            </a:extLst>
          </p:cNvPr>
          <p:cNvSpPr>
            <a:spLocks xmlns:a="http://schemas.openxmlformats.org/drawingml/2006/main" noGrp="1"/>
          </p:cNvSpPr>
          <p:nvPr/>
        </p:nvSpPr>
        <p:spPr>
          <a:xfrm xmlns:a="http://schemas.openxmlformats.org/drawingml/2006/main">
            <a:off x="6648356" y="3076575"/>
            <a:ext cx="4657819"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优先选择当前能出的较小合法牌，逻辑简单，适合新手</a:t>
            </a:r>
          </a:p>
        </p:txBody>
      </p:sp>
      <p:sp>
        <p:nvSpPr>
          <p:cNvPr id="22" name="">
            <a:extLst xmlns:a="http://schemas.openxmlformats.org/drawingml/2006/main">
              <a:ext uri="{FF2B5EF4-FFF2-40B4-BE49-F238E27FC236}">
                <a16:creationId xmlns:a16="http://schemas.microsoft.com/office/drawing/2014/main" id="{9ADDE200-023D-4DF9-9790-B29EDD932AC6}"/>
              </a:ext>
            </a:extLst>
          </p:cNvPr>
          <p:cNvSpPr>
            <a:spLocks xmlns:a="http://schemas.openxmlformats.org/drawingml/2006/main" noGrp="1"/>
          </p:cNvSpPr>
          <p:nvPr/>
        </p:nvSpPr>
        <p:spPr>
          <a:xfrm xmlns:a="http://schemas.openxmlformats.org/drawingml/2006/main">
            <a:off x="685800" y="3740150"/>
            <a:ext cx="1161861" cy="6921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072B3D72-1DC9-45B1-AB17-06A42154FA2F}"/>
              </a:ext>
            </a:extLst>
          </p:cNvPr>
          <p:cNvSpPr>
            <a:spLocks xmlns:a="http://schemas.openxmlformats.org/drawingml/2006/main" noGrp="1"/>
          </p:cNvSpPr>
          <p:nvPr/>
        </p:nvSpPr>
        <p:spPr>
          <a:xfrm xmlns:a="http://schemas.openxmlformats.org/drawingml/2006/main">
            <a:off x="733425" y="3768725"/>
            <a:ext cx="1066611"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普通</a:t>
            </a:r>
          </a:p>
        </p:txBody>
      </p:sp>
      <p:sp>
        <p:nvSpPr>
          <p:cNvPr id="24" name="">
            <a:extLst xmlns:a="http://schemas.openxmlformats.org/drawingml/2006/main">
              <a:ext uri="{FF2B5EF4-FFF2-40B4-BE49-F238E27FC236}">
                <a16:creationId xmlns:a16="http://schemas.microsoft.com/office/drawing/2014/main" id="{87EF00E7-B526-4C09-A60D-D1C7291B4F36}"/>
              </a:ext>
            </a:extLst>
          </p:cNvPr>
          <p:cNvSpPr>
            <a:spLocks xmlns:a="http://schemas.openxmlformats.org/drawingml/2006/main" noGrp="1"/>
          </p:cNvSpPr>
          <p:nvPr/>
        </p:nvSpPr>
        <p:spPr>
          <a:xfrm xmlns:a="http://schemas.openxmlformats.org/drawingml/2006/main">
            <a:off x="1847661" y="3740150"/>
            <a:ext cx="4753069" cy="6921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FE56B596-5490-4D9D-90B2-3E06C359C89B}"/>
              </a:ext>
            </a:extLst>
          </p:cNvPr>
          <p:cNvSpPr>
            <a:spLocks xmlns:a="http://schemas.openxmlformats.org/drawingml/2006/main" noGrp="1"/>
          </p:cNvSpPr>
          <p:nvPr/>
        </p:nvSpPr>
        <p:spPr>
          <a:xfrm xmlns:a="http://schemas.openxmlformats.org/drawingml/2006/main">
            <a:off x="1895286" y="3768725"/>
            <a:ext cx="4657819"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HeuristicAiStrategy</a:t>
            </a:r>
          </a:p>
        </p:txBody>
      </p:sp>
      <p:sp>
        <p:nvSpPr>
          <p:cNvPr id="26" name="">
            <a:extLst xmlns:a="http://schemas.openxmlformats.org/drawingml/2006/main">
              <a:ext uri="{FF2B5EF4-FFF2-40B4-BE49-F238E27FC236}">
                <a16:creationId xmlns:a16="http://schemas.microsoft.com/office/drawing/2014/main" id="{712EF9DA-6C7D-48EC-A520-771CFE65DF72}"/>
              </a:ext>
            </a:extLst>
          </p:cNvPr>
          <p:cNvSpPr>
            <a:spLocks xmlns:a="http://schemas.openxmlformats.org/drawingml/2006/main" noGrp="1"/>
          </p:cNvSpPr>
          <p:nvPr/>
        </p:nvSpPr>
        <p:spPr>
          <a:xfrm xmlns:a="http://schemas.openxmlformats.org/drawingml/2006/main">
            <a:off x="6600731" y="3740150"/>
            <a:ext cx="4753069" cy="6921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A6FF6E5D-DDB8-46AE-8A00-66EBAED7B997}"/>
              </a:ext>
            </a:extLst>
          </p:cNvPr>
          <p:cNvSpPr>
            <a:spLocks xmlns:a="http://schemas.openxmlformats.org/drawingml/2006/main" noGrp="1"/>
          </p:cNvSpPr>
          <p:nvPr/>
        </p:nvSpPr>
        <p:spPr>
          <a:xfrm xmlns:a="http://schemas.openxmlformats.org/drawingml/2006/main">
            <a:off x="6648356" y="3768725"/>
            <a:ext cx="4657819"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根据牌型价值、手牌保留和局面进行启发式选择</a:t>
            </a:r>
          </a:p>
        </p:txBody>
      </p:sp>
      <p:sp>
        <p:nvSpPr>
          <p:cNvPr id="28" name="">
            <a:extLst xmlns:a="http://schemas.openxmlformats.org/drawingml/2006/main">
              <a:ext uri="{FF2B5EF4-FFF2-40B4-BE49-F238E27FC236}">
                <a16:creationId xmlns:a16="http://schemas.microsoft.com/office/drawing/2014/main" id="{04DEB24A-C7C4-4FEE-ACE2-468A4A6E78E2}"/>
              </a:ext>
            </a:extLst>
          </p:cNvPr>
          <p:cNvSpPr>
            <a:spLocks xmlns:a="http://schemas.openxmlformats.org/drawingml/2006/main" noGrp="1"/>
          </p:cNvSpPr>
          <p:nvPr/>
        </p:nvSpPr>
        <p:spPr>
          <a:xfrm xmlns:a="http://schemas.openxmlformats.org/drawingml/2006/main">
            <a:off x="685800" y="4432300"/>
            <a:ext cx="1161861" cy="6921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98E8C829-31EF-4DF1-8955-D8B85F67430F}"/>
              </a:ext>
            </a:extLst>
          </p:cNvPr>
          <p:cNvSpPr>
            <a:spLocks xmlns:a="http://schemas.openxmlformats.org/drawingml/2006/main" noGrp="1"/>
          </p:cNvSpPr>
          <p:nvPr/>
        </p:nvSpPr>
        <p:spPr>
          <a:xfrm xmlns:a="http://schemas.openxmlformats.org/drawingml/2006/main">
            <a:off x="733425" y="4460875"/>
            <a:ext cx="1066611"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困难</a:t>
            </a:r>
          </a:p>
        </p:txBody>
      </p:sp>
      <p:sp>
        <p:nvSpPr>
          <p:cNvPr id="30" name="">
            <a:extLst xmlns:a="http://schemas.openxmlformats.org/drawingml/2006/main">
              <a:ext uri="{FF2B5EF4-FFF2-40B4-BE49-F238E27FC236}">
                <a16:creationId xmlns:a16="http://schemas.microsoft.com/office/drawing/2014/main" id="{D3CB1220-FB29-41C9-A18B-6791A99A1B71}"/>
              </a:ext>
            </a:extLst>
          </p:cNvPr>
          <p:cNvSpPr>
            <a:spLocks xmlns:a="http://schemas.openxmlformats.org/drawingml/2006/main" noGrp="1"/>
          </p:cNvSpPr>
          <p:nvPr/>
        </p:nvSpPr>
        <p:spPr>
          <a:xfrm xmlns:a="http://schemas.openxmlformats.org/drawingml/2006/main">
            <a:off x="1847661" y="4432300"/>
            <a:ext cx="4753069" cy="6921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0E16F731-688A-4766-901A-160D06877769}"/>
              </a:ext>
            </a:extLst>
          </p:cNvPr>
          <p:cNvSpPr>
            <a:spLocks xmlns:a="http://schemas.openxmlformats.org/drawingml/2006/main" noGrp="1"/>
          </p:cNvSpPr>
          <p:nvPr/>
        </p:nvSpPr>
        <p:spPr>
          <a:xfrm xmlns:a="http://schemas.openxmlformats.org/drawingml/2006/main">
            <a:off x="1895286" y="4460875"/>
            <a:ext cx="4657819"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MonteCarloRolloutAiStrategy</a:t>
            </a:r>
          </a:p>
        </p:txBody>
      </p:sp>
      <p:sp>
        <p:nvSpPr>
          <p:cNvPr id="32" name="">
            <a:extLst xmlns:a="http://schemas.openxmlformats.org/drawingml/2006/main">
              <a:ext uri="{FF2B5EF4-FFF2-40B4-BE49-F238E27FC236}">
                <a16:creationId xmlns:a16="http://schemas.microsoft.com/office/drawing/2014/main" id="{E8588AE1-EB1B-4874-BC71-65E9BC42408A}"/>
              </a:ext>
            </a:extLst>
          </p:cNvPr>
          <p:cNvSpPr>
            <a:spLocks xmlns:a="http://schemas.openxmlformats.org/drawingml/2006/main" noGrp="1"/>
          </p:cNvSpPr>
          <p:nvPr/>
        </p:nvSpPr>
        <p:spPr>
          <a:xfrm xmlns:a="http://schemas.openxmlformats.org/drawingml/2006/main">
            <a:off x="6600731" y="4432300"/>
            <a:ext cx="4753069" cy="6921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F481C242-E606-4F30-A6C5-9FD97F7EC905}"/>
              </a:ext>
            </a:extLst>
          </p:cNvPr>
          <p:cNvSpPr>
            <a:spLocks xmlns:a="http://schemas.openxmlformats.org/drawingml/2006/main" noGrp="1"/>
          </p:cNvSpPr>
          <p:nvPr/>
        </p:nvSpPr>
        <p:spPr>
          <a:xfrm xmlns:a="http://schemas.openxmlformats.org/drawingml/2006/main">
            <a:off x="6648356" y="4460875"/>
            <a:ext cx="4657819"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在合法动作中进行模拟评估，选择预期更优的出牌</a:t>
            </a:r>
          </a:p>
        </p:txBody>
      </p:sp>
      <p:sp>
        <p:nvSpPr>
          <p:cNvPr id="34" name="">
            <a:extLst xmlns:a="http://schemas.openxmlformats.org/drawingml/2006/main">
              <a:ext uri="{FF2B5EF4-FFF2-40B4-BE49-F238E27FC236}">
                <a16:creationId xmlns:a16="http://schemas.microsoft.com/office/drawing/2014/main" id="{BE1F0166-523B-4631-80B4-86460E2E412C}"/>
              </a:ext>
            </a:extLst>
          </p:cNvPr>
          <p:cNvSpPr>
            <a:spLocks xmlns:a="http://schemas.openxmlformats.org/drawingml/2006/main" noGrp="1"/>
          </p:cNvSpPr>
          <p:nvPr/>
        </p:nvSpPr>
        <p:spPr>
          <a:xfrm xmlns:a="http://schemas.openxmlformats.org/drawingml/2006/main">
            <a:off x="685800" y="5219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GameController 不直接依赖具体 AI 类，而是由 AI 控制逻辑根据难度选择对应 AiStrategy。这种策略模式使 AI 可以替换或扩展，例如后续可以加入更强的搜索算法或机器学习模型，而不需要修改牌局控制器的主体流程。</a:t>
            </a:r>
          </a:p>
        </p:txBody>
      </p:sp>
      <p:sp>
        <p:nvSpPr>
          <p:cNvPr id="35" name="">
            <a:extLst xmlns:a="http://schemas.openxmlformats.org/drawingml/2006/main">
              <a:ext uri="{FF2B5EF4-FFF2-40B4-BE49-F238E27FC236}">
                <a16:creationId xmlns:a16="http://schemas.microsoft.com/office/drawing/2014/main" id="{12ECFB9B-086C-4299-A9CD-B30AA107D3B7}"/>
              </a:ext>
            </a:extLst>
          </p:cNvPr>
          <p:cNvSpPr>
            <a:spLocks xmlns:a="http://schemas.openxmlformats.org/drawingml/2006/main" noGrp="1"/>
          </p:cNvSpPr>
          <p:nvPr/>
        </p:nvSpPr>
        <p:spPr>
          <a:xfrm xmlns:a="http://schemas.openxmlformats.org/drawingml/2006/main">
            <a:off x="685800" y="5962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三种 AI 的参考来源和实现方式：</a:t>
            </a:r>
          </a:p>
        </p:txBody>
      </p:sp>
      <p:sp>
        <p:nvSpPr>
          <p:cNvPr id="36" name="">
            <a:extLst xmlns:a="http://schemas.openxmlformats.org/drawingml/2006/main">
              <a:ext uri="{FF2B5EF4-FFF2-40B4-BE49-F238E27FC236}">
                <a16:creationId xmlns:a16="http://schemas.microsoft.com/office/drawing/2014/main" id="{D05AD862-440E-422C-88B2-82B0FF88CF32}"/>
              </a:ext>
            </a:extLst>
          </p:cNvPr>
          <p:cNvSpPr>
            <a:spLocks xmlns:a="http://schemas.openxmlformats.org/drawingml/2006/main" noGrp="1"/>
          </p:cNvSpPr>
          <p:nvPr/>
        </p:nvSpPr>
        <p:spPr>
          <a:xfrm xmlns:a="http://schemas.openxmlformats.org/drawingml/2006/main">
            <a:off x="685800" y="6705600"/>
            <a:ext cx="870857" cy="2857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91FE0B62-D7DF-461E-B8F2-E354247440B1}"/>
              </a:ext>
            </a:extLst>
          </p:cNvPr>
          <p:cNvSpPr>
            <a:spLocks xmlns:a="http://schemas.openxmlformats.org/drawingml/2006/main" noGrp="1"/>
          </p:cNvSpPr>
          <p:nvPr/>
        </p:nvSpPr>
        <p:spPr>
          <a:xfrm xmlns:a="http://schemas.openxmlformats.org/drawingml/2006/main">
            <a:off x="733425" y="6743700"/>
            <a:ext cx="775607"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83289"/>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AI</a:t>
            </a:r>
          </a:p>
        </p:txBody>
      </p:sp>
      <p:sp>
        <p:nvSpPr>
          <p:cNvPr id="38" name="">
            <a:extLst xmlns:a="http://schemas.openxmlformats.org/drawingml/2006/main">
              <a:ext uri="{FF2B5EF4-FFF2-40B4-BE49-F238E27FC236}">
                <a16:creationId xmlns:a16="http://schemas.microsoft.com/office/drawing/2014/main" id="{D7E6611C-55F5-4087-B366-724CA36570E5}"/>
              </a:ext>
            </a:extLst>
          </p:cNvPr>
          <p:cNvSpPr>
            <a:spLocks xmlns:a="http://schemas.openxmlformats.org/drawingml/2006/main" noGrp="1"/>
          </p:cNvSpPr>
          <p:nvPr/>
        </p:nvSpPr>
        <p:spPr>
          <a:xfrm xmlns:a="http://schemas.openxmlformats.org/drawingml/2006/main">
            <a:off x="1556657" y="6705600"/>
            <a:ext cx="4898571" cy="2857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C1306EF1-DC2B-415E-9280-F9AE992BDBEB}"/>
              </a:ext>
            </a:extLst>
          </p:cNvPr>
          <p:cNvSpPr>
            <a:spLocks xmlns:a="http://schemas.openxmlformats.org/drawingml/2006/main" noGrp="1"/>
          </p:cNvSpPr>
          <p:nvPr/>
        </p:nvSpPr>
        <p:spPr>
          <a:xfrm xmlns:a="http://schemas.openxmlformats.org/drawingml/2006/main">
            <a:off x="1604282" y="6743700"/>
            <a:ext cx="480332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83289"/>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参考思路</a:t>
            </a:r>
          </a:p>
        </p:txBody>
      </p:sp>
      <p:sp>
        <p:nvSpPr>
          <p:cNvPr id="40" name="">
            <a:extLst xmlns:a="http://schemas.openxmlformats.org/drawingml/2006/main">
              <a:ext uri="{FF2B5EF4-FFF2-40B4-BE49-F238E27FC236}">
                <a16:creationId xmlns:a16="http://schemas.microsoft.com/office/drawing/2014/main" id="{09A60135-CB29-42B1-8F78-D9002784ABE1}"/>
              </a:ext>
            </a:extLst>
          </p:cNvPr>
          <p:cNvSpPr>
            <a:spLocks xmlns:a="http://schemas.openxmlformats.org/drawingml/2006/main" noGrp="1"/>
          </p:cNvSpPr>
          <p:nvPr/>
        </p:nvSpPr>
        <p:spPr>
          <a:xfrm xmlns:a="http://schemas.openxmlformats.org/drawingml/2006/main">
            <a:off x="6455229" y="6705600"/>
            <a:ext cx="4898571" cy="2857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4971C9B8-E390-4CC3-AD42-7AE24B0AE00B}"/>
              </a:ext>
            </a:extLst>
          </p:cNvPr>
          <p:cNvSpPr>
            <a:spLocks xmlns:a="http://schemas.openxmlformats.org/drawingml/2006/main" noGrp="1"/>
          </p:cNvSpPr>
          <p:nvPr/>
        </p:nvSpPr>
        <p:spPr>
          <a:xfrm xmlns:a="http://schemas.openxmlformats.org/drawingml/2006/main">
            <a:off x="6502854" y="6743700"/>
            <a:ext cx="480332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83289"/>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项目内实现方式</a:t>
            </a:r>
          </a:p>
        </p:txBody>
      </p:sp>
      <p:sp>
        <p:nvSpPr>
          <p:cNvPr id="42" name="">
            <a:extLst xmlns:a="http://schemas.openxmlformats.org/drawingml/2006/main">
              <a:ext uri="{FF2B5EF4-FFF2-40B4-BE49-F238E27FC236}">
                <a16:creationId xmlns:a16="http://schemas.microsoft.com/office/drawing/2014/main" id="{1A5A6B54-511E-4F84-81D3-DE789DF0FDB9}"/>
              </a:ext>
            </a:extLst>
          </p:cNvPr>
          <p:cNvSpPr>
            <a:spLocks xmlns:a="http://schemas.openxmlformats.org/drawingml/2006/main" noGrp="1"/>
          </p:cNvSpPr>
          <p:nvPr/>
        </p:nvSpPr>
        <p:spPr>
          <a:xfrm xmlns:a="http://schemas.openxmlformats.org/drawingml/2006/main">
            <a:off x="685800" y="6991350"/>
            <a:ext cx="870857" cy="-3492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3" name="">
            <a:extLst xmlns:a="http://schemas.openxmlformats.org/drawingml/2006/main">
              <a:ext uri="{FF2B5EF4-FFF2-40B4-BE49-F238E27FC236}">
                <a16:creationId xmlns:a16="http://schemas.microsoft.com/office/drawing/2014/main" id="{3E152D19-8FF4-4B32-B286-6A13B1AEEDDC}"/>
              </a:ext>
            </a:extLst>
          </p:cNvPr>
          <p:cNvSpPr>
            <a:spLocks xmlns:a="http://schemas.openxmlformats.org/drawingml/2006/main" noGrp="1"/>
          </p:cNvSpPr>
          <p:nvPr/>
        </p:nvSpPr>
        <p:spPr>
          <a:xfrm xmlns:a="http://schemas.openxmlformats.org/drawingml/2006/main">
            <a:off x="733425" y="7019925"/>
            <a:ext cx="775607"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简单</a:t>
            </a:r>
          </a:p>
        </p:txBody>
      </p:sp>
      <p:sp>
        <p:nvSpPr>
          <p:cNvPr id="44" name="">
            <a:extLst xmlns:a="http://schemas.openxmlformats.org/drawingml/2006/main">
              <a:ext uri="{FF2B5EF4-FFF2-40B4-BE49-F238E27FC236}">
                <a16:creationId xmlns:a16="http://schemas.microsoft.com/office/drawing/2014/main" id="{6904FD64-512C-4CE8-89BF-96D06B192F64}"/>
              </a:ext>
            </a:extLst>
          </p:cNvPr>
          <p:cNvSpPr>
            <a:spLocks xmlns:a="http://schemas.openxmlformats.org/drawingml/2006/main" noGrp="1"/>
          </p:cNvSpPr>
          <p:nvPr/>
        </p:nvSpPr>
        <p:spPr>
          <a:xfrm xmlns:a="http://schemas.openxmlformats.org/drawingml/2006/main">
            <a:off x="1556657" y="6991350"/>
            <a:ext cx="4898571" cy="-3492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5" name="">
            <a:extLst xmlns:a="http://schemas.openxmlformats.org/drawingml/2006/main">
              <a:ext uri="{FF2B5EF4-FFF2-40B4-BE49-F238E27FC236}">
                <a16:creationId xmlns:a16="http://schemas.microsoft.com/office/drawing/2014/main" id="{E2000326-54C0-4D78-9E9B-310CF366D5AC}"/>
              </a:ext>
            </a:extLst>
          </p:cNvPr>
          <p:cNvSpPr>
            <a:spLocks xmlns:a="http://schemas.openxmlformats.org/drawingml/2006/main" noGrp="1"/>
          </p:cNvSpPr>
          <p:nvPr/>
        </p:nvSpPr>
        <p:spPr>
          <a:xfrm xmlns:a="http://schemas.openxmlformats.org/drawingml/2006/main">
            <a:off x="1604282" y="7019925"/>
            <a:ext cx="4803321"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传统规则启发式和 RLCard/OpenSpiel 中“合法动作集合”概念</a:t>
            </a:r>
          </a:p>
        </p:txBody>
      </p:sp>
      <p:sp>
        <p:nvSpPr>
          <p:cNvPr id="46" name="">
            <a:extLst xmlns:a="http://schemas.openxmlformats.org/drawingml/2006/main">
              <a:ext uri="{FF2B5EF4-FFF2-40B4-BE49-F238E27FC236}">
                <a16:creationId xmlns:a16="http://schemas.microsoft.com/office/drawing/2014/main" id="{28A08266-5290-450D-8FE4-9AD27CE86FD1}"/>
              </a:ext>
            </a:extLst>
          </p:cNvPr>
          <p:cNvSpPr>
            <a:spLocks xmlns:a="http://schemas.openxmlformats.org/drawingml/2006/main" noGrp="1"/>
          </p:cNvSpPr>
          <p:nvPr/>
        </p:nvSpPr>
        <p:spPr>
          <a:xfrm xmlns:a="http://schemas.openxmlformats.org/drawingml/2006/main">
            <a:off x="6455229" y="6991350"/>
            <a:ext cx="4898571" cy="-3492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7" name="">
            <a:extLst xmlns:a="http://schemas.openxmlformats.org/drawingml/2006/main">
              <a:ext uri="{FF2B5EF4-FFF2-40B4-BE49-F238E27FC236}">
                <a16:creationId xmlns:a16="http://schemas.microsoft.com/office/drawing/2014/main" id="{4122E61C-5724-4919-8D58-E0689ABF83ED}"/>
              </a:ext>
            </a:extLst>
          </p:cNvPr>
          <p:cNvSpPr>
            <a:spLocks xmlns:a="http://schemas.openxmlformats.org/drawingml/2006/main" noGrp="1"/>
          </p:cNvSpPr>
          <p:nvPr/>
        </p:nvSpPr>
        <p:spPr>
          <a:xfrm xmlns:a="http://schemas.openxmlformats.org/drawingml/2006/main">
            <a:off x="6502854" y="7019925"/>
            <a:ext cx="4803321"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枚举 GameController.legalPlays()，选择最小可行牌；无法出牌则不出</a:t>
            </a:r>
          </a:p>
        </p:txBody>
      </p:sp>
      <p:sp>
        <p:nvSpPr>
          <p:cNvPr id="48" name="">
            <a:extLst xmlns:a="http://schemas.openxmlformats.org/drawingml/2006/main">
              <a:ext uri="{FF2B5EF4-FFF2-40B4-BE49-F238E27FC236}">
                <a16:creationId xmlns:a16="http://schemas.microsoft.com/office/drawing/2014/main" id="{EBF69738-D38F-4E4E-8E62-77C2410CB5C0}"/>
              </a:ext>
            </a:extLst>
          </p:cNvPr>
          <p:cNvSpPr>
            <a:spLocks xmlns:a="http://schemas.openxmlformats.org/drawingml/2006/main" noGrp="1"/>
          </p:cNvSpPr>
          <p:nvPr/>
        </p:nvSpPr>
        <p:spPr>
          <a:xfrm xmlns:a="http://schemas.openxmlformats.org/drawingml/2006/main">
            <a:off x="685800" y="6642100"/>
            <a:ext cx="870857" cy="-3492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9" name="">
            <a:extLst xmlns:a="http://schemas.openxmlformats.org/drawingml/2006/main">
              <a:ext uri="{FF2B5EF4-FFF2-40B4-BE49-F238E27FC236}">
                <a16:creationId xmlns:a16="http://schemas.microsoft.com/office/drawing/2014/main" id="{6A182E6C-088C-4FA6-94A6-FA72EB6C21C0}"/>
              </a:ext>
            </a:extLst>
          </p:cNvPr>
          <p:cNvSpPr>
            <a:spLocks xmlns:a="http://schemas.openxmlformats.org/drawingml/2006/main" noGrp="1"/>
          </p:cNvSpPr>
          <p:nvPr/>
        </p:nvSpPr>
        <p:spPr>
          <a:xfrm xmlns:a="http://schemas.openxmlformats.org/drawingml/2006/main">
            <a:off x="733425" y="6670675"/>
            <a:ext cx="775607"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普通</a:t>
            </a:r>
          </a:p>
        </p:txBody>
      </p:sp>
      <p:sp>
        <p:nvSpPr>
          <p:cNvPr id="50" name="">
            <a:extLst xmlns:a="http://schemas.openxmlformats.org/drawingml/2006/main">
              <a:ext uri="{FF2B5EF4-FFF2-40B4-BE49-F238E27FC236}">
                <a16:creationId xmlns:a16="http://schemas.microsoft.com/office/drawing/2014/main" id="{BA0AD7C7-0C2D-4E5A-BCC4-DEB94C89436C}"/>
              </a:ext>
            </a:extLst>
          </p:cNvPr>
          <p:cNvSpPr>
            <a:spLocks xmlns:a="http://schemas.openxmlformats.org/drawingml/2006/main" noGrp="1"/>
          </p:cNvSpPr>
          <p:nvPr/>
        </p:nvSpPr>
        <p:spPr>
          <a:xfrm xmlns:a="http://schemas.openxmlformats.org/drawingml/2006/main">
            <a:off x="1556657" y="6642100"/>
            <a:ext cx="4898571" cy="-3492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1" name="">
            <a:extLst xmlns:a="http://schemas.openxmlformats.org/drawingml/2006/main">
              <a:ext uri="{FF2B5EF4-FFF2-40B4-BE49-F238E27FC236}">
                <a16:creationId xmlns:a16="http://schemas.microsoft.com/office/drawing/2014/main" id="{1588449F-C1B1-473D-B113-CCB180E708F6}"/>
              </a:ext>
            </a:extLst>
          </p:cNvPr>
          <p:cNvSpPr>
            <a:spLocks xmlns:a="http://schemas.openxmlformats.org/drawingml/2006/main" noGrp="1"/>
          </p:cNvSpPr>
          <p:nvPr/>
        </p:nvSpPr>
        <p:spPr>
          <a:xfrm xmlns:a="http://schemas.openxmlformats.org/drawingml/2006/main">
            <a:off x="1604282" y="6670675"/>
            <a:ext cx="4803321"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扑克游戏常见保牌、少拆组合、优先降低手牌数量的启发式</a:t>
            </a:r>
          </a:p>
        </p:txBody>
      </p:sp>
      <p:sp>
        <p:nvSpPr>
          <p:cNvPr id="52" name="">
            <a:extLst xmlns:a="http://schemas.openxmlformats.org/drawingml/2006/main">
              <a:ext uri="{FF2B5EF4-FFF2-40B4-BE49-F238E27FC236}">
                <a16:creationId xmlns:a16="http://schemas.microsoft.com/office/drawing/2014/main" id="{0A55E2C9-C297-4A89-ABB7-7111A815AA14}"/>
              </a:ext>
            </a:extLst>
          </p:cNvPr>
          <p:cNvSpPr>
            <a:spLocks xmlns:a="http://schemas.openxmlformats.org/drawingml/2006/main" noGrp="1"/>
          </p:cNvSpPr>
          <p:nvPr/>
        </p:nvSpPr>
        <p:spPr>
          <a:xfrm xmlns:a="http://schemas.openxmlformats.org/drawingml/2006/main">
            <a:off x="6455229" y="6642100"/>
            <a:ext cx="4898571" cy="-3492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3" name="">
            <a:extLst xmlns:a="http://schemas.openxmlformats.org/drawingml/2006/main">
              <a:ext uri="{FF2B5EF4-FFF2-40B4-BE49-F238E27FC236}">
                <a16:creationId xmlns:a16="http://schemas.microsoft.com/office/drawing/2014/main" id="{492939C9-9BA0-4729-9272-F1AE0FE8C796}"/>
              </a:ext>
            </a:extLst>
          </p:cNvPr>
          <p:cNvSpPr>
            <a:spLocks xmlns:a="http://schemas.openxmlformats.org/drawingml/2006/main" noGrp="1"/>
          </p:cNvSpPr>
          <p:nvPr/>
        </p:nvSpPr>
        <p:spPr>
          <a:xfrm xmlns:a="http://schemas.openxmlformats.org/drawingml/2006/main">
            <a:off x="6502854" y="6670675"/>
            <a:ext cx="4803321"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对候选动作评分，考虑牌型强度、拆牌损失、剩余手牌数量和是否能释放小牌</a:t>
            </a:r>
          </a:p>
        </p:txBody>
      </p:sp>
      <p:sp>
        <p:nvSpPr>
          <p:cNvPr id="54" name="">
            <a:extLst xmlns:a="http://schemas.openxmlformats.org/drawingml/2006/main">
              <a:ext uri="{FF2B5EF4-FFF2-40B4-BE49-F238E27FC236}">
                <a16:creationId xmlns:a16="http://schemas.microsoft.com/office/drawing/2014/main" id="{120BC67E-43BB-4417-BB11-44FF80C4CE6D}"/>
              </a:ext>
            </a:extLst>
          </p:cNvPr>
          <p:cNvSpPr>
            <a:spLocks xmlns:a="http://schemas.openxmlformats.org/drawingml/2006/main" noGrp="1"/>
          </p:cNvSpPr>
          <p:nvPr/>
        </p:nvSpPr>
        <p:spPr>
          <a:xfrm xmlns:a="http://schemas.openxmlformats.org/drawingml/2006/main">
            <a:off x="685800" y="6292850"/>
            <a:ext cx="870857" cy="-3492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5" name="">
            <a:extLst xmlns:a="http://schemas.openxmlformats.org/drawingml/2006/main">
              <a:ext uri="{FF2B5EF4-FFF2-40B4-BE49-F238E27FC236}">
                <a16:creationId xmlns:a16="http://schemas.microsoft.com/office/drawing/2014/main" id="{531BDD6F-C8F5-40F1-A587-28101ABB6069}"/>
              </a:ext>
            </a:extLst>
          </p:cNvPr>
          <p:cNvSpPr>
            <a:spLocks xmlns:a="http://schemas.openxmlformats.org/drawingml/2006/main" noGrp="1"/>
          </p:cNvSpPr>
          <p:nvPr/>
        </p:nvSpPr>
        <p:spPr>
          <a:xfrm xmlns:a="http://schemas.openxmlformats.org/drawingml/2006/main">
            <a:off x="733425" y="6321425"/>
            <a:ext cx="775607"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困难</a:t>
            </a:r>
          </a:p>
        </p:txBody>
      </p:sp>
      <p:sp>
        <p:nvSpPr>
          <p:cNvPr id="56" name="">
            <a:extLst xmlns:a="http://schemas.openxmlformats.org/drawingml/2006/main">
              <a:ext uri="{FF2B5EF4-FFF2-40B4-BE49-F238E27FC236}">
                <a16:creationId xmlns:a16="http://schemas.microsoft.com/office/drawing/2014/main" id="{15B2E352-CB9F-45C5-83F9-7403805BB467}"/>
              </a:ext>
            </a:extLst>
          </p:cNvPr>
          <p:cNvSpPr>
            <a:spLocks xmlns:a="http://schemas.openxmlformats.org/drawingml/2006/main" noGrp="1"/>
          </p:cNvSpPr>
          <p:nvPr/>
        </p:nvSpPr>
        <p:spPr>
          <a:xfrm xmlns:a="http://schemas.openxmlformats.org/drawingml/2006/main">
            <a:off x="1556657" y="6292850"/>
            <a:ext cx="4898571" cy="-3492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7" name="">
            <a:extLst xmlns:a="http://schemas.openxmlformats.org/drawingml/2006/main">
              <a:ext uri="{FF2B5EF4-FFF2-40B4-BE49-F238E27FC236}">
                <a16:creationId xmlns:a16="http://schemas.microsoft.com/office/drawing/2014/main" id="{D59CC0E8-1163-408F-A7A9-BDECC73534D5}"/>
              </a:ext>
            </a:extLst>
          </p:cNvPr>
          <p:cNvSpPr>
            <a:spLocks xmlns:a="http://schemas.openxmlformats.org/drawingml/2006/main" noGrp="1"/>
          </p:cNvSpPr>
          <p:nvPr/>
        </p:nvSpPr>
        <p:spPr>
          <a:xfrm xmlns:a="http://schemas.openxmlformats.org/drawingml/2006/main">
            <a:off x="1604282" y="6321425"/>
            <a:ext cx="4803321"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ISMCTS 的有限信息模拟思想、OpenSpiel 的状态/动作解耦、DouZero 对出牌游戏候选动作评估的方向</a:t>
            </a:r>
          </a:p>
        </p:txBody>
      </p:sp>
      <p:sp>
        <p:nvSpPr>
          <p:cNvPr id="58" name="">
            <a:extLst xmlns:a="http://schemas.openxmlformats.org/drawingml/2006/main">
              <a:ext uri="{FF2B5EF4-FFF2-40B4-BE49-F238E27FC236}">
                <a16:creationId xmlns:a16="http://schemas.microsoft.com/office/drawing/2014/main" id="{97F0184F-EA54-4EEB-85BB-1F4E12C27B1B}"/>
              </a:ext>
            </a:extLst>
          </p:cNvPr>
          <p:cNvSpPr>
            <a:spLocks xmlns:a="http://schemas.openxmlformats.org/drawingml/2006/main" noGrp="1"/>
          </p:cNvSpPr>
          <p:nvPr/>
        </p:nvSpPr>
        <p:spPr>
          <a:xfrm xmlns:a="http://schemas.openxmlformats.org/drawingml/2006/main">
            <a:off x="6455229" y="6292850"/>
            <a:ext cx="4898571" cy="-3492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9" name="">
            <a:extLst xmlns:a="http://schemas.openxmlformats.org/drawingml/2006/main">
              <a:ext uri="{FF2B5EF4-FFF2-40B4-BE49-F238E27FC236}">
                <a16:creationId xmlns:a16="http://schemas.microsoft.com/office/drawing/2014/main" id="{6A465BE4-8EAB-49ED-BC00-038E7E095F84}"/>
              </a:ext>
            </a:extLst>
          </p:cNvPr>
          <p:cNvSpPr>
            <a:spLocks xmlns:a="http://schemas.openxmlformats.org/drawingml/2006/main" noGrp="1"/>
          </p:cNvSpPr>
          <p:nvPr/>
        </p:nvSpPr>
        <p:spPr>
          <a:xfrm xmlns:a="http://schemas.openxmlformats.org/drawingml/2006/main">
            <a:off x="6502854" y="6321425"/>
            <a:ext cx="4803321"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不加载神经网络模型，而是在 Kotlin 中对合法候选做有限 rollout 和局面评分，优先考虑一手走完、对手压力、保留强牌和减少结构损失</a:t>
            </a:r>
          </a:p>
        </p:txBody>
      </p:sp>
      <p:sp>
        <p:nvSpPr>
          <p:cNvPr id="60" name="">
            <a:extLst xmlns:a="http://schemas.openxmlformats.org/drawingml/2006/main">
              <a:ext uri="{FF2B5EF4-FFF2-40B4-BE49-F238E27FC236}">
                <a16:creationId xmlns:a16="http://schemas.microsoft.com/office/drawing/2014/main" id="{D14E1D99-85C9-41E3-B4F3-8E81013A3337}"/>
              </a:ext>
            </a:extLst>
          </p:cNvPr>
          <p:cNvSpPr>
            <a:spLocks xmlns:a="http://schemas.openxmlformats.org/drawingml/2006/main" noGrp="1"/>
          </p:cNvSpPr>
          <p:nvPr/>
        </p:nvSpPr>
        <p:spPr>
          <a:xfrm xmlns:a="http://schemas.openxmlformats.org/drawingml/2006/main">
            <a:off x="685800" y="9277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参考资料包括：</a:t>
            </a:r>
          </a:p>
        </p:txBody>
      </p:sp>
    </p:spTree>
    <p:extLst>
      <p:ext uri="{BB962C8B-B14F-4D97-AF65-F5344CB8AC3E}">
        <p14:creationId xmlns:p14="http://schemas.microsoft.com/office/powerpoint/2010/main" val="1952160069"/>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6FB8D19-C141-4994-AF65-A7338C67E6F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CC2A23-C45D-43D7-814A-B0A8F4F72A95}"/>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1AF7C2-A03F-4652-AE4D-FCDB4406C9FC}"/>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805E99AE-3B7D-4A88-A19A-951B3D9B5DB8}"/>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3907F592-C7FF-4C6B-B337-93BCE19C7332}"/>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65</a:t>
            </a:r>
          </a:p>
        </p:txBody>
      </p:sp>
      <p:sp>
        <p:nvSpPr>
          <p:cNvPr id="6" name="">
            <a:extLst xmlns:a="http://schemas.openxmlformats.org/drawingml/2006/main">
              <a:ext uri="{FF2B5EF4-FFF2-40B4-BE49-F238E27FC236}">
                <a16:creationId xmlns:a16="http://schemas.microsoft.com/office/drawing/2014/main" id="{14C67BB3-BC1A-4BD3-9226-EDAA9E59A40E}"/>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30C9356D-3308-4DD2-AC2F-1BCF1CB883D2}"/>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7.2 AI 算法模块（2/3）</a:t>
            </a:r>
          </a:p>
        </p:txBody>
      </p:sp>
      <p:sp>
        <p:nvSpPr>
          <p:cNvPr id="8" name="">
            <a:extLst xmlns:a="http://schemas.openxmlformats.org/drawingml/2006/main">
              <a:ext uri="{FF2B5EF4-FFF2-40B4-BE49-F238E27FC236}">
                <a16:creationId xmlns:a16="http://schemas.microsoft.com/office/drawing/2014/main" id="{B3CEB802-6CAA-442A-9E8A-F799E3448251}"/>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D049E59-1FC8-44C6-9BA8-B051A071938C}"/>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1. RLCard：面向纸牌游戏的强化学习工具包，支持 Blackjack、Leduc Hold'em、Texas Hold'em、UNO、Dou Dizhu、Mahjong 等环境。项目参考其“游戏环境 + Agent 策略接口 + 合法动作集合”的组织方式。</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 GitHub：&lt;https://github.com/datamllab/rlcard&gt;</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 论文：&lt;https://arxiv.org/abs/1910.04376&gt;</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2. OpenSpiel：Google DeepMind 开源的多智能体博弈研究框架，支持完美/不完美信息、回合制/同步行动、搜索和强化学习算法。项目参考其“游戏状态、合法动作、策略/Agent 解耦”的通用博弈建模方式。</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 GitHub：&lt;https://github.com/google-deepmind/open_spiel&gt;</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3. ISMCTS：Cowling、Powley、Whitehouse 的 Information Set Monte Carlo Tree Search 论文，核心思想是把 Monte Carlo 搜索用于隐藏信息和不确定性游戏。项目困难 AI 没有完整实现树搜索，而是参考“对候选动作进行有限随机模拟和期望评分”的 rollout 思路。</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 论文页面：&lt;https://pure.york.ac.uk/portal/en/publications/information-set-monte-carlo-tree-search/&gt;</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4. DouZero：快手开源的斗地主 AI，使用自博弈深度强化学习解决斗地主。项目没有使用 DouZero 的神经网络和训练模型，只参考其对斗地主类出牌游戏中动作候选、残局压力和多玩家不完美信息问题的处理方向。</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 GitHub：&lt;https://github.com/kwai/DouZero&gt;</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 论文：&lt;https://arxiv.org/abs/2106.06135&gt;</a:t>
            </a:r>
          </a:p>
          <a:p xmlns:a="http://schemas.openxmlformats.org/drawingml/2006/main">
            <a:r>
              <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 项目没有把这些开源项目的模型或代码直接接入 Android。原因是锄大地没有现成可直接使用的移动端训练模型，RLCard/OpenSpiel/DouZero 更偏研究或 Python/C++ 生态；直接接入会带来模型体积、推理框架、训练数据和性能成本。当前实现属于“规则启发式 + 有限模拟”的博弈 AI，是真正能自主决策的 AI 策略模块，但不是深度学习大模型。</a:t>
            </a:r>
          </a:p>
          <a:p xmlns:a="http://schemas.openxmlformats.org/drawingml/2006/main">
            <a:r>
              <a:t/>
            </a:r>
          </a:p>
          <a:p xmlns:a="http://schemas.openxmlformats.org/drawingml/2006/main">
            <a:pPr algn="l">
              <a:lnSpc>
                <a:spcPct val="113000"/>
              </a:lnSpc>
              <a:buNone/>
              <a:defRPr sz="1013" b="0">
                <a:solidFill>
                  <a:srgbClr val="17211D"/>
                </a:solidFill>
                <a:latin typeface="PingFang SC"/>
                <a:ea typeface="PingFang SC"/>
                <a:cs typeface="PingFang SC"/>
              </a:defRPr>
            </a:pPr>
            <a:r>
              <a:rPr sz="1013" b="0">
                <a:solidFill>
                  <a:srgbClr val="17211D"/>
                </a:solidFill>
                <a:latin typeface="PingFang SC"/>
                <a:ea typeface="PingFang SC"/>
                <a:cs typeface="PingFang SC"/>
              </a:rPr>
              <a:t>• AI 决策安全边界：</a:t>
            </a:r>
          </a:p>
        </p:txBody>
      </p:sp>
    </p:spTree>
    <p:extLst>
      <p:ext uri="{BB962C8B-B14F-4D97-AF65-F5344CB8AC3E}">
        <p14:creationId xmlns:p14="http://schemas.microsoft.com/office/powerpoint/2010/main" val="1740104921"/>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866E27-4CEC-4BB7-A0DC-51EBC13882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BFC738-7DA9-4D78-8EDE-00FB01B07361}"/>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D65370-B5EE-4A9C-89C0-A15425142021}"/>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E0B48E2B-720D-4F2B-9232-97AAD3372C5D}"/>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74FE311E-F046-4EE7-81B9-00F93B5F34D4}"/>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66</a:t>
            </a:r>
          </a:p>
        </p:txBody>
      </p:sp>
      <p:sp>
        <p:nvSpPr>
          <p:cNvPr id="6" name="">
            <a:extLst xmlns:a="http://schemas.openxmlformats.org/drawingml/2006/main">
              <a:ext uri="{FF2B5EF4-FFF2-40B4-BE49-F238E27FC236}">
                <a16:creationId xmlns:a16="http://schemas.microsoft.com/office/drawing/2014/main" id="{43B0269E-3C49-4849-8098-12C2164ED616}"/>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6DC02CB9-3330-4E0B-96BB-15E3383B34A9}"/>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7.2 AI 算法模块（3/3）</a:t>
            </a:r>
          </a:p>
        </p:txBody>
      </p:sp>
      <p:sp>
        <p:nvSpPr>
          <p:cNvPr id="8" name="">
            <a:extLst xmlns:a="http://schemas.openxmlformats.org/drawingml/2006/main">
              <a:ext uri="{FF2B5EF4-FFF2-40B4-BE49-F238E27FC236}">
                <a16:creationId xmlns:a16="http://schemas.microsoft.com/office/drawing/2014/main" id="{FF4A0FAA-0FB4-41BB-90DA-44E114D512D5}"/>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758B3CA-8F49-459B-A6FF-813C57D328F0}"/>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1. AI 输出动作后仍由 GameController 和 RuleSet 校验，防止非法牌进入牌局。</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2. 蓝牙对局中 AI 只由房主运行，客户端不各自运行 AI，避免不同设备随机模拟结果不一致。</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3. 困难 AI 不直接把对手完整手牌当作上帝视角使用，而是基于公开状态和候选动作评分。</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4. AI 思考期间 UI 显示思考状态，设置菜单打开时暂停 AI 行动，避免玩家打开菜单后 AI 继续出牌。</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本阶段使用的设计模式和设计原则如下：</a:t>
            </a:r>
          </a:p>
        </p:txBody>
      </p:sp>
      <p:sp>
        <p:nvSpPr>
          <p:cNvPr id="10" name="">
            <a:extLst xmlns:a="http://schemas.openxmlformats.org/drawingml/2006/main">
              <a:ext uri="{FF2B5EF4-FFF2-40B4-BE49-F238E27FC236}">
                <a16:creationId xmlns:a16="http://schemas.microsoft.com/office/drawing/2014/main" id="{1AFA8E1F-9B60-4E81-93ED-7F1C48C2B30C}"/>
              </a:ext>
            </a:extLst>
          </p:cNvPr>
          <p:cNvSpPr>
            <a:spLocks xmlns:a="http://schemas.openxmlformats.org/drawingml/2006/main" noGrp="1"/>
          </p:cNvSpPr>
          <p:nvPr/>
        </p:nvSpPr>
        <p:spPr>
          <a:xfrm xmlns:a="http://schemas.openxmlformats.org/drawingml/2006/main">
            <a:off x="5191125" y="1905000"/>
            <a:ext cx="171217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B8A03D76-E2F2-4DA7-857D-586CEAFF01AC}"/>
              </a:ext>
            </a:extLst>
          </p:cNvPr>
          <p:cNvSpPr>
            <a:spLocks xmlns:a="http://schemas.openxmlformats.org/drawingml/2006/main" noGrp="1"/>
          </p:cNvSpPr>
          <p:nvPr/>
        </p:nvSpPr>
        <p:spPr>
          <a:xfrm xmlns:a="http://schemas.openxmlformats.org/drawingml/2006/main">
            <a:off x="5238750" y="1943100"/>
            <a:ext cx="161692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设计模式/原则</a:t>
            </a:r>
          </a:p>
        </p:txBody>
      </p:sp>
      <p:sp>
        <p:nvSpPr>
          <p:cNvPr id="12" name="">
            <a:extLst xmlns:a="http://schemas.openxmlformats.org/drawingml/2006/main">
              <a:ext uri="{FF2B5EF4-FFF2-40B4-BE49-F238E27FC236}">
                <a16:creationId xmlns:a16="http://schemas.microsoft.com/office/drawing/2014/main" id="{29D15CE9-024C-4527-BABF-CE533110EE1A}"/>
              </a:ext>
            </a:extLst>
          </p:cNvPr>
          <p:cNvSpPr>
            <a:spLocks xmlns:a="http://schemas.openxmlformats.org/drawingml/2006/main" noGrp="1"/>
          </p:cNvSpPr>
          <p:nvPr/>
        </p:nvSpPr>
        <p:spPr>
          <a:xfrm xmlns:a="http://schemas.openxmlformats.org/drawingml/2006/main">
            <a:off x="6903302" y="1905000"/>
            <a:ext cx="233478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F2EFB138-208A-4113-9377-436BC8CA310B}"/>
              </a:ext>
            </a:extLst>
          </p:cNvPr>
          <p:cNvSpPr>
            <a:spLocks xmlns:a="http://schemas.openxmlformats.org/drawingml/2006/main" noGrp="1"/>
          </p:cNvSpPr>
          <p:nvPr/>
        </p:nvSpPr>
        <p:spPr>
          <a:xfrm xmlns:a="http://schemas.openxmlformats.org/drawingml/2006/main">
            <a:off x="6950927" y="1943100"/>
            <a:ext cx="223953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阶段作用</a:t>
            </a:r>
          </a:p>
        </p:txBody>
      </p:sp>
      <p:sp>
        <p:nvSpPr>
          <p:cNvPr id="14" name="">
            <a:extLst xmlns:a="http://schemas.openxmlformats.org/drawingml/2006/main">
              <a:ext uri="{FF2B5EF4-FFF2-40B4-BE49-F238E27FC236}">
                <a16:creationId xmlns:a16="http://schemas.microsoft.com/office/drawing/2014/main" id="{26A31F9F-8FB8-4926-927C-CAB7D3037C65}"/>
              </a:ext>
            </a:extLst>
          </p:cNvPr>
          <p:cNvSpPr>
            <a:spLocks xmlns:a="http://schemas.openxmlformats.org/drawingml/2006/main" noGrp="1"/>
          </p:cNvSpPr>
          <p:nvPr/>
        </p:nvSpPr>
        <p:spPr>
          <a:xfrm xmlns:a="http://schemas.openxmlformats.org/drawingml/2006/main">
            <a:off x="9238088" y="1905000"/>
            <a:ext cx="233478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0F2407C4-8437-46B6-9371-E5B2E3E55E98}"/>
              </a:ext>
            </a:extLst>
          </p:cNvPr>
          <p:cNvSpPr>
            <a:spLocks xmlns:a="http://schemas.openxmlformats.org/drawingml/2006/main" noGrp="1"/>
          </p:cNvSpPr>
          <p:nvPr/>
        </p:nvSpPr>
        <p:spPr>
          <a:xfrm xmlns:a="http://schemas.openxmlformats.org/drawingml/2006/main">
            <a:off x="9285713" y="1943100"/>
            <a:ext cx="223953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代码或文档落点</a:t>
            </a:r>
          </a:p>
        </p:txBody>
      </p:sp>
      <p:sp>
        <p:nvSpPr>
          <p:cNvPr id="16" name="">
            <a:extLst xmlns:a="http://schemas.openxmlformats.org/drawingml/2006/main">
              <a:ext uri="{FF2B5EF4-FFF2-40B4-BE49-F238E27FC236}">
                <a16:creationId xmlns:a16="http://schemas.microsoft.com/office/drawing/2014/main" id="{91C90E7E-9D21-427F-85AD-C7494BFFCBA1}"/>
              </a:ext>
            </a:extLst>
          </p:cNvPr>
          <p:cNvSpPr>
            <a:spLocks xmlns:a="http://schemas.openxmlformats.org/drawingml/2006/main" noGrp="1"/>
          </p:cNvSpPr>
          <p:nvPr/>
        </p:nvSpPr>
        <p:spPr>
          <a:xfrm xmlns:a="http://schemas.openxmlformats.org/drawingml/2006/main">
            <a:off x="5191125" y="2305050"/>
            <a:ext cx="1712177"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0CDE6783-B3FC-4192-BF1C-E534F803FC8E}"/>
              </a:ext>
            </a:extLst>
          </p:cNvPr>
          <p:cNvSpPr>
            <a:spLocks xmlns:a="http://schemas.openxmlformats.org/drawingml/2006/main" noGrp="1"/>
          </p:cNvSpPr>
          <p:nvPr/>
        </p:nvSpPr>
        <p:spPr>
          <a:xfrm xmlns:a="http://schemas.openxmlformats.org/drawingml/2006/main">
            <a:off x="5238750" y="2333625"/>
            <a:ext cx="161692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策略模式</a:t>
            </a:r>
          </a:p>
        </p:txBody>
      </p:sp>
      <p:sp>
        <p:nvSpPr>
          <p:cNvPr id="18" name="">
            <a:extLst xmlns:a="http://schemas.openxmlformats.org/drawingml/2006/main">
              <a:ext uri="{FF2B5EF4-FFF2-40B4-BE49-F238E27FC236}">
                <a16:creationId xmlns:a16="http://schemas.microsoft.com/office/drawing/2014/main" id="{61E81BD2-32A4-4CA5-81DF-6C98886C8215}"/>
              </a:ext>
            </a:extLst>
          </p:cNvPr>
          <p:cNvSpPr>
            <a:spLocks xmlns:a="http://schemas.openxmlformats.org/drawingml/2006/main" noGrp="1"/>
          </p:cNvSpPr>
          <p:nvPr/>
        </p:nvSpPr>
        <p:spPr>
          <a:xfrm xmlns:a="http://schemas.openxmlformats.org/drawingml/2006/main">
            <a:off x="6903302" y="2305050"/>
            <a:ext cx="2334787"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D75C7C06-18AF-4021-B749-694FE7537D7D}"/>
              </a:ext>
            </a:extLst>
          </p:cNvPr>
          <p:cNvSpPr>
            <a:spLocks xmlns:a="http://schemas.openxmlformats.org/drawingml/2006/main" noGrp="1"/>
          </p:cNvSpPr>
          <p:nvPr/>
        </p:nvSpPr>
        <p:spPr>
          <a:xfrm xmlns:a="http://schemas.openxmlformats.org/drawingml/2006/main">
            <a:off x="6950927" y="2333625"/>
            <a:ext cx="223953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三种 AI 都实现 AiStrategy，难度变化只替换策略对象，不改牌局控制器</a:t>
            </a:r>
          </a:p>
        </p:txBody>
      </p:sp>
      <p:sp>
        <p:nvSpPr>
          <p:cNvPr id="20" name="">
            <a:extLst xmlns:a="http://schemas.openxmlformats.org/drawingml/2006/main">
              <a:ext uri="{FF2B5EF4-FFF2-40B4-BE49-F238E27FC236}">
                <a16:creationId xmlns:a16="http://schemas.microsoft.com/office/drawing/2014/main" id="{6441419A-98E0-4EB8-A507-7CAB662AFBDA}"/>
              </a:ext>
            </a:extLst>
          </p:cNvPr>
          <p:cNvSpPr>
            <a:spLocks xmlns:a="http://schemas.openxmlformats.org/drawingml/2006/main" noGrp="1"/>
          </p:cNvSpPr>
          <p:nvPr/>
        </p:nvSpPr>
        <p:spPr>
          <a:xfrm xmlns:a="http://schemas.openxmlformats.org/drawingml/2006/main">
            <a:off x="9238088" y="2305050"/>
            <a:ext cx="2334787"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5A501704-D014-40C0-8825-EA5C34CE7468}"/>
              </a:ext>
            </a:extLst>
          </p:cNvPr>
          <p:cNvSpPr>
            <a:spLocks xmlns:a="http://schemas.openxmlformats.org/drawingml/2006/main" noGrp="1"/>
          </p:cNvSpPr>
          <p:nvPr/>
        </p:nvSpPr>
        <p:spPr>
          <a:xfrm xmlns:a="http://schemas.openxmlformats.org/drawingml/2006/main">
            <a:off x="9285713" y="2333625"/>
            <a:ext cx="223953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GreedyAiStrategy、HeuristicAiStrategy、MonteCarloRolloutAiStrategy</a:t>
            </a:r>
          </a:p>
        </p:txBody>
      </p:sp>
      <p:sp>
        <p:nvSpPr>
          <p:cNvPr id="22" name="">
            <a:extLst xmlns:a="http://schemas.openxmlformats.org/drawingml/2006/main">
              <a:ext uri="{FF2B5EF4-FFF2-40B4-BE49-F238E27FC236}">
                <a16:creationId xmlns:a16="http://schemas.microsoft.com/office/drawing/2014/main" id="{2EF2463E-7217-41B2-A710-A5216B48121A}"/>
              </a:ext>
            </a:extLst>
          </p:cNvPr>
          <p:cNvSpPr>
            <a:spLocks xmlns:a="http://schemas.openxmlformats.org/drawingml/2006/main" noGrp="1"/>
          </p:cNvSpPr>
          <p:nvPr/>
        </p:nvSpPr>
        <p:spPr>
          <a:xfrm xmlns:a="http://schemas.openxmlformats.org/drawingml/2006/main">
            <a:off x="5191125" y="3214688"/>
            <a:ext cx="1712177"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FF2B5DED-5018-431B-BA5F-FF447C5E1C89}"/>
              </a:ext>
            </a:extLst>
          </p:cNvPr>
          <p:cNvSpPr>
            <a:spLocks xmlns:a="http://schemas.openxmlformats.org/drawingml/2006/main" noGrp="1"/>
          </p:cNvSpPr>
          <p:nvPr/>
        </p:nvSpPr>
        <p:spPr>
          <a:xfrm xmlns:a="http://schemas.openxmlformats.org/drawingml/2006/main">
            <a:off x="5238750" y="3243263"/>
            <a:ext cx="161692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模板化评估思想</a:t>
            </a:r>
          </a:p>
        </p:txBody>
      </p:sp>
      <p:sp>
        <p:nvSpPr>
          <p:cNvPr id="24" name="">
            <a:extLst xmlns:a="http://schemas.openxmlformats.org/drawingml/2006/main">
              <a:ext uri="{FF2B5EF4-FFF2-40B4-BE49-F238E27FC236}">
                <a16:creationId xmlns:a16="http://schemas.microsoft.com/office/drawing/2014/main" id="{2D250C95-9666-426F-971B-2866F66914E7}"/>
              </a:ext>
            </a:extLst>
          </p:cNvPr>
          <p:cNvSpPr>
            <a:spLocks xmlns:a="http://schemas.openxmlformats.org/drawingml/2006/main" noGrp="1"/>
          </p:cNvSpPr>
          <p:nvPr/>
        </p:nvSpPr>
        <p:spPr>
          <a:xfrm xmlns:a="http://schemas.openxmlformats.org/drawingml/2006/main">
            <a:off x="6903302" y="3214688"/>
            <a:ext cx="2334787"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88E8172C-7EF1-4BD2-8FAF-FDA5B46F5BE0}"/>
              </a:ext>
            </a:extLst>
          </p:cNvPr>
          <p:cNvSpPr>
            <a:spLocks xmlns:a="http://schemas.openxmlformats.org/drawingml/2006/main" noGrp="1"/>
          </p:cNvSpPr>
          <p:nvPr/>
        </p:nvSpPr>
        <p:spPr>
          <a:xfrm xmlns:a="http://schemas.openxmlformats.org/drawingml/2006/main">
            <a:off x="6950927" y="3243263"/>
            <a:ext cx="223953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困难 AI 将合法候选统一进入 rollout 评分流程，减少散落条件判断</a:t>
            </a:r>
          </a:p>
        </p:txBody>
      </p:sp>
      <p:sp>
        <p:nvSpPr>
          <p:cNvPr id="26" name="">
            <a:extLst xmlns:a="http://schemas.openxmlformats.org/drawingml/2006/main">
              <a:ext uri="{FF2B5EF4-FFF2-40B4-BE49-F238E27FC236}">
                <a16:creationId xmlns:a16="http://schemas.microsoft.com/office/drawing/2014/main" id="{F5DF443C-F352-42A8-BF40-FF8B6C2A2A64}"/>
              </a:ext>
            </a:extLst>
          </p:cNvPr>
          <p:cNvSpPr>
            <a:spLocks xmlns:a="http://schemas.openxmlformats.org/drawingml/2006/main" noGrp="1"/>
          </p:cNvSpPr>
          <p:nvPr/>
        </p:nvSpPr>
        <p:spPr>
          <a:xfrm xmlns:a="http://schemas.openxmlformats.org/drawingml/2006/main">
            <a:off x="9238088" y="3214688"/>
            <a:ext cx="2334787"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77479CD3-1860-4C41-A9D1-7E8E822B2E12}"/>
              </a:ext>
            </a:extLst>
          </p:cNvPr>
          <p:cNvSpPr>
            <a:spLocks xmlns:a="http://schemas.openxmlformats.org/drawingml/2006/main" noGrp="1"/>
          </p:cNvSpPr>
          <p:nvPr/>
        </p:nvSpPr>
        <p:spPr>
          <a:xfrm xmlns:a="http://schemas.openxmlformats.org/drawingml/2006/main">
            <a:off x="9285713" y="3243263"/>
            <a:ext cx="223953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MonteCarloRolloutAiStrategy</a:t>
            </a:r>
          </a:p>
        </p:txBody>
      </p:sp>
      <p:sp>
        <p:nvSpPr>
          <p:cNvPr id="28" name="">
            <a:extLst xmlns:a="http://schemas.openxmlformats.org/drawingml/2006/main">
              <a:ext uri="{FF2B5EF4-FFF2-40B4-BE49-F238E27FC236}">
                <a16:creationId xmlns:a16="http://schemas.microsoft.com/office/drawing/2014/main" id="{D3959736-B7B2-46AD-9BEC-C7DECD9BCD49}"/>
              </a:ext>
            </a:extLst>
          </p:cNvPr>
          <p:cNvSpPr>
            <a:spLocks xmlns:a="http://schemas.openxmlformats.org/drawingml/2006/main" noGrp="1"/>
          </p:cNvSpPr>
          <p:nvPr/>
        </p:nvSpPr>
        <p:spPr>
          <a:xfrm xmlns:a="http://schemas.openxmlformats.org/drawingml/2006/main">
            <a:off x="5191125" y="4124325"/>
            <a:ext cx="1712177"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02A1E9F9-AFE9-4DDA-927D-7383D1CF0CDE}"/>
              </a:ext>
            </a:extLst>
          </p:cNvPr>
          <p:cNvSpPr>
            <a:spLocks xmlns:a="http://schemas.openxmlformats.org/drawingml/2006/main" noGrp="1"/>
          </p:cNvSpPr>
          <p:nvPr/>
        </p:nvSpPr>
        <p:spPr>
          <a:xfrm xmlns:a="http://schemas.openxmlformats.org/drawingml/2006/main">
            <a:off x="5238750" y="4152900"/>
            <a:ext cx="161692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状态模式/状态机思想</a:t>
            </a:r>
          </a:p>
        </p:txBody>
      </p:sp>
      <p:sp>
        <p:nvSpPr>
          <p:cNvPr id="30" name="">
            <a:extLst xmlns:a="http://schemas.openxmlformats.org/drawingml/2006/main">
              <a:ext uri="{FF2B5EF4-FFF2-40B4-BE49-F238E27FC236}">
                <a16:creationId xmlns:a16="http://schemas.microsoft.com/office/drawing/2014/main" id="{7902E2D6-DC8E-4423-BA12-C6321A186D48}"/>
              </a:ext>
            </a:extLst>
          </p:cNvPr>
          <p:cNvSpPr>
            <a:spLocks xmlns:a="http://schemas.openxmlformats.org/drawingml/2006/main" noGrp="1"/>
          </p:cNvSpPr>
          <p:nvPr/>
        </p:nvSpPr>
        <p:spPr>
          <a:xfrm xmlns:a="http://schemas.openxmlformats.org/drawingml/2006/main">
            <a:off x="6903302" y="4124325"/>
            <a:ext cx="2334787"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B86A3B4E-A064-4CD6-B9AC-F3E0F7BB34B7}"/>
              </a:ext>
            </a:extLst>
          </p:cNvPr>
          <p:cNvSpPr>
            <a:spLocks xmlns:a="http://schemas.openxmlformats.org/drawingml/2006/main" noGrp="1"/>
          </p:cNvSpPr>
          <p:nvPr/>
        </p:nvSpPr>
        <p:spPr>
          <a:xfrm xmlns:a="http://schemas.openxmlformats.org/drawingml/2006/main">
            <a:off x="6950927" y="4152900"/>
            <a:ext cx="223953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Screen、GameStartPhase 和蓝牙状态共同约束页面与牌局阶段</a:t>
            </a:r>
          </a:p>
        </p:txBody>
      </p:sp>
      <p:sp>
        <p:nvSpPr>
          <p:cNvPr id="32" name="">
            <a:extLst xmlns:a="http://schemas.openxmlformats.org/drawingml/2006/main">
              <a:ext uri="{FF2B5EF4-FFF2-40B4-BE49-F238E27FC236}">
                <a16:creationId xmlns:a16="http://schemas.microsoft.com/office/drawing/2014/main" id="{B9B96BAA-C58C-4D14-A5DD-2B884D5B899C}"/>
              </a:ext>
            </a:extLst>
          </p:cNvPr>
          <p:cNvSpPr>
            <a:spLocks xmlns:a="http://schemas.openxmlformats.org/drawingml/2006/main" noGrp="1"/>
          </p:cNvSpPr>
          <p:nvPr/>
        </p:nvSpPr>
        <p:spPr>
          <a:xfrm xmlns:a="http://schemas.openxmlformats.org/drawingml/2006/main">
            <a:off x="9238088" y="4124325"/>
            <a:ext cx="2334787"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E7667486-D403-4E63-9170-A2C41BA8C376}"/>
              </a:ext>
            </a:extLst>
          </p:cNvPr>
          <p:cNvSpPr>
            <a:spLocks xmlns:a="http://schemas.openxmlformats.org/drawingml/2006/main" noGrp="1"/>
          </p:cNvSpPr>
          <p:nvPr/>
        </p:nvSpPr>
        <p:spPr>
          <a:xfrm xmlns:a="http://schemas.openxmlformats.org/drawingml/2006/main">
            <a:off x="9285713" y="4152900"/>
            <a:ext cx="223953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Screen、GameStartPhase、state_game.puml</a:t>
            </a:r>
          </a:p>
        </p:txBody>
      </p:sp>
      <p:sp>
        <p:nvSpPr>
          <p:cNvPr id="34" name="">
            <a:extLst xmlns:a="http://schemas.openxmlformats.org/drawingml/2006/main">
              <a:ext uri="{FF2B5EF4-FFF2-40B4-BE49-F238E27FC236}">
                <a16:creationId xmlns:a16="http://schemas.microsoft.com/office/drawing/2014/main" id="{35A4A4CA-F77D-4ADC-9F80-B699B9EEDBF4}"/>
              </a:ext>
            </a:extLst>
          </p:cNvPr>
          <p:cNvSpPr>
            <a:spLocks xmlns:a="http://schemas.openxmlformats.org/drawingml/2006/main" noGrp="1"/>
          </p:cNvSpPr>
          <p:nvPr/>
        </p:nvSpPr>
        <p:spPr>
          <a:xfrm xmlns:a="http://schemas.openxmlformats.org/drawingml/2006/main">
            <a:off x="5191125" y="5033963"/>
            <a:ext cx="1712177"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5" name="">
            <a:extLst xmlns:a="http://schemas.openxmlformats.org/drawingml/2006/main">
              <a:ext uri="{FF2B5EF4-FFF2-40B4-BE49-F238E27FC236}">
                <a16:creationId xmlns:a16="http://schemas.microsoft.com/office/drawing/2014/main" id="{2F24A331-1B8C-4A5C-BD0C-158D8AB0C6D5}"/>
              </a:ext>
            </a:extLst>
          </p:cNvPr>
          <p:cNvSpPr>
            <a:spLocks xmlns:a="http://schemas.openxmlformats.org/drawingml/2006/main" noGrp="1"/>
          </p:cNvSpPr>
          <p:nvPr/>
        </p:nvSpPr>
        <p:spPr>
          <a:xfrm xmlns:a="http://schemas.openxmlformats.org/drawingml/2006/main">
            <a:off x="5238750" y="5062538"/>
            <a:ext cx="161692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防御式校验</a:t>
            </a:r>
          </a:p>
        </p:txBody>
      </p:sp>
      <p:sp>
        <p:nvSpPr>
          <p:cNvPr id="36" name="">
            <a:extLst xmlns:a="http://schemas.openxmlformats.org/drawingml/2006/main">
              <a:ext uri="{FF2B5EF4-FFF2-40B4-BE49-F238E27FC236}">
                <a16:creationId xmlns:a16="http://schemas.microsoft.com/office/drawing/2014/main" id="{2BE87DAF-28E1-45C7-B9FC-E2A6EA843715}"/>
              </a:ext>
            </a:extLst>
          </p:cNvPr>
          <p:cNvSpPr>
            <a:spLocks xmlns:a="http://schemas.openxmlformats.org/drawingml/2006/main" noGrp="1"/>
          </p:cNvSpPr>
          <p:nvPr/>
        </p:nvSpPr>
        <p:spPr>
          <a:xfrm xmlns:a="http://schemas.openxmlformats.org/drawingml/2006/main">
            <a:off x="6903302" y="5033963"/>
            <a:ext cx="2334787"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7" name="">
            <a:extLst xmlns:a="http://schemas.openxmlformats.org/drawingml/2006/main">
              <a:ext uri="{FF2B5EF4-FFF2-40B4-BE49-F238E27FC236}">
                <a16:creationId xmlns:a16="http://schemas.microsoft.com/office/drawing/2014/main" id="{2CB71032-D075-47D0-9018-EA9AF661ED51}"/>
              </a:ext>
            </a:extLst>
          </p:cNvPr>
          <p:cNvSpPr>
            <a:spLocks xmlns:a="http://schemas.openxmlformats.org/drawingml/2006/main" noGrp="1"/>
          </p:cNvSpPr>
          <p:nvPr/>
        </p:nvSpPr>
        <p:spPr>
          <a:xfrm xmlns:a="http://schemas.openxmlformats.org/drawingml/2006/main">
            <a:off x="6950927" y="5062538"/>
            <a:ext cx="223953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AI 只提出动作，最终仍由 GameController 和 RuleSet 校验，防止非法动作进入状态</a:t>
            </a:r>
          </a:p>
        </p:txBody>
      </p:sp>
      <p:sp>
        <p:nvSpPr>
          <p:cNvPr id="38" name="">
            <a:extLst xmlns:a="http://schemas.openxmlformats.org/drawingml/2006/main">
              <a:ext uri="{FF2B5EF4-FFF2-40B4-BE49-F238E27FC236}">
                <a16:creationId xmlns:a16="http://schemas.microsoft.com/office/drawing/2014/main" id="{E14581BD-AD50-49E0-9498-4AD60E07687A}"/>
              </a:ext>
            </a:extLst>
          </p:cNvPr>
          <p:cNvSpPr>
            <a:spLocks xmlns:a="http://schemas.openxmlformats.org/drawingml/2006/main" noGrp="1"/>
          </p:cNvSpPr>
          <p:nvPr/>
        </p:nvSpPr>
        <p:spPr>
          <a:xfrm xmlns:a="http://schemas.openxmlformats.org/drawingml/2006/main">
            <a:off x="9238088" y="5033963"/>
            <a:ext cx="2334787"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9" name="">
            <a:extLst xmlns:a="http://schemas.openxmlformats.org/drawingml/2006/main">
              <a:ext uri="{FF2B5EF4-FFF2-40B4-BE49-F238E27FC236}">
                <a16:creationId xmlns:a16="http://schemas.microsoft.com/office/drawing/2014/main" id="{12D470B5-6E7F-41B8-B86B-A1A0A64C978C}"/>
              </a:ext>
            </a:extLst>
          </p:cNvPr>
          <p:cNvSpPr>
            <a:spLocks xmlns:a="http://schemas.openxmlformats.org/drawingml/2006/main" noGrp="1"/>
          </p:cNvSpPr>
          <p:nvPr/>
        </p:nvSpPr>
        <p:spPr>
          <a:xfrm xmlns:a="http://schemas.openxmlformats.org/drawingml/2006/main">
            <a:off x="9285713" y="5062538"/>
            <a:ext cx="2239537"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GameController.play()、RuleSet.canBeat()</a:t>
            </a:r>
          </a:p>
        </p:txBody>
      </p:sp>
    </p:spTree>
    <p:extLst>
      <p:ext uri="{BB962C8B-B14F-4D97-AF65-F5344CB8AC3E}">
        <p14:creationId xmlns:p14="http://schemas.microsoft.com/office/powerpoint/2010/main" val="1532011152"/>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DB5E6D-1B39-4CC7-B4A0-BAD6624D98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61A82D-74C5-4AB6-916E-0E92632C33D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ABA4A2-218C-4013-ACD6-13D5FEFB9F7C}"/>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FD876719-B1DD-4C2D-B038-747D7A4FCF16}"/>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B8BB9245-31F2-4846-A9BD-1817CD3926D6}"/>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67</a:t>
            </a:r>
          </a:p>
        </p:txBody>
      </p:sp>
      <p:sp>
        <p:nvSpPr>
          <p:cNvPr id="6" name="">
            <a:extLst xmlns:a="http://schemas.openxmlformats.org/drawingml/2006/main">
              <a:ext uri="{FF2B5EF4-FFF2-40B4-BE49-F238E27FC236}">
                <a16:creationId xmlns:a16="http://schemas.microsoft.com/office/drawing/2014/main" id="{7C7964A5-FA41-41BD-B7A0-D88ABCC62515}"/>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45916D09-4E5F-4589-BFE3-0772C3558227}"/>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7.3 状态建模（1/3）</a:t>
            </a:r>
          </a:p>
        </p:txBody>
      </p:sp>
      <p:sp>
        <p:nvSpPr>
          <p:cNvPr id="8" name="">
            <a:extLst xmlns:a="http://schemas.openxmlformats.org/drawingml/2006/main">
              <a:ext uri="{FF2B5EF4-FFF2-40B4-BE49-F238E27FC236}">
                <a16:creationId xmlns:a16="http://schemas.microsoft.com/office/drawing/2014/main" id="{5D9B6E6F-2B3E-4F65-9BDB-A46664CA1E41}"/>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9E4C7AA-0A0B-4F75-8A95-3A2783BB4930}"/>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项目通过状态图描述从启动到结算的主要状态转换：</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1. Splash：开屏页，玩家点击开始游戏后进入大厅。</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2. Lobby：大厅，进入人机、蓝牙、规则、设置、教程或玩家中心。</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3. ReadyToStart：人机对局预备牌桌，玩家确认开始。</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4. Dealing：发牌动画阶段。</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5. Playing：正式对局阶段，玩家和 AI 按回合出牌。</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6. Paused：设置、确认或临时暂停状态。</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7. Result：结算页，展示胜负、金币、经验、升级和再来一局。</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状态建模帮助 UI 避免多个布尔值交叉控制，页面切换和牌局阶段都由明确状态驱动。</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状态图不仅描述页面，还描述关键业务保护：</a:t>
            </a:r>
          </a:p>
        </p:txBody>
      </p:sp>
    </p:spTree>
    <p:extLst>
      <p:ext uri="{BB962C8B-B14F-4D97-AF65-F5344CB8AC3E}">
        <p14:creationId xmlns:p14="http://schemas.microsoft.com/office/powerpoint/2010/main" val="1113022716"/>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F179B58-7551-4E42-A996-D30ABB3BA9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56DF10-C987-4B0F-ABA5-1C5183F7BFF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3F9CFAC-0B06-49F7-A2D1-F53AD4651D2A}"/>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9B577083-2A2A-43EC-A04D-9FCFED47202A}"/>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13EDF2D6-CD62-4EA1-B310-1FB3AE7F5AFF}"/>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68</a:t>
            </a:r>
          </a:p>
        </p:txBody>
      </p:sp>
      <p:sp>
        <p:nvSpPr>
          <p:cNvPr id="6" name="">
            <a:extLst xmlns:a="http://schemas.openxmlformats.org/drawingml/2006/main">
              <a:ext uri="{FF2B5EF4-FFF2-40B4-BE49-F238E27FC236}">
                <a16:creationId xmlns:a16="http://schemas.microsoft.com/office/drawing/2014/main" id="{14203B9C-43F1-490C-8679-F8130D3D77DD}"/>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4B8EFF0A-F02B-43BC-AE10-053D29E6BFEA}"/>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7.3 状态建模（2/3）</a:t>
            </a:r>
          </a:p>
        </p:txBody>
      </p:sp>
      <p:sp>
        <p:nvSpPr>
          <p:cNvPr id="8" name="">
            <a:extLst xmlns:a="http://schemas.openxmlformats.org/drawingml/2006/main">
              <a:ext uri="{FF2B5EF4-FFF2-40B4-BE49-F238E27FC236}">
                <a16:creationId xmlns:a16="http://schemas.microsoft.com/office/drawing/2014/main" id="{FBF1864C-A9BE-41BE-9258-6ABE45CB042D}"/>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C39ACA0-7CC7-4587-A2D5-8C8C757E6D79}"/>
              </a:ext>
            </a:extLst>
          </p:cNvPr>
          <p:cNvSpPr>
            <a:spLocks xmlns:a="http://schemas.openxmlformats.org/drawingml/2006/main" noGrp="1"/>
          </p:cNvSpPr>
          <p:nvPr/>
        </p:nvSpPr>
        <p:spPr>
          <a:xfrm xmlns:a="http://schemas.openxmlformats.org/drawingml/2006/main">
            <a:off x="457200" y="1905000"/>
            <a:ext cx="37465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8DA7932F-BEAD-4497-8B0F-A82E813BF77A}"/>
              </a:ext>
            </a:extLst>
          </p:cNvPr>
          <p:cNvSpPr>
            <a:spLocks xmlns:a="http://schemas.openxmlformats.org/drawingml/2006/main" noGrp="1"/>
          </p:cNvSpPr>
          <p:nvPr/>
        </p:nvSpPr>
        <p:spPr>
          <a:xfrm xmlns:a="http://schemas.openxmlformats.org/drawingml/2006/main">
            <a:off x="504825" y="1943100"/>
            <a:ext cx="365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状态</a:t>
            </a:r>
          </a:p>
        </p:txBody>
      </p:sp>
      <p:sp>
        <p:nvSpPr>
          <p:cNvPr id="11" name="">
            <a:extLst xmlns:a="http://schemas.openxmlformats.org/drawingml/2006/main">
              <a:ext uri="{FF2B5EF4-FFF2-40B4-BE49-F238E27FC236}">
                <a16:creationId xmlns:a16="http://schemas.microsoft.com/office/drawing/2014/main" id="{EB76548C-2AFC-4F7B-A115-F1936451F2EB}"/>
              </a:ext>
            </a:extLst>
          </p:cNvPr>
          <p:cNvSpPr>
            <a:spLocks xmlns:a="http://schemas.openxmlformats.org/drawingml/2006/main" noGrp="1"/>
          </p:cNvSpPr>
          <p:nvPr/>
        </p:nvSpPr>
        <p:spPr>
          <a:xfrm xmlns:a="http://schemas.openxmlformats.org/drawingml/2006/main">
            <a:off x="4203700" y="1905000"/>
            <a:ext cx="37465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198D9162-5960-4AA3-9BFD-CDF2FA64322A}"/>
              </a:ext>
            </a:extLst>
          </p:cNvPr>
          <p:cNvSpPr>
            <a:spLocks xmlns:a="http://schemas.openxmlformats.org/drawingml/2006/main" noGrp="1"/>
          </p:cNvSpPr>
          <p:nvPr/>
        </p:nvSpPr>
        <p:spPr>
          <a:xfrm xmlns:a="http://schemas.openxmlformats.org/drawingml/2006/main">
            <a:off x="4251325" y="1943100"/>
            <a:ext cx="365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进入条件</a:t>
            </a:r>
          </a:p>
        </p:txBody>
      </p:sp>
      <p:sp>
        <p:nvSpPr>
          <p:cNvPr id="13" name="">
            <a:extLst xmlns:a="http://schemas.openxmlformats.org/drawingml/2006/main">
              <a:ext uri="{FF2B5EF4-FFF2-40B4-BE49-F238E27FC236}">
                <a16:creationId xmlns:a16="http://schemas.microsoft.com/office/drawing/2014/main" id="{D0400515-FDE3-4E99-9B6D-2C85A68506BF}"/>
              </a:ext>
            </a:extLst>
          </p:cNvPr>
          <p:cNvSpPr>
            <a:spLocks xmlns:a="http://schemas.openxmlformats.org/drawingml/2006/main" noGrp="1"/>
          </p:cNvSpPr>
          <p:nvPr/>
        </p:nvSpPr>
        <p:spPr>
          <a:xfrm xmlns:a="http://schemas.openxmlformats.org/drawingml/2006/main">
            <a:off x="7950200" y="1905000"/>
            <a:ext cx="37465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20DC1FEE-5F76-4DC7-9CE4-0C2DBD440D74}"/>
              </a:ext>
            </a:extLst>
          </p:cNvPr>
          <p:cNvSpPr>
            <a:spLocks xmlns:a="http://schemas.openxmlformats.org/drawingml/2006/main" noGrp="1"/>
          </p:cNvSpPr>
          <p:nvPr/>
        </p:nvSpPr>
        <p:spPr>
          <a:xfrm xmlns:a="http://schemas.openxmlformats.org/drawingml/2006/main">
            <a:off x="7997825" y="1943100"/>
            <a:ext cx="365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禁用/允许内容</a:t>
            </a:r>
          </a:p>
        </p:txBody>
      </p:sp>
      <p:sp>
        <p:nvSpPr>
          <p:cNvPr id="15" name="">
            <a:extLst xmlns:a="http://schemas.openxmlformats.org/drawingml/2006/main">
              <a:ext uri="{FF2B5EF4-FFF2-40B4-BE49-F238E27FC236}">
                <a16:creationId xmlns:a16="http://schemas.microsoft.com/office/drawing/2014/main" id="{DF126761-89B0-437B-AE2E-FE01A428EC11}"/>
              </a:ext>
            </a:extLst>
          </p:cNvPr>
          <p:cNvSpPr>
            <a:spLocks xmlns:a="http://schemas.openxmlformats.org/drawingml/2006/main" noGrp="1"/>
          </p:cNvSpPr>
          <p:nvPr/>
        </p:nvSpPr>
        <p:spPr>
          <a:xfrm xmlns:a="http://schemas.openxmlformats.org/drawingml/2006/main">
            <a:off x="457200" y="2305050"/>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B33BD030-CB7E-43B8-B774-3AA58EEEFBCC}"/>
              </a:ext>
            </a:extLst>
          </p:cNvPr>
          <p:cNvSpPr>
            <a:spLocks xmlns:a="http://schemas.openxmlformats.org/drawingml/2006/main" noGrp="1"/>
          </p:cNvSpPr>
          <p:nvPr/>
        </p:nvSpPr>
        <p:spPr>
          <a:xfrm xmlns:a="http://schemas.openxmlformats.org/drawingml/2006/main">
            <a:off x="504825" y="2333625"/>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ReadyToStart</a:t>
            </a:r>
          </a:p>
        </p:txBody>
      </p:sp>
      <p:sp>
        <p:nvSpPr>
          <p:cNvPr id="17" name="">
            <a:extLst xmlns:a="http://schemas.openxmlformats.org/drawingml/2006/main">
              <a:ext uri="{FF2B5EF4-FFF2-40B4-BE49-F238E27FC236}">
                <a16:creationId xmlns:a16="http://schemas.microsoft.com/office/drawing/2014/main" id="{B062DE02-9979-418A-9363-A159BE259FF9}"/>
              </a:ext>
            </a:extLst>
          </p:cNvPr>
          <p:cNvSpPr>
            <a:spLocks xmlns:a="http://schemas.openxmlformats.org/drawingml/2006/main" noGrp="1"/>
          </p:cNvSpPr>
          <p:nvPr/>
        </p:nvSpPr>
        <p:spPr>
          <a:xfrm xmlns:a="http://schemas.openxmlformats.org/drawingml/2006/main">
            <a:off x="4203700" y="2305050"/>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21CFE557-C641-4DC3-A0C2-5479C6E911A8}"/>
              </a:ext>
            </a:extLst>
          </p:cNvPr>
          <p:cNvSpPr>
            <a:spLocks xmlns:a="http://schemas.openxmlformats.org/drawingml/2006/main" noGrp="1"/>
          </p:cNvSpPr>
          <p:nvPr/>
        </p:nvSpPr>
        <p:spPr>
          <a:xfrm xmlns:a="http://schemas.openxmlformats.org/drawingml/2006/main">
            <a:off x="4251325" y="2333625"/>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人机选择难度后进入牌桌预备页</a:t>
            </a:r>
          </a:p>
        </p:txBody>
      </p:sp>
      <p:sp>
        <p:nvSpPr>
          <p:cNvPr id="19" name="">
            <a:extLst xmlns:a="http://schemas.openxmlformats.org/drawingml/2006/main">
              <a:ext uri="{FF2B5EF4-FFF2-40B4-BE49-F238E27FC236}">
                <a16:creationId xmlns:a16="http://schemas.microsoft.com/office/drawing/2014/main" id="{86A6B0FE-D8C4-4245-88AE-7717C0BFF391}"/>
              </a:ext>
            </a:extLst>
          </p:cNvPr>
          <p:cNvSpPr>
            <a:spLocks xmlns:a="http://schemas.openxmlformats.org/drawingml/2006/main" noGrp="1"/>
          </p:cNvSpPr>
          <p:nvPr/>
        </p:nvSpPr>
        <p:spPr>
          <a:xfrm xmlns:a="http://schemas.openxmlformats.org/drawingml/2006/main">
            <a:off x="7950200" y="2305050"/>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942781DF-A169-4330-9FA1-B08B29D7A051}"/>
              </a:ext>
            </a:extLst>
          </p:cNvPr>
          <p:cNvSpPr>
            <a:spLocks xmlns:a="http://schemas.openxmlformats.org/drawingml/2006/main" noGrp="1"/>
          </p:cNvSpPr>
          <p:nvPr/>
        </p:nvSpPr>
        <p:spPr>
          <a:xfrm xmlns:a="http://schemas.openxmlformats.org/drawingml/2006/main">
            <a:off x="7997825" y="2333625"/>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不显示手牌，不启动倒计时，不触发 AI</a:t>
            </a:r>
          </a:p>
        </p:txBody>
      </p:sp>
      <p:sp>
        <p:nvSpPr>
          <p:cNvPr id="21" name="">
            <a:extLst xmlns:a="http://schemas.openxmlformats.org/drawingml/2006/main">
              <a:ext uri="{FF2B5EF4-FFF2-40B4-BE49-F238E27FC236}">
                <a16:creationId xmlns:a16="http://schemas.microsoft.com/office/drawing/2014/main" id="{EF63ADFD-6044-45EC-81FC-49FB586B775E}"/>
              </a:ext>
            </a:extLst>
          </p:cNvPr>
          <p:cNvSpPr>
            <a:spLocks xmlns:a="http://schemas.openxmlformats.org/drawingml/2006/main" noGrp="1"/>
          </p:cNvSpPr>
          <p:nvPr/>
        </p:nvSpPr>
        <p:spPr>
          <a:xfrm xmlns:a="http://schemas.openxmlformats.org/drawingml/2006/main">
            <a:off x="457200" y="2824843"/>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8858C306-9F66-4AFE-81BC-C33B19EC0B44}"/>
              </a:ext>
            </a:extLst>
          </p:cNvPr>
          <p:cNvSpPr>
            <a:spLocks xmlns:a="http://schemas.openxmlformats.org/drawingml/2006/main" noGrp="1"/>
          </p:cNvSpPr>
          <p:nvPr/>
        </p:nvSpPr>
        <p:spPr>
          <a:xfrm xmlns:a="http://schemas.openxmlformats.org/drawingml/2006/main">
            <a:off x="504825" y="2853418"/>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Dealing</a:t>
            </a:r>
          </a:p>
        </p:txBody>
      </p:sp>
      <p:sp>
        <p:nvSpPr>
          <p:cNvPr id="23" name="">
            <a:extLst xmlns:a="http://schemas.openxmlformats.org/drawingml/2006/main">
              <a:ext uri="{FF2B5EF4-FFF2-40B4-BE49-F238E27FC236}">
                <a16:creationId xmlns:a16="http://schemas.microsoft.com/office/drawing/2014/main" id="{47AB6C07-54CF-4FE7-B867-4579993A8746}"/>
              </a:ext>
            </a:extLst>
          </p:cNvPr>
          <p:cNvSpPr>
            <a:spLocks xmlns:a="http://schemas.openxmlformats.org/drawingml/2006/main" noGrp="1"/>
          </p:cNvSpPr>
          <p:nvPr/>
        </p:nvSpPr>
        <p:spPr>
          <a:xfrm xmlns:a="http://schemas.openxmlformats.org/drawingml/2006/main">
            <a:off x="4203700" y="2824843"/>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2C30BA15-FC27-42F0-9E77-228759E9814A}"/>
              </a:ext>
            </a:extLst>
          </p:cNvPr>
          <p:cNvSpPr>
            <a:spLocks xmlns:a="http://schemas.openxmlformats.org/drawingml/2006/main" noGrp="1"/>
          </p:cNvSpPr>
          <p:nvPr/>
        </p:nvSpPr>
        <p:spPr>
          <a:xfrm xmlns:a="http://schemas.openxmlformats.org/drawingml/2006/main">
            <a:off x="4251325" y="2853418"/>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点击开始游戏后播放发牌动画</a:t>
            </a:r>
          </a:p>
        </p:txBody>
      </p:sp>
      <p:sp>
        <p:nvSpPr>
          <p:cNvPr id="25" name="">
            <a:extLst xmlns:a="http://schemas.openxmlformats.org/drawingml/2006/main">
              <a:ext uri="{FF2B5EF4-FFF2-40B4-BE49-F238E27FC236}">
                <a16:creationId xmlns:a16="http://schemas.microsoft.com/office/drawing/2014/main" id="{307A331F-B229-4DAB-8125-D86251E7AD70}"/>
              </a:ext>
            </a:extLst>
          </p:cNvPr>
          <p:cNvSpPr>
            <a:spLocks xmlns:a="http://schemas.openxmlformats.org/drawingml/2006/main" noGrp="1"/>
          </p:cNvSpPr>
          <p:nvPr/>
        </p:nvSpPr>
        <p:spPr>
          <a:xfrm xmlns:a="http://schemas.openxmlformats.org/drawingml/2006/main">
            <a:off x="7950200" y="2824843"/>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B95A6F54-8BB0-416A-B29F-2AED675DBC05}"/>
              </a:ext>
            </a:extLst>
          </p:cNvPr>
          <p:cNvSpPr>
            <a:spLocks xmlns:a="http://schemas.openxmlformats.org/drawingml/2006/main" noGrp="1"/>
          </p:cNvSpPr>
          <p:nvPr/>
        </p:nvSpPr>
        <p:spPr>
          <a:xfrm xmlns:a="http://schemas.openxmlformats.org/drawingml/2006/main">
            <a:off x="7997825" y="2853418"/>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禁用出牌/不出/提示/重选，倒计时暂停</a:t>
            </a:r>
          </a:p>
        </p:txBody>
      </p:sp>
      <p:sp>
        <p:nvSpPr>
          <p:cNvPr id="27" name="">
            <a:extLst xmlns:a="http://schemas.openxmlformats.org/drawingml/2006/main">
              <a:ext uri="{FF2B5EF4-FFF2-40B4-BE49-F238E27FC236}">
                <a16:creationId xmlns:a16="http://schemas.microsoft.com/office/drawing/2014/main" id="{7F9671D0-0DEC-460A-9AC8-28A64D6A8A09}"/>
              </a:ext>
            </a:extLst>
          </p:cNvPr>
          <p:cNvSpPr>
            <a:spLocks xmlns:a="http://schemas.openxmlformats.org/drawingml/2006/main" noGrp="1"/>
          </p:cNvSpPr>
          <p:nvPr/>
        </p:nvSpPr>
        <p:spPr>
          <a:xfrm xmlns:a="http://schemas.openxmlformats.org/drawingml/2006/main">
            <a:off x="457200" y="3344636"/>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9AF99C3D-FC30-4CD7-B5EE-0A422A2C9FB9}"/>
              </a:ext>
            </a:extLst>
          </p:cNvPr>
          <p:cNvSpPr>
            <a:spLocks xmlns:a="http://schemas.openxmlformats.org/drawingml/2006/main" noGrp="1"/>
          </p:cNvSpPr>
          <p:nvPr/>
        </p:nvSpPr>
        <p:spPr>
          <a:xfrm xmlns:a="http://schemas.openxmlformats.org/drawingml/2006/main">
            <a:off x="504825" y="3373211"/>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Playing</a:t>
            </a:r>
          </a:p>
        </p:txBody>
      </p:sp>
      <p:sp>
        <p:nvSpPr>
          <p:cNvPr id="29" name="">
            <a:extLst xmlns:a="http://schemas.openxmlformats.org/drawingml/2006/main">
              <a:ext uri="{FF2B5EF4-FFF2-40B4-BE49-F238E27FC236}">
                <a16:creationId xmlns:a16="http://schemas.microsoft.com/office/drawing/2014/main" id="{89EFAB18-2C0A-42F5-B5F1-BB85C030EC71}"/>
              </a:ext>
            </a:extLst>
          </p:cNvPr>
          <p:cNvSpPr>
            <a:spLocks xmlns:a="http://schemas.openxmlformats.org/drawingml/2006/main" noGrp="1"/>
          </p:cNvSpPr>
          <p:nvPr/>
        </p:nvSpPr>
        <p:spPr>
          <a:xfrm xmlns:a="http://schemas.openxmlformats.org/drawingml/2006/main">
            <a:off x="4203700" y="3344636"/>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642403F7-3EBE-45DB-84CB-D0E49C5E3B52}"/>
              </a:ext>
            </a:extLst>
          </p:cNvPr>
          <p:cNvSpPr>
            <a:spLocks xmlns:a="http://schemas.openxmlformats.org/drawingml/2006/main" noGrp="1"/>
          </p:cNvSpPr>
          <p:nvPr/>
        </p:nvSpPr>
        <p:spPr>
          <a:xfrm xmlns:a="http://schemas.openxmlformats.org/drawingml/2006/main">
            <a:off x="4251325" y="3373211"/>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发牌动画完成后</a:t>
            </a:r>
          </a:p>
        </p:txBody>
      </p:sp>
      <p:sp>
        <p:nvSpPr>
          <p:cNvPr id="31" name="">
            <a:extLst xmlns:a="http://schemas.openxmlformats.org/drawingml/2006/main">
              <a:ext uri="{FF2B5EF4-FFF2-40B4-BE49-F238E27FC236}">
                <a16:creationId xmlns:a16="http://schemas.microsoft.com/office/drawing/2014/main" id="{DFEEE1A9-B0BF-44B2-906F-172DA281D25E}"/>
              </a:ext>
            </a:extLst>
          </p:cNvPr>
          <p:cNvSpPr>
            <a:spLocks xmlns:a="http://schemas.openxmlformats.org/drawingml/2006/main" noGrp="1"/>
          </p:cNvSpPr>
          <p:nvPr/>
        </p:nvSpPr>
        <p:spPr>
          <a:xfrm xmlns:a="http://schemas.openxmlformats.org/drawingml/2006/main">
            <a:off x="7950200" y="3344636"/>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D1EB3ED7-F84C-430E-A862-ACA5F3B1B614}"/>
              </a:ext>
            </a:extLst>
          </p:cNvPr>
          <p:cNvSpPr>
            <a:spLocks xmlns:a="http://schemas.openxmlformats.org/drawingml/2006/main" noGrp="1"/>
          </p:cNvSpPr>
          <p:nvPr/>
        </p:nvSpPr>
        <p:spPr>
          <a:xfrm xmlns:a="http://schemas.openxmlformats.org/drawingml/2006/main">
            <a:off x="7997825" y="3373211"/>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允许当前玩家按规则出牌，AI 可以行动</a:t>
            </a:r>
          </a:p>
        </p:txBody>
      </p:sp>
      <p:sp>
        <p:nvSpPr>
          <p:cNvPr id="33" name="">
            <a:extLst xmlns:a="http://schemas.openxmlformats.org/drawingml/2006/main">
              <a:ext uri="{FF2B5EF4-FFF2-40B4-BE49-F238E27FC236}">
                <a16:creationId xmlns:a16="http://schemas.microsoft.com/office/drawing/2014/main" id="{DF71A184-7349-4DC8-AAAB-8BCEF15A0119}"/>
              </a:ext>
            </a:extLst>
          </p:cNvPr>
          <p:cNvSpPr>
            <a:spLocks xmlns:a="http://schemas.openxmlformats.org/drawingml/2006/main" noGrp="1"/>
          </p:cNvSpPr>
          <p:nvPr/>
        </p:nvSpPr>
        <p:spPr>
          <a:xfrm xmlns:a="http://schemas.openxmlformats.org/drawingml/2006/main">
            <a:off x="457200" y="3864429"/>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F490BEE8-489B-43AF-88D7-DAF78B18561F}"/>
              </a:ext>
            </a:extLst>
          </p:cNvPr>
          <p:cNvSpPr>
            <a:spLocks xmlns:a="http://schemas.openxmlformats.org/drawingml/2006/main" noGrp="1"/>
          </p:cNvSpPr>
          <p:nvPr/>
        </p:nvSpPr>
        <p:spPr>
          <a:xfrm xmlns:a="http://schemas.openxmlformats.org/drawingml/2006/main">
            <a:off x="504825" y="3893004"/>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Paused</a:t>
            </a:r>
          </a:p>
        </p:txBody>
      </p:sp>
      <p:sp>
        <p:nvSpPr>
          <p:cNvPr id="35" name="">
            <a:extLst xmlns:a="http://schemas.openxmlformats.org/drawingml/2006/main">
              <a:ext uri="{FF2B5EF4-FFF2-40B4-BE49-F238E27FC236}">
                <a16:creationId xmlns:a16="http://schemas.microsoft.com/office/drawing/2014/main" id="{B4FAD0B9-D276-4FA3-85AD-799D59127F7C}"/>
              </a:ext>
            </a:extLst>
          </p:cNvPr>
          <p:cNvSpPr>
            <a:spLocks xmlns:a="http://schemas.openxmlformats.org/drawingml/2006/main" noGrp="1"/>
          </p:cNvSpPr>
          <p:nvPr/>
        </p:nvSpPr>
        <p:spPr>
          <a:xfrm xmlns:a="http://schemas.openxmlformats.org/drawingml/2006/main">
            <a:off x="4203700" y="3864429"/>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05A1303E-4CF7-4818-BB36-A014AFFAA2FD}"/>
              </a:ext>
            </a:extLst>
          </p:cNvPr>
          <p:cNvSpPr>
            <a:spLocks xmlns:a="http://schemas.openxmlformats.org/drawingml/2006/main" noGrp="1"/>
          </p:cNvSpPr>
          <p:nvPr/>
        </p:nvSpPr>
        <p:spPr>
          <a:xfrm xmlns:a="http://schemas.openxmlformats.org/drawingml/2006/main">
            <a:off x="4251325" y="3893004"/>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设置菜单、弹窗确认、断线提示等情况</a:t>
            </a:r>
          </a:p>
        </p:txBody>
      </p:sp>
      <p:sp>
        <p:nvSpPr>
          <p:cNvPr id="37" name="">
            <a:extLst xmlns:a="http://schemas.openxmlformats.org/drawingml/2006/main">
              <a:ext uri="{FF2B5EF4-FFF2-40B4-BE49-F238E27FC236}">
                <a16:creationId xmlns:a16="http://schemas.microsoft.com/office/drawing/2014/main" id="{DF26CCB4-00E3-42B0-BC4B-F57AA3BABD03}"/>
              </a:ext>
            </a:extLst>
          </p:cNvPr>
          <p:cNvSpPr>
            <a:spLocks xmlns:a="http://schemas.openxmlformats.org/drawingml/2006/main" noGrp="1"/>
          </p:cNvSpPr>
          <p:nvPr/>
        </p:nvSpPr>
        <p:spPr>
          <a:xfrm xmlns:a="http://schemas.openxmlformats.org/drawingml/2006/main">
            <a:off x="7950200" y="3864429"/>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8B4340CA-C3B7-45F7-A43D-A8F9FDDC5505}"/>
              </a:ext>
            </a:extLst>
          </p:cNvPr>
          <p:cNvSpPr>
            <a:spLocks xmlns:a="http://schemas.openxmlformats.org/drawingml/2006/main" noGrp="1"/>
          </p:cNvSpPr>
          <p:nvPr/>
        </p:nvSpPr>
        <p:spPr>
          <a:xfrm xmlns:a="http://schemas.openxmlformats.org/drawingml/2006/main">
            <a:off x="7997825" y="3893004"/>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暂停倒计时和 AI 自动行动</a:t>
            </a:r>
          </a:p>
        </p:txBody>
      </p:sp>
      <p:sp>
        <p:nvSpPr>
          <p:cNvPr id="39" name="">
            <a:extLst xmlns:a="http://schemas.openxmlformats.org/drawingml/2006/main">
              <a:ext uri="{FF2B5EF4-FFF2-40B4-BE49-F238E27FC236}">
                <a16:creationId xmlns:a16="http://schemas.microsoft.com/office/drawing/2014/main" id="{48C8E1D4-E772-47B2-A7FA-C44AFE731A64}"/>
              </a:ext>
            </a:extLst>
          </p:cNvPr>
          <p:cNvSpPr>
            <a:spLocks xmlns:a="http://schemas.openxmlformats.org/drawingml/2006/main" noGrp="1"/>
          </p:cNvSpPr>
          <p:nvPr/>
        </p:nvSpPr>
        <p:spPr>
          <a:xfrm xmlns:a="http://schemas.openxmlformats.org/drawingml/2006/main">
            <a:off x="457200" y="4384221"/>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71B21992-2612-44C2-86C8-387400EB71A3}"/>
              </a:ext>
            </a:extLst>
          </p:cNvPr>
          <p:cNvSpPr>
            <a:spLocks xmlns:a="http://schemas.openxmlformats.org/drawingml/2006/main" noGrp="1"/>
          </p:cNvSpPr>
          <p:nvPr/>
        </p:nvSpPr>
        <p:spPr>
          <a:xfrm xmlns:a="http://schemas.openxmlformats.org/drawingml/2006/main">
            <a:off x="504825" y="4412796"/>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ClientTakeover</a:t>
            </a:r>
          </a:p>
        </p:txBody>
      </p:sp>
      <p:sp>
        <p:nvSpPr>
          <p:cNvPr id="41" name="">
            <a:extLst xmlns:a="http://schemas.openxmlformats.org/drawingml/2006/main">
              <a:ext uri="{FF2B5EF4-FFF2-40B4-BE49-F238E27FC236}">
                <a16:creationId xmlns:a16="http://schemas.microsoft.com/office/drawing/2014/main" id="{432D3385-9967-4972-B081-BB0BCA3DD5B0}"/>
              </a:ext>
            </a:extLst>
          </p:cNvPr>
          <p:cNvSpPr>
            <a:spLocks xmlns:a="http://schemas.openxmlformats.org/drawingml/2006/main" noGrp="1"/>
          </p:cNvSpPr>
          <p:nvPr/>
        </p:nvSpPr>
        <p:spPr>
          <a:xfrm xmlns:a="http://schemas.openxmlformats.org/drawingml/2006/main">
            <a:off x="4203700" y="4384221"/>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708346FC-ED9D-45E7-BC08-8854DF3637C6}"/>
              </a:ext>
            </a:extLst>
          </p:cNvPr>
          <p:cNvSpPr>
            <a:spLocks xmlns:a="http://schemas.openxmlformats.org/drawingml/2006/main" noGrp="1"/>
          </p:cNvSpPr>
          <p:nvPr/>
        </p:nvSpPr>
        <p:spPr>
          <a:xfrm xmlns:a="http://schemas.openxmlformats.org/drawingml/2006/main">
            <a:off x="4251325" y="4412796"/>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客户端断线</a:t>
            </a:r>
          </a:p>
        </p:txBody>
      </p:sp>
      <p:sp>
        <p:nvSpPr>
          <p:cNvPr id="43" name="">
            <a:extLst xmlns:a="http://schemas.openxmlformats.org/drawingml/2006/main">
              <a:ext uri="{FF2B5EF4-FFF2-40B4-BE49-F238E27FC236}">
                <a16:creationId xmlns:a16="http://schemas.microsoft.com/office/drawing/2014/main" id="{21ED5AC8-B0BA-459F-B9FB-31982918AE46}"/>
              </a:ext>
            </a:extLst>
          </p:cNvPr>
          <p:cNvSpPr>
            <a:spLocks xmlns:a="http://schemas.openxmlformats.org/drawingml/2006/main" noGrp="1"/>
          </p:cNvSpPr>
          <p:nvPr/>
        </p:nvSpPr>
        <p:spPr>
          <a:xfrm xmlns:a="http://schemas.openxmlformats.org/drawingml/2006/main">
            <a:off x="7950200" y="4384221"/>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B6976F28-3AD1-4317-81E4-3A7D6782395E}"/>
              </a:ext>
            </a:extLst>
          </p:cNvPr>
          <p:cNvSpPr>
            <a:spLocks xmlns:a="http://schemas.openxmlformats.org/drawingml/2006/main" noGrp="1"/>
          </p:cNvSpPr>
          <p:nvPr/>
        </p:nvSpPr>
        <p:spPr>
          <a:xfrm xmlns:a="http://schemas.openxmlformats.org/drawingml/2006/main">
            <a:off x="7997825" y="4412796"/>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房主 AI 托管断线座位并广播快照</a:t>
            </a:r>
          </a:p>
        </p:txBody>
      </p:sp>
      <p:sp>
        <p:nvSpPr>
          <p:cNvPr id="45" name="">
            <a:extLst xmlns:a="http://schemas.openxmlformats.org/drawingml/2006/main">
              <a:ext uri="{FF2B5EF4-FFF2-40B4-BE49-F238E27FC236}">
                <a16:creationId xmlns:a16="http://schemas.microsoft.com/office/drawing/2014/main" id="{724290F4-06D4-409B-9B3B-29A4395BCEA5}"/>
              </a:ext>
            </a:extLst>
          </p:cNvPr>
          <p:cNvSpPr>
            <a:spLocks xmlns:a="http://schemas.openxmlformats.org/drawingml/2006/main" noGrp="1"/>
          </p:cNvSpPr>
          <p:nvPr/>
        </p:nvSpPr>
        <p:spPr>
          <a:xfrm xmlns:a="http://schemas.openxmlformats.org/drawingml/2006/main">
            <a:off x="457200" y="4904014"/>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C1D0C698-FC65-46F7-8F73-EA3D6F8BBD5F}"/>
              </a:ext>
            </a:extLst>
          </p:cNvPr>
          <p:cNvSpPr>
            <a:spLocks xmlns:a="http://schemas.openxmlformats.org/drawingml/2006/main" noGrp="1"/>
          </p:cNvSpPr>
          <p:nvPr/>
        </p:nvSpPr>
        <p:spPr>
          <a:xfrm xmlns:a="http://schemas.openxmlformats.org/drawingml/2006/main">
            <a:off x="504825" y="4932589"/>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HostDisconnected</a:t>
            </a:r>
          </a:p>
        </p:txBody>
      </p:sp>
      <p:sp>
        <p:nvSpPr>
          <p:cNvPr id="47" name="">
            <a:extLst xmlns:a="http://schemas.openxmlformats.org/drawingml/2006/main">
              <a:ext uri="{FF2B5EF4-FFF2-40B4-BE49-F238E27FC236}">
                <a16:creationId xmlns:a16="http://schemas.microsoft.com/office/drawing/2014/main" id="{0E40A345-194C-4C38-AC27-376E1385E35D}"/>
              </a:ext>
            </a:extLst>
          </p:cNvPr>
          <p:cNvSpPr>
            <a:spLocks xmlns:a="http://schemas.openxmlformats.org/drawingml/2006/main" noGrp="1"/>
          </p:cNvSpPr>
          <p:nvPr/>
        </p:nvSpPr>
        <p:spPr>
          <a:xfrm xmlns:a="http://schemas.openxmlformats.org/drawingml/2006/main">
            <a:off x="4203700" y="4904014"/>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36C89D76-4CA0-40A3-BE46-15EE216D78E5}"/>
              </a:ext>
            </a:extLst>
          </p:cNvPr>
          <p:cNvSpPr>
            <a:spLocks xmlns:a="http://schemas.openxmlformats.org/drawingml/2006/main" noGrp="1"/>
          </p:cNvSpPr>
          <p:nvPr/>
        </p:nvSpPr>
        <p:spPr>
          <a:xfrm xmlns:a="http://schemas.openxmlformats.org/drawingml/2006/main">
            <a:off x="4251325" y="4932589"/>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房主断线或连接丢失</a:t>
            </a:r>
          </a:p>
        </p:txBody>
      </p:sp>
      <p:sp>
        <p:nvSpPr>
          <p:cNvPr id="49" name="">
            <a:extLst xmlns:a="http://schemas.openxmlformats.org/drawingml/2006/main">
              <a:ext uri="{FF2B5EF4-FFF2-40B4-BE49-F238E27FC236}">
                <a16:creationId xmlns:a16="http://schemas.microsoft.com/office/drawing/2014/main" id="{DEB6CE4C-57F4-4722-8EEC-B69A91C1743A}"/>
              </a:ext>
            </a:extLst>
          </p:cNvPr>
          <p:cNvSpPr>
            <a:spLocks xmlns:a="http://schemas.openxmlformats.org/drawingml/2006/main" noGrp="1"/>
          </p:cNvSpPr>
          <p:nvPr/>
        </p:nvSpPr>
        <p:spPr>
          <a:xfrm xmlns:a="http://schemas.openxmlformats.org/drawingml/2006/main">
            <a:off x="7950200" y="4904014"/>
            <a:ext cx="3746500" cy="51979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9A986D6B-9243-4519-9254-B125F02B2169}"/>
              </a:ext>
            </a:extLst>
          </p:cNvPr>
          <p:cNvSpPr>
            <a:spLocks xmlns:a="http://schemas.openxmlformats.org/drawingml/2006/main" noGrp="1"/>
          </p:cNvSpPr>
          <p:nvPr/>
        </p:nvSpPr>
        <p:spPr>
          <a:xfrm xmlns:a="http://schemas.openxmlformats.org/drawingml/2006/main">
            <a:off x="7997825" y="4932589"/>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弹窗提示并退出当前房间，要求重新创建或重新加入</a:t>
            </a:r>
          </a:p>
        </p:txBody>
      </p:sp>
      <p:sp>
        <p:nvSpPr>
          <p:cNvPr id="51" name="">
            <a:extLst xmlns:a="http://schemas.openxmlformats.org/drawingml/2006/main">
              <a:ext uri="{FF2B5EF4-FFF2-40B4-BE49-F238E27FC236}">
                <a16:creationId xmlns:a16="http://schemas.microsoft.com/office/drawing/2014/main" id="{97017B1F-AABA-4AFC-9FDE-CF68AD10858A}"/>
              </a:ext>
            </a:extLst>
          </p:cNvPr>
          <p:cNvSpPr>
            <a:spLocks xmlns:a="http://schemas.openxmlformats.org/drawingml/2006/main" noGrp="1"/>
          </p:cNvSpPr>
          <p:nvPr/>
        </p:nvSpPr>
        <p:spPr>
          <a:xfrm xmlns:a="http://schemas.openxmlformats.org/drawingml/2006/main">
            <a:off x="457200" y="5423807"/>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DDABA503-FF4C-4F15-8DD0-53204B505EBA}"/>
              </a:ext>
            </a:extLst>
          </p:cNvPr>
          <p:cNvSpPr>
            <a:spLocks xmlns:a="http://schemas.openxmlformats.org/drawingml/2006/main" noGrp="1"/>
          </p:cNvSpPr>
          <p:nvPr/>
        </p:nvSpPr>
        <p:spPr>
          <a:xfrm xmlns:a="http://schemas.openxmlformats.org/drawingml/2006/main">
            <a:off x="504825" y="5452382"/>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Result</a:t>
            </a:r>
          </a:p>
        </p:txBody>
      </p:sp>
      <p:sp>
        <p:nvSpPr>
          <p:cNvPr id="53" name="">
            <a:extLst xmlns:a="http://schemas.openxmlformats.org/drawingml/2006/main">
              <a:ext uri="{FF2B5EF4-FFF2-40B4-BE49-F238E27FC236}">
                <a16:creationId xmlns:a16="http://schemas.microsoft.com/office/drawing/2014/main" id="{4E704DFB-EA78-4A64-95F6-35478CB5FF0A}"/>
              </a:ext>
            </a:extLst>
          </p:cNvPr>
          <p:cNvSpPr>
            <a:spLocks xmlns:a="http://schemas.openxmlformats.org/drawingml/2006/main" noGrp="1"/>
          </p:cNvSpPr>
          <p:nvPr/>
        </p:nvSpPr>
        <p:spPr>
          <a:xfrm xmlns:a="http://schemas.openxmlformats.org/drawingml/2006/main">
            <a:off x="4203700" y="5423807"/>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D9B999D2-BC4B-47C6-A296-CCF8F0B47835}"/>
              </a:ext>
            </a:extLst>
          </p:cNvPr>
          <p:cNvSpPr>
            <a:spLocks xmlns:a="http://schemas.openxmlformats.org/drawingml/2006/main" noGrp="1"/>
          </p:cNvSpPr>
          <p:nvPr/>
        </p:nvSpPr>
        <p:spPr>
          <a:xfrm xmlns:a="http://schemas.openxmlformats.org/drawingml/2006/main">
            <a:off x="4251325" y="5452382"/>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玩家手牌清空</a:t>
            </a:r>
          </a:p>
        </p:txBody>
      </p:sp>
      <p:sp>
        <p:nvSpPr>
          <p:cNvPr id="55" name="">
            <a:extLst xmlns:a="http://schemas.openxmlformats.org/drawingml/2006/main">
              <a:ext uri="{FF2B5EF4-FFF2-40B4-BE49-F238E27FC236}">
                <a16:creationId xmlns:a16="http://schemas.microsoft.com/office/drawing/2014/main" id="{89A21887-70E6-43C6-B5DE-37AD1E4E4E4F}"/>
              </a:ext>
            </a:extLst>
          </p:cNvPr>
          <p:cNvSpPr>
            <a:spLocks xmlns:a="http://schemas.openxmlformats.org/drawingml/2006/main" noGrp="1"/>
          </p:cNvSpPr>
          <p:nvPr/>
        </p:nvSpPr>
        <p:spPr>
          <a:xfrm xmlns:a="http://schemas.openxmlformats.org/drawingml/2006/main">
            <a:off x="7950200" y="5423807"/>
            <a:ext cx="3746500" cy="51979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39CB94F0-71F2-4B50-86D3-E88B522C4C9E}"/>
              </a:ext>
            </a:extLst>
          </p:cNvPr>
          <p:cNvSpPr>
            <a:spLocks xmlns:a="http://schemas.openxmlformats.org/drawingml/2006/main" noGrp="1"/>
          </p:cNvSpPr>
          <p:nvPr/>
        </p:nvSpPr>
        <p:spPr>
          <a:xfrm xmlns:a="http://schemas.openxmlformats.org/drawingml/2006/main">
            <a:off x="7997825" y="5452382"/>
            <a:ext cx="3651250" cy="4626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展示结算、奖励、成就和再来一局</a:t>
            </a:r>
          </a:p>
        </p:txBody>
      </p:sp>
    </p:spTree>
    <p:extLst>
      <p:ext uri="{BB962C8B-B14F-4D97-AF65-F5344CB8AC3E}">
        <p14:creationId xmlns:p14="http://schemas.microsoft.com/office/powerpoint/2010/main" val="484946699"/>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65A424E-CE13-4D11-A0A5-E5810DD7FF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A08BC4-CBAA-4338-A377-6936EC55529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B502D9-35EB-4B29-8D43-25B1A4FDFA8B}"/>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535EA71F-EC2C-401E-AB63-5F1B61452425}"/>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49F3DB50-65A2-46C5-AE36-34422182A8CA}"/>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69</a:t>
            </a:r>
          </a:p>
        </p:txBody>
      </p:sp>
      <p:sp>
        <p:nvSpPr>
          <p:cNvPr id="6" name="">
            <a:extLst xmlns:a="http://schemas.openxmlformats.org/drawingml/2006/main">
              <a:ext uri="{FF2B5EF4-FFF2-40B4-BE49-F238E27FC236}">
                <a16:creationId xmlns:a16="http://schemas.microsoft.com/office/drawing/2014/main" id="{7E826E3B-15BD-4231-A07F-9A634E6FDAD0}"/>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6D2D3FEB-EB9C-48EC-9E7C-7DA002C0050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7.3 状态建模（3/3）</a:t>
            </a:r>
          </a:p>
        </p:txBody>
      </p:sp>
      <p:sp>
        <p:nvSpPr>
          <p:cNvPr id="8" name="">
            <a:extLst xmlns:a="http://schemas.openxmlformats.org/drawingml/2006/main">
              <a:ext uri="{FF2B5EF4-FFF2-40B4-BE49-F238E27FC236}">
                <a16:creationId xmlns:a16="http://schemas.microsoft.com/office/drawing/2014/main" id="{1BB996E5-BE81-408F-A537-3FB85BF8541B}"/>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5AC51E1-B885-4619-951D-BA7C98FC4779}"/>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这些状态对应 GameStartPhase、Screen、BluetoothEntryMode、网络状态字符串和座位连接状态，共同保证 UI、倒计时、AI 和蓝牙同步不会互相抢流程。</a:t>
            </a:r>
          </a:p>
        </p:txBody>
      </p:sp>
    </p:spTree>
    <p:extLst>
      <p:ext uri="{BB962C8B-B14F-4D97-AF65-F5344CB8AC3E}">
        <p14:creationId xmlns:p14="http://schemas.microsoft.com/office/powerpoint/2010/main" val="367912342"/>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57B2DF-6F23-48A2-8A1B-692A1B3014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96961B-A877-481A-892C-071197C85F0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F065DFB-C912-4636-B7B8-86333926B825}"/>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BB6B8C75-8AF8-4F96-807F-3824311C3947}"/>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BB29DB67-12B8-4850-8FAE-EB6B47346A1F}"/>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70</a:t>
            </a:r>
          </a:p>
        </p:txBody>
      </p:sp>
      <p:sp>
        <p:nvSpPr>
          <p:cNvPr id="6" name="">
            <a:extLst xmlns:a="http://schemas.openxmlformats.org/drawingml/2006/main">
              <a:ext uri="{FF2B5EF4-FFF2-40B4-BE49-F238E27FC236}">
                <a16:creationId xmlns:a16="http://schemas.microsoft.com/office/drawing/2014/main" id="{D963EA3D-7726-44AF-99A9-9A4916FDC399}"/>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EE729E6-8D81-42FB-85E7-C0711AF4CB62}"/>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7.4 玩家成长系统完善（1/3）</a:t>
            </a:r>
          </a:p>
        </p:txBody>
      </p:sp>
      <p:sp>
        <p:nvSpPr>
          <p:cNvPr id="8" name="">
            <a:extLst xmlns:a="http://schemas.openxmlformats.org/drawingml/2006/main">
              <a:ext uri="{FF2B5EF4-FFF2-40B4-BE49-F238E27FC236}">
                <a16:creationId xmlns:a16="http://schemas.microsoft.com/office/drawing/2014/main" id="{9D39AED1-8A8C-4511-BDFF-C44350BD41E5}"/>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019728C-8B97-4A31-80F7-448FB780F0FB}"/>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玩家成长系统在本阶段完成，用于让大厅顶部头像、等级、金币、战绩入口从“静态展示”变成真实可用功能。该模块放在 profile/ 包中，使用 ProfileController 统一处理结算奖励、等级经验、金币消费、头像解锁、成就和战绩，使用 ProfileStore 通过 SharedPreferences 保存本地档案。</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成长系统的主要功能如下：</a:t>
            </a:r>
          </a:p>
        </p:txBody>
      </p:sp>
    </p:spTree>
    <p:extLst>
      <p:ext uri="{BB962C8B-B14F-4D97-AF65-F5344CB8AC3E}">
        <p14:creationId xmlns:p14="http://schemas.microsoft.com/office/powerpoint/2010/main" val="504966445"/>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E1540CF-3A69-4E9C-9D61-69F30608FF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0CDBEA-D500-4A7A-9F38-49D85C5B1650}"/>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DEB5DC0-054A-4023-9A1C-31E01358DDFA}"/>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8AAA5AAC-E7AA-4A1F-A3CD-C08B87269E41}"/>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815F0579-9608-4389-A827-CC2F701B4ED4}"/>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71</a:t>
            </a:r>
          </a:p>
        </p:txBody>
      </p:sp>
      <p:sp>
        <p:nvSpPr>
          <p:cNvPr id="6" name="">
            <a:extLst xmlns:a="http://schemas.openxmlformats.org/drawingml/2006/main">
              <a:ext uri="{FF2B5EF4-FFF2-40B4-BE49-F238E27FC236}">
                <a16:creationId xmlns:a16="http://schemas.microsoft.com/office/drawing/2014/main" id="{5C0F78EA-731F-4003-87D8-5819E5E43FF0}"/>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429F6D57-F59D-4DDE-8E3A-0300477FBCC8}"/>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7.4 玩家成长系统完善（2/3）</a:t>
            </a:r>
          </a:p>
        </p:txBody>
      </p:sp>
      <p:sp>
        <p:nvSpPr>
          <p:cNvPr id="8" name="">
            <a:extLst xmlns:a="http://schemas.openxmlformats.org/drawingml/2006/main">
              <a:ext uri="{FF2B5EF4-FFF2-40B4-BE49-F238E27FC236}">
                <a16:creationId xmlns:a16="http://schemas.microsoft.com/office/drawing/2014/main" id="{D6260514-4E5D-4887-9525-4205D8BC7E6F}"/>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E80396C-D603-4FF5-9A09-4A1477F4E5EC}"/>
              </a:ext>
            </a:extLst>
          </p:cNvPr>
          <p:cNvSpPr>
            <a:spLocks xmlns:a="http://schemas.openxmlformats.org/drawingml/2006/main" noGrp="1"/>
          </p:cNvSpPr>
          <p:nvPr/>
        </p:nvSpPr>
        <p:spPr>
          <a:xfrm xmlns:a="http://schemas.openxmlformats.org/drawingml/2006/main">
            <a:off x="457200" y="1905000"/>
            <a:ext cx="314706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8E738D82-EFA0-4138-ACB9-85B780D7115E}"/>
              </a:ext>
            </a:extLst>
          </p:cNvPr>
          <p:cNvSpPr>
            <a:spLocks xmlns:a="http://schemas.openxmlformats.org/drawingml/2006/main" noGrp="1"/>
          </p:cNvSpPr>
          <p:nvPr/>
        </p:nvSpPr>
        <p:spPr>
          <a:xfrm xmlns:a="http://schemas.openxmlformats.org/drawingml/2006/main">
            <a:off x="504825" y="1943100"/>
            <a:ext cx="305181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功能</a:t>
            </a:r>
          </a:p>
        </p:txBody>
      </p:sp>
      <p:sp>
        <p:nvSpPr>
          <p:cNvPr id="11" name="">
            <a:extLst xmlns:a="http://schemas.openxmlformats.org/drawingml/2006/main">
              <a:ext uri="{FF2B5EF4-FFF2-40B4-BE49-F238E27FC236}">
                <a16:creationId xmlns:a16="http://schemas.microsoft.com/office/drawing/2014/main" id="{00128157-CB44-4C93-8BA1-1A4C71C15610}"/>
              </a:ext>
            </a:extLst>
          </p:cNvPr>
          <p:cNvSpPr>
            <a:spLocks xmlns:a="http://schemas.openxmlformats.org/drawingml/2006/main" noGrp="1"/>
          </p:cNvSpPr>
          <p:nvPr/>
        </p:nvSpPr>
        <p:spPr>
          <a:xfrm xmlns:a="http://schemas.openxmlformats.org/drawingml/2006/main">
            <a:off x="3604260" y="1905000"/>
            <a:ext cx="404622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78FE2413-5941-44B7-BBB7-92556461D284}"/>
              </a:ext>
            </a:extLst>
          </p:cNvPr>
          <p:cNvSpPr>
            <a:spLocks xmlns:a="http://schemas.openxmlformats.org/drawingml/2006/main" noGrp="1"/>
          </p:cNvSpPr>
          <p:nvPr/>
        </p:nvSpPr>
        <p:spPr>
          <a:xfrm xmlns:a="http://schemas.openxmlformats.org/drawingml/2006/main">
            <a:off x="3651885" y="1943100"/>
            <a:ext cx="395097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代码/数据</a:t>
            </a:r>
          </a:p>
        </p:txBody>
      </p:sp>
      <p:sp>
        <p:nvSpPr>
          <p:cNvPr id="13" name="">
            <a:extLst xmlns:a="http://schemas.openxmlformats.org/drawingml/2006/main">
              <a:ext uri="{FF2B5EF4-FFF2-40B4-BE49-F238E27FC236}">
                <a16:creationId xmlns:a16="http://schemas.microsoft.com/office/drawing/2014/main" id="{303498EE-490A-45FA-B2CB-5212F6BF881D}"/>
              </a:ext>
            </a:extLst>
          </p:cNvPr>
          <p:cNvSpPr>
            <a:spLocks xmlns:a="http://schemas.openxmlformats.org/drawingml/2006/main" noGrp="1"/>
          </p:cNvSpPr>
          <p:nvPr/>
        </p:nvSpPr>
        <p:spPr>
          <a:xfrm xmlns:a="http://schemas.openxmlformats.org/drawingml/2006/main">
            <a:off x="7650480" y="1905000"/>
            <a:ext cx="404622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7B464DCF-9A37-43BC-B9CF-03F4B45BCBC8}"/>
              </a:ext>
            </a:extLst>
          </p:cNvPr>
          <p:cNvSpPr>
            <a:spLocks xmlns:a="http://schemas.openxmlformats.org/drawingml/2006/main" noGrp="1"/>
          </p:cNvSpPr>
          <p:nvPr/>
        </p:nvSpPr>
        <p:spPr>
          <a:xfrm xmlns:a="http://schemas.openxmlformats.org/drawingml/2006/main">
            <a:off x="7698105" y="1943100"/>
            <a:ext cx="395097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实现说明</a:t>
            </a:r>
          </a:p>
        </p:txBody>
      </p:sp>
      <p:sp>
        <p:nvSpPr>
          <p:cNvPr id="15" name="">
            <a:extLst xmlns:a="http://schemas.openxmlformats.org/drawingml/2006/main">
              <a:ext uri="{FF2B5EF4-FFF2-40B4-BE49-F238E27FC236}">
                <a16:creationId xmlns:a16="http://schemas.microsoft.com/office/drawing/2014/main" id="{094B5B66-1C3C-4FEE-9BEB-EBA5EFCED631}"/>
              </a:ext>
            </a:extLst>
          </p:cNvPr>
          <p:cNvSpPr>
            <a:spLocks xmlns:a="http://schemas.openxmlformats.org/drawingml/2006/main" noGrp="1"/>
          </p:cNvSpPr>
          <p:nvPr/>
        </p:nvSpPr>
        <p:spPr>
          <a:xfrm xmlns:a="http://schemas.openxmlformats.org/drawingml/2006/main">
            <a:off x="457200" y="2305050"/>
            <a:ext cx="314706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5F3C67FA-9C2A-4C30-983C-E81849D3F8E9}"/>
              </a:ext>
            </a:extLst>
          </p:cNvPr>
          <p:cNvSpPr>
            <a:spLocks xmlns:a="http://schemas.openxmlformats.org/drawingml/2006/main" noGrp="1"/>
          </p:cNvSpPr>
          <p:nvPr/>
        </p:nvSpPr>
        <p:spPr>
          <a:xfrm xmlns:a="http://schemas.openxmlformats.org/drawingml/2006/main">
            <a:off x="504825" y="2333625"/>
            <a:ext cx="305181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玩家档案</a:t>
            </a:r>
          </a:p>
        </p:txBody>
      </p:sp>
      <p:sp>
        <p:nvSpPr>
          <p:cNvPr id="17" name="">
            <a:extLst xmlns:a="http://schemas.openxmlformats.org/drawingml/2006/main">
              <a:ext uri="{FF2B5EF4-FFF2-40B4-BE49-F238E27FC236}">
                <a16:creationId xmlns:a16="http://schemas.microsoft.com/office/drawing/2014/main" id="{7836E65D-AA02-42C8-97BE-7CC9D7BE0D3A}"/>
              </a:ext>
            </a:extLst>
          </p:cNvPr>
          <p:cNvSpPr>
            <a:spLocks xmlns:a="http://schemas.openxmlformats.org/drawingml/2006/main" noGrp="1"/>
          </p:cNvSpPr>
          <p:nvPr/>
        </p:nvSpPr>
        <p:spPr>
          <a:xfrm xmlns:a="http://schemas.openxmlformats.org/drawingml/2006/main">
            <a:off x="3604260" y="2305050"/>
            <a:ext cx="404622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20682271-CBED-4944-9BF9-2F126F118228}"/>
              </a:ext>
            </a:extLst>
          </p:cNvPr>
          <p:cNvSpPr>
            <a:spLocks xmlns:a="http://schemas.openxmlformats.org/drawingml/2006/main" noGrp="1"/>
          </p:cNvSpPr>
          <p:nvPr/>
        </p:nvSpPr>
        <p:spPr>
          <a:xfrm xmlns:a="http://schemas.openxmlformats.org/drawingml/2006/main">
            <a:off x="3651885" y="2333625"/>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PlayerProfile</a:t>
            </a:r>
          </a:p>
        </p:txBody>
      </p:sp>
      <p:sp>
        <p:nvSpPr>
          <p:cNvPr id="19" name="">
            <a:extLst xmlns:a="http://schemas.openxmlformats.org/drawingml/2006/main">
              <a:ext uri="{FF2B5EF4-FFF2-40B4-BE49-F238E27FC236}">
                <a16:creationId xmlns:a16="http://schemas.microsoft.com/office/drawing/2014/main" id="{66B09F43-1123-4BB8-B576-18D24D37002D}"/>
              </a:ext>
            </a:extLst>
          </p:cNvPr>
          <p:cNvSpPr>
            <a:spLocks xmlns:a="http://schemas.openxmlformats.org/drawingml/2006/main" noGrp="1"/>
          </p:cNvSpPr>
          <p:nvPr/>
        </p:nvSpPr>
        <p:spPr>
          <a:xfrm xmlns:a="http://schemas.openxmlformats.org/drawingml/2006/main">
            <a:off x="7650480" y="2305050"/>
            <a:ext cx="404622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F9F21BBE-8CAC-4B8D-86C7-9EB2FD507675}"/>
              </a:ext>
            </a:extLst>
          </p:cNvPr>
          <p:cNvSpPr>
            <a:spLocks xmlns:a="http://schemas.openxmlformats.org/drawingml/2006/main" noGrp="1"/>
          </p:cNvSpPr>
          <p:nvPr/>
        </p:nvSpPr>
        <p:spPr>
          <a:xfrm xmlns:a="http://schemas.openxmlformats.org/drawingml/2006/main">
            <a:off x="7698105" y="2333625"/>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保存昵称、头像、金币、经验、等级、称号、统计和成就</a:t>
            </a:r>
          </a:p>
        </p:txBody>
      </p:sp>
      <p:sp>
        <p:nvSpPr>
          <p:cNvPr id="21" name="">
            <a:extLst xmlns:a="http://schemas.openxmlformats.org/drawingml/2006/main">
              <a:ext uri="{FF2B5EF4-FFF2-40B4-BE49-F238E27FC236}">
                <a16:creationId xmlns:a16="http://schemas.microsoft.com/office/drawing/2014/main" id="{F13CCB29-CC11-4F1E-9DCE-DFAD83F1CED8}"/>
              </a:ext>
            </a:extLst>
          </p:cNvPr>
          <p:cNvSpPr>
            <a:spLocks xmlns:a="http://schemas.openxmlformats.org/drawingml/2006/main" noGrp="1"/>
          </p:cNvSpPr>
          <p:nvPr/>
        </p:nvSpPr>
        <p:spPr>
          <a:xfrm xmlns:a="http://schemas.openxmlformats.org/drawingml/2006/main">
            <a:off x="457200" y="2709333"/>
            <a:ext cx="314706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AA7D066D-246C-419C-BCE2-50E2D76EF0B1}"/>
              </a:ext>
            </a:extLst>
          </p:cNvPr>
          <p:cNvSpPr>
            <a:spLocks xmlns:a="http://schemas.openxmlformats.org/drawingml/2006/main" noGrp="1"/>
          </p:cNvSpPr>
          <p:nvPr/>
        </p:nvSpPr>
        <p:spPr>
          <a:xfrm xmlns:a="http://schemas.openxmlformats.org/drawingml/2006/main">
            <a:off x="504825" y="2737908"/>
            <a:ext cx="305181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经验等级</a:t>
            </a:r>
          </a:p>
        </p:txBody>
      </p:sp>
      <p:sp>
        <p:nvSpPr>
          <p:cNvPr id="23" name="">
            <a:extLst xmlns:a="http://schemas.openxmlformats.org/drawingml/2006/main">
              <a:ext uri="{FF2B5EF4-FFF2-40B4-BE49-F238E27FC236}">
                <a16:creationId xmlns:a16="http://schemas.microsoft.com/office/drawing/2014/main" id="{5B17AF47-146E-4FF0-BF1B-972E9B2DEDD9}"/>
              </a:ext>
            </a:extLst>
          </p:cNvPr>
          <p:cNvSpPr>
            <a:spLocks xmlns:a="http://schemas.openxmlformats.org/drawingml/2006/main" noGrp="1"/>
          </p:cNvSpPr>
          <p:nvPr/>
        </p:nvSpPr>
        <p:spPr>
          <a:xfrm xmlns:a="http://schemas.openxmlformats.org/drawingml/2006/main">
            <a:off x="3604260" y="2709333"/>
            <a:ext cx="404622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25776850-816E-4F7A-8219-AC011B8E3FB7}"/>
              </a:ext>
            </a:extLst>
          </p:cNvPr>
          <p:cNvSpPr>
            <a:spLocks xmlns:a="http://schemas.openxmlformats.org/drawingml/2006/main" noGrp="1"/>
          </p:cNvSpPr>
          <p:nvPr/>
        </p:nvSpPr>
        <p:spPr>
          <a:xfrm xmlns:a="http://schemas.openxmlformats.org/drawingml/2006/main">
            <a:off x="3651885" y="2737908"/>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ProfileController</a:t>
            </a:r>
          </a:p>
        </p:txBody>
      </p:sp>
      <p:sp>
        <p:nvSpPr>
          <p:cNvPr id="25" name="">
            <a:extLst xmlns:a="http://schemas.openxmlformats.org/drawingml/2006/main">
              <a:ext uri="{FF2B5EF4-FFF2-40B4-BE49-F238E27FC236}">
                <a16:creationId xmlns:a16="http://schemas.microsoft.com/office/drawing/2014/main" id="{620AD271-F52E-4E15-8BF7-CD63D8EEB1FE}"/>
              </a:ext>
            </a:extLst>
          </p:cNvPr>
          <p:cNvSpPr>
            <a:spLocks xmlns:a="http://schemas.openxmlformats.org/drawingml/2006/main" noGrp="1"/>
          </p:cNvSpPr>
          <p:nvPr/>
        </p:nvSpPr>
        <p:spPr>
          <a:xfrm xmlns:a="http://schemas.openxmlformats.org/drawingml/2006/main">
            <a:off x="7650480" y="2709333"/>
            <a:ext cx="404622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D20FAEAE-A10D-4ED1-AEBF-9A355E9229F5}"/>
              </a:ext>
            </a:extLst>
          </p:cNvPr>
          <p:cNvSpPr>
            <a:spLocks xmlns:a="http://schemas.openxmlformats.org/drawingml/2006/main" noGrp="1"/>
          </p:cNvSpPr>
          <p:nvPr/>
        </p:nvSpPr>
        <p:spPr>
          <a:xfrm xmlns:a="http://schemas.openxmlformats.org/drawingml/2006/main">
            <a:off x="7698105" y="2737908"/>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每局根据名次和模式增加经验，经验达到阈值后升级</a:t>
            </a:r>
          </a:p>
        </p:txBody>
      </p:sp>
      <p:sp>
        <p:nvSpPr>
          <p:cNvPr id="27" name="">
            <a:extLst xmlns:a="http://schemas.openxmlformats.org/drawingml/2006/main">
              <a:ext uri="{FF2B5EF4-FFF2-40B4-BE49-F238E27FC236}">
                <a16:creationId xmlns:a16="http://schemas.microsoft.com/office/drawing/2014/main" id="{DAA42B35-7D26-47BD-BF36-30947398479E}"/>
              </a:ext>
            </a:extLst>
          </p:cNvPr>
          <p:cNvSpPr>
            <a:spLocks xmlns:a="http://schemas.openxmlformats.org/drawingml/2006/main" noGrp="1"/>
          </p:cNvSpPr>
          <p:nvPr/>
        </p:nvSpPr>
        <p:spPr>
          <a:xfrm xmlns:a="http://schemas.openxmlformats.org/drawingml/2006/main">
            <a:off x="457200" y="3113617"/>
            <a:ext cx="314706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1931797C-62CB-484F-B237-B52130252C29}"/>
              </a:ext>
            </a:extLst>
          </p:cNvPr>
          <p:cNvSpPr>
            <a:spLocks xmlns:a="http://schemas.openxmlformats.org/drawingml/2006/main" noGrp="1"/>
          </p:cNvSpPr>
          <p:nvPr/>
        </p:nvSpPr>
        <p:spPr>
          <a:xfrm xmlns:a="http://schemas.openxmlformats.org/drawingml/2006/main">
            <a:off x="504825" y="3142192"/>
            <a:ext cx="305181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金币奖励</a:t>
            </a:r>
          </a:p>
        </p:txBody>
      </p:sp>
      <p:sp>
        <p:nvSpPr>
          <p:cNvPr id="29" name="">
            <a:extLst xmlns:a="http://schemas.openxmlformats.org/drawingml/2006/main">
              <a:ext uri="{FF2B5EF4-FFF2-40B4-BE49-F238E27FC236}">
                <a16:creationId xmlns:a16="http://schemas.microsoft.com/office/drawing/2014/main" id="{F8096637-1D59-41DD-B208-EBF1C43E732E}"/>
              </a:ext>
            </a:extLst>
          </p:cNvPr>
          <p:cNvSpPr>
            <a:spLocks xmlns:a="http://schemas.openxmlformats.org/drawingml/2006/main" noGrp="1"/>
          </p:cNvSpPr>
          <p:nvPr/>
        </p:nvSpPr>
        <p:spPr>
          <a:xfrm xmlns:a="http://schemas.openxmlformats.org/drawingml/2006/main">
            <a:off x="3604260" y="3113617"/>
            <a:ext cx="404622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40C20CBC-0700-4BA0-914A-8B5AD0B18FC6}"/>
              </a:ext>
            </a:extLst>
          </p:cNvPr>
          <p:cNvSpPr>
            <a:spLocks xmlns:a="http://schemas.openxmlformats.org/drawingml/2006/main" noGrp="1"/>
          </p:cNvSpPr>
          <p:nvPr/>
        </p:nvSpPr>
        <p:spPr>
          <a:xfrm xmlns:a="http://schemas.openxmlformats.org/drawingml/2006/main">
            <a:off x="3651885" y="3142192"/>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ProfileController.settleMatch</a:t>
            </a:r>
          </a:p>
        </p:txBody>
      </p:sp>
      <p:sp>
        <p:nvSpPr>
          <p:cNvPr id="31" name="">
            <a:extLst xmlns:a="http://schemas.openxmlformats.org/drawingml/2006/main">
              <a:ext uri="{FF2B5EF4-FFF2-40B4-BE49-F238E27FC236}">
                <a16:creationId xmlns:a16="http://schemas.microsoft.com/office/drawing/2014/main" id="{F0388EC6-041B-41E9-B0E9-CA6CF4B397B8}"/>
              </a:ext>
            </a:extLst>
          </p:cNvPr>
          <p:cNvSpPr>
            <a:spLocks xmlns:a="http://schemas.openxmlformats.org/drawingml/2006/main" noGrp="1"/>
          </p:cNvSpPr>
          <p:nvPr/>
        </p:nvSpPr>
        <p:spPr>
          <a:xfrm xmlns:a="http://schemas.openxmlformats.org/drawingml/2006/main">
            <a:off x="7650480" y="3113617"/>
            <a:ext cx="404622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CAC853EB-C3D2-4826-8E7F-6C8506582DED}"/>
              </a:ext>
            </a:extLst>
          </p:cNvPr>
          <p:cNvSpPr>
            <a:spLocks xmlns:a="http://schemas.openxmlformats.org/drawingml/2006/main" noGrp="1"/>
          </p:cNvSpPr>
          <p:nvPr/>
        </p:nvSpPr>
        <p:spPr>
          <a:xfrm xmlns:a="http://schemas.openxmlformats.org/drawingml/2006/main">
            <a:off x="7698105" y="3142192"/>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人机/蓝牙对局结束后根据名次发放金币</a:t>
            </a:r>
          </a:p>
        </p:txBody>
      </p:sp>
      <p:sp>
        <p:nvSpPr>
          <p:cNvPr id="33" name="">
            <a:extLst xmlns:a="http://schemas.openxmlformats.org/drawingml/2006/main">
              <a:ext uri="{FF2B5EF4-FFF2-40B4-BE49-F238E27FC236}">
                <a16:creationId xmlns:a16="http://schemas.microsoft.com/office/drawing/2014/main" id="{2E7D9B89-D956-4B11-BE78-2C2AEBCC3BEC}"/>
              </a:ext>
            </a:extLst>
          </p:cNvPr>
          <p:cNvSpPr>
            <a:spLocks xmlns:a="http://schemas.openxmlformats.org/drawingml/2006/main" noGrp="1"/>
          </p:cNvSpPr>
          <p:nvPr/>
        </p:nvSpPr>
        <p:spPr>
          <a:xfrm xmlns:a="http://schemas.openxmlformats.org/drawingml/2006/main">
            <a:off x="457200" y="3517900"/>
            <a:ext cx="314706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698E6C0B-4C2D-4D7B-A28E-4F45DB61C7A1}"/>
              </a:ext>
            </a:extLst>
          </p:cNvPr>
          <p:cNvSpPr>
            <a:spLocks xmlns:a="http://schemas.openxmlformats.org/drawingml/2006/main" noGrp="1"/>
          </p:cNvSpPr>
          <p:nvPr/>
        </p:nvSpPr>
        <p:spPr>
          <a:xfrm xmlns:a="http://schemas.openxmlformats.org/drawingml/2006/main">
            <a:off x="504825" y="3546475"/>
            <a:ext cx="305181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金币消费</a:t>
            </a:r>
          </a:p>
        </p:txBody>
      </p:sp>
      <p:sp>
        <p:nvSpPr>
          <p:cNvPr id="35" name="">
            <a:extLst xmlns:a="http://schemas.openxmlformats.org/drawingml/2006/main">
              <a:ext uri="{FF2B5EF4-FFF2-40B4-BE49-F238E27FC236}">
                <a16:creationId xmlns:a16="http://schemas.microsoft.com/office/drawing/2014/main" id="{933D9D0D-97E7-45B0-B758-BEF35666BD9A}"/>
              </a:ext>
            </a:extLst>
          </p:cNvPr>
          <p:cNvSpPr>
            <a:spLocks xmlns:a="http://schemas.openxmlformats.org/drawingml/2006/main" noGrp="1"/>
          </p:cNvSpPr>
          <p:nvPr/>
        </p:nvSpPr>
        <p:spPr>
          <a:xfrm xmlns:a="http://schemas.openxmlformats.org/drawingml/2006/main">
            <a:off x="3604260" y="3517900"/>
            <a:ext cx="404622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9665330D-0232-4573-8C89-614BBE1AD057}"/>
              </a:ext>
            </a:extLst>
          </p:cNvPr>
          <p:cNvSpPr>
            <a:spLocks xmlns:a="http://schemas.openxmlformats.org/drawingml/2006/main" noGrp="1"/>
          </p:cNvSpPr>
          <p:nvPr/>
        </p:nvSpPr>
        <p:spPr>
          <a:xfrm xmlns:a="http://schemas.openxmlformats.org/drawingml/2006/main">
            <a:off x="3651885" y="3546475"/>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renameWithCost、unlockAvatar、unlockCustomAvatar、resetStats</a:t>
            </a:r>
          </a:p>
        </p:txBody>
      </p:sp>
      <p:sp>
        <p:nvSpPr>
          <p:cNvPr id="37" name="">
            <a:extLst xmlns:a="http://schemas.openxmlformats.org/drawingml/2006/main">
              <a:ext uri="{FF2B5EF4-FFF2-40B4-BE49-F238E27FC236}">
                <a16:creationId xmlns:a16="http://schemas.microsoft.com/office/drawing/2014/main" id="{C664A5A0-BD19-4D46-881A-4AB851203B19}"/>
              </a:ext>
            </a:extLst>
          </p:cNvPr>
          <p:cNvSpPr>
            <a:spLocks xmlns:a="http://schemas.openxmlformats.org/drawingml/2006/main" noGrp="1"/>
          </p:cNvSpPr>
          <p:nvPr/>
        </p:nvSpPr>
        <p:spPr>
          <a:xfrm xmlns:a="http://schemas.openxmlformats.org/drawingml/2006/main">
            <a:off x="7650480" y="3517900"/>
            <a:ext cx="404622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964DA39A-618C-42FC-8A3F-010AC95E859D}"/>
              </a:ext>
            </a:extLst>
          </p:cNvPr>
          <p:cNvSpPr>
            <a:spLocks xmlns:a="http://schemas.openxmlformats.org/drawingml/2006/main" noGrp="1"/>
          </p:cNvSpPr>
          <p:nvPr/>
        </p:nvSpPr>
        <p:spPr>
          <a:xfrm xmlns:a="http://schemas.openxmlformats.org/drawingml/2006/main">
            <a:off x="7698105" y="3546475"/>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改名、头像解锁、自定义头像、重置战绩都需要金币并二次确认</a:t>
            </a:r>
          </a:p>
        </p:txBody>
      </p:sp>
      <p:sp>
        <p:nvSpPr>
          <p:cNvPr id="39" name="">
            <a:extLst xmlns:a="http://schemas.openxmlformats.org/drawingml/2006/main">
              <a:ext uri="{FF2B5EF4-FFF2-40B4-BE49-F238E27FC236}">
                <a16:creationId xmlns:a16="http://schemas.microsoft.com/office/drawing/2014/main" id="{FE05AA8D-B27F-42AA-A96D-5D8528D98607}"/>
              </a:ext>
            </a:extLst>
          </p:cNvPr>
          <p:cNvSpPr>
            <a:spLocks xmlns:a="http://schemas.openxmlformats.org/drawingml/2006/main" noGrp="1"/>
          </p:cNvSpPr>
          <p:nvPr/>
        </p:nvSpPr>
        <p:spPr>
          <a:xfrm xmlns:a="http://schemas.openxmlformats.org/drawingml/2006/main">
            <a:off x="457200" y="3922183"/>
            <a:ext cx="314706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7158F416-417B-4F28-98BD-257419633155}"/>
              </a:ext>
            </a:extLst>
          </p:cNvPr>
          <p:cNvSpPr>
            <a:spLocks xmlns:a="http://schemas.openxmlformats.org/drawingml/2006/main" noGrp="1"/>
          </p:cNvSpPr>
          <p:nvPr/>
        </p:nvSpPr>
        <p:spPr>
          <a:xfrm xmlns:a="http://schemas.openxmlformats.org/drawingml/2006/main">
            <a:off x="504825" y="3950758"/>
            <a:ext cx="305181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头像商店</a:t>
            </a:r>
          </a:p>
        </p:txBody>
      </p:sp>
      <p:sp>
        <p:nvSpPr>
          <p:cNvPr id="41" name="">
            <a:extLst xmlns:a="http://schemas.openxmlformats.org/drawingml/2006/main">
              <a:ext uri="{FF2B5EF4-FFF2-40B4-BE49-F238E27FC236}">
                <a16:creationId xmlns:a16="http://schemas.microsoft.com/office/drawing/2014/main" id="{81BC1792-821E-46E1-BC82-12604198E548}"/>
              </a:ext>
            </a:extLst>
          </p:cNvPr>
          <p:cNvSpPr>
            <a:spLocks xmlns:a="http://schemas.openxmlformats.org/drawingml/2006/main" noGrp="1"/>
          </p:cNvSpPr>
          <p:nvPr/>
        </p:nvSpPr>
        <p:spPr>
          <a:xfrm xmlns:a="http://schemas.openxmlformats.org/drawingml/2006/main">
            <a:off x="3604260" y="3922183"/>
            <a:ext cx="404622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D7A6BD77-DBDD-4229-9047-DB92E9D1F832}"/>
              </a:ext>
            </a:extLst>
          </p:cNvPr>
          <p:cNvSpPr>
            <a:spLocks xmlns:a="http://schemas.openxmlformats.org/drawingml/2006/main" noGrp="1"/>
          </p:cNvSpPr>
          <p:nvPr/>
        </p:nvSpPr>
        <p:spPr>
          <a:xfrm xmlns:a="http://schemas.openxmlformats.org/drawingml/2006/main">
            <a:off x="3651885" y="3950758"/>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BuiltInAvatar</a:t>
            </a:r>
          </a:p>
        </p:txBody>
      </p:sp>
      <p:sp>
        <p:nvSpPr>
          <p:cNvPr id="43" name="">
            <a:extLst xmlns:a="http://schemas.openxmlformats.org/drawingml/2006/main">
              <a:ext uri="{FF2B5EF4-FFF2-40B4-BE49-F238E27FC236}">
                <a16:creationId xmlns:a16="http://schemas.microsoft.com/office/drawing/2014/main" id="{F25354AC-F7C2-43DA-A16B-B54FADC0F302}"/>
              </a:ext>
            </a:extLst>
          </p:cNvPr>
          <p:cNvSpPr>
            <a:spLocks xmlns:a="http://schemas.openxmlformats.org/drawingml/2006/main" noGrp="1"/>
          </p:cNvSpPr>
          <p:nvPr/>
        </p:nvSpPr>
        <p:spPr>
          <a:xfrm xmlns:a="http://schemas.openxmlformats.org/drawingml/2006/main">
            <a:off x="7650480" y="3922183"/>
            <a:ext cx="404622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223029E9-8831-4827-9C9D-E19B30F7DE70}"/>
              </a:ext>
            </a:extLst>
          </p:cNvPr>
          <p:cNvSpPr>
            <a:spLocks xmlns:a="http://schemas.openxmlformats.org/drawingml/2006/main" noGrp="1"/>
          </p:cNvSpPr>
          <p:nvPr/>
        </p:nvSpPr>
        <p:spPr>
          <a:xfrm xmlns:a="http://schemas.openxmlformats.org/drawingml/2006/main">
            <a:off x="7698105" y="3950758"/>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内置多个自绘头像，按普通、稀有、传说设置不同价格和视觉样式</a:t>
            </a:r>
          </a:p>
        </p:txBody>
      </p:sp>
      <p:sp>
        <p:nvSpPr>
          <p:cNvPr id="45" name="">
            <a:extLst xmlns:a="http://schemas.openxmlformats.org/drawingml/2006/main">
              <a:ext uri="{FF2B5EF4-FFF2-40B4-BE49-F238E27FC236}">
                <a16:creationId xmlns:a16="http://schemas.microsoft.com/office/drawing/2014/main" id="{1BF63C43-AF9F-4D23-ACE0-170AA49EC4C5}"/>
              </a:ext>
            </a:extLst>
          </p:cNvPr>
          <p:cNvSpPr>
            <a:spLocks xmlns:a="http://schemas.openxmlformats.org/drawingml/2006/main" noGrp="1"/>
          </p:cNvSpPr>
          <p:nvPr/>
        </p:nvSpPr>
        <p:spPr>
          <a:xfrm xmlns:a="http://schemas.openxmlformats.org/drawingml/2006/main">
            <a:off x="457200" y="4326467"/>
            <a:ext cx="314706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DE3DC387-8F54-49C6-B03C-FACB56ABC02E}"/>
              </a:ext>
            </a:extLst>
          </p:cNvPr>
          <p:cNvSpPr>
            <a:spLocks xmlns:a="http://schemas.openxmlformats.org/drawingml/2006/main" noGrp="1"/>
          </p:cNvSpPr>
          <p:nvPr/>
        </p:nvSpPr>
        <p:spPr>
          <a:xfrm xmlns:a="http://schemas.openxmlformats.org/drawingml/2006/main">
            <a:off x="504825" y="4355042"/>
            <a:ext cx="305181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自定义头像</a:t>
            </a:r>
          </a:p>
        </p:txBody>
      </p:sp>
      <p:sp>
        <p:nvSpPr>
          <p:cNvPr id="47" name="">
            <a:extLst xmlns:a="http://schemas.openxmlformats.org/drawingml/2006/main">
              <a:ext uri="{FF2B5EF4-FFF2-40B4-BE49-F238E27FC236}">
                <a16:creationId xmlns:a16="http://schemas.microsoft.com/office/drawing/2014/main" id="{1BC243EF-23EC-4294-96D0-16165404231A}"/>
              </a:ext>
            </a:extLst>
          </p:cNvPr>
          <p:cNvSpPr>
            <a:spLocks xmlns:a="http://schemas.openxmlformats.org/drawingml/2006/main" noGrp="1"/>
          </p:cNvSpPr>
          <p:nvPr/>
        </p:nvSpPr>
        <p:spPr>
          <a:xfrm xmlns:a="http://schemas.openxmlformats.org/drawingml/2006/main">
            <a:off x="3604260" y="4326467"/>
            <a:ext cx="404622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A520D873-B7F8-41B6-842D-8A6FE9FA6C46}"/>
              </a:ext>
            </a:extLst>
          </p:cNvPr>
          <p:cNvSpPr>
            <a:spLocks xmlns:a="http://schemas.openxmlformats.org/drawingml/2006/main" noGrp="1"/>
          </p:cNvSpPr>
          <p:nvPr/>
        </p:nvSpPr>
        <p:spPr>
          <a:xfrm xmlns:a="http://schemas.openxmlformats.org/drawingml/2006/main">
            <a:off x="3651885" y="4355042"/>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相册选择 + 私有目录复制</a:t>
            </a:r>
          </a:p>
        </p:txBody>
      </p:sp>
      <p:sp>
        <p:nvSpPr>
          <p:cNvPr id="49" name="">
            <a:extLst xmlns:a="http://schemas.openxmlformats.org/drawingml/2006/main">
              <a:ext uri="{FF2B5EF4-FFF2-40B4-BE49-F238E27FC236}">
                <a16:creationId xmlns:a16="http://schemas.microsoft.com/office/drawing/2014/main" id="{FFD9FCD8-0485-4A5C-A62B-EACE160C6C63}"/>
              </a:ext>
            </a:extLst>
          </p:cNvPr>
          <p:cNvSpPr>
            <a:spLocks xmlns:a="http://schemas.openxmlformats.org/drawingml/2006/main" noGrp="1"/>
          </p:cNvSpPr>
          <p:nvPr/>
        </p:nvSpPr>
        <p:spPr>
          <a:xfrm xmlns:a="http://schemas.openxmlformats.org/drawingml/2006/main">
            <a:off x="7650480" y="4326467"/>
            <a:ext cx="404622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3B31610E-DF8B-42A2-83A2-7906485DAD49}"/>
              </a:ext>
            </a:extLst>
          </p:cNvPr>
          <p:cNvSpPr>
            <a:spLocks xmlns:a="http://schemas.openxmlformats.org/drawingml/2006/main" noGrp="1"/>
          </p:cNvSpPr>
          <p:nvPr/>
        </p:nvSpPr>
        <p:spPr>
          <a:xfrm xmlns:a="http://schemas.openxmlformats.org/drawingml/2006/main">
            <a:off x="7698105" y="4355042"/>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未解锁时显示明显提示，解锁后可选择本地图片作为头像</a:t>
            </a:r>
          </a:p>
        </p:txBody>
      </p:sp>
      <p:sp>
        <p:nvSpPr>
          <p:cNvPr id="51" name="">
            <a:extLst xmlns:a="http://schemas.openxmlformats.org/drawingml/2006/main">
              <a:ext uri="{FF2B5EF4-FFF2-40B4-BE49-F238E27FC236}">
                <a16:creationId xmlns:a16="http://schemas.microsoft.com/office/drawing/2014/main" id="{725E2A28-5A33-4182-BD9D-A6DEF1214FEC}"/>
              </a:ext>
            </a:extLst>
          </p:cNvPr>
          <p:cNvSpPr>
            <a:spLocks xmlns:a="http://schemas.openxmlformats.org/drawingml/2006/main" noGrp="1"/>
          </p:cNvSpPr>
          <p:nvPr/>
        </p:nvSpPr>
        <p:spPr>
          <a:xfrm xmlns:a="http://schemas.openxmlformats.org/drawingml/2006/main">
            <a:off x="457200" y="4730750"/>
            <a:ext cx="314706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B377177F-A7F5-48F4-9AFC-DB170D935D6C}"/>
              </a:ext>
            </a:extLst>
          </p:cNvPr>
          <p:cNvSpPr>
            <a:spLocks xmlns:a="http://schemas.openxmlformats.org/drawingml/2006/main" noGrp="1"/>
          </p:cNvSpPr>
          <p:nvPr/>
        </p:nvSpPr>
        <p:spPr>
          <a:xfrm xmlns:a="http://schemas.openxmlformats.org/drawingml/2006/main">
            <a:off x="504825" y="4759325"/>
            <a:ext cx="305181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战绩</a:t>
            </a:r>
          </a:p>
        </p:txBody>
      </p:sp>
      <p:sp>
        <p:nvSpPr>
          <p:cNvPr id="53" name="">
            <a:extLst xmlns:a="http://schemas.openxmlformats.org/drawingml/2006/main">
              <a:ext uri="{FF2B5EF4-FFF2-40B4-BE49-F238E27FC236}">
                <a16:creationId xmlns:a16="http://schemas.microsoft.com/office/drawing/2014/main" id="{38DEB71D-06D6-4527-AB94-E9954C04043E}"/>
              </a:ext>
            </a:extLst>
          </p:cNvPr>
          <p:cNvSpPr>
            <a:spLocks xmlns:a="http://schemas.openxmlformats.org/drawingml/2006/main" noGrp="1"/>
          </p:cNvSpPr>
          <p:nvPr/>
        </p:nvSpPr>
        <p:spPr>
          <a:xfrm xmlns:a="http://schemas.openxmlformats.org/drawingml/2006/main">
            <a:off x="3604260" y="4730750"/>
            <a:ext cx="404622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D714D837-3346-48F9-A7B3-F4C74F79901F}"/>
              </a:ext>
            </a:extLst>
          </p:cNvPr>
          <p:cNvSpPr>
            <a:spLocks xmlns:a="http://schemas.openxmlformats.org/drawingml/2006/main" noGrp="1"/>
          </p:cNvSpPr>
          <p:nvPr/>
        </p:nvSpPr>
        <p:spPr>
          <a:xfrm xmlns:a="http://schemas.openxmlformats.org/drawingml/2006/main">
            <a:off x="3651885" y="4759325"/>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MatchRecord、ProfileStats</a:t>
            </a:r>
          </a:p>
        </p:txBody>
      </p:sp>
      <p:sp>
        <p:nvSpPr>
          <p:cNvPr id="55" name="">
            <a:extLst xmlns:a="http://schemas.openxmlformats.org/drawingml/2006/main">
              <a:ext uri="{FF2B5EF4-FFF2-40B4-BE49-F238E27FC236}">
                <a16:creationId xmlns:a16="http://schemas.microsoft.com/office/drawing/2014/main" id="{1E3609CD-862E-4198-91D3-FC6954D01CFC}"/>
              </a:ext>
            </a:extLst>
          </p:cNvPr>
          <p:cNvSpPr>
            <a:spLocks xmlns:a="http://schemas.openxmlformats.org/drawingml/2006/main" noGrp="1"/>
          </p:cNvSpPr>
          <p:nvPr/>
        </p:nvSpPr>
        <p:spPr>
          <a:xfrm xmlns:a="http://schemas.openxmlformats.org/drawingml/2006/main">
            <a:off x="7650480" y="4730750"/>
            <a:ext cx="404622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24FF3A44-D92B-405B-9534-5B7AFC7C1147}"/>
              </a:ext>
            </a:extLst>
          </p:cNvPr>
          <p:cNvSpPr>
            <a:spLocks xmlns:a="http://schemas.openxmlformats.org/drawingml/2006/main" noGrp="1"/>
          </p:cNvSpPr>
          <p:nvPr/>
        </p:nvSpPr>
        <p:spPr>
          <a:xfrm xmlns:a="http://schemas.openxmlformats.org/drawingml/2006/main">
            <a:off x="7698105" y="4759325"/>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记录最近 50 局，总局数、胜场、蓝牙局、困难胜场、连胜等统计</a:t>
            </a:r>
          </a:p>
        </p:txBody>
      </p:sp>
      <p:sp>
        <p:nvSpPr>
          <p:cNvPr id="57" name="">
            <a:extLst xmlns:a="http://schemas.openxmlformats.org/drawingml/2006/main">
              <a:ext uri="{FF2B5EF4-FFF2-40B4-BE49-F238E27FC236}">
                <a16:creationId xmlns:a16="http://schemas.microsoft.com/office/drawing/2014/main" id="{A2567240-C000-4B67-8BFD-7293012866C0}"/>
              </a:ext>
            </a:extLst>
          </p:cNvPr>
          <p:cNvSpPr>
            <a:spLocks xmlns:a="http://schemas.openxmlformats.org/drawingml/2006/main" noGrp="1"/>
          </p:cNvSpPr>
          <p:nvPr/>
        </p:nvSpPr>
        <p:spPr>
          <a:xfrm xmlns:a="http://schemas.openxmlformats.org/drawingml/2006/main">
            <a:off x="457200" y="5135033"/>
            <a:ext cx="314706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8" name="">
            <a:extLst xmlns:a="http://schemas.openxmlformats.org/drawingml/2006/main">
              <a:ext uri="{FF2B5EF4-FFF2-40B4-BE49-F238E27FC236}">
                <a16:creationId xmlns:a16="http://schemas.microsoft.com/office/drawing/2014/main" id="{4E0DD8CF-6FE3-4A47-A7E6-6A639314597D}"/>
              </a:ext>
            </a:extLst>
          </p:cNvPr>
          <p:cNvSpPr>
            <a:spLocks xmlns:a="http://schemas.openxmlformats.org/drawingml/2006/main" noGrp="1"/>
          </p:cNvSpPr>
          <p:nvPr/>
        </p:nvSpPr>
        <p:spPr>
          <a:xfrm xmlns:a="http://schemas.openxmlformats.org/drawingml/2006/main">
            <a:off x="504825" y="5163608"/>
            <a:ext cx="305181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成就</a:t>
            </a:r>
          </a:p>
        </p:txBody>
      </p:sp>
      <p:sp>
        <p:nvSpPr>
          <p:cNvPr id="59" name="">
            <a:extLst xmlns:a="http://schemas.openxmlformats.org/drawingml/2006/main">
              <a:ext uri="{FF2B5EF4-FFF2-40B4-BE49-F238E27FC236}">
                <a16:creationId xmlns:a16="http://schemas.microsoft.com/office/drawing/2014/main" id="{415A9413-74B5-4522-A69B-16352AE941AE}"/>
              </a:ext>
            </a:extLst>
          </p:cNvPr>
          <p:cNvSpPr>
            <a:spLocks xmlns:a="http://schemas.openxmlformats.org/drawingml/2006/main" noGrp="1"/>
          </p:cNvSpPr>
          <p:nvPr/>
        </p:nvSpPr>
        <p:spPr>
          <a:xfrm xmlns:a="http://schemas.openxmlformats.org/drawingml/2006/main">
            <a:off x="3604260" y="5135033"/>
            <a:ext cx="404622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0" name="">
            <a:extLst xmlns:a="http://schemas.openxmlformats.org/drawingml/2006/main">
              <a:ext uri="{FF2B5EF4-FFF2-40B4-BE49-F238E27FC236}">
                <a16:creationId xmlns:a16="http://schemas.microsoft.com/office/drawing/2014/main" id="{4C4BF8D8-1B81-4D79-848A-262733B7B764}"/>
              </a:ext>
            </a:extLst>
          </p:cNvPr>
          <p:cNvSpPr>
            <a:spLocks xmlns:a="http://schemas.openxmlformats.org/drawingml/2006/main" noGrp="1"/>
          </p:cNvSpPr>
          <p:nvPr/>
        </p:nvSpPr>
        <p:spPr>
          <a:xfrm xmlns:a="http://schemas.openxmlformats.org/drawingml/2006/main">
            <a:off x="3651885" y="5163608"/>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Achievement</a:t>
            </a:r>
          </a:p>
        </p:txBody>
      </p:sp>
      <p:sp>
        <p:nvSpPr>
          <p:cNvPr id="61" name="">
            <a:extLst xmlns:a="http://schemas.openxmlformats.org/drawingml/2006/main">
              <a:ext uri="{FF2B5EF4-FFF2-40B4-BE49-F238E27FC236}">
                <a16:creationId xmlns:a16="http://schemas.microsoft.com/office/drawing/2014/main" id="{9B17B0B5-F6BF-4474-B66C-3A1509B1BB06}"/>
              </a:ext>
            </a:extLst>
          </p:cNvPr>
          <p:cNvSpPr>
            <a:spLocks xmlns:a="http://schemas.openxmlformats.org/drawingml/2006/main" noGrp="1"/>
          </p:cNvSpPr>
          <p:nvPr/>
        </p:nvSpPr>
        <p:spPr>
          <a:xfrm xmlns:a="http://schemas.openxmlformats.org/drawingml/2006/main">
            <a:off x="7650480" y="5135033"/>
            <a:ext cx="404622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2" name="">
            <a:extLst xmlns:a="http://schemas.openxmlformats.org/drawingml/2006/main">
              <a:ext uri="{FF2B5EF4-FFF2-40B4-BE49-F238E27FC236}">
                <a16:creationId xmlns:a16="http://schemas.microsoft.com/office/drawing/2014/main" id="{48FE03CF-7C14-42DF-8DD6-EB122B93873B}"/>
              </a:ext>
            </a:extLst>
          </p:cNvPr>
          <p:cNvSpPr>
            <a:spLocks xmlns:a="http://schemas.openxmlformats.org/drawingml/2006/main" noGrp="1"/>
          </p:cNvSpPr>
          <p:nvPr/>
        </p:nvSpPr>
        <p:spPr>
          <a:xfrm xmlns:a="http://schemas.openxmlformats.org/drawingml/2006/main">
            <a:off x="7698105" y="5163608"/>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首胜、连胜、困难胜利、蓝牙对局等条件触发，只奖励一次</a:t>
            </a:r>
          </a:p>
        </p:txBody>
      </p:sp>
      <p:sp>
        <p:nvSpPr>
          <p:cNvPr id="63" name="">
            <a:extLst xmlns:a="http://schemas.openxmlformats.org/drawingml/2006/main">
              <a:ext uri="{FF2B5EF4-FFF2-40B4-BE49-F238E27FC236}">
                <a16:creationId xmlns:a16="http://schemas.microsoft.com/office/drawing/2014/main" id="{A6063A00-5AD1-4625-9368-D52CAD5131A7}"/>
              </a:ext>
            </a:extLst>
          </p:cNvPr>
          <p:cNvSpPr>
            <a:spLocks xmlns:a="http://schemas.openxmlformats.org/drawingml/2006/main" noGrp="1"/>
          </p:cNvSpPr>
          <p:nvPr/>
        </p:nvSpPr>
        <p:spPr>
          <a:xfrm xmlns:a="http://schemas.openxmlformats.org/drawingml/2006/main">
            <a:off x="457200" y="5539317"/>
            <a:ext cx="314706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4" name="">
            <a:extLst xmlns:a="http://schemas.openxmlformats.org/drawingml/2006/main">
              <a:ext uri="{FF2B5EF4-FFF2-40B4-BE49-F238E27FC236}">
                <a16:creationId xmlns:a16="http://schemas.microsoft.com/office/drawing/2014/main" id="{6ACFCA17-B2AC-4996-8A63-BA38C86F2224}"/>
              </a:ext>
            </a:extLst>
          </p:cNvPr>
          <p:cNvSpPr>
            <a:spLocks xmlns:a="http://schemas.openxmlformats.org/drawingml/2006/main" noGrp="1"/>
          </p:cNvSpPr>
          <p:nvPr/>
        </p:nvSpPr>
        <p:spPr>
          <a:xfrm xmlns:a="http://schemas.openxmlformats.org/drawingml/2006/main">
            <a:off x="504825" y="5567892"/>
            <a:ext cx="305181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每日奖励</a:t>
            </a:r>
          </a:p>
        </p:txBody>
      </p:sp>
      <p:sp>
        <p:nvSpPr>
          <p:cNvPr id="65" name="">
            <a:extLst xmlns:a="http://schemas.openxmlformats.org/drawingml/2006/main">
              <a:ext uri="{FF2B5EF4-FFF2-40B4-BE49-F238E27FC236}">
                <a16:creationId xmlns:a16="http://schemas.microsoft.com/office/drawing/2014/main" id="{D2DF15DA-7AFD-4117-A1F8-7174751A5E4D}"/>
              </a:ext>
            </a:extLst>
          </p:cNvPr>
          <p:cNvSpPr>
            <a:spLocks xmlns:a="http://schemas.openxmlformats.org/drawingml/2006/main" noGrp="1"/>
          </p:cNvSpPr>
          <p:nvPr/>
        </p:nvSpPr>
        <p:spPr>
          <a:xfrm xmlns:a="http://schemas.openxmlformats.org/drawingml/2006/main">
            <a:off x="3604260" y="5539317"/>
            <a:ext cx="404622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6" name="">
            <a:extLst xmlns:a="http://schemas.openxmlformats.org/drawingml/2006/main">
              <a:ext uri="{FF2B5EF4-FFF2-40B4-BE49-F238E27FC236}">
                <a16:creationId xmlns:a16="http://schemas.microsoft.com/office/drawing/2014/main" id="{CFACD19C-68D3-4744-A108-AFDD186D84F3}"/>
              </a:ext>
            </a:extLst>
          </p:cNvPr>
          <p:cNvSpPr>
            <a:spLocks xmlns:a="http://schemas.openxmlformats.org/drawingml/2006/main" noGrp="1"/>
          </p:cNvSpPr>
          <p:nvPr/>
        </p:nvSpPr>
        <p:spPr>
          <a:xfrm xmlns:a="http://schemas.openxmlformats.org/drawingml/2006/main">
            <a:off x="3651885" y="5567892"/>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ProfileController.claimDailyReward</a:t>
            </a:r>
          </a:p>
        </p:txBody>
      </p:sp>
      <p:sp>
        <p:nvSpPr>
          <p:cNvPr id="67" name="">
            <a:extLst xmlns:a="http://schemas.openxmlformats.org/drawingml/2006/main">
              <a:ext uri="{FF2B5EF4-FFF2-40B4-BE49-F238E27FC236}">
                <a16:creationId xmlns:a16="http://schemas.microsoft.com/office/drawing/2014/main" id="{9D94A4CD-FAB1-49E9-A92C-4399EDB903C6}"/>
              </a:ext>
            </a:extLst>
          </p:cNvPr>
          <p:cNvSpPr>
            <a:spLocks xmlns:a="http://schemas.openxmlformats.org/drawingml/2006/main" noGrp="1"/>
          </p:cNvSpPr>
          <p:nvPr/>
        </p:nvSpPr>
        <p:spPr>
          <a:xfrm xmlns:a="http://schemas.openxmlformats.org/drawingml/2006/main">
            <a:off x="7650480" y="5539317"/>
            <a:ext cx="404622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8" name="">
            <a:extLst xmlns:a="http://schemas.openxmlformats.org/drawingml/2006/main">
              <a:ext uri="{FF2B5EF4-FFF2-40B4-BE49-F238E27FC236}">
                <a16:creationId xmlns:a16="http://schemas.microsoft.com/office/drawing/2014/main" id="{7B278C1C-1B62-45BE-9C45-30695F156700}"/>
              </a:ext>
            </a:extLst>
          </p:cNvPr>
          <p:cNvSpPr>
            <a:spLocks xmlns:a="http://schemas.openxmlformats.org/drawingml/2006/main" noGrp="1"/>
          </p:cNvSpPr>
          <p:nvPr/>
        </p:nvSpPr>
        <p:spPr>
          <a:xfrm xmlns:a="http://schemas.openxmlformats.org/drawingml/2006/main">
            <a:off x="7698105" y="5567892"/>
            <a:ext cx="395097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同一天不可重复领取，跨天可再次领取</a:t>
            </a:r>
          </a:p>
        </p:txBody>
      </p:sp>
    </p:spTree>
    <p:extLst>
      <p:ext uri="{BB962C8B-B14F-4D97-AF65-F5344CB8AC3E}">
        <p14:creationId xmlns:p14="http://schemas.microsoft.com/office/powerpoint/2010/main" val="1376108467"/>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A182F0-BD20-4F47-A4FA-8B10D23128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A8A7F2-B9D8-4FFB-9C16-F744B5C21CD4}"/>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1E3C454-595C-4EC8-97E6-844DA477AFE2}"/>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039BAD7C-127C-4552-853C-604872FC62F4}"/>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1C57C4AB-5CE4-4436-B630-1045EED40572}"/>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72</a:t>
            </a:r>
          </a:p>
        </p:txBody>
      </p:sp>
      <p:sp>
        <p:nvSpPr>
          <p:cNvPr id="6" name="">
            <a:extLst xmlns:a="http://schemas.openxmlformats.org/drawingml/2006/main">
              <a:ext uri="{FF2B5EF4-FFF2-40B4-BE49-F238E27FC236}">
                <a16:creationId xmlns:a16="http://schemas.microsoft.com/office/drawing/2014/main" id="{BD2442E1-A143-46B0-9488-99EC59390EAF}"/>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3B8C4BBD-BDA9-4E5F-9C05-9EB4CF6119F6}"/>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7.4 玩家成长系统完善（3/3）</a:t>
            </a:r>
          </a:p>
        </p:txBody>
      </p:sp>
      <p:sp>
        <p:nvSpPr>
          <p:cNvPr id="8" name="">
            <a:extLst xmlns:a="http://schemas.openxmlformats.org/drawingml/2006/main">
              <a:ext uri="{FF2B5EF4-FFF2-40B4-BE49-F238E27FC236}">
                <a16:creationId xmlns:a16="http://schemas.microsoft.com/office/drawing/2014/main" id="{BDC8A2AC-2A8B-4E08-B9F2-B68850617C5D}"/>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886567D-940E-4136-BD39-07BF4E45B7ED}"/>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0282"/>
          </a:bodyPr>
          <a:lstStyle xmlns:a="http://schemas.openxmlformats.org/drawingml/2006/main"/>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 玩家成长结算流程：</a:t>
            </a:r>
          </a:p>
          <a:p xmlns:a="http://schemas.openxmlformats.org/drawingml/2006/main">
            <a:r>
              <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1. 对局结束后，结算页根据名次、模式、难度、规则和剩余牌数生成 MatchSettlement。</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2. ProfileController.settleMatch(profile, settlement) 计算金币、经验、成就和历史记录。</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3. 控制器返回 ProfileChange，其中包含更新后的 PlayerProfile、本局 MatchRecord 和提示信息。</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4. ProfileStore.saveProfile() 写入 SharedPreferences。</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5. 大厅、玩家中心和结算页读取同一份档案，显示最新金币、等级、头像和战绩。</a:t>
            </a:r>
          </a:p>
          <a:p xmlns:a="http://schemas.openxmlformats.org/drawingml/2006/main">
            <a:r>
              <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 金币消费采用确认弹窗保护：玩家点击改名、解锁头像、解锁自定义头像或重置战绩时，先显示消费说明和金币数量；确认后才调用 ProfileController，金币不足时不修改档案并弹窗提示失败原因。这样可以避免误扣金币，也方便答辩时说明本地数据的完整闭环。</a:t>
            </a:r>
          </a:p>
          <a:p xmlns:a="http://schemas.openxmlformats.org/drawingml/2006/main">
            <a:r>
              <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 本阶段为成长系统使用的设计模式如下：</a:t>
            </a:r>
          </a:p>
        </p:txBody>
      </p:sp>
      <p:sp>
        <p:nvSpPr>
          <p:cNvPr id="10" name="">
            <a:extLst xmlns:a="http://schemas.openxmlformats.org/drawingml/2006/main">
              <a:ext uri="{FF2B5EF4-FFF2-40B4-BE49-F238E27FC236}">
                <a16:creationId xmlns:a16="http://schemas.microsoft.com/office/drawing/2014/main" id="{D18FE159-AC52-4359-8FF2-B4F001FEBE75}"/>
              </a:ext>
            </a:extLst>
          </p:cNvPr>
          <p:cNvSpPr>
            <a:spLocks xmlns:a="http://schemas.openxmlformats.org/drawingml/2006/main" noGrp="1"/>
          </p:cNvSpPr>
          <p:nvPr/>
        </p:nvSpPr>
        <p:spPr>
          <a:xfrm xmlns:a="http://schemas.openxmlformats.org/drawingml/2006/main">
            <a:off x="5191125" y="1905000"/>
            <a:ext cx="1514314"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F329ED1D-B8F8-4D2C-A6B9-EA15684481EF}"/>
              </a:ext>
            </a:extLst>
          </p:cNvPr>
          <p:cNvSpPr>
            <a:spLocks xmlns:a="http://schemas.openxmlformats.org/drawingml/2006/main" noGrp="1"/>
          </p:cNvSpPr>
          <p:nvPr/>
        </p:nvSpPr>
        <p:spPr>
          <a:xfrm xmlns:a="http://schemas.openxmlformats.org/drawingml/2006/main">
            <a:off x="5238750" y="1943100"/>
            <a:ext cx="141906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设计模式/原则</a:t>
            </a:r>
          </a:p>
        </p:txBody>
      </p:sp>
      <p:sp>
        <p:nvSpPr>
          <p:cNvPr id="12" name="">
            <a:extLst xmlns:a="http://schemas.openxmlformats.org/drawingml/2006/main">
              <a:ext uri="{FF2B5EF4-FFF2-40B4-BE49-F238E27FC236}">
                <a16:creationId xmlns:a16="http://schemas.microsoft.com/office/drawing/2014/main" id="{06545764-29EA-44AE-9F94-574A7FB2D218}"/>
              </a:ext>
            </a:extLst>
          </p:cNvPr>
          <p:cNvSpPr>
            <a:spLocks xmlns:a="http://schemas.openxmlformats.org/drawingml/2006/main" noGrp="1"/>
          </p:cNvSpPr>
          <p:nvPr/>
        </p:nvSpPr>
        <p:spPr>
          <a:xfrm xmlns:a="http://schemas.openxmlformats.org/drawingml/2006/main">
            <a:off x="6705439" y="1905000"/>
            <a:ext cx="2433718"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A37491EC-51CA-4D06-AEF1-694E6D9A1AD2}"/>
              </a:ext>
            </a:extLst>
          </p:cNvPr>
          <p:cNvSpPr>
            <a:spLocks xmlns:a="http://schemas.openxmlformats.org/drawingml/2006/main" noGrp="1"/>
          </p:cNvSpPr>
          <p:nvPr/>
        </p:nvSpPr>
        <p:spPr>
          <a:xfrm xmlns:a="http://schemas.openxmlformats.org/drawingml/2006/main">
            <a:off x="6753064" y="1943100"/>
            <a:ext cx="233846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代码落点</a:t>
            </a:r>
          </a:p>
        </p:txBody>
      </p:sp>
      <p:sp>
        <p:nvSpPr>
          <p:cNvPr id="14" name="">
            <a:extLst xmlns:a="http://schemas.openxmlformats.org/drawingml/2006/main">
              <a:ext uri="{FF2B5EF4-FFF2-40B4-BE49-F238E27FC236}">
                <a16:creationId xmlns:a16="http://schemas.microsoft.com/office/drawing/2014/main" id="{8A5D4C20-4957-4A1E-990C-13B2B5824CF0}"/>
              </a:ext>
            </a:extLst>
          </p:cNvPr>
          <p:cNvSpPr>
            <a:spLocks xmlns:a="http://schemas.openxmlformats.org/drawingml/2006/main" noGrp="1"/>
          </p:cNvSpPr>
          <p:nvPr/>
        </p:nvSpPr>
        <p:spPr>
          <a:xfrm xmlns:a="http://schemas.openxmlformats.org/drawingml/2006/main">
            <a:off x="9139157" y="1905000"/>
            <a:ext cx="2433718"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88B877D6-8C8B-47F5-96D8-E6B43C5C9CC0}"/>
              </a:ext>
            </a:extLst>
          </p:cNvPr>
          <p:cNvSpPr>
            <a:spLocks xmlns:a="http://schemas.openxmlformats.org/drawingml/2006/main" noGrp="1"/>
          </p:cNvSpPr>
          <p:nvPr/>
        </p:nvSpPr>
        <p:spPr>
          <a:xfrm xmlns:a="http://schemas.openxmlformats.org/drawingml/2006/main">
            <a:off x="9186782" y="1943100"/>
            <a:ext cx="233846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说明</a:t>
            </a:r>
          </a:p>
        </p:txBody>
      </p:sp>
      <p:sp>
        <p:nvSpPr>
          <p:cNvPr id="16" name="">
            <a:extLst xmlns:a="http://schemas.openxmlformats.org/drawingml/2006/main">
              <a:ext uri="{FF2B5EF4-FFF2-40B4-BE49-F238E27FC236}">
                <a16:creationId xmlns:a16="http://schemas.microsoft.com/office/drawing/2014/main" id="{CDDEFF14-BBA0-43D7-95DD-650320585AD2}"/>
              </a:ext>
            </a:extLst>
          </p:cNvPr>
          <p:cNvSpPr>
            <a:spLocks xmlns:a="http://schemas.openxmlformats.org/drawingml/2006/main" noGrp="1"/>
          </p:cNvSpPr>
          <p:nvPr/>
        </p:nvSpPr>
        <p:spPr>
          <a:xfrm xmlns:a="http://schemas.openxmlformats.org/drawingml/2006/main">
            <a:off x="5191125" y="2305050"/>
            <a:ext cx="1514314"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84FB1676-D7EA-493B-83CC-6F8B95BAFEDC}"/>
              </a:ext>
            </a:extLst>
          </p:cNvPr>
          <p:cNvSpPr>
            <a:spLocks xmlns:a="http://schemas.openxmlformats.org/drawingml/2006/main" noGrp="1"/>
          </p:cNvSpPr>
          <p:nvPr/>
        </p:nvSpPr>
        <p:spPr>
          <a:xfrm xmlns:a="http://schemas.openxmlformats.org/drawingml/2006/main">
            <a:off x="5238750" y="2333625"/>
            <a:ext cx="1419064"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仓储模式</a:t>
            </a:r>
          </a:p>
        </p:txBody>
      </p:sp>
      <p:sp>
        <p:nvSpPr>
          <p:cNvPr id="18" name="">
            <a:extLst xmlns:a="http://schemas.openxmlformats.org/drawingml/2006/main">
              <a:ext uri="{FF2B5EF4-FFF2-40B4-BE49-F238E27FC236}">
                <a16:creationId xmlns:a16="http://schemas.microsoft.com/office/drawing/2014/main" id="{98796730-FF0F-474B-A3A9-8CB13A8641AD}"/>
              </a:ext>
            </a:extLst>
          </p:cNvPr>
          <p:cNvSpPr>
            <a:spLocks xmlns:a="http://schemas.openxmlformats.org/drawingml/2006/main" noGrp="1"/>
          </p:cNvSpPr>
          <p:nvPr/>
        </p:nvSpPr>
        <p:spPr>
          <a:xfrm xmlns:a="http://schemas.openxmlformats.org/drawingml/2006/main">
            <a:off x="6705439" y="2305050"/>
            <a:ext cx="2433718"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B55AC2D6-A4BC-4BC1-B68C-66CDAE2394D5}"/>
              </a:ext>
            </a:extLst>
          </p:cNvPr>
          <p:cNvSpPr>
            <a:spLocks xmlns:a="http://schemas.openxmlformats.org/drawingml/2006/main" noGrp="1"/>
          </p:cNvSpPr>
          <p:nvPr/>
        </p:nvSpPr>
        <p:spPr>
          <a:xfrm xmlns:a="http://schemas.openxmlformats.org/drawingml/2006/main">
            <a:off x="6753064" y="2333625"/>
            <a:ext cx="233846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ProfileStore</a:t>
            </a:r>
          </a:p>
        </p:txBody>
      </p:sp>
      <p:sp>
        <p:nvSpPr>
          <p:cNvPr id="20" name="">
            <a:extLst xmlns:a="http://schemas.openxmlformats.org/drawingml/2006/main">
              <a:ext uri="{FF2B5EF4-FFF2-40B4-BE49-F238E27FC236}">
                <a16:creationId xmlns:a16="http://schemas.microsoft.com/office/drawing/2014/main" id="{81B178AD-A948-4EA5-85EC-CFA1A05C157A}"/>
              </a:ext>
            </a:extLst>
          </p:cNvPr>
          <p:cNvSpPr>
            <a:spLocks xmlns:a="http://schemas.openxmlformats.org/drawingml/2006/main" noGrp="1"/>
          </p:cNvSpPr>
          <p:nvPr/>
        </p:nvSpPr>
        <p:spPr>
          <a:xfrm xmlns:a="http://schemas.openxmlformats.org/drawingml/2006/main">
            <a:off x="9139157" y="2305050"/>
            <a:ext cx="2433718"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EAF156CF-84B9-4818-835F-28F69998189A}"/>
              </a:ext>
            </a:extLst>
          </p:cNvPr>
          <p:cNvSpPr>
            <a:spLocks xmlns:a="http://schemas.openxmlformats.org/drawingml/2006/main" noGrp="1"/>
          </p:cNvSpPr>
          <p:nvPr/>
        </p:nvSpPr>
        <p:spPr>
          <a:xfrm xmlns:a="http://schemas.openxmlformats.org/drawingml/2006/main">
            <a:off x="9186782" y="2333625"/>
            <a:ext cx="233846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统一保存和读取玩家档案，UI 不直接处理序列化</a:t>
            </a:r>
          </a:p>
        </p:txBody>
      </p:sp>
      <p:sp>
        <p:nvSpPr>
          <p:cNvPr id="22" name="">
            <a:extLst xmlns:a="http://schemas.openxmlformats.org/drawingml/2006/main">
              <a:ext uri="{FF2B5EF4-FFF2-40B4-BE49-F238E27FC236}">
                <a16:creationId xmlns:a16="http://schemas.microsoft.com/office/drawing/2014/main" id="{5D34DA9C-FFBD-4121-B528-0C091FEEEE5A}"/>
              </a:ext>
            </a:extLst>
          </p:cNvPr>
          <p:cNvSpPr>
            <a:spLocks xmlns:a="http://schemas.openxmlformats.org/drawingml/2006/main" noGrp="1"/>
          </p:cNvSpPr>
          <p:nvPr/>
        </p:nvSpPr>
        <p:spPr>
          <a:xfrm xmlns:a="http://schemas.openxmlformats.org/drawingml/2006/main">
            <a:off x="5191125" y="3214688"/>
            <a:ext cx="1514314"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5CC768C0-3D55-4322-B6B8-B9FE4FAB65F5}"/>
              </a:ext>
            </a:extLst>
          </p:cNvPr>
          <p:cNvSpPr>
            <a:spLocks xmlns:a="http://schemas.openxmlformats.org/drawingml/2006/main" noGrp="1"/>
          </p:cNvSpPr>
          <p:nvPr/>
        </p:nvSpPr>
        <p:spPr>
          <a:xfrm xmlns:a="http://schemas.openxmlformats.org/drawingml/2006/main">
            <a:off x="5238750" y="3243263"/>
            <a:ext cx="1419064"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门面/控制器模式</a:t>
            </a:r>
          </a:p>
        </p:txBody>
      </p:sp>
      <p:sp>
        <p:nvSpPr>
          <p:cNvPr id="24" name="">
            <a:extLst xmlns:a="http://schemas.openxmlformats.org/drawingml/2006/main">
              <a:ext uri="{FF2B5EF4-FFF2-40B4-BE49-F238E27FC236}">
                <a16:creationId xmlns:a16="http://schemas.microsoft.com/office/drawing/2014/main" id="{2226B00A-DEC9-4696-9D5F-F3AC5B3D9B03}"/>
              </a:ext>
            </a:extLst>
          </p:cNvPr>
          <p:cNvSpPr>
            <a:spLocks xmlns:a="http://schemas.openxmlformats.org/drawingml/2006/main" noGrp="1"/>
          </p:cNvSpPr>
          <p:nvPr/>
        </p:nvSpPr>
        <p:spPr>
          <a:xfrm xmlns:a="http://schemas.openxmlformats.org/drawingml/2006/main">
            <a:off x="6705439" y="3214688"/>
            <a:ext cx="2433718"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D58D244F-F16C-433C-BD5D-70B8AF469732}"/>
              </a:ext>
            </a:extLst>
          </p:cNvPr>
          <p:cNvSpPr>
            <a:spLocks xmlns:a="http://schemas.openxmlformats.org/drawingml/2006/main" noGrp="1"/>
          </p:cNvSpPr>
          <p:nvPr/>
        </p:nvSpPr>
        <p:spPr>
          <a:xfrm xmlns:a="http://schemas.openxmlformats.org/drawingml/2006/main">
            <a:off x="6753064" y="3243263"/>
            <a:ext cx="233846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ProfileController</a:t>
            </a:r>
          </a:p>
        </p:txBody>
      </p:sp>
      <p:sp>
        <p:nvSpPr>
          <p:cNvPr id="26" name="">
            <a:extLst xmlns:a="http://schemas.openxmlformats.org/drawingml/2006/main">
              <a:ext uri="{FF2B5EF4-FFF2-40B4-BE49-F238E27FC236}">
                <a16:creationId xmlns:a16="http://schemas.microsoft.com/office/drawing/2014/main" id="{BCB78D96-D56F-4380-ADD4-64A67546A3A1}"/>
              </a:ext>
            </a:extLst>
          </p:cNvPr>
          <p:cNvSpPr>
            <a:spLocks xmlns:a="http://schemas.openxmlformats.org/drawingml/2006/main" noGrp="1"/>
          </p:cNvSpPr>
          <p:nvPr/>
        </p:nvSpPr>
        <p:spPr>
          <a:xfrm xmlns:a="http://schemas.openxmlformats.org/drawingml/2006/main">
            <a:off x="9139157" y="3214688"/>
            <a:ext cx="2433718"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9356C2A1-3709-44C1-9F7C-495CC6C0512E}"/>
              </a:ext>
            </a:extLst>
          </p:cNvPr>
          <p:cNvSpPr>
            <a:spLocks xmlns:a="http://schemas.openxmlformats.org/drawingml/2006/main" noGrp="1"/>
          </p:cNvSpPr>
          <p:nvPr/>
        </p:nvSpPr>
        <p:spPr>
          <a:xfrm xmlns:a="http://schemas.openxmlformats.org/drawingml/2006/main">
            <a:off x="9186782" y="3243263"/>
            <a:ext cx="233846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对外提供结算、改名、头像、战绩重置等统一入口</a:t>
            </a:r>
          </a:p>
        </p:txBody>
      </p:sp>
      <p:sp>
        <p:nvSpPr>
          <p:cNvPr id="28" name="">
            <a:extLst xmlns:a="http://schemas.openxmlformats.org/drawingml/2006/main">
              <a:ext uri="{FF2B5EF4-FFF2-40B4-BE49-F238E27FC236}">
                <a16:creationId xmlns:a16="http://schemas.microsoft.com/office/drawing/2014/main" id="{0A73BD00-11A2-4B24-B38E-373F31E4AC95}"/>
              </a:ext>
            </a:extLst>
          </p:cNvPr>
          <p:cNvSpPr>
            <a:spLocks xmlns:a="http://schemas.openxmlformats.org/drawingml/2006/main" noGrp="1"/>
          </p:cNvSpPr>
          <p:nvPr/>
        </p:nvSpPr>
        <p:spPr>
          <a:xfrm xmlns:a="http://schemas.openxmlformats.org/drawingml/2006/main">
            <a:off x="5191125" y="4124325"/>
            <a:ext cx="1514314"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71E84396-07B7-494F-BAAB-4B7065FF7207}"/>
              </a:ext>
            </a:extLst>
          </p:cNvPr>
          <p:cNvSpPr>
            <a:spLocks xmlns:a="http://schemas.openxmlformats.org/drawingml/2006/main" noGrp="1"/>
          </p:cNvSpPr>
          <p:nvPr/>
        </p:nvSpPr>
        <p:spPr>
          <a:xfrm xmlns:a="http://schemas.openxmlformats.org/drawingml/2006/main">
            <a:off x="5238750" y="4152900"/>
            <a:ext cx="1419064"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单一职责</a:t>
            </a:r>
          </a:p>
        </p:txBody>
      </p:sp>
      <p:sp>
        <p:nvSpPr>
          <p:cNvPr id="30" name="">
            <a:extLst xmlns:a="http://schemas.openxmlformats.org/drawingml/2006/main">
              <a:ext uri="{FF2B5EF4-FFF2-40B4-BE49-F238E27FC236}">
                <a16:creationId xmlns:a16="http://schemas.microsoft.com/office/drawing/2014/main" id="{B7F2D1CD-9726-4BE9-8E1D-68F69A7056BA}"/>
              </a:ext>
            </a:extLst>
          </p:cNvPr>
          <p:cNvSpPr>
            <a:spLocks xmlns:a="http://schemas.openxmlformats.org/drawingml/2006/main" noGrp="1"/>
          </p:cNvSpPr>
          <p:nvPr/>
        </p:nvSpPr>
        <p:spPr>
          <a:xfrm xmlns:a="http://schemas.openxmlformats.org/drawingml/2006/main">
            <a:off x="6705439" y="4124325"/>
            <a:ext cx="2433718"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91A0F64F-C4F4-4AD2-8C0B-B09A2DCBD644}"/>
              </a:ext>
            </a:extLst>
          </p:cNvPr>
          <p:cNvSpPr>
            <a:spLocks xmlns:a="http://schemas.openxmlformats.org/drawingml/2006/main" noGrp="1"/>
          </p:cNvSpPr>
          <p:nvPr/>
        </p:nvSpPr>
        <p:spPr>
          <a:xfrm xmlns:a="http://schemas.openxmlformats.org/drawingml/2006/main">
            <a:off x="6753064" y="4152900"/>
            <a:ext cx="233846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PlayerProfile、ProfileStats、MatchRecord、Achievement</a:t>
            </a:r>
          </a:p>
        </p:txBody>
      </p:sp>
      <p:sp>
        <p:nvSpPr>
          <p:cNvPr id="32" name="">
            <a:extLst xmlns:a="http://schemas.openxmlformats.org/drawingml/2006/main">
              <a:ext uri="{FF2B5EF4-FFF2-40B4-BE49-F238E27FC236}">
                <a16:creationId xmlns:a16="http://schemas.microsoft.com/office/drawing/2014/main" id="{4AF5630D-FEAC-420F-96A7-16832BF24D30}"/>
              </a:ext>
            </a:extLst>
          </p:cNvPr>
          <p:cNvSpPr>
            <a:spLocks xmlns:a="http://schemas.openxmlformats.org/drawingml/2006/main" noGrp="1"/>
          </p:cNvSpPr>
          <p:nvPr/>
        </p:nvSpPr>
        <p:spPr>
          <a:xfrm xmlns:a="http://schemas.openxmlformats.org/drawingml/2006/main">
            <a:off x="9139157" y="4124325"/>
            <a:ext cx="2433718"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44724291-3ABF-463D-8418-BCECEAD7467A}"/>
              </a:ext>
            </a:extLst>
          </p:cNvPr>
          <p:cNvSpPr>
            <a:spLocks xmlns:a="http://schemas.openxmlformats.org/drawingml/2006/main" noGrp="1"/>
          </p:cNvSpPr>
          <p:nvPr/>
        </p:nvSpPr>
        <p:spPr>
          <a:xfrm xmlns:a="http://schemas.openxmlformats.org/drawingml/2006/main">
            <a:off x="9186782" y="4152900"/>
            <a:ext cx="233846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档案、统计、历史记录和成就各自独立</a:t>
            </a:r>
          </a:p>
        </p:txBody>
      </p:sp>
      <p:sp>
        <p:nvSpPr>
          <p:cNvPr id="34" name="">
            <a:extLst xmlns:a="http://schemas.openxmlformats.org/drawingml/2006/main">
              <a:ext uri="{FF2B5EF4-FFF2-40B4-BE49-F238E27FC236}">
                <a16:creationId xmlns:a16="http://schemas.microsoft.com/office/drawing/2014/main" id="{F4047EDD-D283-41D4-B8C8-3DA85B7CD1E0}"/>
              </a:ext>
            </a:extLst>
          </p:cNvPr>
          <p:cNvSpPr>
            <a:spLocks xmlns:a="http://schemas.openxmlformats.org/drawingml/2006/main" noGrp="1"/>
          </p:cNvSpPr>
          <p:nvPr/>
        </p:nvSpPr>
        <p:spPr>
          <a:xfrm xmlns:a="http://schemas.openxmlformats.org/drawingml/2006/main">
            <a:off x="5191125" y="5033963"/>
            <a:ext cx="1514314"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5" name="">
            <a:extLst xmlns:a="http://schemas.openxmlformats.org/drawingml/2006/main">
              <a:ext uri="{FF2B5EF4-FFF2-40B4-BE49-F238E27FC236}">
                <a16:creationId xmlns:a16="http://schemas.microsoft.com/office/drawing/2014/main" id="{8B4681EF-BFD8-4832-994D-52D2A2ED6DB7}"/>
              </a:ext>
            </a:extLst>
          </p:cNvPr>
          <p:cNvSpPr>
            <a:spLocks xmlns:a="http://schemas.openxmlformats.org/drawingml/2006/main" noGrp="1"/>
          </p:cNvSpPr>
          <p:nvPr/>
        </p:nvSpPr>
        <p:spPr>
          <a:xfrm xmlns:a="http://schemas.openxmlformats.org/drawingml/2006/main">
            <a:off x="5238750" y="5062538"/>
            <a:ext cx="1419064"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防御式校验</a:t>
            </a:r>
          </a:p>
        </p:txBody>
      </p:sp>
      <p:sp>
        <p:nvSpPr>
          <p:cNvPr id="36" name="">
            <a:extLst xmlns:a="http://schemas.openxmlformats.org/drawingml/2006/main">
              <a:ext uri="{FF2B5EF4-FFF2-40B4-BE49-F238E27FC236}">
                <a16:creationId xmlns:a16="http://schemas.microsoft.com/office/drawing/2014/main" id="{2D16136B-DCD6-4915-B09A-FBBBBA8BD07E}"/>
              </a:ext>
            </a:extLst>
          </p:cNvPr>
          <p:cNvSpPr>
            <a:spLocks xmlns:a="http://schemas.openxmlformats.org/drawingml/2006/main" noGrp="1"/>
          </p:cNvSpPr>
          <p:nvPr/>
        </p:nvSpPr>
        <p:spPr>
          <a:xfrm xmlns:a="http://schemas.openxmlformats.org/drawingml/2006/main">
            <a:off x="6705439" y="5033963"/>
            <a:ext cx="2433718"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7" name="">
            <a:extLst xmlns:a="http://schemas.openxmlformats.org/drawingml/2006/main">
              <a:ext uri="{FF2B5EF4-FFF2-40B4-BE49-F238E27FC236}">
                <a16:creationId xmlns:a16="http://schemas.microsoft.com/office/drawing/2014/main" id="{67B801B5-E9D9-4F88-93AB-9BB133E48BBD}"/>
              </a:ext>
            </a:extLst>
          </p:cNvPr>
          <p:cNvSpPr>
            <a:spLocks xmlns:a="http://schemas.openxmlformats.org/drawingml/2006/main" noGrp="1"/>
          </p:cNvSpPr>
          <p:nvPr/>
        </p:nvSpPr>
        <p:spPr>
          <a:xfrm xmlns:a="http://schemas.openxmlformats.org/drawingml/2006/main">
            <a:off x="6753064" y="5062538"/>
            <a:ext cx="233846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ProfileChange、金币不足判断</a:t>
            </a:r>
          </a:p>
        </p:txBody>
      </p:sp>
      <p:sp>
        <p:nvSpPr>
          <p:cNvPr id="38" name="">
            <a:extLst xmlns:a="http://schemas.openxmlformats.org/drawingml/2006/main">
              <a:ext uri="{FF2B5EF4-FFF2-40B4-BE49-F238E27FC236}">
                <a16:creationId xmlns:a16="http://schemas.microsoft.com/office/drawing/2014/main" id="{4A3B37BF-6416-42F4-A4D9-9E5E282545BA}"/>
              </a:ext>
            </a:extLst>
          </p:cNvPr>
          <p:cNvSpPr>
            <a:spLocks xmlns:a="http://schemas.openxmlformats.org/drawingml/2006/main" noGrp="1"/>
          </p:cNvSpPr>
          <p:nvPr/>
        </p:nvSpPr>
        <p:spPr>
          <a:xfrm xmlns:a="http://schemas.openxmlformats.org/drawingml/2006/main">
            <a:off x="9139157" y="5033963"/>
            <a:ext cx="2433718"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9" name="">
            <a:extLst xmlns:a="http://schemas.openxmlformats.org/drawingml/2006/main">
              <a:ext uri="{FF2B5EF4-FFF2-40B4-BE49-F238E27FC236}">
                <a16:creationId xmlns:a16="http://schemas.microsoft.com/office/drawing/2014/main" id="{B8BB30B9-301D-40D8-91D9-4138221709B0}"/>
              </a:ext>
            </a:extLst>
          </p:cNvPr>
          <p:cNvSpPr>
            <a:spLocks xmlns:a="http://schemas.openxmlformats.org/drawingml/2006/main" noGrp="1"/>
          </p:cNvSpPr>
          <p:nvPr/>
        </p:nvSpPr>
        <p:spPr>
          <a:xfrm xmlns:a="http://schemas.openxmlformats.org/drawingml/2006/main">
            <a:off x="9186782" y="5062538"/>
            <a:ext cx="233846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消费失败时不改状态、不扣金币、不写入存储</a:t>
            </a:r>
          </a:p>
        </p:txBody>
      </p:sp>
    </p:spTree>
    <p:extLst>
      <p:ext uri="{BB962C8B-B14F-4D97-AF65-F5344CB8AC3E}">
        <p14:creationId xmlns:p14="http://schemas.microsoft.com/office/powerpoint/2010/main" val="1971564402"/>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4B3ADE-8CA0-4AD2-9F9D-586EBB1631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8B2361-1E43-4F2A-8257-17D9E1FB819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3A4326-5F9F-49E4-8B09-A06B12FAA428}"/>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5EE8CCCA-9BAE-4617-9077-0C3B6CF29357}"/>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C60C9EA2-AC1C-4C72-B7B9-834B2FEC1BF2}"/>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73</a:t>
            </a:r>
          </a:p>
        </p:txBody>
      </p:sp>
      <p:sp>
        <p:nvSpPr>
          <p:cNvPr id="6" name="">
            <a:extLst xmlns:a="http://schemas.openxmlformats.org/drawingml/2006/main">
              <a:ext uri="{FF2B5EF4-FFF2-40B4-BE49-F238E27FC236}">
                <a16:creationId xmlns:a16="http://schemas.microsoft.com/office/drawing/2014/main" id="{AA7D78EA-7CC8-468F-8198-502728428D61}"/>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C47C9D2E-80C9-4113-845B-BF6EB3FE8BB2}"/>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7.5 UI 与交互完善（1/3）</a:t>
            </a:r>
          </a:p>
        </p:txBody>
      </p:sp>
      <p:sp>
        <p:nvSpPr>
          <p:cNvPr id="8" name="">
            <a:extLst xmlns:a="http://schemas.openxmlformats.org/drawingml/2006/main">
              <a:ext uri="{FF2B5EF4-FFF2-40B4-BE49-F238E27FC236}">
                <a16:creationId xmlns:a16="http://schemas.microsoft.com/office/drawing/2014/main" id="{2EA435E4-BC40-4ECB-9BB9-1C71BCBFE460}"/>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C033F44-1668-4470-90DC-D23EF8F95071}"/>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本阶段继续完善 Compose 页面和动画体验：</a:t>
            </a:r>
          </a:p>
        </p:txBody>
      </p:sp>
    </p:spTree>
    <p:extLst>
      <p:ext uri="{BB962C8B-B14F-4D97-AF65-F5344CB8AC3E}">
        <p14:creationId xmlns:p14="http://schemas.microsoft.com/office/powerpoint/2010/main" val="151132252"/>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D83AFC-4F99-47FC-8014-4278F983CE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01C0FC-AA12-45E8-921E-7E4AB19884B0}"/>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D1BF19-4A75-4374-B829-AA52E907E1A6}"/>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9E4BD604-6CB1-441A-86FA-28BB86C8F8CD}"/>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C96C5F2F-3750-48C5-9D85-1DC508CF5DAA}"/>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74</a:t>
            </a:r>
          </a:p>
        </p:txBody>
      </p:sp>
      <p:sp>
        <p:nvSpPr>
          <p:cNvPr id="6" name="">
            <a:extLst xmlns:a="http://schemas.openxmlformats.org/drawingml/2006/main">
              <a:ext uri="{FF2B5EF4-FFF2-40B4-BE49-F238E27FC236}">
                <a16:creationId xmlns:a16="http://schemas.microsoft.com/office/drawing/2014/main" id="{831A1423-5835-4A02-A0E9-B12D7FEAA15E}"/>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3A516FB2-9A25-46FC-9F58-10539F1D7B72}"/>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7.5 UI 与交互完善（2/3）</a:t>
            </a:r>
          </a:p>
        </p:txBody>
      </p:sp>
      <p:sp>
        <p:nvSpPr>
          <p:cNvPr id="8" name="">
            <a:extLst xmlns:a="http://schemas.openxmlformats.org/drawingml/2006/main">
              <a:ext uri="{FF2B5EF4-FFF2-40B4-BE49-F238E27FC236}">
                <a16:creationId xmlns:a16="http://schemas.microsoft.com/office/drawing/2014/main" id="{6017A101-7DA8-4E86-97A9-CA44F8E733F7}"/>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7E9759F-E539-49D2-A8EC-39184AF0F589}"/>
              </a:ext>
            </a:extLst>
          </p:cNvPr>
          <p:cNvSpPr>
            <a:spLocks xmlns:a="http://schemas.openxmlformats.org/drawingml/2006/main" noGrp="1"/>
          </p:cNvSpPr>
          <p:nvPr/>
        </p:nvSpPr>
        <p:spPr>
          <a:xfrm xmlns:a="http://schemas.openxmlformats.org/drawingml/2006/main">
            <a:off x="457200" y="1905000"/>
            <a:ext cx="440466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51213431-09DD-4D15-9FB6-854B5D476306}"/>
              </a:ext>
            </a:extLst>
          </p:cNvPr>
          <p:cNvSpPr>
            <a:spLocks xmlns:a="http://schemas.openxmlformats.org/drawingml/2006/main" noGrp="1"/>
          </p:cNvSpPr>
          <p:nvPr/>
        </p:nvSpPr>
        <p:spPr>
          <a:xfrm xmlns:a="http://schemas.openxmlformats.org/drawingml/2006/main">
            <a:off x="504825" y="1943100"/>
            <a:ext cx="430941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页面</a:t>
            </a:r>
          </a:p>
        </p:txBody>
      </p:sp>
      <p:sp>
        <p:nvSpPr>
          <p:cNvPr id="11" name="">
            <a:extLst xmlns:a="http://schemas.openxmlformats.org/drawingml/2006/main">
              <a:ext uri="{FF2B5EF4-FFF2-40B4-BE49-F238E27FC236}">
                <a16:creationId xmlns:a16="http://schemas.microsoft.com/office/drawing/2014/main" id="{E5B2CF77-3C39-4DEF-8C90-367A0948A5C5}"/>
              </a:ext>
            </a:extLst>
          </p:cNvPr>
          <p:cNvSpPr>
            <a:spLocks xmlns:a="http://schemas.openxmlformats.org/drawingml/2006/main" noGrp="1"/>
          </p:cNvSpPr>
          <p:nvPr/>
        </p:nvSpPr>
        <p:spPr>
          <a:xfrm xmlns:a="http://schemas.openxmlformats.org/drawingml/2006/main">
            <a:off x="4861869" y="1905000"/>
            <a:ext cx="6834831"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D2EB4639-83CA-4A38-804D-C6624E0CD361}"/>
              </a:ext>
            </a:extLst>
          </p:cNvPr>
          <p:cNvSpPr>
            <a:spLocks xmlns:a="http://schemas.openxmlformats.org/drawingml/2006/main" noGrp="1"/>
          </p:cNvSpPr>
          <p:nvPr/>
        </p:nvSpPr>
        <p:spPr>
          <a:xfrm xmlns:a="http://schemas.openxmlformats.org/drawingml/2006/main">
            <a:off x="4909494" y="1943100"/>
            <a:ext cx="673958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功能</a:t>
            </a:r>
          </a:p>
        </p:txBody>
      </p:sp>
      <p:sp>
        <p:nvSpPr>
          <p:cNvPr id="13" name="">
            <a:extLst xmlns:a="http://schemas.openxmlformats.org/drawingml/2006/main">
              <a:ext uri="{FF2B5EF4-FFF2-40B4-BE49-F238E27FC236}">
                <a16:creationId xmlns:a16="http://schemas.microsoft.com/office/drawing/2014/main" id="{52631C1A-32D7-47B5-9288-AD6D7F78BDD8}"/>
              </a:ext>
            </a:extLst>
          </p:cNvPr>
          <p:cNvSpPr>
            <a:spLocks xmlns:a="http://schemas.openxmlformats.org/drawingml/2006/main" noGrp="1"/>
          </p:cNvSpPr>
          <p:nvPr/>
        </p:nvSpPr>
        <p:spPr>
          <a:xfrm xmlns:a="http://schemas.openxmlformats.org/drawingml/2006/main">
            <a:off x="457200" y="2305050"/>
            <a:ext cx="4404669"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4" name="">
            <a:extLst xmlns:a="http://schemas.openxmlformats.org/drawingml/2006/main">
              <a:ext uri="{FF2B5EF4-FFF2-40B4-BE49-F238E27FC236}">
                <a16:creationId xmlns:a16="http://schemas.microsoft.com/office/drawing/2014/main" id="{1776D3C7-608A-48B8-BD7B-6FCEFE8EAFBD}"/>
              </a:ext>
            </a:extLst>
          </p:cNvPr>
          <p:cNvSpPr>
            <a:spLocks xmlns:a="http://schemas.openxmlformats.org/drawingml/2006/main" noGrp="1"/>
          </p:cNvSpPr>
          <p:nvPr/>
        </p:nvSpPr>
        <p:spPr>
          <a:xfrm xmlns:a="http://schemas.openxmlformats.org/drawingml/2006/main">
            <a:off x="504825" y="2333625"/>
            <a:ext cx="4309419"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开屏页</a:t>
            </a:r>
          </a:p>
        </p:txBody>
      </p:sp>
      <p:sp>
        <p:nvSpPr>
          <p:cNvPr id="15" name="">
            <a:extLst xmlns:a="http://schemas.openxmlformats.org/drawingml/2006/main">
              <a:ext uri="{FF2B5EF4-FFF2-40B4-BE49-F238E27FC236}">
                <a16:creationId xmlns:a16="http://schemas.microsoft.com/office/drawing/2014/main" id="{B2704529-ED61-404A-8706-5008BBAD6DE2}"/>
              </a:ext>
            </a:extLst>
          </p:cNvPr>
          <p:cNvSpPr>
            <a:spLocks xmlns:a="http://schemas.openxmlformats.org/drawingml/2006/main" noGrp="1"/>
          </p:cNvSpPr>
          <p:nvPr/>
        </p:nvSpPr>
        <p:spPr>
          <a:xfrm xmlns:a="http://schemas.openxmlformats.org/drawingml/2006/main">
            <a:off x="4861869" y="2305050"/>
            <a:ext cx="6834831"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0F08B733-3EBA-4EDC-8C4A-71ACC59FB43E}"/>
              </a:ext>
            </a:extLst>
          </p:cNvPr>
          <p:cNvSpPr>
            <a:spLocks xmlns:a="http://schemas.openxmlformats.org/drawingml/2006/main" noGrp="1"/>
          </p:cNvSpPr>
          <p:nvPr/>
        </p:nvSpPr>
        <p:spPr>
          <a:xfrm xmlns:a="http://schemas.openxmlformats.org/drawingml/2006/main">
            <a:off x="4909494" y="2333625"/>
            <a:ext cx="6739581"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展示扑克牌背景和开始游戏入口</a:t>
            </a:r>
          </a:p>
        </p:txBody>
      </p:sp>
      <p:sp>
        <p:nvSpPr>
          <p:cNvPr id="17" name="">
            <a:extLst xmlns:a="http://schemas.openxmlformats.org/drawingml/2006/main">
              <a:ext uri="{FF2B5EF4-FFF2-40B4-BE49-F238E27FC236}">
                <a16:creationId xmlns:a16="http://schemas.microsoft.com/office/drawing/2014/main" id="{E72075A8-26DF-4214-941E-AAA961037476}"/>
              </a:ext>
            </a:extLst>
          </p:cNvPr>
          <p:cNvSpPr>
            <a:spLocks xmlns:a="http://schemas.openxmlformats.org/drawingml/2006/main" noGrp="1"/>
          </p:cNvSpPr>
          <p:nvPr/>
        </p:nvSpPr>
        <p:spPr>
          <a:xfrm xmlns:a="http://schemas.openxmlformats.org/drawingml/2006/main">
            <a:off x="457200" y="2759869"/>
            <a:ext cx="4404669"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7E48B84A-91E2-45F8-AE73-D6FA5291BAE6}"/>
              </a:ext>
            </a:extLst>
          </p:cNvPr>
          <p:cNvSpPr>
            <a:spLocks xmlns:a="http://schemas.openxmlformats.org/drawingml/2006/main" noGrp="1"/>
          </p:cNvSpPr>
          <p:nvPr/>
        </p:nvSpPr>
        <p:spPr>
          <a:xfrm xmlns:a="http://schemas.openxmlformats.org/drawingml/2006/main">
            <a:off x="504825" y="2788444"/>
            <a:ext cx="4309419"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大厅</a:t>
            </a:r>
          </a:p>
        </p:txBody>
      </p:sp>
      <p:sp>
        <p:nvSpPr>
          <p:cNvPr id="19" name="">
            <a:extLst xmlns:a="http://schemas.openxmlformats.org/drawingml/2006/main">
              <a:ext uri="{FF2B5EF4-FFF2-40B4-BE49-F238E27FC236}">
                <a16:creationId xmlns:a16="http://schemas.microsoft.com/office/drawing/2014/main" id="{F38E0D93-C6AD-4C1D-B5AC-AE7614DEA9A7}"/>
              </a:ext>
            </a:extLst>
          </p:cNvPr>
          <p:cNvSpPr>
            <a:spLocks xmlns:a="http://schemas.openxmlformats.org/drawingml/2006/main" noGrp="1"/>
          </p:cNvSpPr>
          <p:nvPr/>
        </p:nvSpPr>
        <p:spPr>
          <a:xfrm xmlns:a="http://schemas.openxmlformats.org/drawingml/2006/main">
            <a:off x="4861869" y="2759869"/>
            <a:ext cx="6834831"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E1D2C01D-D29E-4687-8988-5F9C76220E71}"/>
              </a:ext>
            </a:extLst>
          </p:cNvPr>
          <p:cNvSpPr>
            <a:spLocks xmlns:a="http://schemas.openxmlformats.org/drawingml/2006/main" noGrp="1"/>
          </p:cNvSpPr>
          <p:nvPr/>
        </p:nvSpPr>
        <p:spPr>
          <a:xfrm xmlns:a="http://schemas.openxmlformats.org/drawingml/2006/main">
            <a:off x="4909494" y="2788444"/>
            <a:ext cx="6739581"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显示玩家头像、昵称、等级、金币和主要功能入口</a:t>
            </a:r>
          </a:p>
        </p:txBody>
      </p:sp>
      <p:sp>
        <p:nvSpPr>
          <p:cNvPr id="21" name="">
            <a:extLst xmlns:a="http://schemas.openxmlformats.org/drawingml/2006/main">
              <a:ext uri="{FF2B5EF4-FFF2-40B4-BE49-F238E27FC236}">
                <a16:creationId xmlns:a16="http://schemas.microsoft.com/office/drawing/2014/main" id="{2F0F537D-64E0-4279-B7A7-3BD908129787}"/>
              </a:ext>
            </a:extLst>
          </p:cNvPr>
          <p:cNvSpPr>
            <a:spLocks xmlns:a="http://schemas.openxmlformats.org/drawingml/2006/main" noGrp="1"/>
          </p:cNvSpPr>
          <p:nvPr/>
        </p:nvSpPr>
        <p:spPr>
          <a:xfrm xmlns:a="http://schemas.openxmlformats.org/drawingml/2006/main">
            <a:off x="457200" y="3214688"/>
            <a:ext cx="4404669"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59724740-627B-4A1E-8C83-73B1E0E56A5F}"/>
              </a:ext>
            </a:extLst>
          </p:cNvPr>
          <p:cNvSpPr>
            <a:spLocks xmlns:a="http://schemas.openxmlformats.org/drawingml/2006/main" noGrp="1"/>
          </p:cNvSpPr>
          <p:nvPr/>
        </p:nvSpPr>
        <p:spPr>
          <a:xfrm xmlns:a="http://schemas.openxmlformats.org/drawingml/2006/main">
            <a:off x="504825" y="3243263"/>
            <a:ext cx="4309419"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人机难度页</a:t>
            </a:r>
          </a:p>
        </p:txBody>
      </p:sp>
      <p:sp>
        <p:nvSpPr>
          <p:cNvPr id="23" name="">
            <a:extLst xmlns:a="http://schemas.openxmlformats.org/drawingml/2006/main">
              <a:ext uri="{FF2B5EF4-FFF2-40B4-BE49-F238E27FC236}">
                <a16:creationId xmlns:a16="http://schemas.microsoft.com/office/drawing/2014/main" id="{10573CED-DE3B-45C7-8B3F-B80913621951}"/>
              </a:ext>
            </a:extLst>
          </p:cNvPr>
          <p:cNvSpPr>
            <a:spLocks xmlns:a="http://schemas.openxmlformats.org/drawingml/2006/main" noGrp="1"/>
          </p:cNvSpPr>
          <p:nvPr/>
        </p:nvSpPr>
        <p:spPr>
          <a:xfrm xmlns:a="http://schemas.openxmlformats.org/drawingml/2006/main">
            <a:off x="4861869" y="3214688"/>
            <a:ext cx="6834831"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B6550A7B-BB2D-420E-BE66-4AA548647454}"/>
              </a:ext>
            </a:extLst>
          </p:cNvPr>
          <p:cNvSpPr>
            <a:spLocks xmlns:a="http://schemas.openxmlformats.org/drawingml/2006/main" noGrp="1"/>
          </p:cNvSpPr>
          <p:nvPr/>
        </p:nvSpPr>
        <p:spPr>
          <a:xfrm xmlns:a="http://schemas.openxmlformats.org/drawingml/2006/main">
            <a:off x="4909494" y="3243263"/>
            <a:ext cx="6739581"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选择简单、普通、困难 AI</a:t>
            </a:r>
          </a:p>
        </p:txBody>
      </p:sp>
      <p:sp>
        <p:nvSpPr>
          <p:cNvPr id="25" name="">
            <a:extLst xmlns:a="http://schemas.openxmlformats.org/drawingml/2006/main">
              <a:ext uri="{FF2B5EF4-FFF2-40B4-BE49-F238E27FC236}">
                <a16:creationId xmlns:a16="http://schemas.microsoft.com/office/drawing/2014/main" id="{63DD0E68-E959-4945-8F70-BC0005881A7F}"/>
              </a:ext>
            </a:extLst>
          </p:cNvPr>
          <p:cNvSpPr>
            <a:spLocks xmlns:a="http://schemas.openxmlformats.org/drawingml/2006/main" noGrp="1"/>
          </p:cNvSpPr>
          <p:nvPr/>
        </p:nvSpPr>
        <p:spPr>
          <a:xfrm xmlns:a="http://schemas.openxmlformats.org/drawingml/2006/main">
            <a:off x="457200" y="3669506"/>
            <a:ext cx="4404669"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61F8BE69-F5B5-4D01-BC5B-28223FDE2ABD}"/>
              </a:ext>
            </a:extLst>
          </p:cNvPr>
          <p:cNvSpPr>
            <a:spLocks xmlns:a="http://schemas.openxmlformats.org/drawingml/2006/main" noGrp="1"/>
          </p:cNvSpPr>
          <p:nvPr/>
        </p:nvSpPr>
        <p:spPr>
          <a:xfrm xmlns:a="http://schemas.openxmlformats.org/drawingml/2006/main">
            <a:off x="504825" y="3698081"/>
            <a:ext cx="4309419"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规则页</a:t>
            </a:r>
          </a:p>
        </p:txBody>
      </p:sp>
      <p:sp>
        <p:nvSpPr>
          <p:cNvPr id="27" name="">
            <a:extLst xmlns:a="http://schemas.openxmlformats.org/drawingml/2006/main">
              <a:ext uri="{FF2B5EF4-FFF2-40B4-BE49-F238E27FC236}">
                <a16:creationId xmlns:a16="http://schemas.microsoft.com/office/drawing/2014/main" id="{BDEF2381-1E5F-413A-9545-572E4C9AF5D2}"/>
              </a:ext>
            </a:extLst>
          </p:cNvPr>
          <p:cNvSpPr>
            <a:spLocks xmlns:a="http://schemas.openxmlformats.org/drawingml/2006/main" noGrp="1"/>
          </p:cNvSpPr>
          <p:nvPr/>
        </p:nvSpPr>
        <p:spPr>
          <a:xfrm xmlns:a="http://schemas.openxmlformats.org/drawingml/2006/main">
            <a:off x="4861869" y="3669506"/>
            <a:ext cx="6834831"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7928BC67-0E69-41EC-B177-4C64E5767319}"/>
              </a:ext>
            </a:extLst>
          </p:cNvPr>
          <p:cNvSpPr>
            <a:spLocks xmlns:a="http://schemas.openxmlformats.org/drawingml/2006/main" noGrp="1"/>
          </p:cNvSpPr>
          <p:nvPr/>
        </p:nvSpPr>
        <p:spPr>
          <a:xfrm xmlns:a="http://schemas.openxmlformats.org/drawingml/2006/main">
            <a:off x="4909494" y="3698081"/>
            <a:ext cx="6739581"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切换北方和南方规则，并保存到本机</a:t>
            </a:r>
          </a:p>
        </p:txBody>
      </p:sp>
      <p:sp>
        <p:nvSpPr>
          <p:cNvPr id="29" name="">
            <a:extLst xmlns:a="http://schemas.openxmlformats.org/drawingml/2006/main">
              <a:ext uri="{FF2B5EF4-FFF2-40B4-BE49-F238E27FC236}">
                <a16:creationId xmlns:a16="http://schemas.microsoft.com/office/drawing/2014/main" id="{C5FF1B5F-B18D-4C3E-BB9C-9470D3D84CFA}"/>
              </a:ext>
            </a:extLst>
          </p:cNvPr>
          <p:cNvSpPr>
            <a:spLocks xmlns:a="http://schemas.openxmlformats.org/drawingml/2006/main" noGrp="1"/>
          </p:cNvSpPr>
          <p:nvPr/>
        </p:nvSpPr>
        <p:spPr>
          <a:xfrm xmlns:a="http://schemas.openxmlformats.org/drawingml/2006/main">
            <a:off x="457200" y="4124325"/>
            <a:ext cx="4404669"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5B34C0FA-3ADD-4161-97ED-EC5F455916A7}"/>
              </a:ext>
            </a:extLst>
          </p:cNvPr>
          <p:cNvSpPr>
            <a:spLocks xmlns:a="http://schemas.openxmlformats.org/drawingml/2006/main" noGrp="1"/>
          </p:cNvSpPr>
          <p:nvPr/>
        </p:nvSpPr>
        <p:spPr>
          <a:xfrm xmlns:a="http://schemas.openxmlformats.org/drawingml/2006/main">
            <a:off x="504825" y="4152900"/>
            <a:ext cx="4309419"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蓝牙房间</a:t>
            </a:r>
          </a:p>
        </p:txBody>
      </p:sp>
      <p:sp>
        <p:nvSpPr>
          <p:cNvPr id="31" name="">
            <a:extLst xmlns:a="http://schemas.openxmlformats.org/drawingml/2006/main">
              <a:ext uri="{FF2B5EF4-FFF2-40B4-BE49-F238E27FC236}">
                <a16:creationId xmlns:a16="http://schemas.microsoft.com/office/drawing/2014/main" id="{FF054B8D-4C2C-463B-BA06-8E946844D131}"/>
              </a:ext>
            </a:extLst>
          </p:cNvPr>
          <p:cNvSpPr>
            <a:spLocks xmlns:a="http://schemas.openxmlformats.org/drawingml/2006/main" noGrp="1"/>
          </p:cNvSpPr>
          <p:nvPr/>
        </p:nvSpPr>
        <p:spPr>
          <a:xfrm xmlns:a="http://schemas.openxmlformats.org/drawingml/2006/main">
            <a:off x="4861869" y="4124325"/>
            <a:ext cx="6834831"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F3B3F906-5090-4BDF-8DDE-A6CAA3BE397F}"/>
              </a:ext>
            </a:extLst>
          </p:cNvPr>
          <p:cNvSpPr>
            <a:spLocks xmlns:a="http://schemas.openxmlformats.org/drawingml/2006/main" noGrp="1"/>
          </p:cNvSpPr>
          <p:nvPr/>
        </p:nvSpPr>
        <p:spPr>
          <a:xfrm xmlns:a="http://schemas.openxmlformats.org/drawingml/2006/main">
            <a:off x="4909494" y="4152900"/>
            <a:ext cx="6739581"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创建房间、加入对局、四座位、人机补位和准备状态</a:t>
            </a:r>
          </a:p>
        </p:txBody>
      </p:sp>
      <p:sp>
        <p:nvSpPr>
          <p:cNvPr id="33" name="">
            <a:extLst xmlns:a="http://schemas.openxmlformats.org/drawingml/2006/main">
              <a:ext uri="{FF2B5EF4-FFF2-40B4-BE49-F238E27FC236}">
                <a16:creationId xmlns:a16="http://schemas.microsoft.com/office/drawing/2014/main" id="{3C994153-9918-4BBE-B825-2BC53114387D}"/>
              </a:ext>
            </a:extLst>
          </p:cNvPr>
          <p:cNvSpPr>
            <a:spLocks xmlns:a="http://schemas.openxmlformats.org/drawingml/2006/main" noGrp="1"/>
          </p:cNvSpPr>
          <p:nvPr/>
        </p:nvSpPr>
        <p:spPr>
          <a:xfrm xmlns:a="http://schemas.openxmlformats.org/drawingml/2006/main">
            <a:off x="457200" y="4579144"/>
            <a:ext cx="4404669"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02065A07-CBE9-4947-939A-632266B60338}"/>
              </a:ext>
            </a:extLst>
          </p:cNvPr>
          <p:cNvSpPr>
            <a:spLocks xmlns:a="http://schemas.openxmlformats.org/drawingml/2006/main" noGrp="1"/>
          </p:cNvSpPr>
          <p:nvPr/>
        </p:nvSpPr>
        <p:spPr>
          <a:xfrm xmlns:a="http://schemas.openxmlformats.org/drawingml/2006/main">
            <a:off x="504825" y="4607719"/>
            <a:ext cx="4309419"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牌桌页</a:t>
            </a:r>
          </a:p>
        </p:txBody>
      </p:sp>
      <p:sp>
        <p:nvSpPr>
          <p:cNvPr id="35" name="">
            <a:extLst xmlns:a="http://schemas.openxmlformats.org/drawingml/2006/main">
              <a:ext uri="{FF2B5EF4-FFF2-40B4-BE49-F238E27FC236}">
                <a16:creationId xmlns:a16="http://schemas.microsoft.com/office/drawing/2014/main" id="{2CC21EB1-4F66-41C1-A3F3-5E79A8BE9E68}"/>
              </a:ext>
            </a:extLst>
          </p:cNvPr>
          <p:cNvSpPr>
            <a:spLocks xmlns:a="http://schemas.openxmlformats.org/drawingml/2006/main" noGrp="1"/>
          </p:cNvSpPr>
          <p:nvPr/>
        </p:nvSpPr>
        <p:spPr>
          <a:xfrm xmlns:a="http://schemas.openxmlformats.org/drawingml/2006/main">
            <a:off x="4861869" y="4579144"/>
            <a:ext cx="6834831"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BA33055B-6DD7-4284-85A8-D367E696C74A}"/>
              </a:ext>
            </a:extLst>
          </p:cNvPr>
          <p:cNvSpPr>
            <a:spLocks xmlns:a="http://schemas.openxmlformats.org/drawingml/2006/main" noGrp="1"/>
          </p:cNvSpPr>
          <p:nvPr/>
        </p:nvSpPr>
        <p:spPr>
          <a:xfrm xmlns:a="http://schemas.openxmlformats.org/drawingml/2006/main">
            <a:off x="4909494" y="4607719"/>
            <a:ext cx="6739581"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发牌、手牌选择、出牌、不出、提示、倒计时和 AI 思考</a:t>
            </a:r>
          </a:p>
        </p:txBody>
      </p:sp>
      <p:sp>
        <p:nvSpPr>
          <p:cNvPr id="37" name="">
            <a:extLst xmlns:a="http://schemas.openxmlformats.org/drawingml/2006/main">
              <a:ext uri="{FF2B5EF4-FFF2-40B4-BE49-F238E27FC236}">
                <a16:creationId xmlns:a16="http://schemas.microsoft.com/office/drawing/2014/main" id="{17B4AE2A-6E79-43F9-9A93-F7302A616158}"/>
              </a:ext>
            </a:extLst>
          </p:cNvPr>
          <p:cNvSpPr>
            <a:spLocks xmlns:a="http://schemas.openxmlformats.org/drawingml/2006/main" noGrp="1"/>
          </p:cNvSpPr>
          <p:nvPr/>
        </p:nvSpPr>
        <p:spPr>
          <a:xfrm xmlns:a="http://schemas.openxmlformats.org/drawingml/2006/main">
            <a:off x="457200" y="5033963"/>
            <a:ext cx="4404669"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AD9982BB-424F-4D5F-8A78-73C2F257E326}"/>
              </a:ext>
            </a:extLst>
          </p:cNvPr>
          <p:cNvSpPr>
            <a:spLocks xmlns:a="http://schemas.openxmlformats.org/drawingml/2006/main" noGrp="1"/>
          </p:cNvSpPr>
          <p:nvPr/>
        </p:nvSpPr>
        <p:spPr>
          <a:xfrm xmlns:a="http://schemas.openxmlformats.org/drawingml/2006/main">
            <a:off x="504825" y="5062538"/>
            <a:ext cx="4309419"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结算页</a:t>
            </a:r>
          </a:p>
        </p:txBody>
      </p:sp>
      <p:sp>
        <p:nvSpPr>
          <p:cNvPr id="39" name="">
            <a:extLst xmlns:a="http://schemas.openxmlformats.org/drawingml/2006/main">
              <a:ext uri="{FF2B5EF4-FFF2-40B4-BE49-F238E27FC236}">
                <a16:creationId xmlns:a16="http://schemas.microsoft.com/office/drawing/2014/main" id="{0FACDE41-7D05-4838-9A5E-2E019540E645}"/>
              </a:ext>
            </a:extLst>
          </p:cNvPr>
          <p:cNvSpPr>
            <a:spLocks xmlns:a="http://schemas.openxmlformats.org/drawingml/2006/main" noGrp="1"/>
          </p:cNvSpPr>
          <p:nvPr/>
        </p:nvSpPr>
        <p:spPr>
          <a:xfrm xmlns:a="http://schemas.openxmlformats.org/drawingml/2006/main">
            <a:off x="4861869" y="5033963"/>
            <a:ext cx="6834831"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BDB1BA3D-1D8D-49E2-BA70-9E277830FE0F}"/>
              </a:ext>
            </a:extLst>
          </p:cNvPr>
          <p:cNvSpPr>
            <a:spLocks xmlns:a="http://schemas.openxmlformats.org/drawingml/2006/main" noGrp="1"/>
          </p:cNvSpPr>
          <p:nvPr/>
        </p:nvSpPr>
        <p:spPr>
          <a:xfrm xmlns:a="http://schemas.openxmlformats.org/drawingml/2006/main">
            <a:off x="4909494" y="5062538"/>
            <a:ext cx="6739581"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显示胜负、金币经验变化、成就和再来一局</a:t>
            </a:r>
          </a:p>
        </p:txBody>
      </p:sp>
      <p:sp>
        <p:nvSpPr>
          <p:cNvPr id="41" name="">
            <a:extLst xmlns:a="http://schemas.openxmlformats.org/drawingml/2006/main">
              <a:ext uri="{FF2B5EF4-FFF2-40B4-BE49-F238E27FC236}">
                <a16:creationId xmlns:a16="http://schemas.microsoft.com/office/drawing/2014/main" id="{8550ABF9-61EB-4C41-BAD6-708E332BEB87}"/>
              </a:ext>
            </a:extLst>
          </p:cNvPr>
          <p:cNvSpPr>
            <a:spLocks xmlns:a="http://schemas.openxmlformats.org/drawingml/2006/main" noGrp="1"/>
          </p:cNvSpPr>
          <p:nvPr/>
        </p:nvSpPr>
        <p:spPr>
          <a:xfrm xmlns:a="http://schemas.openxmlformats.org/drawingml/2006/main">
            <a:off x="457200" y="5488781"/>
            <a:ext cx="4404669"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1F54D4FF-D8C8-4EB9-95B2-FAB5F77A5F21}"/>
              </a:ext>
            </a:extLst>
          </p:cNvPr>
          <p:cNvSpPr>
            <a:spLocks xmlns:a="http://schemas.openxmlformats.org/drawingml/2006/main" noGrp="1"/>
          </p:cNvSpPr>
          <p:nvPr/>
        </p:nvSpPr>
        <p:spPr>
          <a:xfrm xmlns:a="http://schemas.openxmlformats.org/drawingml/2006/main">
            <a:off x="504825" y="5517356"/>
            <a:ext cx="4309419"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玩家中心</a:t>
            </a:r>
          </a:p>
        </p:txBody>
      </p:sp>
      <p:sp>
        <p:nvSpPr>
          <p:cNvPr id="43" name="">
            <a:extLst xmlns:a="http://schemas.openxmlformats.org/drawingml/2006/main">
              <a:ext uri="{FF2B5EF4-FFF2-40B4-BE49-F238E27FC236}">
                <a16:creationId xmlns:a16="http://schemas.microsoft.com/office/drawing/2014/main" id="{118C3929-49F8-4C6B-BCE7-FA6D9A2B102E}"/>
              </a:ext>
            </a:extLst>
          </p:cNvPr>
          <p:cNvSpPr>
            <a:spLocks xmlns:a="http://schemas.openxmlformats.org/drawingml/2006/main" noGrp="1"/>
          </p:cNvSpPr>
          <p:nvPr/>
        </p:nvSpPr>
        <p:spPr>
          <a:xfrm xmlns:a="http://schemas.openxmlformats.org/drawingml/2006/main">
            <a:off x="4861869" y="5488781"/>
            <a:ext cx="6834831"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FC59C8F2-E662-4672-95FE-870BC1D725C8}"/>
              </a:ext>
            </a:extLst>
          </p:cNvPr>
          <p:cNvSpPr>
            <a:spLocks xmlns:a="http://schemas.openxmlformats.org/drawingml/2006/main" noGrp="1"/>
          </p:cNvSpPr>
          <p:nvPr/>
        </p:nvSpPr>
        <p:spPr>
          <a:xfrm xmlns:a="http://schemas.openxmlformats.org/drawingml/2006/main">
            <a:off x="4909494" y="5517356"/>
            <a:ext cx="6739581"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昵称、头像、金币、等级、战绩、成就、每日奖励和头像商店</a:t>
            </a:r>
          </a:p>
        </p:txBody>
      </p:sp>
    </p:spTree>
    <p:extLst>
      <p:ext uri="{BB962C8B-B14F-4D97-AF65-F5344CB8AC3E}">
        <p14:creationId xmlns:p14="http://schemas.microsoft.com/office/powerpoint/2010/main" val="42234364"/>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C44451-E83A-4C06-A8A8-A8AF9F5E9D0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78BA97-F1E7-4D68-B48B-CA675249C7A1}"/>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077CF6E-11F9-4FB4-8B54-5E732C239356}"/>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E740BA7E-406A-4C20-B9B0-6F69E29F621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976590B7-6581-4229-AD58-AAC4D02D23F7}"/>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75</a:t>
            </a:r>
          </a:p>
        </p:txBody>
      </p:sp>
      <p:sp>
        <p:nvSpPr>
          <p:cNvPr id="6" name="">
            <a:extLst xmlns:a="http://schemas.openxmlformats.org/drawingml/2006/main">
              <a:ext uri="{FF2B5EF4-FFF2-40B4-BE49-F238E27FC236}">
                <a16:creationId xmlns:a16="http://schemas.microsoft.com/office/drawing/2014/main" id="{35E56C20-F2D3-48DC-86C0-0DBF592E09A2}"/>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0D6AD3EB-BE3E-4891-81C1-C31F6015892A}"/>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7.5 UI 与交互完善（3/3）</a:t>
            </a:r>
          </a:p>
        </p:txBody>
      </p:sp>
      <p:sp>
        <p:nvSpPr>
          <p:cNvPr id="8" name="">
            <a:extLst xmlns:a="http://schemas.openxmlformats.org/drawingml/2006/main">
              <a:ext uri="{FF2B5EF4-FFF2-40B4-BE49-F238E27FC236}">
                <a16:creationId xmlns:a16="http://schemas.microsoft.com/office/drawing/2014/main" id="{27A39CB2-7C7D-49C2-846F-6486EEEED91A}"/>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2F1BC7F-03F2-4F6F-8893-776003F28191}"/>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 UI 技术实现细节：</a:t>
            </a:r>
          </a:p>
          <a:p xmlns:a="http://schemas.openxmlformats.org/drawingml/2006/main">
            <a:r>
              <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1. 页面切换由 Screen 状态控制，不引入 Navigation 依赖，降低 Gradle 依赖风险。</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2. AnimatedScreenHost 对页面切换做淡入、滑入和轻微缩放，避免硬切换。</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3. 大厅使用漂浮扑克牌、主视觉光效、面板阴影和金色按钮，表现棋牌大厅氛围。</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4. 人机开局采用“先入桌、再开始”的流程，玩家点击 开始游戏 后才发牌，和正式棋牌游戏流程更接近。</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5. 发牌动画使用单个全局进度驱动中心牌堆向四个座位飞牌，避免 52 张牌各自启动独立动画导致卡顿。</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6. 手牌选中时上浮、加阴影、轻微放大；出牌成功后播放飞向中央牌桌的动画。</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7. 无可压牌时显示“手上没有可以大过人家的牌”，禁用出牌和提示，只保留不出。</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8. 设置菜单打开时暂停倒计时和 AI 行动，菜单项统一为继续游戏、重新开始、返回大厅和退出确认。</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9. 结算页展示金币、经验、升级、成就和再来一局；蓝牙对局再来一局回到原房间，不要求重新加入。</a:t>
            </a:r>
          </a:p>
        </p:txBody>
      </p:sp>
    </p:spTree>
    <p:extLst>
      <p:ext uri="{BB962C8B-B14F-4D97-AF65-F5344CB8AC3E}">
        <p14:creationId xmlns:p14="http://schemas.microsoft.com/office/powerpoint/2010/main" val="504879402"/>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FE0D06-6220-41E1-B9C0-D175C4F5A8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F2F254-8026-4216-BD66-83B9DB816B4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C124CC9-636B-45BB-8A23-DFABF9C6036E}"/>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91FAF354-5046-4B4C-A432-DF910AC0AF59}"/>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78744491-8068-46CE-9B54-1FE75C409ADE}"/>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76</a:t>
            </a:r>
          </a:p>
        </p:txBody>
      </p:sp>
      <p:sp>
        <p:nvSpPr>
          <p:cNvPr id="6" name="">
            <a:extLst xmlns:a="http://schemas.openxmlformats.org/drawingml/2006/main">
              <a:ext uri="{FF2B5EF4-FFF2-40B4-BE49-F238E27FC236}">
                <a16:creationId xmlns:a16="http://schemas.microsoft.com/office/drawing/2014/main" id="{A708ABC6-A2DF-4A30-B879-77B16A8FDB46}"/>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AC6BEEAE-A34F-4B7F-AF8D-C6B93D567DEC}"/>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7.6 实现成果（1/4）</a:t>
            </a:r>
          </a:p>
        </p:txBody>
      </p:sp>
      <p:sp>
        <p:nvSpPr>
          <p:cNvPr id="8" name="">
            <a:extLst xmlns:a="http://schemas.openxmlformats.org/drawingml/2006/main">
              <a:ext uri="{FF2B5EF4-FFF2-40B4-BE49-F238E27FC236}">
                <a16:creationId xmlns:a16="http://schemas.microsoft.com/office/drawing/2014/main" id="{62B58050-709C-4654-9206-8AB86A3E4A4C}"/>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D13B56F-43C0-4A9B-947D-284362DAB03E}"/>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本阶段完成三档 AI 策略、玩家成长系统、状态图细化、牌桌交互和用户体验增强。测试中覆盖 AI 合法动作、随机多局完成、玩家成长和动画 key 稳定性，减少 AI 出非法牌、成长数据丢失或 UI 动画重复播放的风险。</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阶段成果展示：</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AI 策略接口代码片段如下：</a:t>
            </a:r>
          </a:p>
        </p:txBody>
      </p:sp>
      <p:sp>
        <p:nvSpPr>
          <p:cNvPr id="10" name="">
            <a:extLst xmlns:a="http://schemas.openxmlformats.org/drawingml/2006/main">
              <a:ext uri="{FF2B5EF4-FFF2-40B4-BE49-F238E27FC236}">
                <a16:creationId xmlns:a16="http://schemas.microsoft.com/office/drawing/2014/main" id="{BF24450B-DFFE-42E5-ABF9-3D03B5CCB3BD}"/>
              </a:ext>
            </a:extLst>
          </p:cNvPr>
          <p:cNvSpPr>
            <a:spLocks xmlns:a="http://schemas.openxmlformats.org/drawingml/2006/main" noGrp="1"/>
          </p:cNvSpPr>
          <p:nvPr/>
        </p:nvSpPr>
        <p:spPr>
          <a:xfrm xmlns:a="http://schemas.openxmlformats.org/drawingml/2006/main">
            <a:off x="5191125" y="1905000"/>
            <a:ext cx="1555216"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F2F06877-A124-438B-9A58-C9BA4C4F544D}"/>
              </a:ext>
            </a:extLst>
          </p:cNvPr>
          <p:cNvSpPr>
            <a:spLocks xmlns:a="http://schemas.openxmlformats.org/drawingml/2006/main" noGrp="1"/>
          </p:cNvSpPr>
          <p:nvPr/>
        </p:nvSpPr>
        <p:spPr>
          <a:xfrm xmlns:a="http://schemas.openxmlformats.org/drawingml/2006/main">
            <a:off x="5238750" y="1943100"/>
            <a:ext cx="145996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成果类型</a:t>
            </a:r>
          </a:p>
        </p:txBody>
      </p:sp>
      <p:sp>
        <p:nvSpPr>
          <p:cNvPr id="12" name="">
            <a:extLst xmlns:a="http://schemas.openxmlformats.org/drawingml/2006/main">
              <a:ext uri="{FF2B5EF4-FFF2-40B4-BE49-F238E27FC236}">
                <a16:creationId xmlns:a16="http://schemas.microsoft.com/office/drawing/2014/main" id="{76931B39-F8F0-47AA-AE7B-2FF13B060BFD}"/>
              </a:ext>
            </a:extLst>
          </p:cNvPr>
          <p:cNvSpPr>
            <a:spLocks xmlns:a="http://schemas.openxmlformats.org/drawingml/2006/main" noGrp="1"/>
          </p:cNvSpPr>
          <p:nvPr/>
        </p:nvSpPr>
        <p:spPr>
          <a:xfrm xmlns:a="http://schemas.openxmlformats.org/drawingml/2006/main">
            <a:off x="6746341" y="1905000"/>
            <a:ext cx="241326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DE8FACF7-EB31-4F81-95FF-F79666722E1C}"/>
              </a:ext>
            </a:extLst>
          </p:cNvPr>
          <p:cNvSpPr>
            <a:spLocks xmlns:a="http://schemas.openxmlformats.org/drawingml/2006/main" noGrp="1"/>
          </p:cNvSpPr>
          <p:nvPr/>
        </p:nvSpPr>
        <p:spPr>
          <a:xfrm xmlns:a="http://schemas.openxmlformats.org/drawingml/2006/main">
            <a:off x="6793966" y="1943100"/>
            <a:ext cx="231801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展示内容</a:t>
            </a:r>
          </a:p>
        </p:txBody>
      </p:sp>
      <p:sp>
        <p:nvSpPr>
          <p:cNvPr id="14" name="">
            <a:extLst xmlns:a="http://schemas.openxmlformats.org/drawingml/2006/main">
              <a:ext uri="{FF2B5EF4-FFF2-40B4-BE49-F238E27FC236}">
                <a16:creationId xmlns:a16="http://schemas.microsoft.com/office/drawing/2014/main" id="{F1F13CB0-CED1-4DAC-8392-B7402D8B0428}"/>
              </a:ext>
            </a:extLst>
          </p:cNvPr>
          <p:cNvSpPr>
            <a:spLocks xmlns:a="http://schemas.openxmlformats.org/drawingml/2006/main" noGrp="1"/>
          </p:cNvSpPr>
          <p:nvPr/>
        </p:nvSpPr>
        <p:spPr>
          <a:xfrm xmlns:a="http://schemas.openxmlformats.org/drawingml/2006/main">
            <a:off x="9159608" y="1905000"/>
            <a:ext cx="241326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13384D6F-09B7-46F6-B05F-6069D7CF55D8}"/>
              </a:ext>
            </a:extLst>
          </p:cNvPr>
          <p:cNvSpPr>
            <a:spLocks xmlns:a="http://schemas.openxmlformats.org/drawingml/2006/main" noGrp="1"/>
          </p:cNvSpPr>
          <p:nvPr/>
        </p:nvSpPr>
        <p:spPr>
          <a:xfrm xmlns:a="http://schemas.openxmlformats.org/drawingml/2006/main">
            <a:off x="9207233" y="1943100"/>
            <a:ext cx="231801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证据材料</a:t>
            </a:r>
          </a:p>
        </p:txBody>
      </p:sp>
      <p:sp>
        <p:nvSpPr>
          <p:cNvPr id="16" name="">
            <a:extLst xmlns:a="http://schemas.openxmlformats.org/drawingml/2006/main">
              <a:ext uri="{FF2B5EF4-FFF2-40B4-BE49-F238E27FC236}">
                <a16:creationId xmlns:a16="http://schemas.microsoft.com/office/drawing/2014/main" id="{0F78D8BE-CBF8-4972-BD83-9A9460D483FB}"/>
              </a:ext>
            </a:extLst>
          </p:cNvPr>
          <p:cNvSpPr>
            <a:spLocks xmlns:a="http://schemas.openxmlformats.org/drawingml/2006/main" noGrp="1"/>
          </p:cNvSpPr>
          <p:nvPr/>
        </p:nvSpPr>
        <p:spPr>
          <a:xfrm xmlns:a="http://schemas.openxmlformats.org/drawingml/2006/main">
            <a:off x="5191125" y="2305050"/>
            <a:ext cx="1555216"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6285BEF1-64E6-4D2D-AD9D-19A3FB48DADE}"/>
              </a:ext>
            </a:extLst>
          </p:cNvPr>
          <p:cNvSpPr>
            <a:spLocks xmlns:a="http://schemas.openxmlformats.org/drawingml/2006/main" noGrp="1"/>
          </p:cNvSpPr>
          <p:nvPr/>
        </p:nvSpPr>
        <p:spPr>
          <a:xfrm xmlns:a="http://schemas.openxmlformats.org/drawingml/2006/main">
            <a:off x="5238750" y="2333625"/>
            <a:ext cx="1459966"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代码成果</a:t>
            </a:r>
          </a:p>
        </p:txBody>
      </p:sp>
      <p:sp>
        <p:nvSpPr>
          <p:cNvPr id="18" name="">
            <a:extLst xmlns:a="http://schemas.openxmlformats.org/drawingml/2006/main">
              <a:ext uri="{FF2B5EF4-FFF2-40B4-BE49-F238E27FC236}">
                <a16:creationId xmlns:a16="http://schemas.microsoft.com/office/drawing/2014/main" id="{B22374E8-BCE0-44EF-BDCB-1F1EEA78EDE0}"/>
              </a:ext>
            </a:extLst>
          </p:cNvPr>
          <p:cNvSpPr>
            <a:spLocks xmlns:a="http://schemas.openxmlformats.org/drawingml/2006/main" noGrp="1"/>
          </p:cNvSpPr>
          <p:nvPr/>
        </p:nvSpPr>
        <p:spPr>
          <a:xfrm xmlns:a="http://schemas.openxmlformats.org/drawingml/2006/main">
            <a:off x="6746341" y="2305050"/>
            <a:ext cx="241326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E435637F-0C8C-4CF2-BFC0-2E6CA447371B}"/>
              </a:ext>
            </a:extLst>
          </p:cNvPr>
          <p:cNvSpPr>
            <a:spLocks xmlns:a="http://schemas.openxmlformats.org/drawingml/2006/main" noGrp="1"/>
          </p:cNvSpPr>
          <p:nvPr/>
        </p:nvSpPr>
        <p:spPr>
          <a:xfrm xmlns:a="http://schemas.openxmlformats.org/drawingml/2006/main">
            <a:off x="6793966" y="2333625"/>
            <a:ext cx="231801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AiStrategy 统一简单、普通、困难三档 AI 算法接口</a:t>
            </a:r>
          </a:p>
        </p:txBody>
      </p:sp>
      <p:sp>
        <p:nvSpPr>
          <p:cNvPr id="20" name="">
            <a:extLst xmlns:a="http://schemas.openxmlformats.org/drawingml/2006/main">
              <a:ext uri="{FF2B5EF4-FFF2-40B4-BE49-F238E27FC236}">
                <a16:creationId xmlns:a16="http://schemas.microsoft.com/office/drawing/2014/main" id="{FB043332-8505-4EE3-BAC8-C86FBBC79ED5}"/>
              </a:ext>
            </a:extLst>
          </p:cNvPr>
          <p:cNvSpPr>
            <a:spLocks xmlns:a="http://schemas.openxmlformats.org/drawingml/2006/main" noGrp="1"/>
          </p:cNvSpPr>
          <p:nvPr/>
        </p:nvSpPr>
        <p:spPr>
          <a:xfrm xmlns:a="http://schemas.openxmlformats.org/drawingml/2006/main">
            <a:off x="9159608" y="2305050"/>
            <a:ext cx="241326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21CA02A0-C95C-476A-AF28-8B5D03C3798F}"/>
              </a:ext>
            </a:extLst>
          </p:cNvPr>
          <p:cNvSpPr>
            <a:spLocks xmlns:a="http://schemas.openxmlformats.org/drawingml/2006/main" noGrp="1"/>
          </p:cNvSpPr>
          <p:nvPr/>
        </p:nvSpPr>
        <p:spPr>
          <a:xfrm xmlns:a="http://schemas.openxmlformats.org/drawingml/2006/main">
            <a:off x="9207233" y="2333625"/>
            <a:ext cx="231801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app/src/main/java/com/example/uml_chudadi/controller/AiStrategy.kt</a:t>
            </a:r>
          </a:p>
        </p:txBody>
      </p:sp>
      <p:sp>
        <p:nvSpPr>
          <p:cNvPr id="22" name="">
            <a:extLst xmlns:a="http://schemas.openxmlformats.org/drawingml/2006/main">
              <a:ext uri="{FF2B5EF4-FFF2-40B4-BE49-F238E27FC236}">
                <a16:creationId xmlns:a16="http://schemas.microsoft.com/office/drawing/2014/main" id="{8505782B-914F-4397-85DB-DE697577F919}"/>
              </a:ext>
            </a:extLst>
          </p:cNvPr>
          <p:cNvSpPr>
            <a:spLocks xmlns:a="http://schemas.openxmlformats.org/drawingml/2006/main" noGrp="1"/>
          </p:cNvSpPr>
          <p:nvPr/>
        </p:nvSpPr>
        <p:spPr>
          <a:xfrm xmlns:a="http://schemas.openxmlformats.org/drawingml/2006/main">
            <a:off x="5191125" y="2911475"/>
            <a:ext cx="1555216"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06097971-510C-466D-8595-4799905AE2F1}"/>
              </a:ext>
            </a:extLst>
          </p:cNvPr>
          <p:cNvSpPr>
            <a:spLocks xmlns:a="http://schemas.openxmlformats.org/drawingml/2006/main" noGrp="1"/>
          </p:cNvSpPr>
          <p:nvPr/>
        </p:nvSpPr>
        <p:spPr>
          <a:xfrm xmlns:a="http://schemas.openxmlformats.org/drawingml/2006/main">
            <a:off x="5238750" y="2940050"/>
            <a:ext cx="1459966"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代码成果</a:t>
            </a:r>
          </a:p>
        </p:txBody>
      </p:sp>
      <p:sp>
        <p:nvSpPr>
          <p:cNvPr id="24" name="">
            <a:extLst xmlns:a="http://schemas.openxmlformats.org/drawingml/2006/main">
              <a:ext uri="{FF2B5EF4-FFF2-40B4-BE49-F238E27FC236}">
                <a16:creationId xmlns:a16="http://schemas.microsoft.com/office/drawing/2014/main" id="{B91C7AEE-632D-46B3-9A01-56A06B5BF884}"/>
              </a:ext>
            </a:extLst>
          </p:cNvPr>
          <p:cNvSpPr>
            <a:spLocks xmlns:a="http://schemas.openxmlformats.org/drawingml/2006/main" noGrp="1"/>
          </p:cNvSpPr>
          <p:nvPr/>
        </p:nvSpPr>
        <p:spPr>
          <a:xfrm xmlns:a="http://schemas.openxmlformats.org/drawingml/2006/main">
            <a:off x="6746341" y="2911475"/>
            <a:ext cx="241326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3BAC25AA-3B9A-4028-8BCF-4A2C22D11B2D}"/>
              </a:ext>
            </a:extLst>
          </p:cNvPr>
          <p:cNvSpPr>
            <a:spLocks xmlns:a="http://schemas.openxmlformats.org/drawingml/2006/main" noGrp="1"/>
          </p:cNvSpPr>
          <p:nvPr/>
        </p:nvSpPr>
        <p:spPr>
          <a:xfrm xmlns:a="http://schemas.openxmlformats.org/drawingml/2006/main">
            <a:off x="6793966" y="2940050"/>
            <a:ext cx="231801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ProfileController 和 ProfileStore 管理金币、经验、头像、战绩和成就</a:t>
            </a:r>
          </a:p>
        </p:txBody>
      </p:sp>
      <p:sp>
        <p:nvSpPr>
          <p:cNvPr id="26" name="">
            <a:extLst xmlns:a="http://schemas.openxmlformats.org/drawingml/2006/main">
              <a:ext uri="{FF2B5EF4-FFF2-40B4-BE49-F238E27FC236}">
                <a16:creationId xmlns:a16="http://schemas.microsoft.com/office/drawing/2014/main" id="{5F09A9FA-4D96-4DD1-9DB5-C61C520212F4}"/>
              </a:ext>
            </a:extLst>
          </p:cNvPr>
          <p:cNvSpPr>
            <a:spLocks xmlns:a="http://schemas.openxmlformats.org/drawingml/2006/main" noGrp="1"/>
          </p:cNvSpPr>
          <p:nvPr/>
        </p:nvSpPr>
        <p:spPr>
          <a:xfrm xmlns:a="http://schemas.openxmlformats.org/drawingml/2006/main">
            <a:off x="9159608" y="2911475"/>
            <a:ext cx="241326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785A21B3-8432-41CC-AD30-9E7395D601A1}"/>
              </a:ext>
            </a:extLst>
          </p:cNvPr>
          <p:cNvSpPr>
            <a:spLocks xmlns:a="http://schemas.openxmlformats.org/drawingml/2006/main" noGrp="1"/>
          </p:cNvSpPr>
          <p:nvPr/>
        </p:nvSpPr>
        <p:spPr>
          <a:xfrm xmlns:a="http://schemas.openxmlformats.org/drawingml/2006/main">
            <a:off x="9207233" y="2940050"/>
            <a:ext cx="231801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app/src/main/java/com/example/uml_chudadi/profile/</a:t>
            </a:r>
          </a:p>
        </p:txBody>
      </p:sp>
      <p:sp>
        <p:nvSpPr>
          <p:cNvPr id="28" name="">
            <a:extLst xmlns:a="http://schemas.openxmlformats.org/drawingml/2006/main">
              <a:ext uri="{FF2B5EF4-FFF2-40B4-BE49-F238E27FC236}">
                <a16:creationId xmlns:a16="http://schemas.microsoft.com/office/drawing/2014/main" id="{99D05F9E-1A81-4790-BDC6-AA665DD0F322}"/>
              </a:ext>
            </a:extLst>
          </p:cNvPr>
          <p:cNvSpPr>
            <a:spLocks xmlns:a="http://schemas.openxmlformats.org/drawingml/2006/main" noGrp="1"/>
          </p:cNvSpPr>
          <p:nvPr/>
        </p:nvSpPr>
        <p:spPr>
          <a:xfrm xmlns:a="http://schemas.openxmlformats.org/drawingml/2006/main">
            <a:off x="5191125" y="3517900"/>
            <a:ext cx="1555216"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A84303DC-B570-4CAC-9DF5-75143FAE113B}"/>
              </a:ext>
            </a:extLst>
          </p:cNvPr>
          <p:cNvSpPr>
            <a:spLocks xmlns:a="http://schemas.openxmlformats.org/drawingml/2006/main" noGrp="1"/>
          </p:cNvSpPr>
          <p:nvPr/>
        </p:nvSpPr>
        <p:spPr>
          <a:xfrm xmlns:a="http://schemas.openxmlformats.org/drawingml/2006/main">
            <a:off x="5238750" y="3546475"/>
            <a:ext cx="1459966"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代码成果</a:t>
            </a:r>
          </a:p>
        </p:txBody>
      </p:sp>
      <p:sp>
        <p:nvSpPr>
          <p:cNvPr id="30" name="">
            <a:extLst xmlns:a="http://schemas.openxmlformats.org/drawingml/2006/main">
              <a:ext uri="{FF2B5EF4-FFF2-40B4-BE49-F238E27FC236}">
                <a16:creationId xmlns:a16="http://schemas.microsoft.com/office/drawing/2014/main" id="{52402E80-2828-4F45-94D6-EF8BB53B7546}"/>
              </a:ext>
            </a:extLst>
          </p:cNvPr>
          <p:cNvSpPr>
            <a:spLocks xmlns:a="http://schemas.openxmlformats.org/drawingml/2006/main" noGrp="1"/>
          </p:cNvSpPr>
          <p:nvPr/>
        </p:nvSpPr>
        <p:spPr>
          <a:xfrm xmlns:a="http://schemas.openxmlformats.org/drawingml/2006/main">
            <a:off x="6746341" y="3517900"/>
            <a:ext cx="241326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E95BD3F7-062A-45D2-A8FE-52FB067AA896}"/>
              </a:ext>
            </a:extLst>
          </p:cNvPr>
          <p:cNvSpPr>
            <a:spLocks xmlns:a="http://schemas.openxmlformats.org/drawingml/2006/main" noGrp="1"/>
          </p:cNvSpPr>
          <p:nvPr/>
        </p:nvSpPr>
        <p:spPr>
          <a:xfrm xmlns:a="http://schemas.openxmlformats.org/drawingml/2006/main">
            <a:off x="6793966" y="3546475"/>
            <a:ext cx="231801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Screen 和 GameStartPhase 管理页面切换、人机预备、发牌、游戏中、结算等状态</a:t>
            </a:r>
          </a:p>
        </p:txBody>
      </p:sp>
      <p:sp>
        <p:nvSpPr>
          <p:cNvPr id="32" name="">
            <a:extLst xmlns:a="http://schemas.openxmlformats.org/drawingml/2006/main">
              <a:ext uri="{FF2B5EF4-FFF2-40B4-BE49-F238E27FC236}">
                <a16:creationId xmlns:a16="http://schemas.microsoft.com/office/drawing/2014/main" id="{77B182FB-E128-45E9-A3A4-A9F7E53021B9}"/>
              </a:ext>
            </a:extLst>
          </p:cNvPr>
          <p:cNvSpPr>
            <a:spLocks xmlns:a="http://schemas.openxmlformats.org/drawingml/2006/main" noGrp="1"/>
          </p:cNvSpPr>
          <p:nvPr/>
        </p:nvSpPr>
        <p:spPr>
          <a:xfrm xmlns:a="http://schemas.openxmlformats.org/drawingml/2006/main">
            <a:off x="9159608" y="3517900"/>
            <a:ext cx="241326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AB2F3F6E-B01E-4F21-8BA7-235E7D4916AB}"/>
              </a:ext>
            </a:extLst>
          </p:cNvPr>
          <p:cNvSpPr>
            <a:spLocks xmlns:a="http://schemas.openxmlformats.org/drawingml/2006/main" noGrp="1"/>
          </p:cNvSpPr>
          <p:nvPr/>
        </p:nvSpPr>
        <p:spPr>
          <a:xfrm xmlns:a="http://schemas.openxmlformats.org/drawingml/2006/main">
            <a:off x="9207233" y="3546475"/>
            <a:ext cx="231801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app/src/main/java/com/example/uml_chudadi/view/ChudadiApp.kt</a:t>
            </a:r>
          </a:p>
        </p:txBody>
      </p:sp>
      <p:sp>
        <p:nvSpPr>
          <p:cNvPr id="34" name="">
            <a:extLst xmlns:a="http://schemas.openxmlformats.org/drawingml/2006/main">
              <a:ext uri="{FF2B5EF4-FFF2-40B4-BE49-F238E27FC236}">
                <a16:creationId xmlns:a16="http://schemas.microsoft.com/office/drawing/2014/main" id="{CFC2C09A-33EE-490F-B211-40F0DC2BFA75}"/>
              </a:ext>
            </a:extLst>
          </p:cNvPr>
          <p:cNvSpPr>
            <a:spLocks xmlns:a="http://schemas.openxmlformats.org/drawingml/2006/main" noGrp="1"/>
          </p:cNvSpPr>
          <p:nvPr/>
        </p:nvSpPr>
        <p:spPr>
          <a:xfrm xmlns:a="http://schemas.openxmlformats.org/drawingml/2006/main">
            <a:off x="5191125" y="4124325"/>
            <a:ext cx="1555216"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5" name="">
            <a:extLst xmlns:a="http://schemas.openxmlformats.org/drawingml/2006/main">
              <a:ext uri="{FF2B5EF4-FFF2-40B4-BE49-F238E27FC236}">
                <a16:creationId xmlns:a16="http://schemas.microsoft.com/office/drawing/2014/main" id="{9A37967D-69F0-434E-991F-BECBB569E70D}"/>
              </a:ext>
            </a:extLst>
          </p:cNvPr>
          <p:cNvSpPr>
            <a:spLocks xmlns:a="http://schemas.openxmlformats.org/drawingml/2006/main" noGrp="1"/>
          </p:cNvSpPr>
          <p:nvPr/>
        </p:nvSpPr>
        <p:spPr>
          <a:xfrm xmlns:a="http://schemas.openxmlformats.org/drawingml/2006/main">
            <a:off x="5238750" y="4152900"/>
            <a:ext cx="1459966"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图片成果</a:t>
            </a:r>
          </a:p>
        </p:txBody>
      </p:sp>
      <p:sp>
        <p:nvSpPr>
          <p:cNvPr id="36" name="">
            <a:extLst xmlns:a="http://schemas.openxmlformats.org/drawingml/2006/main">
              <a:ext uri="{FF2B5EF4-FFF2-40B4-BE49-F238E27FC236}">
                <a16:creationId xmlns:a16="http://schemas.microsoft.com/office/drawing/2014/main" id="{4DB16C83-F1A9-4ECD-AC49-D2BCCA089932}"/>
              </a:ext>
            </a:extLst>
          </p:cNvPr>
          <p:cNvSpPr>
            <a:spLocks xmlns:a="http://schemas.openxmlformats.org/drawingml/2006/main" noGrp="1"/>
          </p:cNvSpPr>
          <p:nvPr/>
        </p:nvSpPr>
        <p:spPr>
          <a:xfrm xmlns:a="http://schemas.openxmlformats.org/drawingml/2006/main">
            <a:off x="6746341" y="4124325"/>
            <a:ext cx="241326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7" name="">
            <a:extLst xmlns:a="http://schemas.openxmlformats.org/drawingml/2006/main">
              <a:ext uri="{FF2B5EF4-FFF2-40B4-BE49-F238E27FC236}">
                <a16:creationId xmlns:a16="http://schemas.microsoft.com/office/drawing/2014/main" id="{554E0AAD-58FD-44B4-B786-C1BDA990FD79}"/>
              </a:ext>
            </a:extLst>
          </p:cNvPr>
          <p:cNvSpPr>
            <a:spLocks xmlns:a="http://schemas.openxmlformats.org/drawingml/2006/main" noGrp="1"/>
          </p:cNvSpPr>
          <p:nvPr/>
        </p:nvSpPr>
        <p:spPr>
          <a:xfrm xmlns:a="http://schemas.openxmlformats.org/drawingml/2006/main">
            <a:off x="6793966" y="4152900"/>
            <a:ext cx="231801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状态图展示开屏、大厅、房间、发牌、游戏中、暂停、断线提示和结算状态</a:t>
            </a:r>
          </a:p>
        </p:txBody>
      </p:sp>
      <p:sp>
        <p:nvSpPr>
          <p:cNvPr id="38" name="">
            <a:extLst xmlns:a="http://schemas.openxmlformats.org/drawingml/2006/main">
              <a:ext uri="{FF2B5EF4-FFF2-40B4-BE49-F238E27FC236}">
                <a16:creationId xmlns:a16="http://schemas.microsoft.com/office/drawing/2014/main" id="{A5501FF5-A0C2-45AC-9ABA-C79E00844EF1}"/>
              </a:ext>
            </a:extLst>
          </p:cNvPr>
          <p:cNvSpPr>
            <a:spLocks xmlns:a="http://schemas.openxmlformats.org/drawingml/2006/main" noGrp="1"/>
          </p:cNvSpPr>
          <p:nvPr/>
        </p:nvSpPr>
        <p:spPr>
          <a:xfrm xmlns:a="http://schemas.openxmlformats.org/drawingml/2006/main">
            <a:off x="9159608" y="4124325"/>
            <a:ext cx="241326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9" name="">
            <a:extLst xmlns:a="http://schemas.openxmlformats.org/drawingml/2006/main">
              <a:ext uri="{FF2B5EF4-FFF2-40B4-BE49-F238E27FC236}">
                <a16:creationId xmlns:a16="http://schemas.microsoft.com/office/drawing/2014/main" id="{BECD7AC9-3285-48F4-A16C-EBAEE7ADF4B3}"/>
              </a:ext>
            </a:extLst>
          </p:cNvPr>
          <p:cNvSpPr>
            <a:spLocks xmlns:a="http://schemas.openxmlformats.org/drawingml/2006/main" noGrp="1"/>
          </p:cNvSpPr>
          <p:nvPr/>
        </p:nvSpPr>
        <p:spPr>
          <a:xfrm xmlns:a="http://schemas.openxmlformats.org/drawingml/2006/main">
            <a:off x="9207233" y="4152900"/>
            <a:ext cx="231801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docs/uml/state_game.png</a:t>
            </a:r>
          </a:p>
        </p:txBody>
      </p:sp>
      <p:sp>
        <p:nvSpPr>
          <p:cNvPr id="40" name="">
            <a:extLst xmlns:a="http://schemas.openxmlformats.org/drawingml/2006/main">
              <a:ext uri="{FF2B5EF4-FFF2-40B4-BE49-F238E27FC236}">
                <a16:creationId xmlns:a16="http://schemas.microsoft.com/office/drawing/2014/main" id="{0B186F4D-F106-48AE-8A20-E14DD1F94C27}"/>
              </a:ext>
            </a:extLst>
          </p:cNvPr>
          <p:cNvSpPr>
            <a:spLocks xmlns:a="http://schemas.openxmlformats.org/drawingml/2006/main" noGrp="1"/>
          </p:cNvSpPr>
          <p:nvPr/>
        </p:nvSpPr>
        <p:spPr>
          <a:xfrm xmlns:a="http://schemas.openxmlformats.org/drawingml/2006/main">
            <a:off x="5191125" y="4730750"/>
            <a:ext cx="1555216"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1" name="">
            <a:extLst xmlns:a="http://schemas.openxmlformats.org/drawingml/2006/main">
              <a:ext uri="{FF2B5EF4-FFF2-40B4-BE49-F238E27FC236}">
                <a16:creationId xmlns:a16="http://schemas.microsoft.com/office/drawing/2014/main" id="{B0165DB2-15B7-4034-A22A-C32D63149F31}"/>
              </a:ext>
            </a:extLst>
          </p:cNvPr>
          <p:cNvSpPr>
            <a:spLocks xmlns:a="http://schemas.openxmlformats.org/drawingml/2006/main" noGrp="1"/>
          </p:cNvSpPr>
          <p:nvPr/>
        </p:nvSpPr>
        <p:spPr>
          <a:xfrm xmlns:a="http://schemas.openxmlformats.org/drawingml/2006/main">
            <a:off x="5238750" y="4759325"/>
            <a:ext cx="1459966"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测试成果</a:t>
            </a:r>
          </a:p>
        </p:txBody>
      </p:sp>
      <p:sp>
        <p:nvSpPr>
          <p:cNvPr id="42" name="">
            <a:extLst xmlns:a="http://schemas.openxmlformats.org/drawingml/2006/main">
              <a:ext uri="{FF2B5EF4-FFF2-40B4-BE49-F238E27FC236}">
                <a16:creationId xmlns:a16="http://schemas.microsoft.com/office/drawing/2014/main" id="{E8991B58-6928-43BE-84EC-26BA4C973138}"/>
              </a:ext>
            </a:extLst>
          </p:cNvPr>
          <p:cNvSpPr>
            <a:spLocks xmlns:a="http://schemas.openxmlformats.org/drawingml/2006/main" noGrp="1"/>
          </p:cNvSpPr>
          <p:nvPr/>
        </p:nvSpPr>
        <p:spPr>
          <a:xfrm xmlns:a="http://schemas.openxmlformats.org/drawingml/2006/main">
            <a:off x="6746341" y="4730750"/>
            <a:ext cx="241326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3" name="">
            <a:extLst xmlns:a="http://schemas.openxmlformats.org/drawingml/2006/main">
              <a:ext uri="{FF2B5EF4-FFF2-40B4-BE49-F238E27FC236}">
                <a16:creationId xmlns:a16="http://schemas.microsoft.com/office/drawing/2014/main" id="{5EFE6ED0-A127-472F-95BF-8DE1C0E7168C}"/>
              </a:ext>
            </a:extLst>
          </p:cNvPr>
          <p:cNvSpPr>
            <a:spLocks xmlns:a="http://schemas.openxmlformats.org/drawingml/2006/main" noGrp="1"/>
          </p:cNvSpPr>
          <p:nvPr/>
        </p:nvSpPr>
        <p:spPr>
          <a:xfrm xmlns:a="http://schemas.openxmlformats.org/drawingml/2006/main">
            <a:off x="6793966" y="4759325"/>
            <a:ext cx="231801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AI 合法动作、随机多局完成、玩家成长、动画 key 稳定性测试</a:t>
            </a:r>
          </a:p>
        </p:txBody>
      </p:sp>
      <p:sp>
        <p:nvSpPr>
          <p:cNvPr id="44" name="">
            <a:extLst xmlns:a="http://schemas.openxmlformats.org/drawingml/2006/main">
              <a:ext uri="{FF2B5EF4-FFF2-40B4-BE49-F238E27FC236}">
                <a16:creationId xmlns:a16="http://schemas.microsoft.com/office/drawing/2014/main" id="{D4347919-3675-49F6-A819-3573529A9B3C}"/>
              </a:ext>
            </a:extLst>
          </p:cNvPr>
          <p:cNvSpPr>
            <a:spLocks xmlns:a="http://schemas.openxmlformats.org/drawingml/2006/main" noGrp="1"/>
          </p:cNvSpPr>
          <p:nvPr/>
        </p:nvSpPr>
        <p:spPr>
          <a:xfrm xmlns:a="http://schemas.openxmlformats.org/drawingml/2006/main">
            <a:off x="9159608" y="4730750"/>
            <a:ext cx="241326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5" name="">
            <a:extLst xmlns:a="http://schemas.openxmlformats.org/drawingml/2006/main">
              <a:ext uri="{FF2B5EF4-FFF2-40B4-BE49-F238E27FC236}">
                <a16:creationId xmlns:a16="http://schemas.microsoft.com/office/drawing/2014/main" id="{835180FC-D358-4866-A890-15AA5436B861}"/>
              </a:ext>
            </a:extLst>
          </p:cNvPr>
          <p:cNvSpPr>
            <a:spLocks xmlns:a="http://schemas.openxmlformats.org/drawingml/2006/main" noGrp="1"/>
          </p:cNvSpPr>
          <p:nvPr/>
        </p:nvSpPr>
        <p:spPr>
          <a:xfrm xmlns:a="http://schemas.openxmlformats.org/drawingml/2006/main">
            <a:off x="9207233" y="4759325"/>
            <a:ext cx="231801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GameControllerTest、ProfileControllerTest、TableAnimationKeysTest</a:t>
            </a:r>
          </a:p>
        </p:txBody>
      </p:sp>
      <p:sp>
        <p:nvSpPr>
          <p:cNvPr id="46" name="">
            <a:extLst xmlns:a="http://schemas.openxmlformats.org/drawingml/2006/main">
              <a:ext uri="{FF2B5EF4-FFF2-40B4-BE49-F238E27FC236}">
                <a16:creationId xmlns:a16="http://schemas.microsoft.com/office/drawing/2014/main" id="{57A10219-F316-4EDB-9984-CBD73E4F3B12}"/>
              </a:ext>
            </a:extLst>
          </p:cNvPr>
          <p:cNvSpPr>
            <a:spLocks xmlns:a="http://schemas.openxmlformats.org/drawingml/2006/main" noGrp="1"/>
          </p:cNvSpPr>
          <p:nvPr/>
        </p:nvSpPr>
        <p:spPr>
          <a:xfrm xmlns:a="http://schemas.openxmlformats.org/drawingml/2006/main">
            <a:off x="5191125" y="5337175"/>
            <a:ext cx="1555216"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7" name="">
            <a:extLst xmlns:a="http://schemas.openxmlformats.org/drawingml/2006/main">
              <a:ext uri="{FF2B5EF4-FFF2-40B4-BE49-F238E27FC236}">
                <a16:creationId xmlns:a16="http://schemas.microsoft.com/office/drawing/2014/main" id="{63C2D4BB-5D2C-409E-850F-6774476BDFE8}"/>
              </a:ext>
            </a:extLst>
          </p:cNvPr>
          <p:cNvSpPr>
            <a:spLocks xmlns:a="http://schemas.openxmlformats.org/drawingml/2006/main" noGrp="1"/>
          </p:cNvSpPr>
          <p:nvPr/>
        </p:nvSpPr>
        <p:spPr>
          <a:xfrm xmlns:a="http://schemas.openxmlformats.org/drawingml/2006/main">
            <a:off x="5238750" y="5365750"/>
            <a:ext cx="1459966"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UI 成果</a:t>
            </a:r>
          </a:p>
        </p:txBody>
      </p:sp>
      <p:sp>
        <p:nvSpPr>
          <p:cNvPr id="48" name="">
            <a:extLst xmlns:a="http://schemas.openxmlformats.org/drawingml/2006/main">
              <a:ext uri="{FF2B5EF4-FFF2-40B4-BE49-F238E27FC236}">
                <a16:creationId xmlns:a16="http://schemas.microsoft.com/office/drawing/2014/main" id="{864CF119-4388-42CC-B0F7-77349A7B5250}"/>
              </a:ext>
            </a:extLst>
          </p:cNvPr>
          <p:cNvSpPr>
            <a:spLocks xmlns:a="http://schemas.openxmlformats.org/drawingml/2006/main" noGrp="1"/>
          </p:cNvSpPr>
          <p:nvPr/>
        </p:nvSpPr>
        <p:spPr>
          <a:xfrm xmlns:a="http://schemas.openxmlformats.org/drawingml/2006/main">
            <a:off x="6746341" y="5337175"/>
            <a:ext cx="241326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9" name="">
            <a:extLst xmlns:a="http://schemas.openxmlformats.org/drawingml/2006/main">
              <a:ext uri="{FF2B5EF4-FFF2-40B4-BE49-F238E27FC236}">
                <a16:creationId xmlns:a16="http://schemas.microsoft.com/office/drawing/2014/main" id="{C18F312A-D7AD-44E5-B0DF-83A55773BBB7}"/>
              </a:ext>
            </a:extLst>
          </p:cNvPr>
          <p:cNvSpPr>
            <a:spLocks xmlns:a="http://schemas.openxmlformats.org/drawingml/2006/main" noGrp="1"/>
          </p:cNvSpPr>
          <p:nvPr/>
        </p:nvSpPr>
        <p:spPr>
          <a:xfrm xmlns:a="http://schemas.openxmlformats.org/drawingml/2006/main">
            <a:off x="6793966" y="5365750"/>
            <a:ext cx="231801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大厅、人机难度、规则、蓝牙房间、牌桌、结算、玩家中心等页面可切换</a:t>
            </a:r>
          </a:p>
        </p:txBody>
      </p:sp>
      <p:sp>
        <p:nvSpPr>
          <p:cNvPr id="50" name="">
            <a:extLst xmlns:a="http://schemas.openxmlformats.org/drawingml/2006/main">
              <a:ext uri="{FF2B5EF4-FFF2-40B4-BE49-F238E27FC236}">
                <a16:creationId xmlns:a16="http://schemas.microsoft.com/office/drawing/2014/main" id="{F5F1E32B-75E3-4EEA-B8E7-C0E5C6F6C156}"/>
              </a:ext>
            </a:extLst>
          </p:cNvPr>
          <p:cNvSpPr>
            <a:spLocks xmlns:a="http://schemas.openxmlformats.org/drawingml/2006/main" noGrp="1"/>
          </p:cNvSpPr>
          <p:nvPr/>
        </p:nvSpPr>
        <p:spPr>
          <a:xfrm xmlns:a="http://schemas.openxmlformats.org/drawingml/2006/main">
            <a:off x="9159608" y="5337175"/>
            <a:ext cx="241326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1" name="">
            <a:extLst xmlns:a="http://schemas.openxmlformats.org/drawingml/2006/main">
              <a:ext uri="{FF2B5EF4-FFF2-40B4-BE49-F238E27FC236}">
                <a16:creationId xmlns:a16="http://schemas.microsoft.com/office/drawing/2014/main" id="{4DFF5ECA-19C7-44E8-973F-BBE49AF36B88}"/>
              </a:ext>
            </a:extLst>
          </p:cNvPr>
          <p:cNvSpPr>
            <a:spLocks xmlns:a="http://schemas.openxmlformats.org/drawingml/2006/main" noGrp="1"/>
          </p:cNvSpPr>
          <p:nvPr/>
        </p:nvSpPr>
        <p:spPr>
          <a:xfrm xmlns:a="http://schemas.openxmlformats.org/drawingml/2006/main">
            <a:off x="9207233" y="5365750"/>
            <a:ext cx="231801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ChudadiApp.kt</a:t>
            </a:r>
          </a:p>
        </p:txBody>
      </p:sp>
    </p:spTree>
    <p:extLst>
      <p:ext uri="{BB962C8B-B14F-4D97-AF65-F5344CB8AC3E}">
        <p14:creationId xmlns:p14="http://schemas.microsoft.com/office/powerpoint/2010/main" val="31299130"/>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13F95E3-D3F0-4639-B103-60839448BE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2F5040-1C09-4F4D-871E-B760C1566143}"/>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DB42CDF-7100-4A02-80FD-90E157BE10CB}"/>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86D98599-6CEA-4700-9B43-F3740B44247D}"/>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D6A86E8D-5C83-40D4-BFB5-2C2FEEFABA64}"/>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77</a:t>
            </a:r>
          </a:p>
        </p:txBody>
      </p:sp>
      <p:sp>
        <p:nvSpPr>
          <p:cNvPr id="6" name="">
            <a:extLst xmlns:a="http://schemas.openxmlformats.org/drawingml/2006/main">
              <a:ext uri="{FF2B5EF4-FFF2-40B4-BE49-F238E27FC236}">
                <a16:creationId xmlns:a16="http://schemas.microsoft.com/office/drawing/2014/main" id="{0587B64D-4364-435C-B203-5DC38B134183}"/>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FFCBFC16-A3C2-457D-B93B-7731C33B6C11}"/>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7.6 实现成果（2/4）</a:t>
            </a:r>
          </a:p>
        </p:txBody>
      </p:sp>
      <p:sp>
        <p:nvSpPr>
          <p:cNvPr id="8" name="">
            <a:extLst xmlns:a="http://schemas.openxmlformats.org/drawingml/2006/main">
              <a:ext uri="{FF2B5EF4-FFF2-40B4-BE49-F238E27FC236}">
                <a16:creationId xmlns:a16="http://schemas.microsoft.com/office/drawing/2014/main" id="{F3FB8EB3-EBB1-4548-B802-B01A921EE2E0}"/>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26304B7-FF61-4224-BA85-D457EEC83EFC}"/>
              </a:ext>
            </a:extLst>
          </p:cNvPr>
          <p:cNvSpPr>
            <a:spLocks xmlns:a="http://schemas.openxmlformats.org/drawingml/2006/main" noGrp="1"/>
          </p:cNvSpPr>
          <p:nvPr/>
        </p:nvSpPr>
        <p:spPr>
          <a:xfrm xmlns:a="http://schemas.openxmlformats.org/drawingml/2006/main">
            <a:off x="685800" y="1905000"/>
            <a:ext cx="10839450" cy="4038600"/>
          </a:xfrm>
          <a:prstGeom xmlns:a="http://schemas.openxmlformats.org/drawingml/2006/main" prst="roundRect">
            <a:avLst>
              <a:gd name="adj" fmla="val 1415"/>
            </a:avLst>
          </a:prstGeom>
          <a:solidFill xmlns:a="http://schemas.openxmlformats.org/drawingml/2006/main">
            <a:srgbClr val="102820"/>
          </a:solidFill>
          <a:ln xmlns:a="http://schemas.openxmlformats.org/drawingml/2006/main" w="9525">
            <a:solidFill>
              <a:srgbClr val="294C3E"/>
            </a:solidFill>
          </a:ln>
        </p:spPr>
      </p:sp>
      <p:sp>
        <p:nvSpPr>
          <p:cNvPr id="10" name="">
            <a:extLst xmlns:a="http://schemas.openxmlformats.org/drawingml/2006/main">
              <a:ext uri="{FF2B5EF4-FFF2-40B4-BE49-F238E27FC236}">
                <a16:creationId xmlns:a16="http://schemas.microsoft.com/office/drawing/2014/main" id="{5F5A8AC1-AEA5-4D27-B73B-86463C7EEF54}"/>
              </a:ext>
            </a:extLst>
          </p:cNvPr>
          <p:cNvSpPr>
            <a:spLocks xmlns:a="http://schemas.openxmlformats.org/drawingml/2006/main" noGrp="1"/>
          </p:cNvSpPr>
          <p:nvPr/>
        </p:nvSpPr>
        <p:spPr>
          <a:xfrm xmlns:a="http://schemas.openxmlformats.org/drawingml/2006/main">
            <a:off x="838200" y="2038350"/>
            <a:ext cx="1053465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interface AiStrategy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val name: String</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fun chooseMove(state: GameState, playerId: Int): Move</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a:t>
            </a:r>
          </a:p>
          <a:p xmlns:a="http://schemas.openxmlformats.org/drawingml/2006/main">
            <a:r>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class AiController(</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private val gameController: GameController,</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private val strategy: AiStrategy</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fun playTurnIfNeeded(state: GameState): Move?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val player = state.currentPlayer</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if (player.kind.name != "LocalAi" || state.isFinished) return null</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return strategy.chooseMove(state, player.id)</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    }</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a:t>
            </a:r>
          </a:p>
        </p:txBody>
      </p:sp>
    </p:spTree>
    <p:extLst>
      <p:ext uri="{BB962C8B-B14F-4D97-AF65-F5344CB8AC3E}">
        <p14:creationId xmlns:p14="http://schemas.microsoft.com/office/powerpoint/2010/main" val="1849682659"/>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81B923A-74BF-4746-A444-C77AE2627A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8C356A-7492-41E5-8ABA-F7361EF516B2}"/>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9CC42DC-CF3C-4DC5-BF4A-D9A23720E3AA}"/>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2EE0A9E6-3C6C-449F-B7B9-AFD0FEAE3D83}"/>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E570FBE3-D724-4AFA-B83B-3D7616DAA5AD}"/>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78</a:t>
            </a:r>
          </a:p>
        </p:txBody>
      </p:sp>
      <p:sp>
        <p:nvSpPr>
          <p:cNvPr id="6" name="">
            <a:extLst xmlns:a="http://schemas.openxmlformats.org/drawingml/2006/main">
              <a:ext uri="{FF2B5EF4-FFF2-40B4-BE49-F238E27FC236}">
                <a16:creationId xmlns:a16="http://schemas.microsoft.com/office/drawing/2014/main" id="{CD0EBE68-46A2-4E1D-B3CB-E8A3A0A27DB5}"/>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3D21A63E-FC69-4A54-AC93-FD1B7A7D6E1D}"/>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7.6 实现成果（3/4）</a:t>
            </a:r>
          </a:p>
        </p:txBody>
      </p:sp>
      <p:sp>
        <p:nvSpPr>
          <p:cNvPr id="8" name="">
            <a:extLst xmlns:a="http://schemas.openxmlformats.org/drawingml/2006/main">
              <a:ext uri="{FF2B5EF4-FFF2-40B4-BE49-F238E27FC236}">
                <a16:creationId xmlns:a16="http://schemas.microsoft.com/office/drawing/2014/main" id="{DA8D1783-7529-4517-9084-0343300D8FFB}"/>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8E99206-01AB-4F8B-A34B-0DF429D0E1F6}"/>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阶段图片成果如下：</a:t>
            </a:r>
          </a:p>
        </p:txBody>
      </p:sp>
    </p:spTree>
    <p:extLst>
      <p:ext uri="{BB962C8B-B14F-4D97-AF65-F5344CB8AC3E}">
        <p14:creationId xmlns:p14="http://schemas.microsoft.com/office/powerpoint/2010/main" val="2045247531"/>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D65FC73-819D-40DE-A593-2E6E0A60ED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716D6C-3A57-40E9-A1CD-36AD7E5BCD2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51C80F-AEAD-425A-8394-59FD26AA6A0C}"/>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8AF135D7-A3B3-490E-A9BA-CC51D1887A9B}"/>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9FAB8052-9E17-490C-96A0-26386B256224}"/>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79</a:t>
            </a:r>
          </a:p>
        </p:txBody>
      </p:sp>
      <p:sp>
        <p:nvSpPr>
          <p:cNvPr id="6" name="">
            <a:extLst xmlns:a="http://schemas.openxmlformats.org/drawingml/2006/main">
              <a:ext uri="{FF2B5EF4-FFF2-40B4-BE49-F238E27FC236}">
                <a16:creationId xmlns:a16="http://schemas.microsoft.com/office/drawing/2014/main" id="{66AA58A2-9644-4E83-9C1B-69A582D854D6}"/>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CBDDD848-8881-404C-9BE5-582F5010EC61}"/>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7.6 实现成果（4/4）</a:t>
            </a:r>
          </a:p>
        </p:txBody>
      </p:sp>
      <p:sp>
        <p:nvSpPr>
          <p:cNvPr id="8" name="">
            <a:extLst xmlns:a="http://schemas.openxmlformats.org/drawingml/2006/main">
              <a:ext uri="{FF2B5EF4-FFF2-40B4-BE49-F238E27FC236}">
                <a16:creationId xmlns:a16="http://schemas.microsoft.com/office/drawing/2014/main" id="{7FBC6AE3-5245-4459-B2A4-99E135FA3710}"/>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D01E885-EA92-49FD-9EAA-1F7D5844A6AC}"/>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ee17489a48942df"/>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49214BF-7BE4-487A-9F28-C60CC457BE7D}"/>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阶段4状态图</a:t>
            </a:r>
          </a:p>
        </p:txBody>
      </p:sp>
    </p:spTree>
    <p:extLst>
      <p:ext uri="{BB962C8B-B14F-4D97-AF65-F5344CB8AC3E}">
        <p14:creationId xmlns:p14="http://schemas.microsoft.com/office/powerpoint/2010/main" val="1122152105"/>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6FD961-5EDC-4285-9939-3E769CD93E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B8E19E-157C-47AE-959D-355928460AA5}"/>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0879D2-4ED7-4233-8F43-C80EC14AFE44}"/>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3F87D66B-74A6-48A8-8424-ADB252C59928}"/>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D8A1C3E8-2450-4F3D-896F-79C6ED63D967}"/>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80</a:t>
            </a:r>
          </a:p>
        </p:txBody>
      </p:sp>
      <p:sp>
        <p:nvSpPr>
          <p:cNvPr id="6" name="">
            <a:extLst xmlns:a="http://schemas.openxmlformats.org/drawingml/2006/main">
              <a:ext uri="{FF2B5EF4-FFF2-40B4-BE49-F238E27FC236}">
                <a16:creationId xmlns:a16="http://schemas.microsoft.com/office/drawing/2014/main" id="{BE55D2FD-1D0D-41CC-8CC9-693AE235DA37}"/>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055707C4-E1D6-4B31-9A7F-889A9BBE2B7A}"/>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7.7 Codex/GPT 使用情况</a:t>
            </a:r>
          </a:p>
        </p:txBody>
      </p:sp>
      <p:sp>
        <p:nvSpPr>
          <p:cNvPr id="8" name="">
            <a:extLst xmlns:a="http://schemas.openxmlformats.org/drawingml/2006/main">
              <a:ext uri="{FF2B5EF4-FFF2-40B4-BE49-F238E27FC236}">
                <a16:creationId xmlns:a16="http://schemas.microsoft.com/office/drawing/2014/main" id="{E2CCDCA1-057C-48F0-A0C6-90858B88676A}"/>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425CDEF-E977-4AF3-81E8-212055464397}"/>
              </a:ext>
            </a:extLst>
          </p:cNvPr>
          <p:cNvSpPr>
            <a:spLocks xmlns:a="http://schemas.openxmlformats.org/drawingml/2006/main" noGrp="1"/>
          </p:cNvSpPr>
          <p:nvPr/>
        </p:nvSpPr>
        <p:spPr>
          <a:xfrm xmlns:a="http://schemas.openxmlformats.org/drawingml/2006/main">
            <a:off x="457200" y="1905000"/>
            <a:ext cx="2314015"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F7C3DB1C-8325-48F8-AA05-8C1570D7DE8A}"/>
              </a:ext>
            </a:extLst>
          </p:cNvPr>
          <p:cNvSpPr>
            <a:spLocks xmlns:a="http://schemas.openxmlformats.org/drawingml/2006/main" noGrp="1"/>
          </p:cNvSpPr>
          <p:nvPr/>
        </p:nvSpPr>
        <p:spPr>
          <a:xfrm xmlns:a="http://schemas.openxmlformats.org/drawingml/2006/main">
            <a:off x="504825" y="1943100"/>
            <a:ext cx="221876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使用位置</a:t>
            </a:r>
          </a:p>
        </p:txBody>
      </p:sp>
      <p:sp>
        <p:nvSpPr>
          <p:cNvPr id="11" name="">
            <a:extLst xmlns:a="http://schemas.openxmlformats.org/drawingml/2006/main">
              <a:ext uri="{FF2B5EF4-FFF2-40B4-BE49-F238E27FC236}">
                <a16:creationId xmlns:a16="http://schemas.microsoft.com/office/drawing/2014/main" id="{5346E2E4-9891-4608-8676-530F4C5F616E}"/>
              </a:ext>
            </a:extLst>
          </p:cNvPr>
          <p:cNvSpPr>
            <a:spLocks xmlns:a="http://schemas.openxmlformats.org/drawingml/2006/main" noGrp="1"/>
          </p:cNvSpPr>
          <p:nvPr/>
        </p:nvSpPr>
        <p:spPr>
          <a:xfrm xmlns:a="http://schemas.openxmlformats.org/drawingml/2006/main">
            <a:off x="2771215" y="1905000"/>
            <a:ext cx="2975162"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02D614C0-51D6-4117-A903-DD39DFFB6570}"/>
              </a:ext>
            </a:extLst>
          </p:cNvPr>
          <p:cNvSpPr>
            <a:spLocks xmlns:a="http://schemas.openxmlformats.org/drawingml/2006/main" noGrp="1"/>
          </p:cNvSpPr>
          <p:nvPr/>
        </p:nvSpPr>
        <p:spPr>
          <a:xfrm xmlns:a="http://schemas.openxmlformats.org/drawingml/2006/main">
            <a:off x="2818840" y="1943100"/>
            <a:ext cx="287991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使用方式</a:t>
            </a:r>
          </a:p>
        </p:txBody>
      </p:sp>
      <p:sp>
        <p:nvSpPr>
          <p:cNvPr id="13" name="">
            <a:extLst xmlns:a="http://schemas.openxmlformats.org/drawingml/2006/main">
              <a:ext uri="{FF2B5EF4-FFF2-40B4-BE49-F238E27FC236}">
                <a16:creationId xmlns:a16="http://schemas.microsoft.com/office/drawing/2014/main" id="{E773C1A8-8D3D-4703-AD74-1E0D179459E0}"/>
              </a:ext>
            </a:extLst>
          </p:cNvPr>
          <p:cNvSpPr>
            <a:spLocks xmlns:a="http://schemas.openxmlformats.org/drawingml/2006/main" noGrp="1"/>
          </p:cNvSpPr>
          <p:nvPr/>
        </p:nvSpPr>
        <p:spPr>
          <a:xfrm xmlns:a="http://schemas.openxmlformats.org/drawingml/2006/main">
            <a:off x="5746376" y="1905000"/>
            <a:ext cx="2975162"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85772F14-D3FE-4F43-83C4-759BD43F31DC}"/>
              </a:ext>
            </a:extLst>
          </p:cNvPr>
          <p:cNvSpPr>
            <a:spLocks xmlns:a="http://schemas.openxmlformats.org/drawingml/2006/main" noGrp="1"/>
          </p:cNvSpPr>
          <p:nvPr/>
        </p:nvSpPr>
        <p:spPr>
          <a:xfrm xmlns:a="http://schemas.openxmlformats.org/drawingml/2006/main">
            <a:off x="5794001" y="1943100"/>
            <a:ext cx="287991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Codex/GPT 产出</a:t>
            </a:r>
          </a:p>
        </p:txBody>
      </p:sp>
      <p:sp>
        <p:nvSpPr>
          <p:cNvPr id="15" name="">
            <a:extLst xmlns:a="http://schemas.openxmlformats.org/drawingml/2006/main">
              <a:ext uri="{FF2B5EF4-FFF2-40B4-BE49-F238E27FC236}">
                <a16:creationId xmlns:a16="http://schemas.microsoft.com/office/drawing/2014/main" id="{F254D228-5D59-4178-AC64-7C7AC57B8C36}"/>
              </a:ext>
            </a:extLst>
          </p:cNvPr>
          <p:cNvSpPr>
            <a:spLocks xmlns:a="http://schemas.openxmlformats.org/drawingml/2006/main" noGrp="1"/>
          </p:cNvSpPr>
          <p:nvPr/>
        </p:nvSpPr>
        <p:spPr>
          <a:xfrm xmlns:a="http://schemas.openxmlformats.org/drawingml/2006/main">
            <a:off x="8721538" y="1905000"/>
            <a:ext cx="2975162"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0D36D091-E329-4D5A-9E27-A9A4C848FC4E}"/>
              </a:ext>
            </a:extLst>
          </p:cNvPr>
          <p:cNvSpPr>
            <a:spLocks xmlns:a="http://schemas.openxmlformats.org/drawingml/2006/main" noGrp="1"/>
          </p:cNvSpPr>
          <p:nvPr/>
        </p:nvSpPr>
        <p:spPr>
          <a:xfrm xmlns:a="http://schemas.openxmlformats.org/drawingml/2006/main">
            <a:off x="8769163" y="1943100"/>
            <a:ext cx="287991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开发者确认与调整</a:t>
            </a:r>
          </a:p>
        </p:txBody>
      </p:sp>
      <p:sp>
        <p:nvSpPr>
          <p:cNvPr id="17" name="">
            <a:extLst xmlns:a="http://schemas.openxmlformats.org/drawingml/2006/main">
              <a:ext uri="{FF2B5EF4-FFF2-40B4-BE49-F238E27FC236}">
                <a16:creationId xmlns:a16="http://schemas.microsoft.com/office/drawing/2014/main" id="{F63473D8-F284-4316-8754-80920B8D177D}"/>
              </a:ext>
            </a:extLst>
          </p:cNvPr>
          <p:cNvSpPr>
            <a:spLocks xmlns:a="http://schemas.openxmlformats.org/drawingml/2006/main" noGrp="1"/>
          </p:cNvSpPr>
          <p:nvPr/>
        </p:nvSpPr>
        <p:spPr>
          <a:xfrm xmlns:a="http://schemas.openxmlformats.org/drawingml/2006/main">
            <a:off x="457200" y="2305050"/>
            <a:ext cx="2314015"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1F7180A1-C36C-4376-B191-2672F0CE3030}"/>
              </a:ext>
            </a:extLst>
          </p:cNvPr>
          <p:cNvSpPr>
            <a:spLocks xmlns:a="http://schemas.openxmlformats.org/drawingml/2006/main" noGrp="1"/>
          </p:cNvSpPr>
          <p:nvPr/>
        </p:nvSpPr>
        <p:spPr>
          <a:xfrm xmlns:a="http://schemas.openxmlformats.org/drawingml/2006/main">
            <a:off x="504825" y="2333625"/>
            <a:ext cx="221876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AI 策略设计</a:t>
            </a:r>
          </a:p>
        </p:txBody>
      </p:sp>
      <p:sp>
        <p:nvSpPr>
          <p:cNvPr id="19" name="">
            <a:extLst xmlns:a="http://schemas.openxmlformats.org/drawingml/2006/main">
              <a:ext uri="{FF2B5EF4-FFF2-40B4-BE49-F238E27FC236}">
                <a16:creationId xmlns:a16="http://schemas.microsoft.com/office/drawing/2014/main" id="{1C0A0097-13FB-4BA8-A6C9-054176FDAE73}"/>
              </a:ext>
            </a:extLst>
          </p:cNvPr>
          <p:cNvSpPr>
            <a:spLocks xmlns:a="http://schemas.openxmlformats.org/drawingml/2006/main" noGrp="1"/>
          </p:cNvSpPr>
          <p:nvPr/>
        </p:nvSpPr>
        <p:spPr>
          <a:xfrm xmlns:a="http://schemas.openxmlformats.org/drawingml/2006/main">
            <a:off x="2771215" y="2305050"/>
            <a:ext cx="297516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2041D74A-83C4-4DFB-8E89-47B656BBB5E0}"/>
              </a:ext>
            </a:extLst>
          </p:cNvPr>
          <p:cNvSpPr>
            <a:spLocks xmlns:a="http://schemas.openxmlformats.org/drawingml/2006/main" noGrp="1"/>
          </p:cNvSpPr>
          <p:nvPr/>
        </p:nvSpPr>
        <p:spPr>
          <a:xfrm xmlns:a="http://schemas.openxmlformats.org/drawingml/2006/main">
            <a:off x="2818840" y="233362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完成贪心、启发式、有限 rollout 三档策略代码实现</a:t>
            </a:r>
          </a:p>
        </p:txBody>
      </p:sp>
      <p:sp>
        <p:nvSpPr>
          <p:cNvPr id="21" name="">
            <a:extLst xmlns:a="http://schemas.openxmlformats.org/drawingml/2006/main">
              <a:ext uri="{FF2B5EF4-FFF2-40B4-BE49-F238E27FC236}">
                <a16:creationId xmlns:a16="http://schemas.microsoft.com/office/drawing/2014/main" id="{DC142ADF-04BD-4BCB-9BCD-DA419BDBA6BD}"/>
              </a:ext>
            </a:extLst>
          </p:cNvPr>
          <p:cNvSpPr>
            <a:spLocks xmlns:a="http://schemas.openxmlformats.org/drawingml/2006/main" noGrp="1"/>
          </p:cNvSpPr>
          <p:nvPr/>
        </p:nvSpPr>
        <p:spPr>
          <a:xfrm xmlns:a="http://schemas.openxmlformats.org/drawingml/2006/main">
            <a:off x="5746376" y="2305050"/>
            <a:ext cx="297516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127DE85A-DB4E-480F-A29C-DAAE79F42FD5}"/>
              </a:ext>
            </a:extLst>
          </p:cNvPr>
          <p:cNvSpPr>
            <a:spLocks xmlns:a="http://schemas.openxmlformats.org/drawingml/2006/main" noGrp="1"/>
          </p:cNvSpPr>
          <p:nvPr/>
        </p:nvSpPr>
        <p:spPr>
          <a:xfrm xmlns:a="http://schemas.openxmlformats.org/drawingml/2006/main">
            <a:off x="5794001" y="233362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生成 AiStrategy.kt 中三种策略和对应测试场景</a:t>
            </a:r>
          </a:p>
        </p:txBody>
      </p:sp>
      <p:sp>
        <p:nvSpPr>
          <p:cNvPr id="23" name="">
            <a:extLst xmlns:a="http://schemas.openxmlformats.org/drawingml/2006/main">
              <a:ext uri="{FF2B5EF4-FFF2-40B4-BE49-F238E27FC236}">
                <a16:creationId xmlns:a16="http://schemas.microsoft.com/office/drawing/2014/main" id="{13CA9EF8-BB43-4509-B525-1E57687518F3}"/>
              </a:ext>
            </a:extLst>
          </p:cNvPr>
          <p:cNvSpPr>
            <a:spLocks xmlns:a="http://schemas.openxmlformats.org/drawingml/2006/main" noGrp="1"/>
          </p:cNvSpPr>
          <p:nvPr/>
        </p:nvSpPr>
        <p:spPr>
          <a:xfrm xmlns:a="http://schemas.openxmlformats.org/drawingml/2006/main">
            <a:off x="8721538" y="2305050"/>
            <a:ext cx="297516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658368F7-58EC-40B4-8FCF-3CB9DB529802}"/>
              </a:ext>
            </a:extLst>
          </p:cNvPr>
          <p:cNvSpPr>
            <a:spLocks xmlns:a="http://schemas.openxmlformats.org/drawingml/2006/main" noGrp="1"/>
          </p:cNvSpPr>
          <p:nvPr/>
        </p:nvSpPr>
        <p:spPr>
          <a:xfrm xmlns:a="http://schemas.openxmlformats.org/drawingml/2006/main">
            <a:off x="8769163" y="233362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开发者运行 AI 合法动作测试并检查对局表现</a:t>
            </a:r>
          </a:p>
        </p:txBody>
      </p:sp>
      <p:sp>
        <p:nvSpPr>
          <p:cNvPr id="25" name="">
            <a:extLst xmlns:a="http://schemas.openxmlformats.org/drawingml/2006/main">
              <a:ext uri="{FF2B5EF4-FFF2-40B4-BE49-F238E27FC236}">
                <a16:creationId xmlns:a16="http://schemas.microsoft.com/office/drawing/2014/main" id="{FDBB6CE0-9981-4DF2-BE7F-3FFBB69B3237}"/>
              </a:ext>
            </a:extLst>
          </p:cNvPr>
          <p:cNvSpPr>
            <a:spLocks xmlns:a="http://schemas.openxmlformats.org/drawingml/2006/main" noGrp="1"/>
          </p:cNvSpPr>
          <p:nvPr/>
        </p:nvSpPr>
        <p:spPr>
          <a:xfrm xmlns:a="http://schemas.openxmlformats.org/drawingml/2006/main">
            <a:off x="457200" y="3032760"/>
            <a:ext cx="2314015"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3BCF47B1-5ABF-4E30-AC7F-1BFBF822572C}"/>
              </a:ext>
            </a:extLst>
          </p:cNvPr>
          <p:cNvSpPr>
            <a:spLocks xmlns:a="http://schemas.openxmlformats.org/drawingml/2006/main" noGrp="1"/>
          </p:cNvSpPr>
          <p:nvPr/>
        </p:nvSpPr>
        <p:spPr>
          <a:xfrm xmlns:a="http://schemas.openxmlformats.org/drawingml/2006/main">
            <a:off x="504825" y="3061335"/>
            <a:ext cx="221876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策略模式说明</a:t>
            </a:r>
          </a:p>
        </p:txBody>
      </p:sp>
      <p:sp>
        <p:nvSpPr>
          <p:cNvPr id="27" name="">
            <a:extLst xmlns:a="http://schemas.openxmlformats.org/drawingml/2006/main">
              <a:ext uri="{FF2B5EF4-FFF2-40B4-BE49-F238E27FC236}">
                <a16:creationId xmlns:a16="http://schemas.microsoft.com/office/drawing/2014/main" id="{537CBA49-16B4-4021-A071-7CDA619FBCAB}"/>
              </a:ext>
            </a:extLst>
          </p:cNvPr>
          <p:cNvSpPr>
            <a:spLocks xmlns:a="http://schemas.openxmlformats.org/drawingml/2006/main" noGrp="1"/>
          </p:cNvSpPr>
          <p:nvPr/>
        </p:nvSpPr>
        <p:spPr>
          <a:xfrm xmlns:a="http://schemas.openxmlformats.org/drawingml/2006/main">
            <a:off x="2771215" y="3032760"/>
            <a:ext cx="2975162"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26D4C3BE-3E02-4674-9B1F-A9B9C52C6726}"/>
              </a:ext>
            </a:extLst>
          </p:cNvPr>
          <p:cNvSpPr>
            <a:spLocks xmlns:a="http://schemas.openxmlformats.org/drawingml/2006/main" noGrp="1"/>
          </p:cNvSpPr>
          <p:nvPr/>
        </p:nvSpPr>
        <p:spPr>
          <a:xfrm xmlns:a="http://schemas.openxmlformats.org/drawingml/2006/main">
            <a:off x="2818840" y="306133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完成把 AI 难度选择与策略模式对应起来</a:t>
            </a:r>
          </a:p>
        </p:txBody>
      </p:sp>
      <p:sp>
        <p:nvSpPr>
          <p:cNvPr id="29" name="">
            <a:extLst xmlns:a="http://schemas.openxmlformats.org/drawingml/2006/main">
              <a:ext uri="{FF2B5EF4-FFF2-40B4-BE49-F238E27FC236}">
                <a16:creationId xmlns:a16="http://schemas.microsoft.com/office/drawing/2014/main" id="{2A719247-B4B5-4A80-B712-958E06C110C0}"/>
              </a:ext>
            </a:extLst>
          </p:cNvPr>
          <p:cNvSpPr>
            <a:spLocks xmlns:a="http://schemas.openxmlformats.org/drawingml/2006/main" noGrp="1"/>
          </p:cNvSpPr>
          <p:nvPr/>
        </p:nvSpPr>
        <p:spPr>
          <a:xfrm xmlns:a="http://schemas.openxmlformats.org/drawingml/2006/main">
            <a:off x="5746376" y="3032760"/>
            <a:ext cx="2975162"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CA6E6C06-0B76-4E65-A4E0-3F3C0B11DB59}"/>
              </a:ext>
            </a:extLst>
          </p:cNvPr>
          <p:cNvSpPr>
            <a:spLocks xmlns:a="http://schemas.openxmlformats.org/drawingml/2006/main" noGrp="1"/>
          </p:cNvSpPr>
          <p:nvPr/>
        </p:nvSpPr>
        <p:spPr>
          <a:xfrm xmlns:a="http://schemas.openxmlformats.org/drawingml/2006/main">
            <a:off x="5794001" y="306133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形成“控制器依赖接口、难度替换策略”的技术解释</a:t>
            </a:r>
          </a:p>
        </p:txBody>
      </p:sp>
      <p:sp>
        <p:nvSpPr>
          <p:cNvPr id="31" name="">
            <a:extLst xmlns:a="http://schemas.openxmlformats.org/drawingml/2006/main">
              <a:ext uri="{FF2B5EF4-FFF2-40B4-BE49-F238E27FC236}">
                <a16:creationId xmlns:a16="http://schemas.microsoft.com/office/drawing/2014/main" id="{2B965A6F-BF34-4558-B1B6-957754E4D49C}"/>
              </a:ext>
            </a:extLst>
          </p:cNvPr>
          <p:cNvSpPr>
            <a:spLocks xmlns:a="http://schemas.openxmlformats.org/drawingml/2006/main" noGrp="1"/>
          </p:cNvSpPr>
          <p:nvPr/>
        </p:nvSpPr>
        <p:spPr>
          <a:xfrm xmlns:a="http://schemas.openxmlformats.org/drawingml/2006/main">
            <a:off x="8721538" y="3032760"/>
            <a:ext cx="2975162"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ED05E819-3AD4-49FE-A9B3-2DB2ED0CB8BE}"/>
              </a:ext>
            </a:extLst>
          </p:cNvPr>
          <p:cNvSpPr>
            <a:spLocks xmlns:a="http://schemas.openxmlformats.org/drawingml/2006/main" noGrp="1"/>
          </p:cNvSpPr>
          <p:nvPr/>
        </p:nvSpPr>
        <p:spPr>
          <a:xfrm xmlns:a="http://schemas.openxmlformats.org/drawingml/2006/main">
            <a:off x="8769163" y="306133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结合代码确认 GameController 不直接写死具体 AI 类</a:t>
            </a:r>
          </a:p>
        </p:txBody>
      </p:sp>
      <p:sp>
        <p:nvSpPr>
          <p:cNvPr id="33" name="">
            <a:extLst xmlns:a="http://schemas.openxmlformats.org/drawingml/2006/main">
              <a:ext uri="{FF2B5EF4-FFF2-40B4-BE49-F238E27FC236}">
                <a16:creationId xmlns:a16="http://schemas.microsoft.com/office/drawing/2014/main" id="{903C1E51-A206-4385-8F0A-25B838E358C8}"/>
              </a:ext>
            </a:extLst>
          </p:cNvPr>
          <p:cNvSpPr>
            <a:spLocks xmlns:a="http://schemas.openxmlformats.org/drawingml/2006/main" noGrp="1"/>
          </p:cNvSpPr>
          <p:nvPr/>
        </p:nvSpPr>
        <p:spPr>
          <a:xfrm xmlns:a="http://schemas.openxmlformats.org/drawingml/2006/main">
            <a:off x="457200" y="3760470"/>
            <a:ext cx="2314015"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7D95AE2D-A181-4C66-86A4-6C1EB831413A}"/>
              </a:ext>
            </a:extLst>
          </p:cNvPr>
          <p:cNvSpPr>
            <a:spLocks xmlns:a="http://schemas.openxmlformats.org/drawingml/2006/main" noGrp="1"/>
          </p:cNvSpPr>
          <p:nvPr/>
        </p:nvSpPr>
        <p:spPr>
          <a:xfrm xmlns:a="http://schemas.openxmlformats.org/drawingml/2006/main">
            <a:off x="504825" y="3789045"/>
            <a:ext cx="221876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状态图细化</a:t>
            </a:r>
          </a:p>
        </p:txBody>
      </p:sp>
      <p:sp>
        <p:nvSpPr>
          <p:cNvPr id="35" name="">
            <a:extLst xmlns:a="http://schemas.openxmlformats.org/drawingml/2006/main">
              <a:ext uri="{FF2B5EF4-FFF2-40B4-BE49-F238E27FC236}">
                <a16:creationId xmlns:a16="http://schemas.microsoft.com/office/drawing/2014/main" id="{2FA6DA6A-D6CB-4898-B336-D1E8FB876D9D}"/>
              </a:ext>
            </a:extLst>
          </p:cNvPr>
          <p:cNvSpPr>
            <a:spLocks xmlns:a="http://schemas.openxmlformats.org/drawingml/2006/main" noGrp="1"/>
          </p:cNvSpPr>
          <p:nvPr/>
        </p:nvSpPr>
        <p:spPr>
          <a:xfrm xmlns:a="http://schemas.openxmlformats.org/drawingml/2006/main">
            <a:off x="2771215" y="3760470"/>
            <a:ext cx="297516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9C77A90A-F036-4EDD-BE34-84AE43A0BD55}"/>
              </a:ext>
            </a:extLst>
          </p:cNvPr>
          <p:cNvSpPr>
            <a:spLocks xmlns:a="http://schemas.openxmlformats.org/drawingml/2006/main" noGrp="1"/>
          </p:cNvSpPr>
          <p:nvPr/>
        </p:nvSpPr>
        <p:spPr>
          <a:xfrm xmlns:a="http://schemas.openxmlformats.org/drawingml/2006/main">
            <a:off x="2818840" y="378904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完成状态图节点、转换条件和 PlantUML 更新</a:t>
            </a:r>
          </a:p>
        </p:txBody>
      </p:sp>
      <p:sp>
        <p:nvSpPr>
          <p:cNvPr id="37" name="">
            <a:extLst xmlns:a="http://schemas.openxmlformats.org/drawingml/2006/main">
              <a:ext uri="{FF2B5EF4-FFF2-40B4-BE49-F238E27FC236}">
                <a16:creationId xmlns:a16="http://schemas.microsoft.com/office/drawing/2014/main" id="{3DE5F3A3-117C-446B-BD3A-2B38024AD541}"/>
              </a:ext>
            </a:extLst>
          </p:cNvPr>
          <p:cNvSpPr>
            <a:spLocks xmlns:a="http://schemas.openxmlformats.org/drawingml/2006/main" noGrp="1"/>
          </p:cNvSpPr>
          <p:nvPr/>
        </p:nvSpPr>
        <p:spPr>
          <a:xfrm xmlns:a="http://schemas.openxmlformats.org/drawingml/2006/main">
            <a:off x="5746376" y="3760470"/>
            <a:ext cx="297516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80EE9E04-B5E2-4272-87B8-0CB25FF5F2F2}"/>
              </a:ext>
            </a:extLst>
          </p:cNvPr>
          <p:cNvSpPr>
            <a:spLocks xmlns:a="http://schemas.openxmlformats.org/drawingml/2006/main" noGrp="1"/>
          </p:cNvSpPr>
          <p:nvPr/>
        </p:nvSpPr>
        <p:spPr>
          <a:xfrm xmlns:a="http://schemas.openxmlformats.org/drawingml/2006/main">
            <a:off x="5794001" y="378904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补充状态图节点和本报告状态表</a:t>
            </a:r>
          </a:p>
        </p:txBody>
      </p:sp>
      <p:sp>
        <p:nvSpPr>
          <p:cNvPr id="39" name="">
            <a:extLst xmlns:a="http://schemas.openxmlformats.org/drawingml/2006/main">
              <a:ext uri="{FF2B5EF4-FFF2-40B4-BE49-F238E27FC236}">
                <a16:creationId xmlns:a16="http://schemas.microsoft.com/office/drawing/2014/main" id="{80C63A74-37D8-456C-B32F-DD14108C2910}"/>
              </a:ext>
            </a:extLst>
          </p:cNvPr>
          <p:cNvSpPr>
            <a:spLocks xmlns:a="http://schemas.openxmlformats.org/drawingml/2006/main" noGrp="1"/>
          </p:cNvSpPr>
          <p:nvPr/>
        </p:nvSpPr>
        <p:spPr>
          <a:xfrm xmlns:a="http://schemas.openxmlformats.org/drawingml/2006/main">
            <a:off x="8721538" y="3760470"/>
            <a:ext cx="297516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CB9CAA10-6CC8-435D-B4C3-335E9E59091F}"/>
              </a:ext>
            </a:extLst>
          </p:cNvPr>
          <p:cNvSpPr>
            <a:spLocks xmlns:a="http://schemas.openxmlformats.org/drawingml/2006/main" noGrp="1"/>
          </p:cNvSpPr>
          <p:nvPr/>
        </p:nvSpPr>
        <p:spPr>
          <a:xfrm xmlns:a="http://schemas.openxmlformats.org/drawingml/2006/main">
            <a:off x="8769163" y="378904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Annakuliyev Sedar 在 ProcessOn 中校对布局并导出</a:t>
            </a:r>
          </a:p>
        </p:txBody>
      </p:sp>
      <p:sp>
        <p:nvSpPr>
          <p:cNvPr id="41" name="">
            <a:extLst xmlns:a="http://schemas.openxmlformats.org/drawingml/2006/main">
              <a:ext uri="{FF2B5EF4-FFF2-40B4-BE49-F238E27FC236}">
                <a16:creationId xmlns:a16="http://schemas.microsoft.com/office/drawing/2014/main" id="{F146A743-47F1-4A98-84AE-2F21632F0C3D}"/>
              </a:ext>
            </a:extLst>
          </p:cNvPr>
          <p:cNvSpPr>
            <a:spLocks xmlns:a="http://schemas.openxmlformats.org/drawingml/2006/main" noGrp="1"/>
          </p:cNvSpPr>
          <p:nvPr/>
        </p:nvSpPr>
        <p:spPr>
          <a:xfrm xmlns:a="http://schemas.openxmlformats.org/drawingml/2006/main">
            <a:off x="457200" y="4488180"/>
            <a:ext cx="2314015"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552F0F08-FDE3-4954-98E3-706EE00E0595}"/>
              </a:ext>
            </a:extLst>
          </p:cNvPr>
          <p:cNvSpPr>
            <a:spLocks xmlns:a="http://schemas.openxmlformats.org/drawingml/2006/main" noGrp="1"/>
          </p:cNvSpPr>
          <p:nvPr/>
        </p:nvSpPr>
        <p:spPr>
          <a:xfrm xmlns:a="http://schemas.openxmlformats.org/drawingml/2006/main">
            <a:off x="504825" y="4516755"/>
            <a:ext cx="221876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玩家成长实现</a:t>
            </a:r>
          </a:p>
        </p:txBody>
      </p:sp>
      <p:sp>
        <p:nvSpPr>
          <p:cNvPr id="43" name="">
            <a:extLst xmlns:a="http://schemas.openxmlformats.org/drawingml/2006/main">
              <a:ext uri="{FF2B5EF4-FFF2-40B4-BE49-F238E27FC236}">
                <a16:creationId xmlns:a16="http://schemas.microsoft.com/office/drawing/2014/main" id="{CDB76A4F-6B02-4A14-938F-F6465DE2ACAB}"/>
              </a:ext>
            </a:extLst>
          </p:cNvPr>
          <p:cNvSpPr>
            <a:spLocks xmlns:a="http://schemas.openxmlformats.org/drawingml/2006/main" noGrp="1"/>
          </p:cNvSpPr>
          <p:nvPr/>
        </p:nvSpPr>
        <p:spPr>
          <a:xfrm xmlns:a="http://schemas.openxmlformats.org/drawingml/2006/main">
            <a:off x="2771215" y="4488180"/>
            <a:ext cx="2975162"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126A3102-3C6A-46C6-96B4-6125C3C3507B}"/>
              </a:ext>
            </a:extLst>
          </p:cNvPr>
          <p:cNvSpPr>
            <a:spLocks xmlns:a="http://schemas.openxmlformats.org/drawingml/2006/main" noGrp="1"/>
          </p:cNvSpPr>
          <p:nvPr/>
        </p:nvSpPr>
        <p:spPr>
          <a:xfrm xmlns:a="http://schemas.openxmlformats.org/drawingml/2006/main">
            <a:off x="2818840" y="451675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完成玩家档案、金币消费、头像商店、战绩和成就代码</a:t>
            </a:r>
          </a:p>
        </p:txBody>
      </p:sp>
      <p:sp>
        <p:nvSpPr>
          <p:cNvPr id="45" name="">
            <a:extLst xmlns:a="http://schemas.openxmlformats.org/drawingml/2006/main">
              <a:ext uri="{FF2B5EF4-FFF2-40B4-BE49-F238E27FC236}">
                <a16:creationId xmlns:a16="http://schemas.microsoft.com/office/drawing/2014/main" id="{2CABEA76-FAB2-4D1B-80F1-48CACB4A8476}"/>
              </a:ext>
            </a:extLst>
          </p:cNvPr>
          <p:cNvSpPr>
            <a:spLocks xmlns:a="http://schemas.openxmlformats.org/drawingml/2006/main" noGrp="1"/>
          </p:cNvSpPr>
          <p:nvPr/>
        </p:nvSpPr>
        <p:spPr>
          <a:xfrm xmlns:a="http://schemas.openxmlformats.org/drawingml/2006/main">
            <a:off x="5746376" y="4488180"/>
            <a:ext cx="2975162"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C9D37488-15BE-4800-9F4E-786750E9875F}"/>
              </a:ext>
            </a:extLst>
          </p:cNvPr>
          <p:cNvSpPr>
            <a:spLocks xmlns:a="http://schemas.openxmlformats.org/drawingml/2006/main" noGrp="1"/>
          </p:cNvSpPr>
          <p:nvPr/>
        </p:nvSpPr>
        <p:spPr>
          <a:xfrm xmlns:a="http://schemas.openxmlformats.org/drawingml/2006/main">
            <a:off x="5794001" y="451675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形成 profile/ 包、玩家中心页面和成长测试场景</a:t>
            </a:r>
          </a:p>
        </p:txBody>
      </p:sp>
      <p:sp>
        <p:nvSpPr>
          <p:cNvPr id="47" name="">
            <a:extLst xmlns:a="http://schemas.openxmlformats.org/drawingml/2006/main">
              <a:ext uri="{FF2B5EF4-FFF2-40B4-BE49-F238E27FC236}">
                <a16:creationId xmlns:a16="http://schemas.microsoft.com/office/drawing/2014/main" id="{F2868927-F076-45DE-949B-6D76B494478B}"/>
              </a:ext>
            </a:extLst>
          </p:cNvPr>
          <p:cNvSpPr>
            <a:spLocks xmlns:a="http://schemas.openxmlformats.org/drawingml/2006/main" noGrp="1"/>
          </p:cNvSpPr>
          <p:nvPr/>
        </p:nvSpPr>
        <p:spPr>
          <a:xfrm xmlns:a="http://schemas.openxmlformats.org/drawingml/2006/main">
            <a:off x="8721538" y="4488180"/>
            <a:ext cx="2975162"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CF11E31D-82F6-46D1-903A-C7721A7CD755}"/>
              </a:ext>
            </a:extLst>
          </p:cNvPr>
          <p:cNvSpPr>
            <a:spLocks xmlns:a="http://schemas.openxmlformats.org/drawingml/2006/main" noGrp="1"/>
          </p:cNvSpPr>
          <p:nvPr/>
        </p:nvSpPr>
        <p:spPr>
          <a:xfrm xmlns:a="http://schemas.openxmlformats.org/drawingml/2006/main">
            <a:off x="8769163" y="451675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开发者在 App 中验证金币、头像、改名和战绩逻辑</a:t>
            </a:r>
          </a:p>
        </p:txBody>
      </p:sp>
      <p:sp>
        <p:nvSpPr>
          <p:cNvPr id="49" name="">
            <a:extLst xmlns:a="http://schemas.openxmlformats.org/drawingml/2006/main">
              <a:ext uri="{FF2B5EF4-FFF2-40B4-BE49-F238E27FC236}">
                <a16:creationId xmlns:a16="http://schemas.microsoft.com/office/drawing/2014/main" id="{E92874C7-C4BC-4E90-961B-DDA379EF99DE}"/>
              </a:ext>
            </a:extLst>
          </p:cNvPr>
          <p:cNvSpPr>
            <a:spLocks xmlns:a="http://schemas.openxmlformats.org/drawingml/2006/main" noGrp="1"/>
          </p:cNvSpPr>
          <p:nvPr/>
        </p:nvSpPr>
        <p:spPr>
          <a:xfrm xmlns:a="http://schemas.openxmlformats.org/drawingml/2006/main">
            <a:off x="457200" y="5215890"/>
            <a:ext cx="2314015"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51FC8ADB-C9A6-41BD-B2DF-AA29DC80F679}"/>
              </a:ext>
            </a:extLst>
          </p:cNvPr>
          <p:cNvSpPr>
            <a:spLocks xmlns:a="http://schemas.openxmlformats.org/drawingml/2006/main" noGrp="1"/>
          </p:cNvSpPr>
          <p:nvPr/>
        </p:nvSpPr>
        <p:spPr>
          <a:xfrm xmlns:a="http://schemas.openxmlformats.org/drawingml/2006/main">
            <a:off x="504825" y="5244465"/>
            <a:ext cx="221876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UI 交互检查</a:t>
            </a:r>
          </a:p>
        </p:txBody>
      </p:sp>
      <p:sp>
        <p:nvSpPr>
          <p:cNvPr id="51" name="">
            <a:extLst xmlns:a="http://schemas.openxmlformats.org/drawingml/2006/main">
              <a:ext uri="{FF2B5EF4-FFF2-40B4-BE49-F238E27FC236}">
                <a16:creationId xmlns:a16="http://schemas.microsoft.com/office/drawing/2014/main" id="{3C1CEBE6-8213-4446-9832-E07548D6F34F}"/>
              </a:ext>
            </a:extLst>
          </p:cNvPr>
          <p:cNvSpPr>
            <a:spLocks xmlns:a="http://schemas.openxmlformats.org/drawingml/2006/main" noGrp="1"/>
          </p:cNvSpPr>
          <p:nvPr/>
        </p:nvSpPr>
        <p:spPr>
          <a:xfrm xmlns:a="http://schemas.openxmlformats.org/drawingml/2006/main">
            <a:off x="2771215" y="5215890"/>
            <a:ext cx="297516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460F3DF5-06F2-451E-A799-AAF0C9FA85A9}"/>
              </a:ext>
            </a:extLst>
          </p:cNvPr>
          <p:cNvSpPr>
            <a:spLocks xmlns:a="http://schemas.openxmlformats.org/drawingml/2006/main" noGrp="1"/>
          </p:cNvSpPr>
          <p:nvPr/>
        </p:nvSpPr>
        <p:spPr>
          <a:xfrm xmlns:a="http://schemas.openxmlformats.org/drawingml/2006/main">
            <a:off x="2818840" y="524446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完成排查发牌动画、AI 思考、设置暂停、无可压牌提示等交互边界</a:t>
            </a:r>
          </a:p>
        </p:txBody>
      </p:sp>
      <p:sp>
        <p:nvSpPr>
          <p:cNvPr id="53" name="">
            <a:extLst xmlns:a="http://schemas.openxmlformats.org/drawingml/2006/main">
              <a:ext uri="{FF2B5EF4-FFF2-40B4-BE49-F238E27FC236}">
                <a16:creationId xmlns:a16="http://schemas.microsoft.com/office/drawing/2014/main" id="{3C80FC00-E51F-4000-9991-F069AD54CAF8}"/>
              </a:ext>
            </a:extLst>
          </p:cNvPr>
          <p:cNvSpPr>
            <a:spLocks xmlns:a="http://schemas.openxmlformats.org/drawingml/2006/main" noGrp="1"/>
          </p:cNvSpPr>
          <p:nvPr/>
        </p:nvSpPr>
        <p:spPr>
          <a:xfrm xmlns:a="http://schemas.openxmlformats.org/drawingml/2006/main">
            <a:off x="5746376" y="5215890"/>
            <a:ext cx="297516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F6AF44D3-F13E-4F4E-93F1-4B54B0D3E4D1}"/>
              </a:ext>
            </a:extLst>
          </p:cNvPr>
          <p:cNvSpPr>
            <a:spLocks xmlns:a="http://schemas.openxmlformats.org/drawingml/2006/main" noGrp="1"/>
          </p:cNvSpPr>
          <p:nvPr/>
        </p:nvSpPr>
        <p:spPr>
          <a:xfrm xmlns:a="http://schemas.openxmlformats.org/drawingml/2006/main">
            <a:off x="5794001" y="524446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形成 UI 技术实现细节和测试关注点</a:t>
            </a:r>
          </a:p>
        </p:txBody>
      </p:sp>
      <p:sp>
        <p:nvSpPr>
          <p:cNvPr id="55" name="">
            <a:extLst xmlns:a="http://schemas.openxmlformats.org/drawingml/2006/main">
              <a:ext uri="{FF2B5EF4-FFF2-40B4-BE49-F238E27FC236}">
                <a16:creationId xmlns:a16="http://schemas.microsoft.com/office/drawing/2014/main" id="{3E1FDC15-D3B6-4995-B621-94A74B81C711}"/>
              </a:ext>
            </a:extLst>
          </p:cNvPr>
          <p:cNvSpPr>
            <a:spLocks xmlns:a="http://schemas.openxmlformats.org/drawingml/2006/main" noGrp="1"/>
          </p:cNvSpPr>
          <p:nvPr/>
        </p:nvSpPr>
        <p:spPr>
          <a:xfrm xmlns:a="http://schemas.openxmlformats.org/drawingml/2006/main">
            <a:off x="8721538" y="5215890"/>
            <a:ext cx="2975162"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9AE0F0C8-A13F-4603-AF77-42340BDA47F0}"/>
              </a:ext>
            </a:extLst>
          </p:cNvPr>
          <p:cNvSpPr>
            <a:spLocks xmlns:a="http://schemas.openxmlformats.org/drawingml/2006/main" noGrp="1"/>
          </p:cNvSpPr>
          <p:nvPr/>
        </p:nvSpPr>
        <p:spPr>
          <a:xfrm xmlns:a="http://schemas.openxmlformats.org/drawingml/2006/main">
            <a:off x="8769163" y="5244465"/>
            <a:ext cx="2879912"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郭铭涛通过手动验收和动画 key 测试确认</a:t>
            </a:r>
          </a:p>
        </p:txBody>
      </p:sp>
    </p:spTree>
    <p:extLst>
      <p:ext uri="{BB962C8B-B14F-4D97-AF65-F5344CB8AC3E}">
        <p14:creationId xmlns:p14="http://schemas.microsoft.com/office/powerpoint/2010/main" val="400272040"/>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6DDD82-BE81-40ED-8431-D5FB829376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757D59-B042-4535-BCF0-B96C09D58551}"/>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5DC5878-88D8-4AC9-A46D-5BB72B93EDCA}"/>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A3641CD-FBC0-4B06-AA45-CD674BA301F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B56B9281-B939-416D-9511-89B60CEFE7E8}"/>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81</a:t>
            </a:r>
          </a:p>
        </p:txBody>
      </p:sp>
      <p:sp>
        <p:nvSpPr>
          <p:cNvPr id="6" name="">
            <a:extLst xmlns:a="http://schemas.openxmlformats.org/drawingml/2006/main">
              <a:ext uri="{FF2B5EF4-FFF2-40B4-BE49-F238E27FC236}">
                <a16:creationId xmlns:a16="http://schemas.microsoft.com/office/drawing/2014/main" id="{8A743AB3-73BE-4A5A-82C6-AB902659E51B}"/>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AE70F7A1-C0A6-4C53-BD6F-1E04ACD54FB0}"/>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7.8 评分标准对应</a:t>
            </a:r>
          </a:p>
        </p:txBody>
      </p:sp>
      <p:sp>
        <p:nvSpPr>
          <p:cNvPr id="8" name="">
            <a:extLst xmlns:a="http://schemas.openxmlformats.org/drawingml/2006/main">
              <a:ext uri="{FF2B5EF4-FFF2-40B4-BE49-F238E27FC236}">
                <a16:creationId xmlns:a16="http://schemas.microsoft.com/office/drawing/2014/main" id="{C6646B41-4C54-4153-95FA-FDCBCE9B0645}"/>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ADDB0E6-9CBE-4309-B442-72AB015A0747}"/>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本阶段对应评分标准：</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1. 扑克牌博弈 AI 模块提供不同 AI 算法实现策略。</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2. AI 模块使用策略模式。</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3. 完成 UI 界面设计，实现不同页面切换。</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4. 使用 UML 状态图描述系统状态转换。</a:t>
            </a:r>
          </a:p>
        </p:txBody>
      </p:sp>
    </p:spTree>
    <p:extLst>
      <p:ext uri="{BB962C8B-B14F-4D97-AF65-F5344CB8AC3E}">
        <p14:creationId xmlns:p14="http://schemas.microsoft.com/office/powerpoint/2010/main" val="734125551"/>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D43D43D-9F9E-4242-BDED-D415FD1D86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3C06EB-DC0C-48C6-AC28-243784E86993}"/>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3FE9C86-4A09-4C33-A2D9-4ADC9695B291}"/>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90812912-5BA7-43FA-8367-08FB79E80CB2}"/>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7. 阶段 4：细化迭代 3 / 构造（Elaboration / Construction）</a:t>
            </a:r>
          </a:p>
        </p:txBody>
      </p:sp>
      <p:sp>
        <p:nvSpPr>
          <p:cNvPr id="5" name="">
            <a:extLst xmlns:a="http://schemas.openxmlformats.org/drawingml/2006/main">
              <a:ext uri="{FF2B5EF4-FFF2-40B4-BE49-F238E27FC236}">
                <a16:creationId xmlns:a16="http://schemas.microsoft.com/office/drawing/2014/main" id="{DC7623D7-83B4-49BE-8989-E03B8DC76541}"/>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82</a:t>
            </a:r>
          </a:p>
        </p:txBody>
      </p:sp>
      <p:sp>
        <p:nvSpPr>
          <p:cNvPr id="6" name="">
            <a:extLst xmlns:a="http://schemas.openxmlformats.org/drawingml/2006/main">
              <a:ext uri="{FF2B5EF4-FFF2-40B4-BE49-F238E27FC236}">
                <a16:creationId xmlns:a16="http://schemas.microsoft.com/office/drawing/2014/main" id="{4D67A7A0-A4BD-44A2-8DEF-29FEED681D9D}"/>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D31BB32-AEEC-4282-A242-C9FE090E91C3}"/>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7.9 问题与解决</a:t>
            </a:r>
          </a:p>
        </p:txBody>
      </p:sp>
      <p:sp>
        <p:nvSpPr>
          <p:cNvPr id="8" name="">
            <a:extLst xmlns:a="http://schemas.openxmlformats.org/drawingml/2006/main">
              <a:ext uri="{FF2B5EF4-FFF2-40B4-BE49-F238E27FC236}">
                <a16:creationId xmlns:a16="http://schemas.microsoft.com/office/drawing/2014/main" id="{DBC37C0A-25FC-4189-A7CD-62F46C33A215}"/>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DD4AEDA-2093-4E03-ACE2-88CA07803071}"/>
              </a:ext>
            </a:extLst>
          </p:cNvPr>
          <p:cNvSpPr>
            <a:spLocks xmlns:a="http://schemas.openxmlformats.org/drawingml/2006/main" noGrp="1"/>
          </p:cNvSpPr>
          <p:nvPr/>
        </p:nvSpPr>
        <p:spPr>
          <a:xfrm xmlns:a="http://schemas.openxmlformats.org/drawingml/2006/main">
            <a:off x="45720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F441D9D8-591A-443B-BEE3-F2394637369D}"/>
              </a:ext>
            </a:extLst>
          </p:cNvPr>
          <p:cNvSpPr>
            <a:spLocks xmlns:a="http://schemas.openxmlformats.org/drawingml/2006/main" noGrp="1"/>
          </p:cNvSpPr>
          <p:nvPr/>
        </p:nvSpPr>
        <p:spPr>
          <a:xfrm xmlns:a="http://schemas.openxmlformats.org/drawingml/2006/main">
            <a:off x="50482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问题</a:t>
            </a:r>
          </a:p>
        </p:txBody>
      </p:sp>
      <p:sp>
        <p:nvSpPr>
          <p:cNvPr id="11" name="">
            <a:extLst xmlns:a="http://schemas.openxmlformats.org/drawingml/2006/main">
              <a:ext uri="{FF2B5EF4-FFF2-40B4-BE49-F238E27FC236}">
                <a16:creationId xmlns:a16="http://schemas.microsoft.com/office/drawing/2014/main" id="{99B5413E-5FA4-40F0-A3F9-FFF6D716D08F}"/>
              </a:ext>
            </a:extLst>
          </p:cNvPr>
          <p:cNvSpPr>
            <a:spLocks xmlns:a="http://schemas.openxmlformats.org/drawingml/2006/main" noGrp="1"/>
          </p:cNvSpPr>
          <p:nvPr/>
        </p:nvSpPr>
        <p:spPr>
          <a:xfrm xmlns:a="http://schemas.openxmlformats.org/drawingml/2006/main">
            <a:off x="607695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53D74347-4985-4A37-B878-48FA39169A91}"/>
              </a:ext>
            </a:extLst>
          </p:cNvPr>
          <p:cNvSpPr>
            <a:spLocks xmlns:a="http://schemas.openxmlformats.org/drawingml/2006/main" noGrp="1"/>
          </p:cNvSpPr>
          <p:nvPr/>
        </p:nvSpPr>
        <p:spPr>
          <a:xfrm xmlns:a="http://schemas.openxmlformats.org/drawingml/2006/main">
            <a:off x="612457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解决方法</a:t>
            </a:r>
          </a:p>
        </p:txBody>
      </p:sp>
      <p:sp>
        <p:nvSpPr>
          <p:cNvPr id="13" name="">
            <a:extLst xmlns:a="http://schemas.openxmlformats.org/drawingml/2006/main">
              <a:ext uri="{FF2B5EF4-FFF2-40B4-BE49-F238E27FC236}">
                <a16:creationId xmlns:a16="http://schemas.microsoft.com/office/drawing/2014/main" id="{E5791521-6A49-4B0A-8AA1-7017E003BCCE}"/>
              </a:ext>
            </a:extLst>
          </p:cNvPr>
          <p:cNvSpPr>
            <a:spLocks xmlns:a="http://schemas.openxmlformats.org/drawingml/2006/main" noGrp="1"/>
          </p:cNvSpPr>
          <p:nvPr/>
        </p:nvSpPr>
        <p:spPr>
          <a:xfrm xmlns:a="http://schemas.openxmlformats.org/drawingml/2006/main">
            <a:off x="457200" y="2305050"/>
            <a:ext cx="56197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4" name="">
            <a:extLst xmlns:a="http://schemas.openxmlformats.org/drawingml/2006/main">
              <a:ext uri="{FF2B5EF4-FFF2-40B4-BE49-F238E27FC236}">
                <a16:creationId xmlns:a16="http://schemas.microsoft.com/office/drawing/2014/main" id="{0857A0C1-A69A-4743-A26E-6E25D9096897}"/>
              </a:ext>
            </a:extLst>
          </p:cNvPr>
          <p:cNvSpPr>
            <a:spLocks xmlns:a="http://schemas.openxmlformats.org/drawingml/2006/main" noGrp="1"/>
          </p:cNvSpPr>
          <p:nvPr/>
        </p:nvSpPr>
        <p:spPr>
          <a:xfrm xmlns:a="http://schemas.openxmlformats.org/drawingml/2006/main">
            <a:off x="504825" y="233362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AI 可能选择非法牌</a:t>
            </a:r>
          </a:p>
        </p:txBody>
      </p:sp>
      <p:sp>
        <p:nvSpPr>
          <p:cNvPr id="15" name="">
            <a:extLst xmlns:a="http://schemas.openxmlformats.org/drawingml/2006/main">
              <a:ext uri="{FF2B5EF4-FFF2-40B4-BE49-F238E27FC236}">
                <a16:creationId xmlns:a16="http://schemas.microsoft.com/office/drawing/2014/main" id="{2652139A-1906-4123-B117-88000DB76D5C}"/>
              </a:ext>
            </a:extLst>
          </p:cNvPr>
          <p:cNvSpPr>
            <a:spLocks xmlns:a="http://schemas.openxmlformats.org/drawingml/2006/main" noGrp="1"/>
          </p:cNvSpPr>
          <p:nvPr/>
        </p:nvSpPr>
        <p:spPr>
          <a:xfrm xmlns:a="http://schemas.openxmlformats.org/drawingml/2006/main">
            <a:off x="6076950" y="2305050"/>
            <a:ext cx="56197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2DBC4347-4704-44D1-948F-75E4E5E135B9}"/>
              </a:ext>
            </a:extLst>
          </p:cNvPr>
          <p:cNvSpPr>
            <a:spLocks xmlns:a="http://schemas.openxmlformats.org/drawingml/2006/main" noGrp="1"/>
          </p:cNvSpPr>
          <p:nvPr/>
        </p:nvSpPr>
        <p:spPr>
          <a:xfrm xmlns:a="http://schemas.openxmlformats.org/drawingml/2006/main">
            <a:off x="6124575" y="233362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所有 AI 输出都经过 GameController 和 RuleSet 校验</a:t>
            </a:r>
          </a:p>
        </p:txBody>
      </p:sp>
      <p:sp>
        <p:nvSpPr>
          <p:cNvPr id="17" name="">
            <a:extLst xmlns:a="http://schemas.openxmlformats.org/drawingml/2006/main">
              <a:ext uri="{FF2B5EF4-FFF2-40B4-BE49-F238E27FC236}">
                <a16:creationId xmlns:a16="http://schemas.microsoft.com/office/drawing/2014/main" id="{590A7019-26B9-4EFF-9798-6EBB464B86FE}"/>
              </a:ext>
            </a:extLst>
          </p:cNvPr>
          <p:cNvSpPr>
            <a:spLocks xmlns:a="http://schemas.openxmlformats.org/drawingml/2006/main" noGrp="1"/>
          </p:cNvSpPr>
          <p:nvPr/>
        </p:nvSpPr>
        <p:spPr>
          <a:xfrm xmlns:a="http://schemas.openxmlformats.org/drawingml/2006/main">
            <a:off x="457200" y="3032760"/>
            <a:ext cx="56197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856E0DBB-B321-4D7D-B286-DAEB1420C45D}"/>
              </a:ext>
            </a:extLst>
          </p:cNvPr>
          <p:cNvSpPr>
            <a:spLocks xmlns:a="http://schemas.openxmlformats.org/drawingml/2006/main" noGrp="1"/>
          </p:cNvSpPr>
          <p:nvPr/>
        </p:nvSpPr>
        <p:spPr>
          <a:xfrm xmlns:a="http://schemas.openxmlformats.org/drawingml/2006/main">
            <a:off x="504825" y="306133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AI 难度差异不明显</a:t>
            </a:r>
          </a:p>
        </p:txBody>
      </p:sp>
      <p:sp>
        <p:nvSpPr>
          <p:cNvPr id="19" name="">
            <a:extLst xmlns:a="http://schemas.openxmlformats.org/drawingml/2006/main">
              <a:ext uri="{FF2B5EF4-FFF2-40B4-BE49-F238E27FC236}">
                <a16:creationId xmlns:a16="http://schemas.microsoft.com/office/drawing/2014/main" id="{7F95DE2E-ECB0-4635-8BDA-1B92231DEAD6}"/>
              </a:ext>
            </a:extLst>
          </p:cNvPr>
          <p:cNvSpPr>
            <a:spLocks xmlns:a="http://schemas.openxmlformats.org/drawingml/2006/main" noGrp="1"/>
          </p:cNvSpPr>
          <p:nvPr/>
        </p:nvSpPr>
        <p:spPr>
          <a:xfrm xmlns:a="http://schemas.openxmlformats.org/drawingml/2006/main">
            <a:off x="6076950" y="3032760"/>
            <a:ext cx="56197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CCBBF6C3-93D6-4468-9FE8-D79ADBA56F65}"/>
              </a:ext>
            </a:extLst>
          </p:cNvPr>
          <p:cNvSpPr>
            <a:spLocks xmlns:a="http://schemas.openxmlformats.org/drawingml/2006/main" noGrp="1"/>
          </p:cNvSpPr>
          <p:nvPr/>
        </p:nvSpPr>
        <p:spPr>
          <a:xfrm xmlns:a="http://schemas.openxmlformats.org/drawingml/2006/main">
            <a:off x="6124575" y="306133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将简单、普通、困难拆分为不同策略实现</a:t>
            </a:r>
          </a:p>
        </p:txBody>
      </p:sp>
      <p:sp>
        <p:nvSpPr>
          <p:cNvPr id="21" name="">
            <a:extLst xmlns:a="http://schemas.openxmlformats.org/drawingml/2006/main">
              <a:ext uri="{FF2B5EF4-FFF2-40B4-BE49-F238E27FC236}">
                <a16:creationId xmlns:a16="http://schemas.microsoft.com/office/drawing/2014/main" id="{567A91E3-ABCA-4EF1-8289-8A32E4CDEEFB}"/>
              </a:ext>
            </a:extLst>
          </p:cNvPr>
          <p:cNvSpPr>
            <a:spLocks xmlns:a="http://schemas.openxmlformats.org/drawingml/2006/main" noGrp="1"/>
          </p:cNvSpPr>
          <p:nvPr/>
        </p:nvSpPr>
        <p:spPr>
          <a:xfrm xmlns:a="http://schemas.openxmlformats.org/drawingml/2006/main">
            <a:off x="457200" y="3760470"/>
            <a:ext cx="56197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EAA27C91-0AFD-4E55-9B98-D391C4F709AF}"/>
              </a:ext>
            </a:extLst>
          </p:cNvPr>
          <p:cNvSpPr>
            <a:spLocks xmlns:a="http://schemas.openxmlformats.org/drawingml/2006/main" noGrp="1"/>
          </p:cNvSpPr>
          <p:nvPr/>
        </p:nvSpPr>
        <p:spPr>
          <a:xfrm xmlns:a="http://schemas.openxmlformats.org/drawingml/2006/main">
            <a:off x="504825" y="378904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UI 状态复杂</a:t>
            </a:r>
          </a:p>
        </p:txBody>
      </p:sp>
      <p:sp>
        <p:nvSpPr>
          <p:cNvPr id="23" name="">
            <a:extLst xmlns:a="http://schemas.openxmlformats.org/drawingml/2006/main">
              <a:ext uri="{FF2B5EF4-FFF2-40B4-BE49-F238E27FC236}">
                <a16:creationId xmlns:a16="http://schemas.microsoft.com/office/drawing/2014/main" id="{F9C4CF2C-E4A9-43C2-B3DD-13F98A30F279}"/>
              </a:ext>
            </a:extLst>
          </p:cNvPr>
          <p:cNvSpPr>
            <a:spLocks xmlns:a="http://schemas.openxmlformats.org/drawingml/2006/main" noGrp="1"/>
          </p:cNvSpPr>
          <p:nvPr/>
        </p:nvSpPr>
        <p:spPr>
          <a:xfrm xmlns:a="http://schemas.openxmlformats.org/drawingml/2006/main">
            <a:off x="6076950" y="3760470"/>
            <a:ext cx="56197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53752DCF-12F6-40FF-BB8A-E7DD280CCBA6}"/>
              </a:ext>
            </a:extLst>
          </p:cNvPr>
          <p:cNvSpPr>
            <a:spLocks xmlns:a="http://schemas.openxmlformats.org/drawingml/2006/main" noGrp="1"/>
          </p:cNvSpPr>
          <p:nvPr/>
        </p:nvSpPr>
        <p:spPr>
          <a:xfrm xmlns:a="http://schemas.openxmlformats.org/drawingml/2006/main">
            <a:off x="6124575" y="378904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使用 Screen、BluetoothEntryMode、GameStartPhase 管理页面和开局状态</a:t>
            </a:r>
          </a:p>
        </p:txBody>
      </p:sp>
      <p:sp>
        <p:nvSpPr>
          <p:cNvPr id="25" name="">
            <a:extLst xmlns:a="http://schemas.openxmlformats.org/drawingml/2006/main">
              <a:ext uri="{FF2B5EF4-FFF2-40B4-BE49-F238E27FC236}">
                <a16:creationId xmlns:a16="http://schemas.microsoft.com/office/drawing/2014/main" id="{F1FF2D21-8D26-4D20-AD33-ED6B73930B8D}"/>
              </a:ext>
            </a:extLst>
          </p:cNvPr>
          <p:cNvSpPr>
            <a:spLocks xmlns:a="http://schemas.openxmlformats.org/drawingml/2006/main" noGrp="1"/>
          </p:cNvSpPr>
          <p:nvPr/>
        </p:nvSpPr>
        <p:spPr>
          <a:xfrm xmlns:a="http://schemas.openxmlformats.org/drawingml/2006/main">
            <a:off x="457200" y="4488180"/>
            <a:ext cx="56197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93DFC4DA-1187-4E0A-8D83-E83BFD8E9626}"/>
              </a:ext>
            </a:extLst>
          </p:cNvPr>
          <p:cNvSpPr>
            <a:spLocks xmlns:a="http://schemas.openxmlformats.org/drawingml/2006/main" noGrp="1"/>
          </p:cNvSpPr>
          <p:nvPr/>
        </p:nvSpPr>
        <p:spPr>
          <a:xfrm xmlns:a="http://schemas.openxmlformats.org/drawingml/2006/main">
            <a:off x="504825" y="451675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成长数据容易分散在页面中</a:t>
            </a:r>
          </a:p>
        </p:txBody>
      </p:sp>
      <p:sp>
        <p:nvSpPr>
          <p:cNvPr id="27" name="">
            <a:extLst xmlns:a="http://schemas.openxmlformats.org/drawingml/2006/main">
              <a:ext uri="{FF2B5EF4-FFF2-40B4-BE49-F238E27FC236}">
                <a16:creationId xmlns:a16="http://schemas.microsoft.com/office/drawing/2014/main" id="{D9176E22-CF0B-48C7-9B63-C91D7CA906CC}"/>
              </a:ext>
            </a:extLst>
          </p:cNvPr>
          <p:cNvSpPr>
            <a:spLocks xmlns:a="http://schemas.openxmlformats.org/drawingml/2006/main" noGrp="1"/>
          </p:cNvSpPr>
          <p:nvPr/>
        </p:nvSpPr>
        <p:spPr>
          <a:xfrm xmlns:a="http://schemas.openxmlformats.org/drawingml/2006/main">
            <a:off x="6076950" y="4488180"/>
            <a:ext cx="56197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C11B9F4A-141A-4A27-8D21-2AD80BA3097E}"/>
              </a:ext>
            </a:extLst>
          </p:cNvPr>
          <p:cNvSpPr>
            <a:spLocks xmlns:a="http://schemas.openxmlformats.org/drawingml/2006/main" noGrp="1"/>
          </p:cNvSpPr>
          <p:nvPr/>
        </p:nvSpPr>
        <p:spPr>
          <a:xfrm xmlns:a="http://schemas.openxmlformats.org/drawingml/2006/main">
            <a:off x="6124575" y="451675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使用 ProfileController 和 ProfileStore 集中处理结算、消费和持久化</a:t>
            </a:r>
          </a:p>
        </p:txBody>
      </p:sp>
      <p:sp>
        <p:nvSpPr>
          <p:cNvPr id="29" name="">
            <a:extLst xmlns:a="http://schemas.openxmlformats.org/drawingml/2006/main">
              <a:ext uri="{FF2B5EF4-FFF2-40B4-BE49-F238E27FC236}">
                <a16:creationId xmlns:a16="http://schemas.microsoft.com/office/drawing/2014/main" id="{F51DA1FD-701D-4051-8AC7-B8FFB063D60D}"/>
              </a:ext>
            </a:extLst>
          </p:cNvPr>
          <p:cNvSpPr>
            <a:spLocks xmlns:a="http://schemas.openxmlformats.org/drawingml/2006/main" noGrp="1"/>
          </p:cNvSpPr>
          <p:nvPr/>
        </p:nvSpPr>
        <p:spPr>
          <a:xfrm xmlns:a="http://schemas.openxmlformats.org/drawingml/2006/main">
            <a:off x="457200" y="5215890"/>
            <a:ext cx="56197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2A08BDD6-66DD-44D1-8177-EA07E0909CC7}"/>
              </a:ext>
            </a:extLst>
          </p:cNvPr>
          <p:cNvSpPr>
            <a:spLocks xmlns:a="http://schemas.openxmlformats.org/drawingml/2006/main" noGrp="1"/>
          </p:cNvSpPr>
          <p:nvPr/>
        </p:nvSpPr>
        <p:spPr>
          <a:xfrm xmlns:a="http://schemas.openxmlformats.org/drawingml/2006/main">
            <a:off x="504825" y="524446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动画容易重复触发</a:t>
            </a:r>
          </a:p>
        </p:txBody>
      </p:sp>
      <p:sp>
        <p:nvSpPr>
          <p:cNvPr id="31" name="">
            <a:extLst xmlns:a="http://schemas.openxmlformats.org/drawingml/2006/main">
              <a:ext uri="{FF2B5EF4-FFF2-40B4-BE49-F238E27FC236}">
                <a16:creationId xmlns:a16="http://schemas.microsoft.com/office/drawing/2014/main" id="{BD7428EC-B5B9-4083-9A3B-996B164EED22}"/>
              </a:ext>
            </a:extLst>
          </p:cNvPr>
          <p:cNvSpPr>
            <a:spLocks xmlns:a="http://schemas.openxmlformats.org/drawingml/2006/main" noGrp="1"/>
          </p:cNvSpPr>
          <p:nvPr/>
        </p:nvSpPr>
        <p:spPr>
          <a:xfrm xmlns:a="http://schemas.openxmlformats.org/drawingml/2006/main">
            <a:off x="6076950" y="5215890"/>
            <a:ext cx="56197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F787BA66-767B-47A5-97CC-C23C26226561}"/>
              </a:ext>
            </a:extLst>
          </p:cNvPr>
          <p:cNvSpPr>
            <a:spLocks xmlns:a="http://schemas.openxmlformats.org/drawingml/2006/main" noGrp="1"/>
          </p:cNvSpPr>
          <p:nvPr/>
        </p:nvSpPr>
        <p:spPr>
          <a:xfrm xmlns:a="http://schemas.openxmlformats.org/drawingml/2006/main">
            <a:off x="6124575" y="524446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使用 TableAnimationKeysTest 验证出牌动画 key 稳定</a:t>
            </a:r>
          </a:p>
        </p:txBody>
      </p:sp>
    </p:spTree>
    <p:extLst>
      <p:ext uri="{BB962C8B-B14F-4D97-AF65-F5344CB8AC3E}">
        <p14:creationId xmlns:p14="http://schemas.microsoft.com/office/powerpoint/2010/main" val="808525847"/>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F91A21-265E-43C0-A5F3-A12EF271CE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9F876E-4943-493E-80D4-382EFADB4E4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6C54D9-0860-4DCA-B9AC-80FF44950086}"/>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F8881208-C70E-4CD7-9354-3925BEFCCE44}"/>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130BFD19-9DAC-4843-BDE5-AD0610CE6B9D}"/>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83</a:t>
            </a:r>
          </a:p>
        </p:txBody>
      </p:sp>
      <p:sp>
        <p:nvSpPr>
          <p:cNvPr id="6" name="">
            <a:extLst xmlns:a="http://schemas.openxmlformats.org/drawingml/2006/main">
              <a:ext uri="{FF2B5EF4-FFF2-40B4-BE49-F238E27FC236}">
                <a16:creationId xmlns:a16="http://schemas.microsoft.com/office/drawing/2014/main" id="{1225390C-0CB7-4B4C-A11F-C67805EFAD3F}"/>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10E782FF-E66D-4C1C-8B49-F45FDB735992}"/>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8.1 阶段目标</a:t>
            </a:r>
          </a:p>
        </p:txBody>
      </p:sp>
      <p:sp>
        <p:nvSpPr>
          <p:cNvPr id="8" name="">
            <a:extLst xmlns:a="http://schemas.openxmlformats.org/drawingml/2006/main">
              <a:ext uri="{FF2B5EF4-FFF2-40B4-BE49-F238E27FC236}">
                <a16:creationId xmlns:a16="http://schemas.microsoft.com/office/drawing/2014/main" id="{FF640115-EBAA-4727-8F47-CAC2ADFF916A}"/>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EB02DA-DEFC-4494-8B0D-6DCF240E0CD8}"/>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交付阶段目标是完成系统集成、测试验收、Release 包生成、GitHub 托管和最终文档整理，确保项目可以运行、可以展示、可以答辩。</a:t>
            </a:r>
          </a:p>
        </p:txBody>
      </p:sp>
    </p:spTree>
    <p:extLst>
      <p:ext uri="{BB962C8B-B14F-4D97-AF65-F5344CB8AC3E}">
        <p14:creationId xmlns:p14="http://schemas.microsoft.com/office/powerpoint/2010/main" val="1567239308"/>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67E4C4-257E-45F1-8CF5-9A8CB18FC91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D5C802-C8E5-4254-B32F-DA2B8729490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BC3235C-AF79-450F-90AC-CE5B0F62B574}"/>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E26BECAE-3772-4E28-B6E0-863616B1E868}"/>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5BE08746-244E-41ED-8102-9EF625C587DF}"/>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84</a:t>
            </a:r>
          </a:p>
        </p:txBody>
      </p:sp>
      <p:sp>
        <p:nvSpPr>
          <p:cNvPr id="6" name="">
            <a:extLst xmlns:a="http://schemas.openxmlformats.org/drawingml/2006/main">
              <a:ext uri="{FF2B5EF4-FFF2-40B4-BE49-F238E27FC236}">
                <a16:creationId xmlns:a16="http://schemas.microsoft.com/office/drawing/2014/main" id="{0FBDBD70-6E93-42F6-85FC-1FB8EE381462}"/>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30CAE5F6-0A52-426D-804E-C0B7CAED2421}"/>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8.2 系统整合（1/12）</a:t>
            </a:r>
          </a:p>
        </p:txBody>
      </p:sp>
      <p:sp>
        <p:nvSpPr>
          <p:cNvPr id="8" name="">
            <a:extLst xmlns:a="http://schemas.openxmlformats.org/drawingml/2006/main">
              <a:ext uri="{FF2B5EF4-FFF2-40B4-BE49-F238E27FC236}">
                <a16:creationId xmlns:a16="http://schemas.microsoft.com/office/drawing/2014/main" id="{6B7644D3-B775-47A6-BDE3-50E591EE7CFD}"/>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AF26EC7-7B6E-491F-977D-990B90246715}"/>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76450"/>
          </a:bodyPr>
          <a:lstStyle xmlns:a="http://schemas.openxmlformats.org/drawingml/2006/main"/>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交付阶段首先进行系统整合，把前面三个细化迭代中分别完成的规则、AI、蓝牙、UI、玩家成长、音乐反馈和本地存储统一接入最终 App。整合顺序不是直接打包发布，而是先确认各模块之间的数据流、状态流和页面入口能够连成完整闭环。</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最终项目整合了以下功能：</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1. 开屏页、大厅、规则、设置、教程、玩家中心、人机对局、蓝牙房间、牌桌和结算页面。</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2. 南北规则切换与本地保存。</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3. 简单、普通、困难三档 AI。</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4. 多人蓝牙房间、四座位、人机补位、房主权威同步、客户端断线 AI 托管，以及房主断线弹窗退出。</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5. 玩家成长系统，包括等级、经验、金币、称号、战绩、成就、每日奖励、头像商店、自定义头像和改名消费。</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6. 背景音乐、出牌音效、震动、开屏动画、发牌动画、出牌飞牌和结算动画。</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7. Release APK 和 AAB 包。</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整合时重点检查以下连接点：</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玩家成长系统已在细化迭代 3 完成，本交付阶段主要负责把它与结算页、大厅、玩家中心和测试报告统一集成，确认金币、经验、头像、战绩、成就和每日奖励在最终版本中可保存、可展示、可验收。</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音乐与反馈系统也在交付阶段完成：</a:t>
            </a:r>
          </a:p>
        </p:txBody>
      </p:sp>
      <p:sp>
        <p:nvSpPr>
          <p:cNvPr id="10" name="">
            <a:extLst xmlns:a="http://schemas.openxmlformats.org/drawingml/2006/main">
              <a:ext uri="{FF2B5EF4-FFF2-40B4-BE49-F238E27FC236}">
                <a16:creationId xmlns:a16="http://schemas.microsoft.com/office/drawing/2014/main" id="{C499E606-8BEB-4029-8403-CC6C4B40B06D}"/>
              </a:ext>
            </a:extLst>
          </p:cNvPr>
          <p:cNvSpPr>
            <a:spLocks xmlns:a="http://schemas.openxmlformats.org/drawingml/2006/main" noGrp="1"/>
          </p:cNvSpPr>
          <p:nvPr/>
        </p:nvSpPr>
        <p:spPr>
          <a:xfrm xmlns:a="http://schemas.openxmlformats.org/drawingml/2006/main">
            <a:off x="5191125" y="1905000"/>
            <a:ext cx="21272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3F9703E2-F115-4A1E-B557-28891A2DEB2A}"/>
              </a:ext>
            </a:extLst>
          </p:cNvPr>
          <p:cNvSpPr>
            <a:spLocks xmlns:a="http://schemas.openxmlformats.org/drawingml/2006/main" noGrp="1"/>
          </p:cNvSpPr>
          <p:nvPr/>
        </p:nvSpPr>
        <p:spPr>
          <a:xfrm xmlns:a="http://schemas.openxmlformats.org/drawingml/2006/main">
            <a:off x="5238750" y="1943100"/>
            <a:ext cx="203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整合对象</a:t>
            </a:r>
          </a:p>
        </p:txBody>
      </p:sp>
      <p:sp>
        <p:nvSpPr>
          <p:cNvPr id="12" name="">
            <a:extLst xmlns:a="http://schemas.openxmlformats.org/drawingml/2006/main">
              <a:ext uri="{FF2B5EF4-FFF2-40B4-BE49-F238E27FC236}">
                <a16:creationId xmlns:a16="http://schemas.microsoft.com/office/drawing/2014/main" id="{41610071-36C3-4588-9D75-F42CCACDDEE9}"/>
              </a:ext>
            </a:extLst>
          </p:cNvPr>
          <p:cNvSpPr>
            <a:spLocks xmlns:a="http://schemas.openxmlformats.org/drawingml/2006/main" noGrp="1"/>
          </p:cNvSpPr>
          <p:nvPr/>
        </p:nvSpPr>
        <p:spPr>
          <a:xfrm xmlns:a="http://schemas.openxmlformats.org/drawingml/2006/main">
            <a:off x="7318375" y="1905000"/>
            <a:ext cx="21272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3DE86887-6FCD-41EF-9CDD-D8730657F998}"/>
              </a:ext>
            </a:extLst>
          </p:cNvPr>
          <p:cNvSpPr>
            <a:spLocks xmlns:a="http://schemas.openxmlformats.org/drawingml/2006/main" noGrp="1"/>
          </p:cNvSpPr>
          <p:nvPr/>
        </p:nvSpPr>
        <p:spPr>
          <a:xfrm xmlns:a="http://schemas.openxmlformats.org/drawingml/2006/main">
            <a:off x="7366000" y="1943100"/>
            <a:ext cx="203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整合方式</a:t>
            </a:r>
          </a:p>
        </p:txBody>
      </p:sp>
      <p:sp>
        <p:nvSpPr>
          <p:cNvPr id="14" name="">
            <a:extLst xmlns:a="http://schemas.openxmlformats.org/drawingml/2006/main">
              <a:ext uri="{FF2B5EF4-FFF2-40B4-BE49-F238E27FC236}">
                <a16:creationId xmlns:a16="http://schemas.microsoft.com/office/drawing/2014/main" id="{2F99A838-B5CF-4F11-AE31-66D7E3144CD1}"/>
              </a:ext>
            </a:extLst>
          </p:cNvPr>
          <p:cNvSpPr>
            <a:spLocks xmlns:a="http://schemas.openxmlformats.org/drawingml/2006/main" noGrp="1"/>
          </p:cNvSpPr>
          <p:nvPr/>
        </p:nvSpPr>
        <p:spPr>
          <a:xfrm xmlns:a="http://schemas.openxmlformats.org/drawingml/2006/main">
            <a:off x="9445625" y="1905000"/>
            <a:ext cx="21272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62895AD7-17E2-4CAA-8E6B-60819074FC0F}"/>
              </a:ext>
            </a:extLst>
          </p:cNvPr>
          <p:cNvSpPr>
            <a:spLocks xmlns:a="http://schemas.openxmlformats.org/drawingml/2006/main" noGrp="1"/>
          </p:cNvSpPr>
          <p:nvPr/>
        </p:nvSpPr>
        <p:spPr>
          <a:xfrm xmlns:a="http://schemas.openxmlformats.org/drawingml/2006/main">
            <a:off x="9493250" y="1943100"/>
            <a:ext cx="203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检查重点</a:t>
            </a:r>
          </a:p>
        </p:txBody>
      </p:sp>
      <p:sp>
        <p:nvSpPr>
          <p:cNvPr id="16" name="">
            <a:extLst xmlns:a="http://schemas.openxmlformats.org/drawingml/2006/main">
              <a:ext uri="{FF2B5EF4-FFF2-40B4-BE49-F238E27FC236}">
                <a16:creationId xmlns:a16="http://schemas.microsoft.com/office/drawing/2014/main" id="{747D9190-0DF5-4AD2-A6DF-0D60A370FE1D}"/>
              </a:ext>
            </a:extLst>
          </p:cNvPr>
          <p:cNvSpPr>
            <a:spLocks xmlns:a="http://schemas.openxmlformats.org/drawingml/2006/main" noGrp="1"/>
          </p:cNvSpPr>
          <p:nvPr/>
        </p:nvSpPr>
        <p:spPr>
          <a:xfrm xmlns:a="http://schemas.openxmlformats.org/drawingml/2006/main">
            <a:off x="5191125" y="2305050"/>
            <a:ext cx="21272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2AEE68F8-0471-4FAB-92B6-B0B327FE521F}"/>
              </a:ext>
            </a:extLst>
          </p:cNvPr>
          <p:cNvSpPr>
            <a:spLocks xmlns:a="http://schemas.openxmlformats.org/drawingml/2006/main" noGrp="1"/>
          </p:cNvSpPr>
          <p:nvPr/>
        </p:nvSpPr>
        <p:spPr>
          <a:xfrm xmlns:a="http://schemas.openxmlformats.org/drawingml/2006/main">
            <a:off x="5238750" y="2333625"/>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规则模块 + 游戏控制器</a:t>
            </a:r>
          </a:p>
        </p:txBody>
      </p:sp>
      <p:sp>
        <p:nvSpPr>
          <p:cNvPr id="18" name="">
            <a:extLst xmlns:a="http://schemas.openxmlformats.org/drawingml/2006/main">
              <a:ext uri="{FF2B5EF4-FFF2-40B4-BE49-F238E27FC236}">
                <a16:creationId xmlns:a16="http://schemas.microsoft.com/office/drawing/2014/main" id="{F633B3B5-9447-45E2-BB9D-5B50EB6D3D43}"/>
              </a:ext>
            </a:extLst>
          </p:cNvPr>
          <p:cNvSpPr>
            <a:spLocks xmlns:a="http://schemas.openxmlformats.org/drawingml/2006/main" noGrp="1"/>
          </p:cNvSpPr>
          <p:nvPr/>
        </p:nvSpPr>
        <p:spPr>
          <a:xfrm xmlns:a="http://schemas.openxmlformats.org/drawingml/2006/main">
            <a:off x="7318375" y="2305050"/>
            <a:ext cx="21272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4B8BD7FF-1FB9-49B0-AAC5-C0B8D0219E8D}"/>
              </a:ext>
            </a:extLst>
          </p:cNvPr>
          <p:cNvSpPr>
            <a:spLocks xmlns:a="http://schemas.openxmlformats.org/drawingml/2006/main" noGrp="1"/>
          </p:cNvSpPr>
          <p:nvPr/>
        </p:nvSpPr>
        <p:spPr>
          <a:xfrm xmlns:a="http://schemas.openxmlformats.org/drawingml/2006/main">
            <a:off x="7366000" y="2333625"/>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GameController 每次出牌都调用当前 RuleSet</a:t>
            </a:r>
          </a:p>
        </p:txBody>
      </p:sp>
      <p:sp>
        <p:nvSpPr>
          <p:cNvPr id="20" name="">
            <a:extLst xmlns:a="http://schemas.openxmlformats.org/drawingml/2006/main">
              <a:ext uri="{FF2B5EF4-FFF2-40B4-BE49-F238E27FC236}">
                <a16:creationId xmlns:a16="http://schemas.microsoft.com/office/drawing/2014/main" id="{E12541D2-E9CF-4176-9AA4-9F7B1EC95826}"/>
              </a:ext>
            </a:extLst>
          </p:cNvPr>
          <p:cNvSpPr>
            <a:spLocks xmlns:a="http://schemas.openxmlformats.org/drawingml/2006/main" noGrp="1"/>
          </p:cNvSpPr>
          <p:nvPr/>
        </p:nvSpPr>
        <p:spPr>
          <a:xfrm xmlns:a="http://schemas.openxmlformats.org/drawingml/2006/main">
            <a:off x="9445625" y="2305050"/>
            <a:ext cx="21272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4853F10B-CE54-43C7-92F8-8C2647C5FF05}"/>
              </a:ext>
            </a:extLst>
          </p:cNvPr>
          <p:cNvSpPr>
            <a:spLocks xmlns:a="http://schemas.openxmlformats.org/drawingml/2006/main" noGrp="1"/>
          </p:cNvSpPr>
          <p:nvPr/>
        </p:nvSpPr>
        <p:spPr>
          <a:xfrm xmlns:a="http://schemas.openxmlformats.org/drawingml/2006/main">
            <a:off x="9493250" y="2333625"/>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南北规则保存后是否影响后续人机和蓝牙对局</a:t>
            </a:r>
          </a:p>
        </p:txBody>
      </p:sp>
      <p:sp>
        <p:nvSpPr>
          <p:cNvPr id="22" name="">
            <a:extLst xmlns:a="http://schemas.openxmlformats.org/drawingml/2006/main">
              <a:ext uri="{FF2B5EF4-FFF2-40B4-BE49-F238E27FC236}">
                <a16:creationId xmlns:a16="http://schemas.microsoft.com/office/drawing/2014/main" id="{86B45FE4-824F-474F-9EA0-03DA0FB24A12}"/>
              </a:ext>
            </a:extLst>
          </p:cNvPr>
          <p:cNvSpPr>
            <a:spLocks xmlns:a="http://schemas.openxmlformats.org/drawingml/2006/main" noGrp="1"/>
          </p:cNvSpPr>
          <p:nvPr/>
        </p:nvSpPr>
        <p:spPr>
          <a:xfrm xmlns:a="http://schemas.openxmlformats.org/drawingml/2006/main">
            <a:off x="5191125" y="2911475"/>
            <a:ext cx="21272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2936E07A-2861-4041-86DE-196BA37BED63}"/>
              </a:ext>
            </a:extLst>
          </p:cNvPr>
          <p:cNvSpPr>
            <a:spLocks xmlns:a="http://schemas.openxmlformats.org/drawingml/2006/main" noGrp="1"/>
          </p:cNvSpPr>
          <p:nvPr/>
        </p:nvSpPr>
        <p:spPr>
          <a:xfrm xmlns:a="http://schemas.openxmlformats.org/drawingml/2006/main">
            <a:off x="5238750" y="2940050"/>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AI 模块 + 游戏流程</a:t>
            </a:r>
          </a:p>
        </p:txBody>
      </p:sp>
      <p:sp>
        <p:nvSpPr>
          <p:cNvPr id="24" name="">
            <a:extLst xmlns:a="http://schemas.openxmlformats.org/drawingml/2006/main">
              <a:ext uri="{FF2B5EF4-FFF2-40B4-BE49-F238E27FC236}">
                <a16:creationId xmlns:a16="http://schemas.microsoft.com/office/drawing/2014/main" id="{4CA80ADF-9282-4C78-B1B8-80D4C0C09339}"/>
              </a:ext>
            </a:extLst>
          </p:cNvPr>
          <p:cNvSpPr>
            <a:spLocks xmlns:a="http://schemas.openxmlformats.org/drawingml/2006/main" noGrp="1"/>
          </p:cNvSpPr>
          <p:nvPr/>
        </p:nvSpPr>
        <p:spPr>
          <a:xfrm xmlns:a="http://schemas.openxmlformats.org/drawingml/2006/main">
            <a:off x="7318375" y="2911475"/>
            <a:ext cx="21272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BAA48FDE-3D6A-4F9C-A0D4-CA54590B2D6F}"/>
              </a:ext>
            </a:extLst>
          </p:cNvPr>
          <p:cNvSpPr>
            <a:spLocks xmlns:a="http://schemas.openxmlformats.org/drawingml/2006/main" noGrp="1"/>
          </p:cNvSpPr>
          <p:nvPr/>
        </p:nvSpPr>
        <p:spPr>
          <a:xfrm xmlns:a="http://schemas.openxmlformats.org/drawingml/2006/main">
            <a:off x="7366000" y="2940050"/>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AiController 根据难度选择 AiStrategy</a:t>
            </a:r>
          </a:p>
        </p:txBody>
      </p:sp>
      <p:sp>
        <p:nvSpPr>
          <p:cNvPr id="26" name="">
            <a:extLst xmlns:a="http://schemas.openxmlformats.org/drawingml/2006/main">
              <a:ext uri="{FF2B5EF4-FFF2-40B4-BE49-F238E27FC236}">
                <a16:creationId xmlns:a16="http://schemas.microsoft.com/office/drawing/2014/main" id="{34B1D2DD-5FEE-462C-BC13-BCF4468A538D}"/>
              </a:ext>
            </a:extLst>
          </p:cNvPr>
          <p:cNvSpPr>
            <a:spLocks xmlns:a="http://schemas.openxmlformats.org/drawingml/2006/main" noGrp="1"/>
          </p:cNvSpPr>
          <p:nvPr/>
        </p:nvSpPr>
        <p:spPr>
          <a:xfrm xmlns:a="http://schemas.openxmlformats.org/drawingml/2006/main">
            <a:off x="9445625" y="2911475"/>
            <a:ext cx="21272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58F1CC7B-AE4E-4841-8765-BE09B4615B29}"/>
              </a:ext>
            </a:extLst>
          </p:cNvPr>
          <p:cNvSpPr>
            <a:spLocks xmlns:a="http://schemas.openxmlformats.org/drawingml/2006/main" noGrp="1"/>
          </p:cNvSpPr>
          <p:nvPr/>
        </p:nvSpPr>
        <p:spPr>
          <a:xfrm xmlns:a="http://schemas.openxmlformats.org/drawingml/2006/main">
            <a:off x="9493250" y="2940050"/>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AI 只在 Playing 阶段行动，暂停和发牌阶段不抢流程</a:t>
            </a:r>
          </a:p>
        </p:txBody>
      </p:sp>
      <p:sp>
        <p:nvSpPr>
          <p:cNvPr id="28" name="">
            <a:extLst xmlns:a="http://schemas.openxmlformats.org/drawingml/2006/main">
              <a:ext uri="{FF2B5EF4-FFF2-40B4-BE49-F238E27FC236}">
                <a16:creationId xmlns:a16="http://schemas.microsoft.com/office/drawing/2014/main" id="{6C9C0B72-0B79-44EC-9AC5-1F748B66FA9A}"/>
              </a:ext>
            </a:extLst>
          </p:cNvPr>
          <p:cNvSpPr>
            <a:spLocks xmlns:a="http://schemas.openxmlformats.org/drawingml/2006/main" noGrp="1"/>
          </p:cNvSpPr>
          <p:nvPr/>
        </p:nvSpPr>
        <p:spPr>
          <a:xfrm xmlns:a="http://schemas.openxmlformats.org/drawingml/2006/main">
            <a:off x="5191125" y="3517900"/>
            <a:ext cx="21272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B8FD068E-AE8A-4B94-A672-ADBF7AC84E31}"/>
              </a:ext>
            </a:extLst>
          </p:cNvPr>
          <p:cNvSpPr>
            <a:spLocks xmlns:a="http://schemas.openxmlformats.org/drawingml/2006/main" noGrp="1"/>
          </p:cNvSpPr>
          <p:nvPr/>
        </p:nvSpPr>
        <p:spPr>
          <a:xfrm xmlns:a="http://schemas.openxmlformats.org/drawingml/2006/main">
            <a:off x="5238750" y="3546475"/>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蓝牙模块 + 游戏状态</a:t>
            </a:r>
          </a:p>
        </p:txBody>
      </p:sp>
      <p:sp>
        <p:nvSpPr>
          <p:cNvPr id="30" name="">
            <a:extLst xmlns:a="http://schemas.openxmlformats.org/drawingml/2006/main">
              <a:ext uri="{FF2B5EF4-FFF2-40B4-BE49-F238E27FC236}">
                <a16:creationId xmlns:a16="http://schemas.microsoft.com/office/drawing/2014/main" id="{C8E7E368-B35F-45B4-AC8B-ED6AF80C646E}"/>
              </a:ext>
            </a:extLst>
          </p:cNvPr>
          <p:cNvSpPr>
            <a:spLocks xmlns:a="http://schemas.openxmlformats.org/drawingml/2006/main" noGrp="1"/>
          </p:cNvSpPr>
          <p:nvPr/>
        </p:nvSpPr>
        <p:spPr>
          <a:xfrm xmlns:a="http://schemas.openxmlformats.org/drawingml/2006/main">
            <a:off x="7318375" y="3517900"/>
            <a:ext cx="21272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292AA5D3-BECF-4D1B-934B-2AFE20C12994}"/>
              </a:ext>
            </a:extLst>
          </p:cNvPr>
          <p:cNvSpPr>
            <a:spLocks xmlns:a="http://schemas.openxmlformats.org/drawingml/2006/main" noGrp="1"/>
          </p:cNvSpPr>
          <p:nvPr/>
        </p:nvSpPr>
        <p:spPr>
          <a:xfrm xmlns:a="http://schemas.openxmlformats.org/drawingml/2006/main">
            <a:off x="7366000" y="3546475"/>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房主广播 MOVE_ACCEPTED 和 STATE_SNAPSHOT</a:t>
            </a:r>
          </a:p>
        </p:txBody>
      </p:sp>
      <p:sp>
        <p:nvSpPr>
          <p:cNvPr id="32" name="">
            <a:extLst xmlns:a="http://schemas.openxmlformats.org/drawingml/2006/main">
              <a:ext uri="{FF2B5EF4-FFF2-40B4-BE49-F238E27FC236}">
                <a16:creationId xmlns:a16="http://schemas.microsoft.com/office/drawing/2014/main" id="{7B01769D-ED63-4377-AFEB-C057444D69F5}"/>
              </a:ext>
            </a:extLst>
          </p:cNvPr>
          <p:cNvSpPr>
            <a:spLocks xmlns:a="http://schemas.openxmlformats.org/drawingml/2006/main" noGrp="1"/>
          </p:cNvSpPr>
          <p:nvPr/>
        </p:nvSpPr>
        <p:spPr>
          <a:xfrm xmlns:a="http://schemas.openxmlformats.org/drawingml/2006/main">
            <a:off x="9445625" y="3517900"/>
            <a:ext cx="21272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ACDABEA3-1D42-41E2-8841-C864901BB6C0}"/>
              </a:ext>
            </a:extLst>
          </p:cNvPr>
          <p:cNvSpPr>
            <a:spLocks xmlns:a="http://schemas.openxmlformats.org/drawingml/2006/main" noGrp="1"/>
          </p:cNvSpPr>
          <p:nvPr/>
        </p:nvSpPr>
        <p:spPr>
          <a:xfrm xmlns:a="http://schemas.openxmlformats.org/drawingml/2006/main">
            <a:off x="9493250" y="3546475"/>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客户端只展示房主快照，不直接修改权威牌局</a:t>
            </a:r>
          </a:p>
        </p:txBody>
      </p:sp>
      <p:sp>
        <p:nvSpPr>
          <p:cNvPr id="34" name="">
            <a:extLst xmlns:a="http://schemas.openxmlformats.org/drawingml/2006/main">
              <a:ext uri="{FF2B5EF4-FFF2-40B4-BE49-F238E27FC236}">
                <a16:creationId xmlns:a16="http://schemas.microsoft.com/office/drawing/2014/main" id="{365AC92C-4314-478E-80CE-04E9DD5647A9}"/>
              </a:ext>
            </a:extLst>
          </p:cNvPr>
          <p:cNvSpPr>
            <a:spLocks xmlns:a="http://schemas.openxmlformats.org/drawingml/2006/main" noGrp="1"/>
          </p:cNvSpPr>
          <p:nvPr/>
        </p:nvSpPr>
        <p:spPr>
          <a:xfrm xmlns:a="http://schemas.openxmlformats.org/drawingml/2006/main">
            <a:off x="5191125" y="4124325"/>
            <a:ext cx="21272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5" name="">
            <a:extLst xmlns:a="http://schemas.openxmlformats.org/drawingml/2006/main">
              <a:ext uri="{FF2B5EF4-FFF2-40B4-BE49-F238E27FC236}">
                <a16:creationId xmlns:a16="http://schemas.microsoft.com/office/drawing/2014/main" id="{0D6A4510-7839-4F96-B9FC-184275DD3C0D}"/>
              </a:ext>
            </a:extLst>
          </p:cNvPr>
          <p:cNvSpPr>
            <a:spLocks xmlns:a="http://schemas.openxmlformats.org/drawingml/2006/main" noGrp="1"/>
          </p:cNvSpPr>
          <p:nvPr/>
        </p:nvSpPr>
        <p:spPr>
          <a:xfrm xmlns:a="http://schemas.openxmlformats.org/drawingml/2006/main">
            <a:off x="5238750" y="4152900"/>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玩家成长 + 结算页</a:t>
            </a:r>
          </a:p>
        </p:txBody>
      </p:sp>
      <p:sp>
        <p:nvSpPr>
          <p:cNvPr id="36" name="">
            <a:extLst xmlns:a="http://schemas.openxmlformats.org/drawingml/2006/main">
              <a:ext uri="{FF2B5EF4-FFF2-40B4-BE49-F238E27FC236}">
                <a16:creationId xmlns:a16="http://schemas.microsoft.com/office/drawing/2014/main" id="{AB0D4223-B0D6-4BA7-B616-7873C4EA0F3F}"/>
              </a:ext>
            </a:extLst>
          </p:cNvPr>
          <p:cNvSpPr>
            <a:spLocks xmlns:a="http://schemas.openxmlformats.org/drawingml/2006/main" noGrp="1"/>
          </p:cNvSpPr>
          <p:nvPr/>
        </p:nvSpPr>
        <p:spPr>
          <a:xfrm xmlns:a="http://schemas.openxmlformats.org/drawingml/2006/main">
            <a:off x="7318375" y="4124325"/>
            <a:ext cx="21272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7" name="">
            <a:extLst xmlns:a="http://schemas.openxmlformats.org/drawingml/2006/main">
              <a:ext uri="{FF2B5EF4-FFF2-40B4-BE49-F238E27FC236}">
                <a16:creationId xmlns:a16="http://schemas.microsoft.com/office/drawing/2014/main" id="{59271ACC-EC54-44AF-8B6F-DE6D589CE2F2}"/>
              </a:ext>
            </a:extLst>
          </p:cNvPr>
          <p:cNvSpPr>
            <a:spLocks xmlns:a="http://schemas.openxmlformats.org/drawingml/2006/main" noGrp="1"/>
          </p:cNvSpPr>
          <p:nvPr/>
        </p:nvSpPr>
        <p:spPr>
          <a:xfrm xmlns:a="http://schemas.openxmlformats.org/drawingml/2006/main">
            <a:off x="7366000" y="4152900"/>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结算生成 MatchSettlement，交给 ProfileController</a:t>
            </a:r>
          </a:p>
        </p:txBody>
      </p:sp>
      <p:sp>
        <p:nvSpPr>
          <p:cNvPr id="38" name="">
            <a:extLst xmlns:a="http://schemas.openxmlformats.org/drawingml/2006/main">
              <a:ext uri="{FF2B5EF4-FFF2-40B4-BE49-F238E27FC236}">
                <a16:creationId xmlns:a16="http://schemas.microsoft.com/office/drawing/2014/main" id="{A63F1679-8653-46FA-9447-A1BCDAA50845}"/>
              </a:ext>
            </a:extLst>
          </p:cNvPr>
          <p:cNvSpPr>
            <a:spLocks xmlns:a="http://schemas.openxmlformats.org/drawingml/2006/main" noGrp="1"/>
          </p:cNvSpPr>
          <p:nvPr/>
        </p:nvSpPr>
        <p:spPr>
          <a:xfrm xmlns:a="http://schemas.openxmlformats.org/drawingml/2006/main">
            <a:off x="9445625" y="4124325"/>
            <a:ext cx="21272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9" name="">
            <a:extLst xmlns:a="http://schemas.openxmlformats.org/drawingml/2006/main">
              <a:ext uri="{FF2B5EF4-FFF2-40B4-BE49-F238E27FC236}">
                <a16:creationId xmlns:a16="http://schemas.microsoft.com/office/drawing/2014/main" id="{73CA2A6D-2439-4AA8-9C10-B02A77B7081F}"/>
              </a:ext>
            </a:extLst>
          </p:cNvPr>
          <p:cNvSpPr>
            <a:spLocks xmlns:a="http://schemas.openxmlformats.org/drawingml/2006/main" noGrp="1"/>
          </p:cNvSpPr>
          <p:nvPr/>
        </p:nvSpPr>
        <p:spPr>
          <a:xfrm xmlns:a="http://schemas.openxmlformats.org/drawingml/2006/main">
            <a:off x="9493250" y="4152900"/>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金币、经验、成就、战绩是否同步到大厅和玩家中心</a:t>
            </a:r>
          </a:p>
        </p:txBody>
      </p:sp>
      <p:sp>
        <p:nvSpPr>
          <p:cNvPr id="40" name="">
            <a:extLst xmlns:a="http://schemas.openxmlformats.org/drawingml/2006/main">
              <a:ext uri="{FF2B5EF4-FFF2-40B4-BE49-F238E27FC236}">
                <a16:creationId xmlns:a16="http://schemas.microsoft.com/office/drawing/2014/main" id="{2DCD4746-704F-4B4F-8E12-2E4B29B8B7D8}"/>
              </a:ext>
            </a:extLst>
          </p:cNvPr>
          <p:cNvSpPr>
            <a:spLocks xmlns:a="http://schemas.openxmlformats.org/drawingml/2006/main" noGrp="1"/>
          </p:cNvSpPr>
          <p:nvPr/>
        </p:nvSpPr>
        <p:spPr>
          <a:xfrm xmlns:a="http://schemas.openxmlformats.org/drawingml/2006/main">
            <a:off x="5191125" y="4730750"/>
            <a:ext cx="21272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1" name="">
            <a:extLst xmlns:a="http://schemas.openxmlformats.org/drawingml/2006/main">
              <a:ext uri="{FF2B5EF4-FFF2-40B4-BE49-F238E27FC236}">
                <a16:creationId xmlns:a16="http://schemas.microsoft.com/office/drawing/2014/main" id="{91809B82-0F31-456F-AE0A-AAAE44F0CADB}"/>
              </a:ext>
            </a:extLst>
          </p:cNvPr>
          <p:cNvSpPr>
            <a:spLocks xmlns:a="http://schemas.openxmlformats.org/drawingml/2006/main" noGrp="1"/>
          </p:cNvSpPr>
          <p:nvPr/>
        </p:nvSpPr>
        <p:spPr>
          <a:xfrm xmlns:a="http://schemas.openxmlformats.org/drawingml/2006/main">
            <a:off x="5238750" y="4759325"/>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音乐反馈 + 页面生命周期</a:t>
            </a:r>
          </a:p>
        </p:txBody>
      </p:sp>
      <p:sp>
        <p:nvSpPr>
          <p:cNvPr id="42" name="">
            <a:extLst xmlns:a="http://schemas.openxmlformats.org/drawingml/2006/main">
              <a:ext uri="{FF2B5EF4-FFF2-40B4-BE49-F238E27FC236}">
                <a16:creationId xmlns:a16="http://schemas.microsoft.com/office/drawing/2014/main" id="{02B9E5D4-A0E3-438C-8945-2E81C5D82B5D}"/>
              </a:ext>
            </a:extLst>
          </p:cNvPr>
          <p:cNvSpPr>
            <a:spLocks xmlns:a="http://schemas.openxmlformats.org/drawingml/2006/main" noGrp="1"/>
          </p:cNvSpPr>
          <p:nvPr/>
        </p:nvSpPr>
        <p:spPr>
          <a:xfrm xmlns:a="http://schemas.openxmlformats.org/drawingml/2006/main">
            <a:off x="7318375" y="4730750"/>
            <a:ext cx="21272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3" name="">
            <a:extLst xmlns:a="http://schemas.openxmlformats.org/drawingml/2006/main">
              <a:ext uri="{FF2B5EF4-FFF2-40B4-BE49-F238E27FC236}">
                <a16:creationId xmlns:a16="http://schemas.microsoft.com/office/drawing/2014/main" id="{1B8C6201-3641-43E4-B589-6841C56977F8}"/>
              </a:ext>
            </a:extLst>
          </p:cNvPr>
          <p:cNvSpPr>
            <a:spLocks xmlns:a="http://schemas.openxmlformats.org/drawingml/2006/main" noGrp="1"/>
          </p:cNvSpPr>
          <p:nvPr/>
        </p:nvSpPr>
        <p:spPr>
          <a:xfrm xmlns:a="http://schemas.openxmlformats.org/drawingml/2006/main">
            <a:off x="7366000" y="4759325"/>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CardRoomMusicPlayer 由页面状态控制</a:t>
            </a:r>
          </a:p>
        </p:txBody>
      </p:sp>
      <p:sp>
        <p:nvSpPr>
          <p:cNvPr id="44" name="">
            <a:extLst xmlns:a="http://schemas.openxmlformats.org/drawingml/2006/main">
              <a:ext uri="{FF2B5EF4-FFF2-40B4-BE49-F238E27FC236}">
                <a16:creationId xmlns:a16="http://schemas.microsoft.com/office/drawing/2014/main" id="{85819A0D-E07B-4848-8345-D0F8296C9A56}"/>
              </a:ext>
            </a:extLst>
          </p:cNvPr>
          <p:cNvSpPr>
            <a:spLocks xmlns:a="http://schemas.openxmlformats.org/drawingml/2006/main" noGrp="1"/>
          </p:cNvSpPr>
          <p:nvPr/>
        </p:nvSpPr>
        <p:spPr>
          <a:xfrm xmlns:a="http://schemas.openxmlformats.org/drawingml/2006/main">
            <a:off x="9445625" y="4730750"/>
            <a:ext cx="2127250"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5" name="">
            <a:extLst xmlns:a="http://schemas.openxmlformats.org/drawingml/2006/main">
              <a:ext uri="{FF2B5EF4-FFF2-40B4-BE49-F238E27FC236}">
                <a16:creationId xmlns:a16="http://schemas.microsoft.com/office/drawing/2014/main" id="{586BD093-4241-4D15-8B7F-73D83A51D04D}"/>
              </a:ext>
            </a:extLst>
          </p:cNvPr>
          <p:cNvSpPr>
            <a:spLocks xmlns:a="http://schemas.openxmlformats.org/drawingml/2006/main" noGrp="1"/>
          </p:cNvSpPr>
          <p:nvPr/>
        </p:nvSpPr>
        <p:spPr>
          <a:xfrm xmlns:a="http://schemas.openxmlformats.org/drawingml/2006/main">
            <a:off x="9493250" y="4759325"/>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页面切换后音乐不重复创建，设置开关能生效</a:t>
            </a:r>
          </a:p>
        </p:txBody>
      </p:sp>
      <p:sp>
        <p:nvSpPr>
          <p:cNvPr id="46" name="">
            <a:extLst xmlns:a="http://schemas.openxmlformats.org/drawingml/2006/main">
              <a:ext uri="{FF2B5EF4-FFF2-40B4-BE49-F238E27FC236}">
                <a16:creationId xmlns:a16="http://schemas.microsoft.com/office/drawing/2014/main" id="{F9A30AC3-0A7C-4F33-ACA3-424F6A02E6B5}"/>
              </a:ext>
            </a:extLst>
          </p:cNvPr>
          <p:cNvSpPr>
            <a:spLocks xmlns:a="http://schemas.openxmlformats.org/drawingml/2006/main" noGrp="1"/>
          </p:cNvSpPr>
          <p:nvPr/>
        </p:nvSpPr>
        <p:spPr>
          <a:xfrm xmlns:a="http://schemas.openxmlformats.org/drawingml/2006/main">
            <a:off x="5191125" y="5337175"/>
            <a:ext cx="21272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7" name="">
            <a:extLst xmlns:a="http://schemas.openxmlformats.org/drawingml/2006/main">
              <a:ext uri="{FF2B5EF4-FFF2-40B4-BE49-F238E27FC236}">
                <a16:creationId xmlns:a16="http://schemas.microsoft.com/office/drawing/2014/main" id="{161BA0F1-971F-4C27-8B97-677780257665}"/>
              </a:ext>
            </a:extLst>
          </p:cNvPr>
          <p:cNvSpPr>
            <a:spLocks xmlns:a="http://schemas.openxmlformats.org/drawingml/2006/main" noGrp="1"/>
          </p:cNvSpPr>
          <p:nvPr/>
        </p:nvSpPr>
        <p:spPr>
          <a:xfrm xmlns:a="http://schemas.openxmlformats.org/drawingml/2006/main">
            <a:off x="5238750" y="5365750"/>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Release 配置 + 本地数据</a:t>
            </a:r>
          </a:p>
        </p:txBody>
      </p:sp>
      <p:sp>
        <p:nvSpPr>
          <p:cNvPr id="48" name="">
            <a:extLst xmlns:a="http://schemas.openxmlformats.org/drawingml/2006/main">
              <a:ext uri="{FF2B5EF4-FFF2-40B4-BE49-F238E27FC236}">
                <a16:creationId xmlns:a16="http://schemas.microsoft.com/office/drawing/2014/main" id="{142C2E09-ADB5-404B-B4BA-D6638E416396}"/>
              </a:ext>
            </a:extLst>
          </p:cNvPr>
          <p:cNvSpPr>
            <a:spLocks xmlns:a="http://schemas.openxmlformats.org/drawingml/2006/main" noGrp="1"/>
          </p:cNvSpPr>
          <p:nvPr/>
        </p:nvSpPr>
        <p:spPr>
          <a:xfrm xmlns:a="http://schemas.openxmlformats.org/drawingml/2006/main">
            <a:off x="7318375" y="5337175"/>
            <a:ext cx="21272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9" name="">
            <a:extLst xmlns:a="http://schemas.openxmlformats.org/drawingml/2006/main">
              <a:ext uri="{FF2B5EF4-FFF2-40B4-BE49-F238E27FC236}">
                <a16:creationId xmlns:a16="http://schemas.microsoft.com/office/drawing/2014/main" id="{C95E7D48-F67D-4588-898B-99D499619938}"/>
              </a:ext>
            </a:extLst>
          </p:cNvPr>
          <p:cNvSpPr>
            <a:spLocks xmlns:a="http://schemas.openxmlformats.org/drawingml/2006/main" noGrp="1"/>
          </p:cNvSpPr>
          <p:nvPr/>
        </p:nvSpPr>
        <p:spPr>
          <a:xfrm xmlns:a="http://schemas.openxmlformats.org/drawingml/2006/main">
            <a:off x="7366000" y="5365750"/>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debug/release 签名和敏感文件分离</a:t>
            </a:r>
          </a:p>
        </p:txBody>
      </p:sp>
      <p:sp>
        <p:nvSpPr>
          <p:cNvPr id="50" name="">
            <a:extLst xmlns:a="http://schemas.openxmlformats.org/drawingml/2006/main">
              <a:ext uri="{FF2B5EF4-FFF2-40B4-BE49-F238E27FC236}">
                <a16:creationId xmlns:a16="http://schemas.microsoft.com/office/drawing/2014/main" id="{A699CEEA-E3E7-4F77-A2F6-F7C8C9740248}"/>
              </a:ext>
            </a:extLst>
          </p:cNvPr>
          <p:cNvSpPr>
            <a:spLocks xmlns:a="http://schemas.openxmlformats.org/drawingml/2006/main" noGrp="1"/>
          </p:cNvSpPr>
          <p:nvPr/>
        </p:nvSpPr>
        <p:spPr>
          <a:xfrm xmlns:a="http://schemas.openxmlformats.org/drawingml/2006/main">
            <a:off x="9445625" y="5337175"/>
            <a:ext cx="2127250"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1" name="">
            <a:extLst xmlns:a="http://schemas.openxmlformats.org/drawingml/2006/main">
              <a:ext uri="{FF2B5EF4-FFF2-40B4-BE49-F238E27FC236}">
                <a16:creationId xmlns:a16="http://schemas.microsoft.com/office/drawing/2014/main" id="{CA928CDC-9917-4D81-84A1-F174E7B3D4B5}"/>
              </a:ext>
            </a:extLst>
          </p:cNvPr>
          <p:cNvSpPr>
            <a:spLocks xmlns:a="http://schemas.openxmlformats.org/drawingml/2006/main" noGrp="1"/>
          </p:cNvSpPr>
          <p:nvPr/>
        </p:nvSpPr>
        <p:spPr>
          <a:xfrm xmlns:a="http://schemas.openxmlformats.org/drawingml/2006/main">
            <a:off x="9493250" y="5365750"/>
            <a:ext cx="2032000"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私钥不上传 GitHub，release 包能独立安装运行</a:t>
            </a:r>
          </a:p>
        </p:txBody>
      </p:sp>
    </p:spTree>
    <p:extLst>
      <p:ext uri="{BB962C8B-B14F-4D97-AF65-F5344CB8AC3E}">
        <p14:creationId xmlns:p14="http://schemas.microsoft.com/office/powerpoint/2010/main" val="766230913"/>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EED011B-BDCF-49F3-8492-1CB44CB182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C993EE-63D6-4D95-BCAE-2294F07FFCCD}"/>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800310-4093-48A0-A681-F8C5962663F3}"/>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263AD91-8AAF-468C-8B71-B132EC487039}"/>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25056CBD-6547-4B8B-B282-BA04CF67C77E}"/>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85</a:t>
            </a:r>
          </a:p>
        </p:txBody>
      </p:sp>
      <p:sp>
        <p:nvSpPr>
          <p:cNvPr id="6" name="">
            <a:extLst xmlns:a="http://schemas.openxmlformats.org/drawingml/2006/main">
              <a:ext uri="{FF2B5EF4-FFF2-40B4-BE49-F238E27FC236}">
                <a16:creationId xmlns:a16="http://schemas.microsoft.com/office/drawing/2014/main" id="{41AD3532-5C35-4079-AF6F-CAF26BDC15F8}"/>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98D93AF5-BE7C-44C9-AD72-1C11D5B6850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8.2 系统整合（2/12）</a:t>
            </a:r>
          </a:p>
        </p:txBody>
      </p:sp>
      <p:sp>
        <p:nvSpPr>
          <p:cNvPr id="8" name="">
            <a:extLst xmlns:a="http://schemas.openxmlformats.org/drawingml/2006/main">
              <a:ext uri="{FF2B5EF4-FFF2-40B4-BE49-F238E27FC236}">
                <a16:creationId xmlns:a16="http://schemas.microsoft.com/office/drawing/2014/main" id="{E00B63EB-647D-4D60-BE2C-099A6AF67893}"/>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BD9171E-9E05-4698-844E-F2C7AB8794D4}"/>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9815"/>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1. 背景音乐使用用户提供的 小旭音乐-欢乐斗地主背景音乐.ogg，并按 0:00 到 1:33 截取循环播放。</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2. 主界面和对局中都能播放背景音乐，设置页可以开关。</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3. 出牌时触发音效，震动开关打开时触发系统震动反馈。</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4. CardRoomMusicPlayer 负责背景音乐生命周期，避免页面切换后重复创建播放器。</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5. 音效和震动属于用户反馈，不参与牌局逻辑，因此与 GameController 分离。</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交付阶段成果材料如下：</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阶段图片成果如下：</a:t>
            </a:r>
          </a:p>
        </p:txBody>
      </p:sp>
      <p:sp>
        <p:nvSpPr>
          <p:cNvPr id="10" name="">
            <a:extLst xmlns:a="http://schemas.openxmlformats.org/drawingml/2006/main">
              <a:ext uri="{FF2B5EF4-FFF2-40B4-BE49-F238E27FC236}">
                <a16:creationId xmlns:a16="http://schemas.microsoft.com/office/drawing/2014/main" id="{D38E99DF-1BC4-4C28-BD78-092306597B21}"/>
              </a:ext>
            </a:extLst>
          </p:cNvPr>
          <p:cNvSpPr>
            <a:spLocks xmlns:a="http://schemas.openxmlformats.org/drawingml/2006/main" noGrp="1"/>
          </p:cNvSpPr>
          <p:nvPr/>
        </p:nvSpPr>
        <p:spPr>
          <a:xfrm xmlns:a="http://schemas.openxmlformats.org/drawingml/2006/main">
            <a:off x="5191125" y="1905000"/>
            <a:ext cx="1160318"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4E8E8609-1B47-4604-AE39-3E5473EEF4AE}"/>
              </a:ext>
            </a:extLst>
          </p:cNvPr>
          <p:cNvSpPr>
            <a:spLocks xmlns:a="http://schemas.openxmlformats.org/drawingml/2006/main" noGrp="1"/>
          </p:cNvSpPr>
          <p:nvPr/>
        </p:nvSpPr>
        <p:spPr>
          <a:xfrm xmlns:a="http://schemas.openxmlformats.org/drawingml/2006/main">
            <a:off x="5238750" y="1943100"/>
            <a:ext cx="106506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成果类型</a:t>
            </a:r>
          </a:p>
        </p:txBody>
      </p:sp>
      <p:sp>
        <p:nvSpPr>
          <p:cNvPr id="12" name="">
            <a:extLst xmlns:a="http://schemas.openxmlformats.org/drawingml/2006/main">
              <a:ext uri="{FF2B5EF4-FFF2-40B4-BE49-F238E27FC236}">
                <a16:creationId xmlns:a16="http://schemas.microsoft.com/office/drawing/2014/main" id="{8FE44089-C102-4944-B44A-242DCD4BA096}"/>
              </a:ext>
            </a:extLst>
          </p:cNvPr>
          <p:cNvSpPr>
            <a:spLocks xmlns:a="http://schemas.openxmlformats.org/drawingml/2006/main" noGrp="1"/>
          </p:cNvSpPr>
          <p:nvPr/>
        </p:nvSpPr>
        <p:spPr>
          <a:xfrm xmlns:a="http://schemas.openxmlformats.org/drawingml/2006/main">
            <a:off x="6351443" y="1905000"/>
            <a:ext cx="2610716"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D0B56338-4279-4EEE-A418-C6934778A316}"/>
              </a:ext>
            </a:extLst>
          </p:cNvPr>
          <p:cNvSpPr>
            <a:spLocks xmlns:a="http://schemas.openxmlformats.org/drawingml/2006/main" noGrp="1"/>
          </p:cNvSpPr>
          <p:nvPr/>
        </p:nvSpPr>
        <p:spPr>
          <a:xfrm xmlns:a="http://schemas.openxmlformats.org/drawingml/2006/main">
            <a:off x="6399068" y="1943100"/>
            <a:ext cx="251546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展示内容</a:t>
            </a:r>
          </a:p>
        </p:txBody>
      </p:sp>
      <p:sp>
        <p:nvSpPr>
          <p:cNvPr id="14" name="">
            <a:extLst xmlns:a="http://schemas.openxmlformats.org/drawingml/2006/main">
              <a:ext uri="{FF2B5EF4-FFF2-40B4-BE49-F238E27FC236}">
                <a16:creationId xmlns:a16="http://schemas.microsoft.com/office/drawing/2014/main" id="{017DCF11-4ACE-4AC7-A4C1-6875CB9A2B69}"/>
              </a:ext>
            </a:extLst>
          </p:cNvPr>
          <p:cNvSpPr>
            <a:spLocks xmlns:a="http://schemas.openxmlformats.org/drawingml/2006/main" noGrp="1"/>
          </p:cNvSpPr>
          <p:nvPr/>
        </p:nvSpPr>
        <p:spPr>
          <a:xfrm xmlns:a="http://schemas.openxmlformats.org/drawingml/2006/main">
            <a:off x="8962159" y="1905000"/>
            <a:ext cx="2610716"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1FDDA06B-76AB-46DA-A232-AA0443DAA8A7}"/>
              </a:ext>
            </a:extLst>
          </p:cNvPr>
          <p:cNvSpPr>
            <a:spLocks xmlns:a="http://schemas.openxmlformats.org/drawingml/2006/main" noGrp="1"/>
          </p:cNvSpPr>
          <p:nvPr/>
        </p:nvSpPr>
        <p:spPr>
          <a:xfrm xmlns:a="http://schemas.openxmlformats.org/drawingml/2006/main">
            <a:off x="9009784" y="1943100"/>
            <a:ext cx="251546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证据材料</a:t>
            </a:r>
          </a:p>
        </p:txBody>
      </p:sp>
      <p:sp>
        <p:nvSpPr>
          <p:cNvPr id="16" name="">
            <a:extLst xmlns:a="http://schemas.openxmlformats.org/drawingml/2006/main">
              <a:ext uri="{FF2B5EF4-FFF2-40B4-BE49-F238E27FC236}">
                <a16:creationId xmlns:a16="http://schemas.microsoft.com/office/drawing/2014/main" id="{2B8756E1-C48F-4B27-8A0F-81E74C2C5AE1}"/>
              </a:ext>
            </a:extLst>
          </p:cNvPr>
          <p:cNvSpPr>
            <a:spLocks xmlns:a="http://schemas.openxmlformats.org/drawingml/2006/main" noGrp="1"/>
          </p:cNvSpPr>
          <p:nvPr/>
        </p:nvSpPr>
        <p:spPr>
          <a:xfrm xmlns:a="http://schemas.openxmlformats.org/drawingml/2006/main">
            <a:off x="5191125" y="2305050"/>
            <a:ext cx="1160318"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178DD7CF-7612-449E-9569-4D0A47F41A2E}"/>
              </a:ext>
            </a:extLst>
          </p:cNvPr>
          <p:cNvSpPr>
            <a:spLocks xmlns:a="http://schemas.openxmlformats.org/drawingml/2006/main" noGrp="1"/>
          </p:cNvSpPr>
          <p:nvPr/>
        </p:nvSpPr>
        <p:spPr>
          <a:xfrm xmlns:a="http://schemas.openxmlformats.org/drawingml/2006/main">
            <a:off x="5238750" y="2333625"/>
            <a:ext cx="106506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集成成果</a:t>
            </a:r>
          </a:p>
        </p:txBody>
      </p:sp>
      <p:sp>
        <p:nvSpPr>
          <p:cNvPr id="18" name="">
            <a:extLst xmlns:a="http://schemas.openxmlformats.org/drawingml/2006/main">
              <a:ext uri="{FF2B5EF4-FFF2-40B4-BE49-F238E27FC236}">
                <a16:creationId xmlns:a16="http://schemas.microsoft.com/office/drawing/2014/main" id="{4FAEEE06-8C17-46BA-9679-0A249C56FC0B}"/>
              </a:ext>
            </a:extLst>
          </p:cNvPr>
          <p:cNvSpPr>
            <a:spLocks xmlns:a="http://schemas.openxmlformats.org/drawingml/2006/main" noGrp="1"/>
          </p:cNvSpPr>
          <p:nvPr/>
        </p:nvSpPr>
        <p:spPr>
          <a:xfrm xmlns:a="http://schemas.openxmlformats.org/drawingml/2006/main">
            <a:off x="6351443" y="2305050"/>
            <a:ext cx="2610716"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A7B41DD8-482A-4D97-A493-CA220EC3260F}"/>
              </a:ext>
            </a:extLst>
          </p:cNvPr>
          <p:cNvSpPr>
            <a:spLocks xmlns:a="http://schemas.openxmlformats.org/drawingml/2006/main" noGrp="1"/>
          </p:cNvSpPr>
          <p:nvPr/>
        </p:nvSpPr>
        <p:spPr>
          <a:xfrm xmlns:a="http://schemas.openxmlformats.org/drawingml/2006/main">
            <a:off x="6399068" y="2333625"/>
            <a:ext cx="2515466"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规则、AI、蓝牙、UI、玩家成长、音乐反馈统一接入最终 App</a:t>
            </a:r>
          </a:p>
        </p:txBody>
      </p:sp>
      <p:sp>
        <p:nvSpPr>
          <p:cNvPr id="20" name="">
            <a:extLst xmlns:a="http://schemas.openxmlformats.org/drawingml/2006/main">
              <a:ext uri="{FF2B5EF4-FFF2-40B4-BE49-F238E27FC236}">
                <a16:creationId xmlns:a16="http://schemas.microsoft.com/office/drawing/2014/main" id="{1BC81A6D-535D-41B7-B58A-A594364ABA5E}"/>
              </a:ext>
            </a:extLst>
          </p:cNvPr>
          <p:cNvSpPr>
            <a:spLocks xmlns:a="http://schemas.openxmlformats.org/drawingml/2006/main" noGrp="1"/>
          </p:cNvSpPr>
          <p:nvPr/>
        </p:nvSpPr>
        <p:spPr>
          <a:xfrm xmlns:a="http://schemas.openxmlformats.org/drawingml/2006/main">
            <a:off x="8962159" y="2305050"/>
            <a:ext cx="2610716"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2F74919F-0AB9-486E-AE97-BE2FA4D0F5B6}"/>
              </a:ext>
            </a:extLst>
          </p:cNvPr>
          <p:cNvSpPr>
            <a:spLocks xmlns:a="http://schemas.openxmlformats.org/drawingml/2006/main" noGrp="1"/>
          </p:cNvSpPr>
          <p:nvPr/>
        </p:nvSpPr>
        <p:spPr>
          <a:xfrm xmlns:a="http://schemas.openxmlformats.org/drawingml/2006/main">
            <a:off x="9009784" y="2333625"/>
            <a:ext cx="2515466"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app/src/main/java/com/example/uml_chudadi/</a:t>
            </a:r>
          </a:p>
        </p:txBody>
      </p:sp>
      <p:sp>
        <p:nvSpPr>
          <p:cNvPr id="22" name="">
            <a:extLst xmlns:a="http://schemas.openxmlformats.org/drawingml/2006/main">
              <a:ext uri="{FF2B5EF4-FFF2-40B4-BE49-F238E27FC236}">
                <a16:creationId xmlns:a16="http://schemas.microsoft.com/office/drawing/2014/main" id="{07576E04-25F9-4D8A-A4B5-60EC2F002D56}"/>
              </a:ext>
            </a:extLst>
          </p:cNvPr>
          <p:cNvSpPr>
            <a:spLocks xmlns:a="http://schemas.openxmlformats.org/drawingml/2006/main" noGrp="1"/>
          </p:cNvSpPr>
          <p:nvPr/>
        </p:nvSpPr>
        <p:spPr>
          <a:xfrm xmlns:a="http://schemas.openxmlformats.org/drawingml/2006/main">
            <a:off x="5191125" y="3214688"/>
            <a:ext cx="1160318"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1A26CF5D-0542-4385-9018-92EFF7E8C06A}"/>
              </a:ext>
            </a:extLst>
          </p:cNvPr>
          <p:cNvSpPr>
            <a:spLocks xmlns:a="http://schemas.openxmlformats.org/drawingml/2006/main" noGrp="1"/>
          </p:cNvSpPr>
          <p:nvPr/>
        </p:nvSpPr>
        <p:spPr>
          <a:xfrm xmlns:a="http://schemas.openxmlformats.org/drawingml/2006/main">
            <a:off x="5238750" y="3243263"/>
            <a:ext cx="106506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测试成果</a:t>
            </a:r>
          </a:p>
        </p:txBody>
      </p:sp>
      <p:sp>
        <p:nvSpPr>
          <p:cNvPr id="24" name="">
            <a:extLst xmlns:a="http://schemas.openxmlformats.org/drawingml/2006/main">
              <a:ext uri="{FF2B5EF4-FFF2-40B4-BE49-F238E27FC236}">
                <a16:creationId xmlns:a16="http://schemas.microsoft.com/office/drawing/2014/main" id="{CB754C98-FA84-4D3E-9798-84C2D72CFF4A}"/>
              </a:ext>
            </a:extLst>
          </p:cNvPr>
          <p:cNvSpPr>
            <a:spLocks xmlns:a="http://schemas.openxmlformats.org/drawingml/2006/main" noGrp="1"/>
          </p:cNvSpPr>
          <p:nvPr/>
        </p:nvSpPr>
        <p:spPr>
          <a:xfrm xmlns:a="http://schemas.openxmlformats.org/drawingml/2006/main">
            <a:off x="6351443" y="3214688"/>
            <a:ext cx="2610716"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5AD54F86-1997-4C6A-B5AC-B47504BEB3BA}"/>
              </a:ext>
            </a:extLst>
          </p:cNvPr>
          <p:cNvSpPr>
            <a:spLocks xmlns:a="http://schemas.openxmlformats.org/drawingml/2006/main" noGrp="1"/>
          </p:cNvSpPr>
          <p:nvPr/>
        </p:nvSpPr>
        <p:spPr>
          <a:xfrm xmlns:a="http://schemas.openxmlformats.org/drawingml/2006/main">
            <a:off x="6399068" y="3243263"/>
            <a:ext cx="2515466"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单元测试、模拟蓝牙测试、玩家成长测试、音乐资源测试、设备冒烟测试</a:t>
            </a:r>
          </a:p>
        </p:txBody>
      </p:sp>
      <p:sp>
        <p:nvSpPr>
          <p:cNvPr id="26" name="">
            <a:extLst xmlns:a="http://schemas.openxmlformats.org/drawingml/2006/main">
              <a:ext uri="{FF2B5EF4-FFF2-40B4-BE49-F238E27FC236}">
                <a16:creationId xmlns:a16="http://schemas.microsoft.com/office/drawing/2014/main" id="{9F381570-7109-49E5-9982-8AB87D3AB184}"/>
              </a:ext>
            </a:extLst>
          </p:cNvPr>
          <p:cNvSpPr>
            <a:spLocks xmlns:a="http://schemas.openxmlformats.org/drawingml/2006/main" noGrp="1"/>
          </p:cNvSpPr>
          <p:nvPr/>
        </p:nvSpPr>
        <p:spPr>
          <a:xfrm xmlns:a="http://schemas.openxmlformats.org/drawingml/2006/main">
            <a:off x="8962159" y="3214688"/>
            <a:ext cx="2610716"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031BF311-F515-4E16-B54F-CFF44FE46311}"/>
              </a:ext>
            </a:extLst>
          </p:cNvPr>
          <p:cNvSpPr>
            <a:spLocks xmlns:a="http://schemas.openxmlformats.org/drawingml/2006/main" noGrp="1"/>
          </p:cNvSpPr>
          <p:nvPr/>
        </p:nvSpPr>
        <p:spPr>
          <a:xfrm xmlns:a="http://schemas.openxmlformats.org/drawingml/2006/main">
            <a:off x="9009784" y="3243263"/>
            <a:ext cx="2515466"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docs/test_report.md、app/src/test/、app/src/androidTest/</a:t>
            </a:r>
          </a:p>
        </p:txBody>
      </p:sp>
      <p:sp>
        <p:nvSpPr>
          <p:cNvPr id="28" name="">
            <a:extLst xmlns:a="http://schemas.openxmlformats.org/drawingml/2006/main">
              <a:ext uri="{FF2B5EF4-FFF2-40B4-BE49-F238E27FC236}">
                <a16:creationId xmlns:a16="http://schemas.microsoft.com/office/drawing/2014/main" id="{2D87EF54-D007-4DE4-BCEA-960A968581C1}"/>
              </a:ext>
            </a:extLst>
          </p:cNvPr>
          <p:cNvSpPr>
            <a:spLocks xmlns:a="http://schemas.openxmlformats.org/drawingml/2006/main" noGrp="1"/>
          </p:cNvSpPr>
          <p:nvPr/>
        </p:nvSpPr>
        <p:spPr>
          <a:xfrm xmlns:a="http://schemas.openxmlformats.org/drawingml/2006/main">
            <a:off x="5191125" y="4124325"/>
            <a:ext cx="1160318"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948F6902-28E7-4456-9EEF-41B51005589E}"/>
              </a:ext>
            </a:extLst>
          </p:cNvPr>
          <p:cNvSpPr>
            <a:spLocks xmlns:a="http://schemas.openxmlformats.org/drawingml/2006/main" noGrp="1"/>
          </p:cNvSpPr>
          <p:nvPr/>
        </p:nvSpPr>
        <p:spPr>
          <a:xfrm xmlns:a="http://schemas.openxmlformats.org/drawingml/2006/main">
            <a:off x="5238750" y="4152900"/>
            <a:ext cx="106506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文档成果</a:t>
            </a:r>
          </a:p>
        </p:txBody>
      </p:sp>
      <p:sp>
        <p:nvSpPr>
          <p:cNvPr id="30" name="">
            <a:extLst xmlns:a="http://schemas.openxmlformats.org/drawingml/2006/main">
              <a:ext uri="{FF2B5EF4-FFF2-40B4-BE49-F238E27FC236}">
                <a16:creationId xmlns:a16="http://schemas.microsoft.com/office/drawing/2014/main" id="{E47DB9D5-890E-4F45-B73E-B724BE844A1D}"/>
              </a:ext>
            </a:extLst>
          </p:cNvPr>
          <p:cNvSpPr>
            <a:spLocks xmlns:a="http://schemas.openxmlformats.org/drawingml/2006/main" noGrp="1"/>
          </p:cNvSpPr>
          <p:nvPr/>
        </p:nvSpPr>
        <p:spPr>
          <a:xfrm xmlns:a="http://schemas.openxmlformats.org/drawingml/2006/main">
            <a:off x="6351443" y="4124325"/>
            <a:ext cx="2610716"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8F21885E-C477-48F0-959F-27C65326BA5B}"/>
              </a:ext>
            </a:extLst>
          </p:cNvPr>
          <p:cNvSpPr>
            <a:spLocks xmlns:a="http://schemas.openxmlformats.org/drawingml/2006/main" noGrp="1"/>
          </p:cNvSpPr>
          <p:nvPr/>
        </p:nvSpPr>
        <p:spPr>
          <a:xfrm xmlns:a="http://schemas.openxmlformats.org/drawingml/2006/main">
            <a:off x="6399068" y="4152900"/>
            <a:ext cx="2515466"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完整项目说明、需求、设计、测试、AI 使用、Scrum、最终检查表</a:t>
            </a:r>
          </a:p>
        </p:txBody>
      </p:sp>
      <p:sp>
        <p:nvSpPr>
          <p:cNvPr id="32" name="">
            <a:extLst xmlns:a="http://schemas.openxmlformats.org/drawingml/2006/main">
              <a:ext uri="{FF2B5EF4-FFF2-40B4-BE49-F238E27FC236}">
                <a16:creationId xmlns:a16="http://schemas.microsoft.com/office/drawing/2014/main" id="{C6B7466A-F701-4582-AB36-F8769F845B8F}"/>
              </a:ext>
            </a:extLst>
          </p:cNvPr>
          <p:cNvSpPr>
            <a:spLocks xmlns:a="http://schemas.openxmlformats.org/drawingml/2006/main" noGrp="1"/>
          </p:cNvSpPr>
          <p:nvPr/>
        </p:nvSpPr>
        <p:spPr>
          <a:xfrm xmlns:a="http://schemas.openxmlformats.org/drawingml/2006/main">
            <a:off x="8962159" y="4124325"/>
            <a:ext cx="2610716"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FCFB2709-2108-4CEB-A0EB-031CEDC53A39}"/>
              </a:ext>
            </a:extLst>
          </p:cNvPr>
          <p:cNvSpPr>
            <a:spLocks xmlns:a="http://schemas.openxmlformats.org/drawingml/2006/main" noGrp="1"/>
          </p:cNvSpPr>
          <p:nvPr/>
        </p:nvSpPr>
        <p:spPr>
          <a:xfrm xmlns:a="http://schemas.openxmlformats.org/drawingml/2006/main">
            <a:off x="9009784" y="4152900"/>
            <a:ext cx="2515466"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docs/complete_project_documentation.md、docs/final_checklist.md</a:t>
            </a:r>
          </a:p>
        </p:txBody>
      </p:sp>
      <p:sp>
        <p:nvSpPr>
          <p:cNvPr id="34" name="">
            <a:extLst xmlns:a="http://schemas.openxmlformats.org/drawingml/2006/main">
              <a:ext uri="{FF2B5EF4-FFF2-40B4-BE49-F238E27FC236}">
                <a16:creationId xmlns:a16="http://schemas.microsoft.com/office/drawing/2014/main" id="{743B0530-0B2A-47A0-B4C1-6866058BC6C5}"/>
              </a:ext>
            </a:extLst>
          </p:cNvPr>
          <p:cNvSpPr>
            <a:spLocks xmlns:a="http://schemas.openxmlformats.org/drawingml/2006/main" noGrp="1"/>
          </p:cNvSpPr>
          <p:nvPr/>
        </p:nvSpPr>
        <p:spPr>
          <a:xfrm xmlns:a="http://schemas.openxmlformats.org/drawingml/2006/main">
            <a:off x="5191125" y="5033963"/>
            <a:ext cx="1160318"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5" name="">
            <a:extLst xmlns:a="http://schemas.openxmlformats.org/drawingml/2006/main">
              <a:ext uri="{FF2B5EF4-FFF2-40B4-BE49-F238E27FC236}">
                <a16:creationId xmlns:a16="http://schemas.microsoft.com/office/drawing/2014/main" id="{C03616D9-5E1F-4F68-A8D7-52A8910C2DFC}"/>
              </a:ext>
            </a:extLst>
          </p:cNvPr>
          <p:cNvSpPr>
            <a:spLocks xmlns:a="http://schemas.openxmlformats.org/drawingml/2006/main" noGrp="1"/>
          </p:cNvSpPr>
          <p:nvPr/>
        </p:nvSpPr>
        <p:spPr>
          <a:xfrm xmlns:a="http://schemas.openxmlformats.org/drawingml/2006/main">
            <a:off x="5238750" y="5062538"/>
            <a:ext cx="1065068"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图片成果</a:t>
            </a:r>
          </a:p>
        </p:txBody>
      </p:sp>
      <p:sp>
        <p:nvSpPr>
          <p:cNvPr id="36" name="">
            <a:extLst xmlns:a="http://schemas.openxmlformats.org/drawingml/2006/main">
              <a:ext uri="{FF2B5EF4-FFF2-40B4-BE49-F238E27FC236}">
                <a16:creationId xmlns:a16="http://schemas.microsoft.com/office/drawing/2014/main" id="{09DA86F0-0F76-4602-95A2-6D128C6CA6E9}"/>
              </a:ext>
            </a:extLst>
          </p:cNvPr>
          <p:cNvSpPr>
            <a:spLocks xmlns:a="http://schemas.openxmlformats.org/drawingml/2006/main" noGrp="1"/>
          </p:cNvSpPr>
          <p:nvPr/>
        </p:nvSpPr>
        <p:spPr>
          <a:xfrm xmlns:a="http://schemas.openxmlformats.org/drawingml/2006/main">
            <a:off x="6351443" y="5033963"/>
            <a:ext cx="2610716"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7" name="">
            <a:extLst xmlns:a="http://schemas.openxmlformats.org/drawingml/2006/main">
              <a:ext uri="{FF2B5EF4-FFF2-40B4-BE49-F238E27FC236}">
                <a16:creationId xmlns:a16="http://schemas.microsoft.com/office/drawing/2014/main" id="{0D68B611-E9F0-4619-8E86-17D29D0D4B78}"/>
              </a:ext>
            </a:extLst>
          </p:cNvPr>
          <p:cNvSpPr>
            <a:spLocks xmlns:a="http://schemas.openxmlformats.org/drawingml/2006/main" noGrp="1"/>
          </p:cNvSpPr>
          <p:nvPr/>
        </p:nvSpPr>
        <p:spPr>
          <a:xfrm xmlns:a="http://schemas.openxmlformats.org/drawingml/2006/main">
            <a:off x="6399068" y="5062538"/>
            <a:ext cx="2515466"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UML 导出图和 ProcessOn 汇总图</a:t>
            </a:r>
          </a:p>
        </p:txBody>
      </p:sp>
      <p:sp>
        <p:nvSpPr>
          <p:cNvPr id="38" name="">
            <a:extLst xmlns:a="http://schemas.openxmlformats.org/drawingml/2006/main">
              <a:ext uri="{FF2B5EF4-FFF2-40B4-BE49-F238E27FC236}">
                <a16:creationId xmlns:a16="http://schemas.microsoft.com/office/drawing/2014/main" id="{DAE37298-15BA-4353-93AC-73B73F3867E0}"/>
              </a:ext>
            </a:extLst>
          </p:cNvPr>
          <p:cNvSpPr>
            <a:spLocks xmlns:a="http://schemas.openxmlformats.org/drawingml/2006/main" noGrp="1"/>
          </p:cNvSpPr>
          <p:nvPr/>
        </p:nvSpPr>
        <p:spPr>
          <a:xfrm xmlns:a="http://schemas.openxmlformats.org/drawingml/2006/main">
            <a:off x="8962159" y="5033963"/>
            <a:ext cx="2610716"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9" name="">
            <a:extLst xmlns:a="http://schemas.openxmlformats.org/drawingml/2006/main">
              <a:ext uri="{FF2B5EF4-FFF2-40B4-BE49-F238E27FC236}">
                <a16:creationId xmlns:a16="http://schemas.microsoft.com/office/drawing/2014/main" id="{215B2FF1-2BBE-4AE0-8E00-55E542FEF75C}"/>
              </a:ext>
            </a:extLst>
          </p:cNvPr>
          <p:cNvSpPr>
            <a:spLocks xmlns:a="http://schemas.openxmlformats.org/drawingml/2006/main" noGrp="1"/>
          </p:cNvSpPr>
          <p:nvPr/>
        </p:nvSpPr>
        <p:spPr>
          <a:xfrm xmlns:a="http://schemas.openxmlformats.org/drawingml/2006/main">
            <a:off x="9009784" y="5062538"/>
            <a:ext cx="2515466"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docs/uml/processon_uml_collection.png、docs/uml/processon_uml_board.png</a:t>
            </a:r>
          </a:p>
        </p:txBody>
      </p:sp>
    </p:spTree>
    <p:extLst>
      <p:ext uri="{BB962C8B-B14F-4D97-AF65-F5344CB8AC3E}">
        <p14:creationId xmlns:p14="http://schemas.microsoft.com/office/powerpoint/2010/main" val="779547581"/>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2D6AD3-7FE4-4D96-86B3-E871F9F701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3B7DA6-0758-47F7-9E1E-36F18681633D}"/>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804467-2F8C-4524-A140-943E7F17D775}"/>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9DD21FA8-41A0-4A7D-A9B6-64C67FECDD04}"/>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D912C5FF-8756-46A1-BF75-A3231F80FFF7}"/>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86</a:t>
            </a:r>
          </a:p>
        </p:txBody>
      </p:sp>
      <p:sp>
        <p:nvSpPr>
          <p:cNvPr id="6" name="">
            <a:extLst xmlns:a="http://schemas.openxmlformats.org/drawingml/2006/main">
              <a:ext uri="{FF2B5EF4-FFF2-40B4-BE49-F238E27FC236}">
                <a16:creationId xmlns:a16="http://schemas.microsoft.com/office/drawing/2014/main" id="{BF831290-640E-47B7-8670-01549456056C}"/>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CD7E87E7-C2A1-4C97-8C77-BAF7940B54DE}"/>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8.2 系统整合（3/12）</a:t>
            </a:r>
          </a:p>
        </p:txBody>
      </p:sp>
      <p:sp>
        <p:nvSpPr>
          <p:cNvPr id="8" name="">
            <a:extLst xmlns:a="http://schemas.openxmlformats.org/drawingml/2006/main">
              <a:ext uri="{FF2B5EF4-FFF2-40B4-BE49-F238E27FC236}">
                <a16:creationId xmlns:a16="http://schemas.microsoft.com/office/drawing/2014/main" id="{F3B92A4E-8121-49F6-B308-420761FF5BDA}"/>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5BB5A74-5432-40A9-9187-98EE2A2600E5}"/>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9c2ad4d78b745fc"/>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A01A697-D75C-4204-A386-EA0F858F2A07}"/>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交付UML汇总图</a:t>
            </a:r>
          </a:p>
        </p:txBody>
      </p:sp>
    </p:spTree>
    <p:extLst>
      <p:ext uri="{BB962C8B-B14F-4D97-AF65-F5344CB8AC3E}">
        <p14:creationId xmlns:p14="http://schemas.microsoft.com/office/powerpoint/2010/main" val="1603069623"/>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54873D-A26F-4BD8-8F7D-4DE8EB2AB9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FC37A0-6766-4F91-A98C-81CE1AFF48DD}"/>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5445C5E-9E9F-47CD-96AA-F2E2B22B0D23}"/>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47B32CBD-1D2B-4888-AD97-ECE7E5FB4620}"/>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139B6BED-D398-417A-8CF6-74642F344523}"/>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87</a:t>
            </a:r>
          </a:p>
        </p:txBody>
      </p:sp>
      <p:sp>
        <p:nvSpPr>
          <p:cNvPr id="6" name="">
            <a:extLst xmlns:a="http://schemas.openxmlformats.org/drawingml/2006/main">
              <a:ext uri="{FF2B5EF4-FFF2-40B4-BE49-F238E27FC236}">
                <a16:creationId xmlns:a16="http://schemas.microsoft.com/office/drawing/2014/main" id="{E4DB65BF-71FB-44AD-BF31-1E33B554213B}"/>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BE0BD5CB-DE29-4956-9AF7-4A187196E6A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8.2 系统整合（4/12）</a:t>
            </a:r>
          </a:p>
        </p:txBody>
      </p:sp>
      <p:sp>
        <p:nvSpPr>
          <p:cNvPr id="8" name="">
            <a:extLst xmlns:a="http://schemas.openxmlformats.org/drawingml/2006/main">
              <a:ext uri="{FF2B5EF4-FFF2-40B4-BE49-F238E27FC236}">
                <a16:creationId xmlns:a16="http://schemas.microsoft.com/office/drawing/2014/main" id="{5DC03409-DD2A-4AA4-87BB-94839EF7D644}"/>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B83035C-A138-4B2B-8FDE-F44229CA673A}"/>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3a2a523a3034554"/>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F8094BF-AAA6-4FAF-85A8-40270E6A552B}"/>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ProcessOn UML 画板</a:t>
            </a:r>
          </a:p>
        </p:txBody>
      </p:sp>
    </p:spTree>
    <p:extLst>
      <p:ext uri="{BB962C8B-B14F-4D97-AF65-F5344CB8AC3E}">
        <p14:creationId xmlns:p14="http://schemas.microsoft.com/office/powerpoint/2010/main" val="1465923916"/>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F97A4CF-A288-4C8F-93DF-F3A6062F486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D05B99-4E31-479A-952D-94E9CED0AE6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803039-06B2-4756-8EE4-72597C65FA8E}"/>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631FE461-135B-4206-B6F4-3D0230618DC4}"/>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452FB47F-2420-416B-98FE-5BB304168EE8}"/>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88</a:t>
            </a:r>
          </a:p>
        </p:txBody>
      </p:sp>
      <p:sp>
        <p:nvSpPr>
          <p:cNvPr id="6" name="">
            <a:extLst xmlns:a="http://schemas.openxmlformats.org/drawingml/2006/main">
              <a:ext uri="{FF2B5EF4-FFF2-40B4-BE49-F238E27FC236}">
                <a16:creationId xmlns:a16="http://schemas.microsoft.com/office/drawing/2014/main" id="{F3D8FB7D-E663-40E5-808A-3C837AD68C39}"/>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A0D0125-B77E-4DC6-A412-9AC8A651C131}"/>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8.2 系统整合（5/12）</a:t>
            </a:r>
          </a:p>
        </p:txBody>
      </p:sp>
      <p:sp>
        <p:nvSpPr>
          <p:cNvPr id="8" name="">
            <a:extLst xmlns:a="http://schemas.openxmlformats.org/drawingml/2006/main">
              <a:ext uri="{FF2B5EF4-FFF2-40B4-BE49-F238E27FC236}">
                <a16:creationId xmlns:a16="http://schemas.microsoft.com/office/drawing/2014/main" id="{5979FF6A-0226-4256-B84E-789C8531CB1B}"/>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2A95F0F-5DC8-4B36-80C9-81A2743B2C3A}"/>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交付阶段还对 7 类 UML 图进行最终一致性检查。检查内容包括：图中的类名是否能在源码中找到，消息名是否与 GameMessage 保持一致，状态名是否与 Screen / GameStartPhase 对应，蓝牙部署结构是否符合当前 Classic Bluetooth 房主/客户端方案。最终 7 类图如下：</a:t>
            </a:r>
          </a:p>
        </p:txBody>
      </p:sp>
    </p:spTree>
    <p:extLst>
      <p:ext uri="{BB962C8B-B14F-4D97-AF65-F5344CB8AC3E}">
        <p14:creationId xmlns:p14="http://schemas.microsoft.com/office/powerpoint/2010/main" val="1928616179"/>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CDEF0A-BCF7-4A7C-BA94-61FAA85646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4A8B60-D7DF-4201-B0BE-97D0DEB5389C}"/>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96752E7-57A5-462D-BA08-C255F83A52CE}"/>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42AC6B0A-9B42-4FD5-A881-CD4C39440608}"/>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344C716B-25DD-44DD-837D-A2CD3DC9DE11}"/>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89</a:t>
            </a:r>
          </a:p>
        </p:txBody>
      </p:sp>
      <p:sp>
        <p:nvSpPr>
          <p:cNvPr id="6" name="">
            <a:extLst xmlns:a="http://schemas.openxmlformats.org/drawingml/2006/main">
              <a:ext uri="{FF2B5EF4-FFF2-40B4-BE49-F238E27FC236}">
                <a16:creationId xmlns:a16="http://schemas.microsoft.com/office/drawing/2014/main" id="{BBD8677C-5FD0-4035-AEB4-5A9DF18F6DC5}"/>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E0182F9E-47BC-421F-A2C9-CFBABB9EB873}"/>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8.2 系统整合（6/12）</a:t>
            </a:r>
          </a:p>
        </p:txBody>
      </p:sp>
      <p:sp>
        <p:nvSpPr>
          <p:cNvPr id="8" name="">
            <a:extLst xmlns:a="http://schemas.openxmlformats.org/drawingml/2006/main">
              <a:ext uri="{FF2B5EF4-FFF2-40B4-BE49-F238E27FC236}">
                <a16:creationId xmlns:a16="http://schemas.microsoft.com/office/drawing/2014/main" id="{09F62E99-A945-4CBD-869E-E7DC89E980E7}"/>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DF24B0F-7768-4849-ABCE-2194D4989516}"/>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7da5412507b4fe3"/>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E7F69AC-4380-485A-ADCB-137760C8EBF7}"/>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最终用例图</a:t>
            </a:r>
          </a:p>
        </p:txBody>
      </p:sp>
    </p:spTree>
    <p:extLst>
      <p:ext uri="{BB962C8B-B14F-4D97-AF65-F5344CB8AC3E}">
        <p14:creationId xmlns:p14="http://schemas.microsoft.com/office/powerpoint/2010/main" val="220845137"/>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108E72-CBD9-4263-955B-B1859A3882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C74AA7-F8B2-4A17-879D-9B7F07CACDA4}"/>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824995C-0874-4344-A9F9-D207EEEA9493}"/>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2400DA9-ED11-47A0-9002-4CCFE6D62772}"/>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709941FB-F82D-4A17-8156-C2EE42BF1F61}"/>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90</a:t>
            </a:r>
          </a:p>
        </p:txBody>
      </p:sp>
      <p:sp>
        <p:nvSpPr>
          <p:cNvPr id="6" name="">
            <a:extLst xmlns:a="http://schemas.openxmlformats.org/drawingml/2006/main">
              <a:ext uri="{FF2B5EF4-FFF2-40B4-BE49-F238E27FC236}">
                <a16:creationId xmlns:a16="http://schemas.microsoft.com/office/drawing/2014/main" id="{37FECFD0-F808-4321-957B-B8F65975A713}"/>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83223FC4-EAA5-481C-A426-AB9340CFC62C}"/>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8.2 系统整合（7/12）</a:t>
            </a:r>
          </a:p>
        </p:txBody>
      </p:sp>
      <p:sp>
        <p:nvSpPr>
          <p:cNvPr id="8" name="">
            <a:extLst xmlns:a="http://schemas.openxmlformats.org/drawingml/2006/main">
              <a:ext uri="{FF2B5EF4-FFF2-40B4-BE49-F238E27FC236}">
                <a16:creationId xmlns:a16="http://schemas.microsoft.com/office/drawing/2014/main" id="{EAE2C0AC-DA60-43CB-AC03-1D01D9EC2CDE}"/>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3033083-10C2-44CF-BC3E-3167E749EBED}"/>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0953499469946f1"/>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F660B53-548D-48CB-9FD9-2789AD5AD72C}"/>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最终类图</a:t>
            </a:r>
          </a:p>
        </p:txBody>
      </p:sp>
    </p:spTree>
    <p:extLst>
      <p:ext uri="{BB962C8B-B14F-4D97-AF65-F5344CB8AC3E}">
        <p14:creationId xmlns:p14="http://schemas.microsoft.com/office/powerpoint/2010/main" val="736182184"/>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F475EC-510D-4A12-AD48-EC6B5BECFA8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D9AFC7-2876-4193-AA3A-9EE62B48E58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68D1E36-BED6-4567-B8CD-AFA5AA53371B}"/>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33A68025-3E1B-47BC-89EA-A726F5CAD8A7}"/>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C61D6AF8-5651-4CE2-8C14-448D8583F44B}"/>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91</a:t>
            </a:r>
          </a:p>
        </p:txBody>
      </p:sp>
      <p:sp>
        <p:nvSpPr>
          <p:cNvPr id="6" name="">
            <a:extLst xmlns:a="http://schemas.openxmlformats.org/drawingml/2006/main">
              <a:ext uri="{FF2B5EF4-FFF2-40B4-BE49-F238E27FC236}">
                <a16:creationId xmlns:a16="http://schemas.microsoft.com/office/drawing/2014/main" id="{72C8F0C5-7A71-4F83-A388-05646A40B592}"/>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9C16881F-82C0-4B77-BB79-F435BA91606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8.2 系统整合（8/12）</a:t>
            </a:r>
          </a:p>
        </p:txBody>
      </p:sp>
      <p:sp>
        <p:nvSpPr>
          <p:cNvPr id="8" name="">
            <a:extLst xmlns:a="http://schemas.openxmlformats.org/drawingml/2006/main">
              <a:ext uri="{FF2B5EF4-FFF2-40B4-BE49-F238E27FC236}">
                <a16:creationId xmlns:a16="http://schemas.microsoft.com/office/drawing/2014/main" id="{A7CE5CBA-A174-452F-9FF1-6CFCF48A0270}"/>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94B550-71B0-443C-A736-D7E3FCB2518E}"/>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1e24844f25744c2"/>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F9A3552-8230-47C7-8CE5-2EDBEADD7EDD}"/>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最终顺序图</a:t>
            </a:r>
          </a:p>
        </p:txBody>
      </p:sp>
    </p:spTree>
    <p:extLst>
      <p:ext uri="{BB962C8B-B14F-4D97-AF65-F5344CB8AC3E}">
        <p14:creationId xmlns:p14="http://schemas.microsoft.com/office/powerpoint/2010/main" val="141234525"/>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7D8169A-A4F0-4467-B876-6209CBEE44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BDAE58-E77A-491D-A5AE-36E7E9E4CB09}"/>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D2B10F9-BFE8-47BA-A3A4-7546B5638610}"/>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F28D85F-7298-4F95-9DBE-4F55CC84AB6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33E63D8C-8DEE-406F-9229-E715AD37268C}"/>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92</a:t>
            </a:r>
          </a:p>
        </p:txBody>
      </p:sp>
      <p:sp>
        <p:nvSpPr>
          <p:cNvPr id="6" name="">
            <a:extLst xmlns:a="http://schemas.openxmlformats.org/drawingml/2006/main">
              <a:ext uri="{FF2B5EF4-FFF2-40B4-BE49-F238E27FC236}">
                <a16:creationId xmlns:a16="http://schemas.microsoft.com/office/drawing/2014/main" id="{83102868-F539-4A79-A01D-C0577771E962}"/>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09B11AA3-5DED-4941-AE8F-D50279F12CA0}"/>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8.2 系统整合（9/12）</a:t>
            </a:r>
          </a:p>
        </p:txBody>
      </p:sp>
      <p:sp>
        <p:nvSpPr>
          <p:cNvPr id="8" name="">
            <a:extLst xmlns:a="http://schemas.openxmlformats.org/drawingml/2006/main">
              <a:ext uri="{FF2B5EF4-FFF2-40B4-BE49-F238E27FC236}">
                <a16:creationId xmlns:a16="http://schemas.microsoft.com/office/drawing/2014/main" id="{F4B11825-5490-4DF7-A593-A20044167EEE}"/>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1F289AA-5A18-4C34-A1BD-605240986E9D}"/>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013c1d60fd243c5"/>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CBA4E31-1843-479B-8D41-5BB80D4B1445}"/>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最终状态图</a:t>
            </a:r>
          </a:p>
        </p:txBody>
      </p:sp>
    </p:spTree>
    <p:extLst>
      <p:ext uri="{BB962C8B-B14F-4D97-AF65-F5344CB8AC3E}">
        <p14:creationId xmlns:p14="http://schemas.microsoft.com/office/powerpoint/2010/main" val="2097280188"/>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0EB419-5B67-4CD8-8A4E-48A120993F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E73478-12AD-462F-8F2F-BC3659BFC2ED}"/>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7D30518-5107-4E89-9EA2-612CF24D2C64}"/>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73A18A8C-EB31-43F7-91F3-E7505FC29E9C}"/>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F78583BC-FF36-40B4-8266-84475EE269A4}"/>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93</a:t>
            </a:r>
          </a:p>
        </p:txBody>
      </p:sp>
      <p:sp>
        <p:nvSpPr>
          <p:cNvPr id="6" name="">
            <a:extLst xmlns:a="http://schemas.openxmlformats.org/drawingml/2006/main">
              <a:ext uri="{FF2B5EF4-FFF2-40B4-BE49-F238E27FC236}">
                <a16:creationId xmlns:a16="http://schemas.microsoft.com/office/drawing/2014/main" id="{C991669C-F5E1-4584-B02C-3DA5EFA508A7}"/>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83145651-50DD-4387-971C-F0421125D2FD}"/>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8.2 系统整合（10/12）</a:t>
            </a:r>
          </a:p>
        </p:txBody>
      </p:sp>
      <p:sp>
        <p:nvSpPr>
          <p:cNvPr id="8" name="">
            <a:extLst xmlns:a="http://schemas.openxmlformats.org/drawingml/2006/main">
              <a:ext uri="{FF2B5EF4-FFF2-40B4-BE49-F238E27FC236}">
                <a16:creationId xmlns:a16="http://schemas.microsoft.com/office/drawing/2014/main" id="{142CC543-0814-467E-A94C-91E6BDDCBE26}"/>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9216E03-8EA2-44AF-9D44-E27CC682CB10}"/>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528290f04d348c8"/>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2E5B4CC-E7CD-42CF-B8DC-70F26FD7539B}"/>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最终活动图</a:t>
            </a:r>
          </a:p>
        </p:txBody>
      </p:sp>
    </p:spTree>
    <p:extLst>
      <p:ext uri="{BB962C8B-B14F-4D97-AF65-F5344CB8AC3E}">
        <p14:creationId xmlns:p14="http://schemas.microsoft.com/office/powerpoint/2010/main" val="1988178182"/>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7CA640-F6B9-4CD6-9A84-BE6DD12A9E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8F97FB-AEFD-4E05-8066-8AEC25F8B761}"/>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C26632-A44E-418A-B650-D3E46CE6AC6E}"/>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E6ACF8E6-1E91-42E7-A9DF-F80293C49E50}"/>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AB343E83-883B-4BB4-B648-DD339A226A42}"/>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94</a:t>
            </a:r>
          </a:p>
        </p:txBody>
      </p:sp>
      <p:sp>
        <p:nvSpPr>
          <p:cNvPr id="6" name="">
            <a:extLst xmlns:a="http://schemas.openxmlformats.org/drawingml/2006/main">
              <a:ext uri="{FF2B5EF4-FFF2-40B4-BE49-F238E27FC236}">
                <a16:creationId xmlns:a16="http://schemas.microsoft.com/office/drawing/2014/main" id="{28F8F52F-C941-4781-B80E-0CA1EF3D5D28}"/>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CD964536-E3FD-496C-904C-2D68A0495EE2}"/>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8.2 系统整合（11/12）</a:t>
            </a:r>
          </a:p>
        </p:txBody>
      </p:sp>
      <p:sp>
        <p:nvSpPr>
          <p:cNvPr id="8" name="">
            <a:extLst xmlns:a="http://schemas.openxmlformats.org/drawingml/2006/main">
              <a:ext uri="{FF2B5EF4-FFF2-40B4-BE49-F238E27FC236}">
                <a16:creationId xmlns:a16="http://schemas.microsoft.com/office/drawing/2014/main" id="{4279F388-7A1D-4BA0-A1E1-8747E07FBA86}"/>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D2CFD1D-87FD-4262-BC68-A4912BDFDC75}"/>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1b5c59b2d264565"/>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1F58708-4A0A-446C-9D6C-85155EF92040}"/>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最终组件图</a:t>
            </a:r>
          </a:p>
        </p:txBody>
      </p:sp>
    </p:spTree>
    <p:extLst>
      <p:ext uri="{BB962C8B-B14F-4D97-AF65-F5344CB8AC3E}">
        <p14:creationId xmlns:p14="http://schemas.microsoft.com/office/powerpoint/2010/main" val="691608133"/>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49EAAA-10FC-4F26-A7EF-D270591B3B9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50A3FE-90D2-4915-8581-D2E0EDD144B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C614D29-4550-49F4-B0FA-A0DC8BCF8F08}"/>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B70C6E9D-427C-4ED7-BDCD-EEA4CADA7CF1}"/>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9AE63A83-84A4-42B4-9113-A518814D9ABB}"/>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95</a:t>
            </a:r>
          </a:p>
        </p:txBody>
      </p:sp>
      <p:sp>
        <p:nvSpPr>
          <p:cNvPr id="6" name="">
            <a:extLst xmlns:a="http://schemas.openxmlformats.org/drawingml/2006/main">
              <a:ext uri="{FF2B5EF4-FFF2-40B4-BE49-F238E27FC236}">
                <a16:creationId xmlns:a16="http://schemas.microsoft.com/office/drawing/2014/main" id="{1BF72FCB-BD20-40D4-8DF1-FABA2FE1D283}"/>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9C85EADD-6A43-477F-9344-110800192F59}"/>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8.2 系统整合（12/12）</a:t>
            </a:r>
          </a:p>
        </p:txBody>
      </p:sp>
      <p:sp>
        <p:nvSpPr>
          <p:cNvPr id="8" name="">
            <a:extLst xmlns:a="http://schemas.openxmlformats.org/drawingml/2006/main">
              <a:ext uri="{FF2B5EF4-FFF2-40B4-BE49-F238E27FC236}">
                <a16:creationId xmlns:a16="http://schemas.microsoft.com/office/drawing/2014/main" id="{4E3FD58D-9B07-4EF2-AF0C-59414E2B71DC}"/>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7415A37-DD4E-495F-ADB5-7437CDC993D8}"/>
              </a:ext>
            </a:extLst>
          </p:cNvPr>
          <p:cNvSpPr>
            <a:spLocks xmlns:a="http://schemas.openxmlformats.org/drawingml/2006/main" noGrp="1"/>
          </p:cNvSpPr>
          <p:nvPr/>
        </p:nvSpPr>
        <p:spPr>
          <a:xfrm xmlns:a="http://schemas.openxmlformats.org/drawingml/2006/main">
            <a:off x="895350" y="1905000"/>
            <a:ext cx="10382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D9DFD2"/>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d37c42146b44601"/>
          <a:stretch xmlns:a="http://schemas.openxmlformats.org/drawingml/2006/main"/>
        </p:blipFill>
        <p:spPr>
          <a:xfrm xmlns:a="http://schemas.openxmlformats.org/drawingml/2006/main">
            <a:off x="990600" y="2000250"/>
            <a:ext cx="10191750" cy="3695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6D7F42E-8C99-4461-92B9-F9C35EA8464A}"/>
              </a:ext>
            </a:extLst>
          </p:cNvPr>
          <p:cNvSpPr>
            <a:spLocks xmlns:a="http://schemas.openxmlformats.org/drawingml/2006/main" noGrp="1"/>
          </p:cNvSpPr>
          <p:nvPr/>
        </p:nvSpPr>
        <p:spPr>
          <a:xfrm xmlns:a="http://schemas.openxmlformats.org/drawingml/2006/main">
            <a:off x="1009650" y="5715000"/>
            <a:ext cx="10153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67641"/>
          </a:bodyPr>
          <a:lstStyle xmlns:a="http://schemas.openxmlformats.org/drawingml/2006/main"/>
          <a:p xmlns:a="http://schemas.openxmlformats.org/drawingml/2006/main">
            <a:pPr algn="ct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最终部署图</a:t>
            </a:r>
          </a:p>
        </p:txBody>
      </p:sp>
    </p:spTree>
    <p:extLst>
      <p:ext uri="{BB962C8B-B14F-4D97-AF65-F5344CB8AC3E}">
        <p14:creationId xmlns:p14="http://schemas.microsoft.com/office/powerpoint/2010/main" val="461010569"/>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38DED8-8F64-48A0-85C9-EAB30F5B16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0207B6-2174-4029-96CE-D69BDAEDFD1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EE38E90-4E7A-4F4B-8767-D1464B683010}"/>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FBB2AB47-441A-46EA-BC9D-8273DB100DA1}"/>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F3C24BDC-D191-4096-A93B-7E986CA53E56}"/>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96</a:t>
            </a:r>
          </a:p>
        </p:txBody>
      </p:sp>
      <p:sp>
        <p:nvSpPr>
          <p:cNvPr id="6" name="">
            <a:extLst xmlns:a="http://schemas.openxmlformats.org/drawingml/2006/main">
              <a:ext uri="{FF2B5EF4-FFF2-40B4-BE49-F238E27FC236}">
                <a16:creationId xmlns:a16="http://schemas.microsoft.com/office/drawing/2014/main" id="{1DDEA27C-403B-4008-B143-6B7EE1B0CBCC}"/>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0FDB176C-C54A-4C46-ACF6-81060871C174}"/>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8.3 代码测试与验收（1/7）</a:t>
            </a:r>
          </a:p>
        </p:txBody>
      </p:sp>
      <p:sp>
        <p:nvSpPr>
          <p:cNvPr id="8" name="">
            <a:extLst xmlns:a="http://schemas.openxmlformats.org/drawingml/2006/main">
              <a:ext uri="{FF2B5EF4-FFF2-40B4-BE49-F238E27FC236}">
                <a16:creationId xmlns:a16="http://schemas.microsoft.com/office/drawing/2014/main" id="{7A1BAB56-59FB-4B09-B657-8E87232080D9}"/>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6877AE6-9EC9-43D9-87C5-F450B5F00C4B}"/>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系统整合后第二步是测试代码，而不是立刻发布。测试分为本地单元测试、蓝牙模拟测试、构建测试、设备冒烟测试和手动验收五类，目标是尽量在发布 Release 前排除规则、状态、协议、成长数据和安装运行问题。</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自动化测试覆盖如下：</a:t>
            </a:r>
          </a:p>
        </p:txBody>
      </p:sp>
    </p:spTree>
    <p:extLst>
      <p:ext uri="{BB962C8B-B14F-4D97-AF65-F5344CB8AC3E}">
        <p14:creationId xmlns:p14="http://schemas.microsoft.com/office/powerpoint/2010/main" val="1123690976"/>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4094D0-4ACE-46AB-B292-8C09938E02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5D4D9A-3D4D-48E3-B896-A8D000BE7C43}"/>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9604E9F-49D1-4695-A401-97F22D7DB1DC}"/>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626DE506-7401-4AF8-8669-2B43D380DC0D}"/>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BF8D1B7F-1991-4451-960B-86CDFEC8F36B}"/>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97</a:t>
            </a:r>
          </a:p>
        </p:txBody>
      </p:sp>
      <p:sp>
        <p:nvSpPr>
          <p:cNvPr id="6" name="">
            <a:extLst xmlns:a="http://schemas.openxmlformats.org/drawingml/2006/main">
              <a:ext uri="{FF2B5EF4-FFF2-40B4-BE49-F238E27FC236}">
                <a16:creationId xmlns:a16="http://schemas.microsoft.com/office/drawing/2014/main" id="{F60080E4-171C-4ECA-91E5-96BED530923F}"/>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6684D741-57E3-493E-98D6-0BCF78018A7D}"/>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8.3 代码测试与验收（2/7）</a:t>
            </a:r>
          </a:p>
        </p:txBody>
      </p:sp>
      <p:sp>
        <p:nvSpPr>
          <p:cNvPr id="8" name="">
            <a:extLst xmlns:a="http://schemas.openxmlformats.org/drawingml/2006/main">
              <a:ext uri="{FF2B5EF4-FFF2-40B4-BE49-F238E27FC236}">
                <a16:creationId xmlns:a16="http://schemas.microsoft.com/office/drawing/2014/main" id="{8B9D9FC5-8216-4638-8B72-85C3958E1B94}"/>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7E1CC61-5C9C-496E-A7D9-FEE0D4FF1F8F}"/>
              </a:ext>
            </a:extLst>
          </p:cNvPr>
          <p:cNvSpPr>
            <a:spLocks xmlns:a="http://schemas.openxmlformats.org/drawingml/2006/main" noGrp="1"/>
          </p:cNvSpPr>
          <p:nvPr/>
        </p:nvSpPr>
        <p:spPr>
          <a:xfrm xmlns:a="http://schemas.openxmlformats.org/drawingml/2006/main">
            <a:off x="457200" y="1905000"/>
            <a:ext cx="3746500" cy="3365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4AE3DE0C-E9C3-4752-85CC-2538291A9022}"/>
              </a:ext>
            </a:extLst>
          </p:cNvPr>
          <p:cNvSpPr>
            <a:spLocks xmlns:a="http://schemas.openxmlformats.org/drawingml/2006/main" noGrp="1"/>
          </p:cNvSpPr>
          <p:nvPr/>
        </p:nvSpPr>
        <p:spPr>
          <a:xfrm xmlns:a="http://schemas.openxmlformats.org/drawingml/2006/main">
            <a:off x="504825" y="1943100"/>
            <a:ext cx="3651250" cy="26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测试文件</a:t>
            </a:r>
          </a:p>
        </p:txBody>
      </p:sp>
      <p:sp>
        <p:nvSpPr>
          <p:cNvPr id="11" name="">
            <a:extLst xmlns:a="http://schemas.openxmlformats.org/drawingml/2006/main">
              <a:ext uri="{FF2B5EF4-FFF2-40B4-BE49-F238E27FC236}">
                <a16:creationId xmlns:a16="http://schemas.microsoft.com/office/drawing/2014/main" id="{2D6CED90-74B9-4491-9D76-D13E9697CFDE}"/>
              </a:ext>
            </a:extLst>
          </p:cNvPr>
          <p:cNvSpPr>
            <a:spLocks xmlns:a="http://schemas.openxmlformats.org/drawingml/2006/main" noGrp="1"/>
          </p:cNvSpPr>
          <p:nvPr/>
        </p:nvSpPr>
        <p:spPr>
          <a:xfrm xmlns:a="http://schemas.openxmlformats.org/drawingml/2006/main">
            <a:off x="4203700" y="1905000"/>
            <a:ext cx="3746500" cy="3365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DDD95AC9-15F7-4DCA-BA72-358CD4AFC473}"/>
              </a:ext>
            </a:extLst>
          </p:cNvPr>
          <p:cNvSpPr>
            <a:spLocks xmlns:a="http://schemas.openxmlformats.org/drawingml/2006/main" noGrp="1"/>
          </p:cNvSpPr>
          <p:nvPr/>
        </p:nvSpPr>
        <p:spPr>
          <a:xfrm xmlns:a="http://schemas.openxmlformats.org/drawingml/2006/main">
            <a:off x="4251325" y="1943100"/>
            <a:ext cx="3651250" cy="26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覆盖内容</a:t>
            </a:r>
          </a:p>
        </p:txBody>
      </p:sp>
      <p:sp>
        <p:nvSpPr>
          <p:cNvPr id="13" name="">
            <a:extLst xmlns:a="http://schemas.openxmlformats.org/drawingml/2006/main">
              <a:ext uri="{FF2B5EF4-FFF2-40B4-BE49-F238E27FC236}">
                <a16:creationId xmlns:a16="http://schemas.microsoft.com/office/drawing/2014/main" id="{6ECFB81D-9FA9-46AC-BBB6-622E4867C58B}"/>
              </a:ext>
            </a:extLst>
          </p:cNvPr>
          <p:cNvSpPr>
            <a:spLocks xmlns:a="http://schemas.openxmlformats.org/drawingml/2006/main" noGrp="1"/>
          </p:cNvSpPr>
          <p:nvPr/>
        </p:nvSpPr>
        <p:spPr>
          <a:xfrm xmlns:a="http://schemas.openxmlformats.org/drawingml/2006/main">
            <a:off x="7950200" y="1905000"/>
            <a:ext cx="3746500" cy="3365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AE2F6083-BC82-43F8-960F-81F38E9B450B}"/>
              </a:ext>
            </a:extLst>
          </p:cNvPr>
          <p:cNvSpPr>
            <a:spLocks xmlns:a="http://schemas.openxmlformats.org/drawingml/2006/main" noGrp="1"/>
          </p:cNvSpPr>
          <p:nvPr/>
        </p:nvSpPr>
        <p:spPr>
          <a:xfrm xmlns:a="http://schemas.openxmlformats.org/drawingml/2006/main">
            <a:off x="7997825" y="1943100"/>
            <a:ext cx="3651250" cy="26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结论</a:t>
            </a:r>
          </a:p>
        </p:txBody>
      </p:sp>
      <p:sp>
        <p:nvSpPr>
          <p:cNvPr id="15" name="">
            <a:extLst xmlns:a="http://schemas.openxmlformats.org/drawingml/2006/main">
              <a:ext uri="{FF2B5EF4-FFF2-40B4-BE49-F238E27FC236}">
                <a16:creationId xmlns:a16="http://schemas.microsoft.com/office/drawing/2014/main" id="{EFA55F0D-A36F-4D8C-9FD7-716A6E8927DA}"/>
              </a:ext>
            </a:extLst>
          </p:cNvPr>
          <p:cNvSpPr>
            <a:spLocks xmlns:a="http://schemas.openxmlformats.org/drawingml/2006/main" noGrp="1"/>
          </p:cNvSpPr>
          <p:nvPr/>
        </p:nvSpPr>
        <p:spPr>
          <a:xfrm xmlns:a="http://schemas.openxmlformats.org/drawingml/2006/main">
            <a:off x="457200" y="22415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389E577F-0EFD-44AA-8F4F-D5FC1A34CED5}"/>
              </a:ext>
            </a:extLst>
          </p:cNvPr>
          <p:cNvSpPr>
            <a:spLocks xmlns:a="http://schemas.openxmlformats.org/drawingml/2006/main" noGrp="1"/>
          </p:cNvSpPr>
          <p:nvPr/>
        </p:nvSpPr>
        <p:spPr>
          <a:xfrm xmlns:a="http://schemas.openxmlformats.org/drawingml/2006/main">
            <a:off x="504825" y="22701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HandClassifierTest</a:t>
            </a:r>
          </a:p>
        </p:txBody>
      </p:sp>
      <p:sp>
        <p:nvSpPr>
          <p:cNvPr id="17" name="">
            <a:extLst xmlns:a="http://schemas.openxmlformats.org/drawingml/2006/main">
              <a:ext uri="{FF2B5EF4-FFF2-40B4-BE49-F238E27FC236}">
                <a16:creationId xmlns:a16="http://schemas.microsoft.com/office/drawing/2014/main" id="{618E3AA8-C2AC-4AAB-9A6F-2AA97872E575}"/>
              </a:ext>
            </a:extLst>
          </p:cNvPr>
          <p:cNvSpPr>
            <a:spLocks xmlns:a="http://schemas.openxmlformats.org/drawingml/2006/main" noGrp="1"/>
          </p:cNvSpPr>
          <p:nvPr/>
        </p:nvSpPr>
        <p:spPr>
          <a:xfrm xmlns:a="http://schemas.openxmlformats.org/drawingml/2006/main">
            <a:off x="4203700" y="22415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8D844C5C-D2D1-4D5A-9CB4-7F23D0B65240}"/>
              </a:ext>
            </a:extLst>
          </p:cNvPr>
          <p:cNvSpPr>
            <a:spLocks xmlns:a="http://schemas.openxmlformats.org/drawingml/2006/main" noGrp="1"/>
          </p:cNvSpPr>
          <p:nvPr/>
        </p:nvSpPr>
        <p:spPr>
          <a:xfrm xmlns:a="http://schemas.openxmlformats.org/drawingml/2006/main">
            <a:off x="4251325" y="22701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7687"/>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单张、对子、三张、顺子、同花、葫芦、四带一、同花顺、南北规则差异</a:t>
            </a:r>
          </a:p>
        </p:txBody>
      </p:sp>
      <p:sp>
        <p:nvSpPr>
          <p:cNvPr id="19" name="">
            <a:extLst xmlns:a="http://schemas.openxmlformats.org/drawingml/2006/main">
              <a:ext uri="{FF2B5EF4-FFF2-40B4-BE49-F238E27FC236}">
                <a16:creationId xmlns:a16="http://schemas.microsoft.com/office/drawing/2014/main" id="{64D3BF50-5585-40B6-AAA4-D245045859DC}"/>
              </a:ext>
            </a:extLst>
          </p:cNvPr>
          <p:cNvSpPr>
            <a:spLocks xmlns:a="http://schemas.openxmlformats.org/drawingml/2006/main" noGrp="1"/>
          </p:cNvSpPr>
          <p:nvPr/>
        </p:nvSpPr>
        <p:spPr>
          <a:xfrm xmlns:a="http://schemas.openxmlformats.org/drawingml/2006/main">
            <a:off x="7950200" y="22415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054996B3-2825-4286-8E9A-C4D2EAB72C57}"/>
              </a:ext>
            </a:extLst>
          </p:cNvPr>
          <p:cNvSpPr>
            <a:spLocks xmlns:a="http://schemas.openxmlformats.org/drawingml/2006/main" noGrp="1"/>
          </p:cNvSpPr>
          <p:nvPr/>
        </p:nvSpPr>
        <p:spPr>
          <a:xfrm xmlns:a="http://schemas.openxmlformats.org/drawingml/2006/main">
            <a:off x="7997825" y="22701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覆盖核心牌型和规则差异</a:t>
            </a:r>
          </a:p>
        </p:txBody>
      </p:sp>
      <p:sp>
        <p:nvSpPr>
          <p:cNvPr id="21" name="">
            <a:extLst xmlns:a="http://schemas.openxmlformats.org/drawingml/2006/main">
              <a:ext uri="{FF2B5EF4-FFF2-40B4-BE49-F238E27FC236}">
                <a16:creationId xmlns:a16="http://schemas.microsoft.com/office/drawing/2014/main" id="{1C6C373F-929C-4CFD-9F14-A6241539B239}"/>
              </a:ext>
            </a:extLst>
          </p:cNvPr>
          <p:cNvSpPr>
            <a:spLocks xmlns:a="http://schemas.openxmlformats.org/drawingml/2006/main" noGrp="1"/>
          </p:cNvSpPr>
          <p:nvPr/>
        </p:nvSpPr>
        <p:spPr>
          <a:xfrm xmlns:a="http://schemas.openxmlformats.org/drawingml/2006/main">
            <a:off x="457200" y="25781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A9C13E5B-FA4F-4425-B60D-ECD357ACAEA6}"/>
              </a:ext>
            </a:extLst>
          </p:cNvPr>
          <p:cNvSpPr>
            <a:spLocks xmlns:a="http://schemas.openxmlformats.org/drawingml/2006/main" noGrp="1"/>
          </p:cNvSpPr>
          <p:nvPr/>
        </p:nvSpPr>
        <p:spPr>
          <a:xfrm xmlns:a="http://schemas.openxmlformats.org/drawingml/2006/main">
            <a:off x="504825" y="26066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GameControllerTest</a:t>
            </a:r>
          </a:p>
        </p:txBody>
      </p:sp>
      <p:sp>
        <p:nvSpPr>
          <p:cNvPr id="23" name="">
            <a:extLst xmlns:a="http://schemas.openxmlformats.org/drawingml/2006/main">
              <a:ext uri="{FF2B5EF4-FFF2-40B4-BE49-F238E27FC236}">
                <a16:creationId xmlns:a16="http://schemas.microsoft.com/office/drawing/2014/main" id="{9F6C587E-41B1-4B10-92B8-FC97852BE759}"/>
              </a:ext>
            </a:extLst>
          </p:cNvPr>
          <p:cNvSpPr>
            <a:spLocks xmlns:a="http://schemas.openxmlformats.org/drawingml/2006/main" noGrp="1"/>
          </p:cNvSpPr>
          <p:nvPr/>
        </p:nvSpPr>
        <p:spPr>
          <a:xfrm xmlns:a="http://schemas.openxmlformats.org/drawingml/2006/main">
            <a:off x="4203700" y="25781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D69FB444-EA5F-4BFB-B747-09716CB00F03}"/>
              </a:ext>
            </a:extLst>
          </p:cNvPr>
          <p:cNvSpPr>
            <a:spLocks xmlns:a="http://schemas.openxmlformats.org/drawingml/2006/main" noGrp="1"/>
          </p:cNvSpPr>
          <p:nvPr/>
        </p:nvSpPr>
        <p:spPr>
          <a:xfrm xmlns:a="http://schemas.openxmlformats.org/drawingml/2006/main">
            <a:off x="4251325" y="26066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发牌、首出、过牌重置、AI 合法动作、固定 seed 随机多局完成</a:t>
            </a:r>
          </a:p>
        </p:txBody>
      </p:sp>
      <p:sp>
        <p:nvSpPr>
          <p:cNvPr id="25" name="">
            <a:extLst xmlns:a="http://schemas.openxmlformats.org/drawingml/2006/main">
              <a:ext uri="{FF2B5EF4-FFF2-40B4-BE49-F238E27FC236}">
                <a16:creationId xmlns:a16="http://schemas.microsoft.com/office/drawing/2014/main" id="{C4CC5699-EED9-47B6-9755-DB67373B77B1}"/>
              </a:ext>
            </a:extLst>
          </p:cNvPr>
          <p:cNvSpPr>
            <a:spLocks xmlns:a="http://schemas.openxmlformats.org/drawingml/2006/main" noGrp="1"/>
          </p:cNvSpPr>
          <p:nvPr/>
        </p:nvSpPr>
        <p:spPr>
          <a:xfrm xmlns:a="http://schemas.openxmlformats.org/drawingml/2006/main">
            <a:off x="7950200" y="25781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DA9B2351-AB1D-4CAE-8AF5-3E5B210E703A}"/>
              </a:ext>
            </a:extLst>
          </p:cNvPr>
          <p:cNvSpPr>
            <a:spLocks xmlns:a="http://schemas.openxmlformats.org/drawingml/2006/main" noGrp="1"/>
          </p:cNvSpPr>
          <p:nvPr/>
        </p:nvSpPr>
        <p:spPr>
          <a:xfrm xmlns:a="http://schemas.openxmlformats.org/drawingml/2006/main">
            <a:off x="7997825" y="26066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覆盖牌局主流程，防止死循环和非法状态</a:t>
            </a:r>
          </a:p>
        </p:txBody>
      </p:sp>
      <p:sp>
        <p:nvSpPr>
          <p:cNvPr id="27" name="">
            <a:extLst xmlns:a="http://schemas.openxmlformats.org/drawingml/2006/main">
              <a:ext uri="{FF2B5EF4-FFF2-40B4-BE49-F238E27FC236}">
                <a16:creationId xmlns:a16="http://schemas.microsoft.com/office/drawing/2014/main" id="{BBB9E9E1-1D6B-4FB2-B537-58E6079DADEB}"/>
              </a:ext>
            </a:extLst>
          </p:cNvPr>
          <p:cNvSpPr>
            <a:spLocks xmlns:a="http://schemas.openxmlformats.org/drawingml/2006/main" noGrp="1"/>
          </p:cNvSpPr>
          <p:nvPr/>
        </p:nvSpPr>
        <p:spPr>
          <a:xfrm xmlns:a="http://schemas.openxmlformats.org/drawingml/2006/main">
            <a:off x="457200" y="29146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4773BD51-7C98-4C5F-9CE0-1657BBF7DEB8}"/>
              </a:ext>
            </a:extLst>
          </p:cNvPr>
          <p:cNvSpPr>
            <a:spLocks xmlns:a="http://schemas.openxmlformats.org/drawingml/2006/main" noGrp="1"/>
          </p:cNvSpPr>
          <p:nvPr/>
        </p:nvSpPr>
        <p:spPr>
          <a:xfrm xmlns:a="http://schemas.openxmlformats.org/drawingml/2006/main">
            <a:off x="504825" y="29432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PlayerActionPolicyTest</a:t>
            </a:r>
          </a:p>
        </p:txBody>
      </p:sp>
      <p:sp>
        <p:nvSpPr>
          <p:cNvPr id="29" name="">
            <a:extLst xmlns:a="http://schemas.openxmlformats.org/drawingml/2006/main">
              <a:ext uri="{FF2B5EF4-FFF2-40B4-BE49-F238E27FC236}">
                <a16:creationId xmlns:a16="http://schemas.microsoft.com/office/drawing/2014/main" id="{77D6EAD8-F92A-47F8-B5A3-464AC5C9BAF0}"/>
              </a:ext>
            </a:extLst>
          </p:cNvPr>
          <p:cNvSpPr>
            <a:spLocks xmlns:a="http://schemas.openxmlformats.org/drawingml/2006/main" noGrp="1"/>
          </p:cNvSpPr>
          <p:nvPr/>
        </p:nvSpPr>
        <p:spPr>
          <a:xfrm xmlns:a="http://schemas.openxmlformats.org/drawingml/2006/main">
            <a:off x="4203700" y="29146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DE867A26-2115-4E0B-8F5C-631EB7A8FF18}"/>
              </a:ext>
            </a:extLst>
          </p:cNvPr>
          <p:cNvSpPr>
            <a:spLocks xmlns:a="http://schemas.openxmlformats.org/drawingml/2006/main" noGrp="1"/>
          </p:cNvSpPr>
          <p:nvPr/>
        </p:nvSpPr>
        <p:spPr>
          <a:xfrm xmlns:a="http://schemas.openxmlformats.org/drawingml/2006/main">
            <a:off x="4251325" y="29432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无可压牌提示、按钮可用性、等待确认、发牌阶段锁定</a:t>
            </a:r>
          </a:p>
        </p:txBody>
      </p:sp>
      <p:sp>
        <p:nvSpPr>
          <p:cNvPr id="31" name="">
            <a:extLst xmlns:a="http://schemas.openxmlformats.org/drawingml/2006/main">
              <a:ext uri="{FF2B5EF4-FFF2-40B4-BE49-F238E27FC236}">
                <a16:creationId xmlns:a16="http://schemas.microsoft.com/office/drawing/2014/main" id="{6EB86D8E-F9F1-48A4-8FEB-09F8F672F41A}"/>
              </a:ext>
            </a:extLst>
          </p:cNvPr>
          <p:cNvSpPr>
            <a:spLocks xmlns:a="http://schemas.openxmlformats.org/drawingml/2006/main" noGrp="1"/>
          </p:cNvSpPr>
          <p:nvPr/>
        </p:nvSpPr>
        <p:spPr>
          <a:xfrm xmlns:a="http://schemas.openxmlformats.org/drawingml/2006/main">
            <a:off x="7950200" y="29146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8A73E473-2DED-482E-B638-250E09E38DA9}"/>
              </a:ext>
            </a:extLst>
          </p:cNvPr>
          <p:cNvSpPr>
            <a:spLocks xmlns:a="http://schemas.openxmlformats.org/drawingml/2006/main" noGrp="1"/>
          </p:cNvSpPr>
          <p:nvPr/>
        </p:nvSpPr>
        <p:spPr>
          <a:xfrm xmlns:a="http://schemas.openxmlformats.org/drawingml/2006/main">
            <a:off x="7997825" y="29432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覆盖玩家操作是否可点击、是否应提示</a:t>
            </a:r>
          </a:p>
        </p:txBody>
      </p:sp>
      <p:sp>
        <p:nvSpPr>
          <p:cNvPr id="33" name="">
            <a:extLst xmlns:a="http://schemas.openxmlformats.org/drawingml/2006/main">
              <a:ext uri="{FF2B5EF4-FFF2-40B4-BE49-F238E27FC236}">
                <a16:creationId xmlns:a16="http://schemas.microsoft.com/office/drawing/2014/main" id="{C95D3E54-BF5E-46B1-A39A-BEA46B420B7E}"/>
              </a:ext>
            </a:extLst>
          </p:cNvPr>
          <p:cNvSpPr>
            <a:spLocks xmlns:a="http://schemas.openxmlformats.org/drawingml/2006/main" noGrp="1"/>
          </p:cNvSpPr>
          <p:nvPr/>
        </p:nvSpPr>
        <p:spPr>
          <a:xfrm xmlns:a="http://schemas.openxmlformats.org/drawingml/2006/main">
            <a:off x="457200" y="32512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FEFDB316-8D56-41FC-BFA3-479FFC1CB5D6}"/>
              </a:ext>
            </a:extLst>
          </p:cNvPr>
          <p:cNvSpPr>
            <a:spLocks xmlns:a="http://schemas.openxmlformats.org/drawingml/2006/main" noGrp="1"/>
          </p:cNvSpPr>
          <p:nvPr/>
        </p:nvSpPr>
        <p:spPr>
          <a:xfrm xmlns:a="http://schemas.openxmlformats.org/drawingml/2006/main">
            <a:off x="504825" y="32797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GameMessageCodecTest</a:t>
            </a:r>
          </a:p>
        </p:txBody>
      </p:sp>
      <p:sp>
        <p:nvSpPr>
          <p:cNvPr id="35" name="">
            <a:extLst xmlns:a="http://schemas.openxmlformats.org/drawingml/2006/main">
              <a:ext uri="{FF2B5EF4-FFF2-40B4-BE49-F238E27FC236}">
                <a16:creationId xmlns:a16="http://schemas.microsoft.com/office/drawing/2014/main" id="{26A2BA55-1E52-4FD6-92EB-A51F14F1CE79}"/>
              </a:ext>
            </a:extLst>
          </p:cNvPr>
          <p:cNvSpPr>
            <a:spLocks xmlns:a="http://schemas.openxmlformats.org/drawingml/2006/main" noGrp="1"/>
          </p:cNvSpPr>
          <p:nvPr/>
        </p:nvSpPr>
        <p:spPr>
          <a:xfrm xmlns:a="http://schemas.openxmlformats.org/drawingml/2006/main">
            <a:off x="4203700" y="32512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63DC66DE-2156-4A74-919D-A6F86AD746F6}"/>
              </a:ext>
            </a:extLst>
          </p:cNvPr>
          <p:cNvSpPr>
            <a:spLocks xmlns:a="http://schemas.openxmlformats.org/drawingml/2006/main" noGrp="1"/>
          </p:cNvSpPr>
          <p:nvPr/>
        </p:nvSpPr>
        <p:spPr>
          <a:xfrm xmlns:a="http://schemas.openxmlformats.org/drawingml/2006/main">
            <a:off x="4251325" y="32797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0296"/>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ROOM、START、MOVE、SNAPSHOT、DISCONNECT_NOTICE 等消息往返</a:t>
            </a:r>
          </a:p>
        </p:txBody>
      </p:sp>
      <p:sp>
        <p:nvSpPr>
          <p:cNvPr id="37" name="">
            <a:extLst xmlns:a="http://schemas.openxmlformats.org/drawingml/2006/main">
              <a:ext uri="{FF2B5EF4-FFF2-40B4-BE49-F238E27FC236}">
                <a16:creationId xmlns:a16="http://schemas.microsoft.com/office/drawing/2014/main" id="{E9F32BC4-942B-46B7-AA62-69EA2DD0E3BF}"/>
              </a:ext>
            </a:extLst>
          </p:cNvPr>
          <p:cNvSpPr>
            <a:spLocks xmlns:a="http://schemas.openxmlformats.org/drawingml/2006/main" noGrp="1"/>
          </p:cNvSpPr>
          <p:nvPr/>
        </p:nvSpPr>
        <p:spPr>
          <a:xfrm xmlns:a="http://schemas.openxmlformats.org/drawingml/2006/main">
            <a:off x="7950200" y="32512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D5C4AF2B-78C7-45D4-B866-16A5604DF7D2}"/>
              </a:ext>
            </a:extLst>
          </p:cNvPr>
          <p:cNvSpPr>
            <a:spLocks xmlns:a="http://schemas.openxmlformats.org/drawingml/2006/main" noGrp="1"/>
          </p:cNvSpPr>
          <p:nvPr/>
        </p:nvSpPr>
        <p:spPr>
          <a:xfrm xmlns:a="http://schemas.openxmlformats.org/drawingml/2006/main">
            <a:off x="7997825" y="32797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覆盖联机协议编码/解码和中文昵称场景</a:t>
            </a:r>
          </a:p>
        </p:txBody>
      </p:sp>
      <p:sp>
        <p:nvSpPr>
          <p:cNvPr id="39" name="">
            <a:extLst xmlns:a="http://schemas.openxmlformats.org/drawingml/2006/main">
              <a:ext uri="{FF2B5EF4-FFF2-40B4-BE49-F238E27FC236}">
                <a16:creationId xmlns:a16="http://schemas.microsoft.com/office/drawing/2014/main" id="{5216B9B2-DFD7-437F-B9BF-B7029AF54C9E}"/>
              </a:ext>
            </a:extLst>
          </p:cNvPr>
          <p:cNvSpPr>
            <a:spLocks xmlns:a="http://schemas.openxmlformats.org/drawingml/2006/main" noGrp="1"/>
          </p:cNvSpPr>
          <p:nvPr/>
        </p:nvSpPr>
        <p:spPr>
          <a:xfrm xmlns:a="http://schemas.openxmlformats.org/drawingml/2006/main">
            <a:off x="457200" y="35877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F68A780B-C13B-4E64-94BF-4C0EAC4A3D25}"/>
              </a:ext>
            </a:extLst>
          </p:cNvPr>
          <p:cNvSpPr>
            <a:spLocks xmlns:a="http://schemas.openxmlformats.org/drawingml/2006/main" noGrp="1"/>
          </p:cNvSpPr>
          <p:nvPr/>
        </p:nvSpPr>
        <p:spPr>
          <a:xfrm xmlns:a="http://schemas.openxmlformats.org/drawingml/2006/main">
            <a:off x="504825" y="36163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RoomSeatTest</a:t>
            </a:r>
          </a:p>
        </p:txBody>
      </p:sp>
      <p:sp>
        <p:nvSpPr>
          <p:cNvPr id="41" name="">
            <a:extLst xmlns:a="http://schemas.openxmlformats.org/drawingml/2006/main">
              <a:ext uri="{FF2B5EF4-FFF2-40B4-BE49-F238E27FC236}">
                <a16:creationId xmlns:a16="http://schemas.microsoft.com/office/drawing/2014/main" id="{49E918AF-AEE3-4561-8712-8A16583E3960}"/>
              </a:ext>
            </a:extLst>
          </p:cNvPr>
          <p:cNvSpPr>
            <a:spLocks xmlns:a="http://schemas.openxmlformats.org/drawingml/2006/main" noGrp="1"/>
          </p:cNvSpPr>
          <p:nvPr/>
        </p:nvSpPr>
        <p:spPr>
          <a:xfrm xmlns:a="http://schemas.openxmlformats.org/drawingml/2006/main">
            <a:off x="4203700" y="35877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438C52E8-C6DF-40F6-99EB-71BD1203FF09}"/>
              </a:ext>
            </a:extLst>
          </p:cNvPr>
          <p:cNvSpPr>
            <a:spLocks xmlns:a="http://schemas.openxmlformats.org/drawingml/2006/main" noGrp="1"/>
          </p:cNvSpPr>
          <p:nvPr/>
        </p:nvSpPr>
        <p:spPr>
          <a:xfrm xmlns:a="http://schemas.openxmlformats.org/drawingml/2006/main">
            <a:off x="4251325" y="36163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四座位、添加人机、准备、客户端断线托管、再开局重置</a:t>
            </a:r>
          </a:p>
        </p:txBody>
      </p:sp>
      <p:sp>
        <p:nvSpPr>
          <p:cNvPr id="43" name="">
            <a:extLst xmlns:a="http://schemas.openxmlformats.org/drawingml/2006/main">
              <a:ext uri="{FF2B5EF4-FFF2-40B4-BE49-F238E27FC236}">
                <a16:creationId xmlns:a16="http://schemas.microsoft.com/office/drawing/2014/main" id="{A667522C-ED9D-4A51-AE88-20BA6631242E}"/>
              </a:ext>
            </a:extLst>
          </p:cNvPr>
          <p:cNvSpPr>
            <a:spLocks xmlns:a="http://schemas.openxmlformats.org/drawingml/2006/main" noGrp="1"/>
          </p:cNvSpPr>
          <p:nvPr/>
        </p:nvSpPr>
        <p:spPr>
          <a:xfrm xmlns:a="http://schemas.openxmlformats.org/drawingml/2006/main">
            <a:off x="7950200" y="35877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C2E51DF3-207F-4F08-AC0F-A5B54060CE94}"/>
              </a:ext>
            </a:extLst>
          </p:cNvPr>
          <p:cNvSpPr>
            <a:spLocks xmlns:a="http://schemas.openxmlformats.org/drawingml/2006/main" noGrp="1"/>
          </p:cNvSpPr>
          <p:nvPr/>
        </p:nvSpPr>
        <p:spPr>
          <a:xfrm xmlns:a="http://schemas.openxmlformats.org/drawingml/2006/main">
            <a:off x="7997825" y="36163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覆盖蓝牙房间座位逻辑</a:t>
            </a:r>
          </a:p>
        </p:txBody>
      </p:sp>
      <p:sp>
        <p:nvSpPr>
          <p:cNvPr id="45" name="">
            <a:extLst xmlns:a="http://schemas.openxmlformats.org/drawingml/2006/main">
              <a:ext uri="{FF2B5EF4-FFF2-40B4-BE49-F238E27FC236}">
                <a16:creationId xmlns:a16="http://schemas.microsoft.com/office/drawing/2014/main" id="{3C9013FE-C765-4C81-88EE-AEDE192B0DFA}"/>
              </a:ext>
            </a:extLst>
          </p:cNvPr>
          <p:cNvSpPr>
            <a:spLocks xmlns:a="http://schemas.openxmlformats.org/drawingml/2006/main" noGrp="1"/>
          </p:cNvSpPr>
          <p:nvPr/>
        </p:nvSpPr>
        <p:spPr>
          <a:xfrm xmlns:a="http://schemas.openxmlformats.org/drawingml/2006/main">
            <a:off x="457200" y="39243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5FD9F20E-E180-4A59-802F-337C047847C9}"/>
              </a:ext>
            </a:extLst>
          </p:cNvPr>
          <p:cNvSpPr>
            <a:spLocks xmlns:a="http://schemas.openxmlformats.org/drawingml/2006/main" noGrp="1"/>
          </p:cNvSpPr>
          <p:nvPr/>
        </p:nvSpPr>
        <p:spPr>
          <a:xfrm xmlns:a="http://schemas.openxmlformats.org/drawingml/2006/main">
            <a:off x="504825" y="39528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NetworkMoveGuardTest</a:t>
            </a:r>
          </a:p>
        </p:txBody>
      </p:sp>
      <p:sp>
        <p:nvSpPr>
          <p:cNvPr id="47" name="">
            <a:extLst xmlns:a="http://schemas.openxmlformats.org/drawingml/2006/main">
              <a:ext uri="{FF2B5EF4-FFF2-40B4-BE49-F238E27FC236}">
                <a16:creationId xmlns:a16="http://schemas.microsoft.com/office/drawing/2014/main" id="{5D760D6E-C6F3-43E6-AD4C-078987F2F2AA}"/>
              </a:ext>
            </a:extLst>
          </p:cNvPr>
          <p:cNvSpPr>
            <a:spLocks xmlns:a="http://schemas.openxmlformats.org/drawingml/2006/main" noGrp="1"/>
          </p:cNvSpPr>
          <p:nvPr/>
        </p:nvSpPr>
        <p:spPr>
          <a:xfrm xmlns:a="http://schemas.openxmlformats.org/drawingml/2006/main">
            <a:off x="4203700" y="39243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24A4DB57-367E-4C7D-A347-B66A21BA54C6}"/>
              </a:ext>
            </a:extLst>
          </p:cNvPr>
          <p:cNvSpPr>
            <a:spLocks xmlns:a="http://schemas.openxmlformats.org/drawingml/2006/main" noGrp="1"/>
          </p:cNvSpPr>
          <p:nvPr/>
        </p:nvSpPr>
        <p:spPr>
          <a:xfrm xmlns:a="http://schemas.openxmlformats.org/drawingml/2006/main">
            <a:off x="4251325" y="39528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当前远端玩家校验、重复/非法请求过滤</a:t>
            </a:r>
          </a:p>
        </p:txBody>
      </p:sp>
      <p:sp>
        <p:nvSpPr>
          <p:cNvPr id="49" name="">
            <a:extLst xmlns:a="http://schemas.openxmlformats.org/drawingml/2006/main">
              <a:ext uri="{FF2B5EF4-FFF2-40B4-BE49-F238E27FC236}">
                <a16:creationId xmlns:a16="http://schemas.microsoft.com/office/drawing/2014/main" id="{90B7B99E-83DD-42D3-AE0A-12429BE9C3C7}"/>
              </a:ext>
            </a:extLst>
          </p:cNvPr>
          <p:cNvSpPr>
            <a:spLocks xmlns:a="http://schemas.openxmlformats.org/drawingml/2006/main" noGrp="1"/>
          </p:cNvSpPr>
          <p:nvPr/>
        </p:nvSpPr>
        <p:spPr>
          <a:xfrm xmlns:a="http://schemas.openxmlformats.org/drawingml/2006/main">
            <a:off x="7950200" y="39243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D4901E92-5887-4B06-9CA7-DC25212DAB75}"/>
              </a:ext>
            </a:extLst>
          </p:cNvPr>
          <p:cNvSpPr>
            <a:spLocks xmlns:a="http://schemas.openxmlformats.org/drawingml/2006/main" noGrp="1"/>
          </p:cNvSpPr>
          <p:nvPr/>
        </p:nvSpPr>
        <p:spPr>
          <a:xfrm xmlns:a="http://schemas.openxmlformats.org/drawingml/2006/main">
            <a:off x="7997825" y="39528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覆盖房主权威保护，避免重复点击污染牌局</a:t>
            </a:r>
          </a:p>
        </p:txBody>
      </p:sp>
      <p:sp>
        <p:nvSpPr>
          <p:cNvPr id="51" name="">
            <a:extLst xmlns:a="http://schemas.openxmlformats.org/drawingml/2006/main">
              <a:ext uri="{FF2B5EF4-FFF2-40B4-BE49-F238E27FC236}">
                <a16:creationId xmlns:a16="http://schemas.microsoft.com/office/drawing/2014/main" id="{3745186B-C40F-4BA8-A9A7-4869FE743B21}"/>
              </a:ext>
            </a:extLst>
          </p:cNvPr>
          <p:cNvSpPr>
            <a:spLocks xmlns:a="http://schemas.openxmlformats.org/drawingml/2006/main" noGrp="1"/>
          </p:cNvSpPr>
          <p:nvPr/>
        </p:nvSpPr>
        <p:spPr>
          <a:xfrm xmlns:a="http://schemas.openxmlformats.org/drawingml/2006/main">
            <a:off x="457200" y="42608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C931CBA8-E1D1-4E85-94D8-66397B5A2E17}"/>
              </a:ext>
            </a:extLst>
          </p:cNvPr>
          <p:cNvSpPr>
            <a:spLocks xmlns:a="http://schemas.openxmlformats.org/drawingml/2006/main" noGrp="1"/>
          </p:cNvSpPr>
          <p:nvPr/>
        </p:nvSpPr>
        <p:spPr>
          <a:xfrm xmlns:a="http://schemas.openxmlformats.org/drawingml/2006/main">
            <a:off x="504825" y="42894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SimulatedBluetoothHubTest</a:t>
            </a:r>
          </a:p>
        </p:txBody>
      </p:sp>
      <p:sp>
        <p:nvSpPr>
          <p:cNvPr id="53" name="">
            <a:extLst xmlns:a="http://schemas.openxmlformats.org/drawingml/2006/main">
              <a:ext uri="{FF2B5EF4-FFF2-40B4-BE49-F238E27FC236}">
                <a16:creationId xmlns:a16="http://schemas.microsoft.com/office/drawing/2014/main" id="{CBB80E2B-38A6-4D8D-A044-9A58E57328D0}"/>
              </a:ext>
            </a:extLst>
          </p:cNvPr>
          <p:cNvSpPr>
            <a:spLocks xmlns:a="http://schemas.openxmlformats.org/drawingml/2006/main" noGrp="1"/>
          </p:cNvSpPr>
          <p:nvPr/>
        </p:nvSpPr>
        <p:spPr>
          <a:xfrm xmlns:a="http://schemas.openxmlformats.org/drawingml/2006/main">
            <a:off x="4203700" y="42608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DD64D3E9-5E65-433F-9B4E-C9B84614DC28}"/>
              </a:ext>
            </a:extLst>
          </p:cNvPr>
          <p:cNvSpPr>
            <a:spLocks xmlns:a="http://schemas.openxmlformats.org/drawingml/2006/main" noGrp="1"/>
          </p:cNvSpPr>
          <p:nvPr/>
        </p:nvSpPr>
        <p:spPr>
          <a:xfrm xmlns:a="http://schemas.openxmlformats.org/drawingml/2006/main">
            <a:off x="4251325" y="42894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三人加入、房满拒绝、房主广播、移动请求和客户端断线托管</a:t>
            </a:r>
          </a:p>
        </p:txBody>
      </p:sp>
      <p:sp>
        <p:nvSpPr>
          <p:cNvPr id="55" name="">
            <a:extLst xmlns:a="http://schemas.openxmlformats.org/drawingml/2006/main">
              <a:ext uri="{FF2B5EF4-FFF2-40B4-BE49-F238E27FC236}">
                <a16:creationId xmlns:a16="http://schemas.microsoft.com/office/drawing/2014/main" id="{E06B48B7-17A9-4626-A9CB-0A5A66D650DF}"/>
              </a:ext>
            </a:extLst>
          </p:cNvPr>
          <p:cNvSpPr>
            <a:spLocks xmlns:a="http://schemas.openxmlformats.org/drawingml/2006/main" noGrp="1"/>
          </p:cNvSpPr>
          <p:nvPr/>
        </p:nvSpPr>
        <p:spPr>
          <a:xfrm xmlns:a="http://schemas.openxmlformats.org/drawingml/2006/main">
            <a:off x="7950200" y="42608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6EF9299A-570B-4356-97D7-4DB24672E49C}"/>
              </a:ext>
            </a:extLst>
          </p:cNvPr>
          <p:cNvSpPr>
            <a:spLocks xmlns:a="http://schemas.openxmlformats.org/drawingml/2006/main" noGrp="1"/>
          </p:cNvSpPr>
          <p:nvPr/>
        </p:nvSpPr>
        <p:spPr>
          <a:xfrm xmlns:a="http://schemas.openxmlformats.org/drawingml/2006/main">
            <a:off x="7997825" y="42894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覆盖多人蓝牙核心逻辑的可重复模拟</a:t>
            </a:r>
          </a:p>
        </p:txBody>
      </p:sp>
      <p:sp>
        <p:nvSpPr>
          <p:cNvPr id="57" name="">
            <a:extLst xmlns:a="http://schemas.openxmlformats.org/drawingml/2006/main">
              <a:ext uri="{FF2B5EF4-FFF2-40B4-BE49-F238E27FC236}">
                <a16:creationId xmlns:a16="http://schemas.microsoft.com/office/drawing/2014/main" id="{32863203-5D4E-4FB0-8666-B05007698674}"/>
              </a:ext>
            </a:extLst>
          </p:cNvPr>
          <p:cNvSpPr>
            <a:spLocks xmlns:a="http://schemas.openxmlformats.org/drawingml/2006/main" noGrp="1"/>
          </p:cNvSpPr>
          <p:nvPr/>
        </p:nvSpPr>
        <p:spPr>
          <a:xfrm xmlns:a="http://schemas.openxmlformats.org/drawingml/2006/main">
            <a:off x="457200" y="45974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8" name="">
            <a:extLst xmlns:a="http://schemas.openxmlformats.org/drawingml/2006/main">
              <a:ext uri="{FF2B5EF4-FFF2-40B4-BE49-F238E27FC236}">
                <a16:creationId xmlns:a16="http://schemas.microsoft.com/office/drawing/2014/main" id="{39272FBB-E3A7-4E65-8956-F139A0BCE61A}"/>
              </a:ext>
            </a:extLst>
          </p:cNvPr>
          <p:cNvSpPr>
            <a:spLocks xmlns:a="http://schemas.openxmlformats.org/drawingml/2006/main" noGrp="1"/>
          </p:cNvSpPr>
          <p:nvPr/>
        </p:nvSpPr>
        <p:spPr>
          <a:xfrm xmlns:a="http://schemas.openxmlformats.org/drawingml/2006/main">
            <a:off x="504825" y="46259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ProfileControllerTest</a:t>
            </a:r>
          </a:p>
        </p:txBody>
      </p:sp>
      <p:sp>
        <p:nvSpPr>
          <p:cNvPr id="59" name="">
            <a:extLst xmlns:a="http://schemas.openxmlformats.org/drawingml/2006/main">
              <a:ext uri="{FF2B5EF4-FFF2-40B4-BE49-F238E27FC236}">
                <a16:creationId xmlns:a16="http://schemas.microsoft.com/office/drawing/2014/main" id="{197CE4B2-A1D9-4313-A45E-684E7DFF104A}"/>
              </a:ext>
            </a:extLst>
          </p:cNvPr>
          <p:cNvSpPr>
            <a:spLocks xmlns:a="http://schemas.openxmlformats.org/drawingml/2006/main" noGrp="1"/>
          </p:cNvSpPr>
          <p:nvPr/>
        </p:nvSpPr>
        <p:spPr>
          <a:xfrm xmlns:a="http://schemas.openxmlformats.org/drawingml/2006/main">
            <a:off x="4203700" y="45974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0" name="">
            <a:extLst xmlns:a="http://schemas.openxmlformats.org/drawingml/2006/main">
              <a:ext uri="{FF2B5EF4-FFF2-40B4-BE49-F238E27FC236}">
                <a16:creationId xmlns:a16="http://schemas.microsoft.com/office/drawing/2014/main" id="{6118AE84-6B91-420A-A45A-1438E62D92C0}"/>
              </a:ext>
            </a:extLst>
          </p:cNvPr>
          <p:cNvSpPr>
            <a:spLocks xmlns:a="http://schemas.openxmlformats.org/drawingml/2006/main" noGrp="1"/>
          </p:cNvSpPr>
          <p:nvPr/>
        </p:nvSpPr>
        <p:spPr>
          <a:xfrm xmlns:a="http://schemas.openxmlformats.org/drawingml/2006/main">
            <a:off x="4251325" y="46259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经验升级、金币结算、头像解锁、改名消费、战绩重置、每日奖励</a:t>
            </a:r>
          </a:p>
        </p:txBody>
      </p:sp>
      <p:sp>
        <p:nvSpPr>
          <p:cNvPr id="61" name="">
            <a:extLst xmlns:a="http://schemas.openxmlformats.org/drawingml/2006/main">
              <a:ext uri="{FF2B5EF4-FFF2-40B4-BE49-F238E27FC236}">
                <a16:creationId xmlns:a16="http://schemas.microsoft.com/office/drawing/2014/main" id="{D18977F8-4C89-4C64-8DF0-7F7DF3018E6F}"/>
              </a:ext>
            </a:extLst>
          </p:cNvPr>
          <p:cNvSpPr>
            <a:spLocks xmlns:a="http://schemas.openxmlformats.org/drawingml/2006/main" noGrp="1"/>
          </p:cNvSpPr>
          <p:nvPr/>
        </p:nvSpPr>
        <p:spPr>
          <a:xfrm xmlns:a="http://schemas.openxmlformats.org/drawingml/2006/main">
            <a:off x="7950200" y="45974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2" name="">
            <a:extLst xmlns:a="http://schemas.openxmlformats.org/drawingml/2006/main">
              <a:ext uri="{FF2B5EF4-FFF2-40B4-BE49-F238E27FC236}">
                <a16:creationId xmlns:a16="http://schemas.microsoft.com/office/drawing/2014/main" id="{D7813FFA-8AC1-46B0-B16A-961A30D71641}"/>
              </a:ext>
            </a:extLst>
          </p:cNvPr>
          <p:cNvSpPr>
            <a:spLocks xmlns:a="http://schemas.openxmlformats.org/drawingml/2006/main" noGrp="1"/>
          </p:cNvSpPr>
          <p:nvPr/>
        </p:nvSpPr>
        <p:spPr>
          <a:xfrm xmlns:a="http://schemas.openxmlformats.org/drawingml/2006/main">
            <a:off x="7997825" y="46259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覆盖玩家成长系统和金币消费规则</a:t>
            </a:r>
          </a:p>
        </p:txBody>
      </p:sp>
      <p:sp>
        <p:nvSpPr>
          <p:cNvPr id="63" name="">
            <a:extLst xmlns:a="http://schemas.openxmlformats.org/drawingml/2006/main">
              <a:ext uri="{FF2B5EF4-FFF2-40B4-BE49-F238E27FC236}">
                <a16:creationId xmlns:a16="http://schemas.microsoft.com/office/drawing/2014/main" id="{4D0A61AF-79DE-4B67-860B-F9389CF73C0B}"/>
              </a:ext>
            </a:extLst>
          </p:cNvPr>
          <p:cNvSpPr>
            <a:spLocks xmlns:a="http://schemas.openxmlformats.org/drawingml/2006/main" noGrp="1"/>
          </p:cNvSpPr>
          <p:nvPr/>
        </p:nvSpPr>
        <p:spPr>
          <a:xfrm xmlns:a="http://schemas.openxmlformats.org/drawingml/2006/main">
            <a:off x="457200" y="49339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4" name="">
            <a:extLst xmlns:a="http://schemas.openxmlformats.org/drawingml/2006/main">
              <a:ext uri="{FF2B5EF4-FFF2-40B4-BE49-F238E27FC236}">
                <a16:creationId xmlns:a16="http://schemas.microsoft.com/office/drawing/2014/main" id="{C0B91373-9618-4926-AD26-53D9909F501B}"/>
              </a:ext>
            </a:extLst>
          </p:cNvPr>
          <p:cNvSpPr>
            <a:spLocks xmlns:a="http://schemas.openxmlformats.org/drawingml/2006/main" noGrp="1"/>
          </p:cNvSpPr>
          <p:nvPr/>
        </p:nvSpPr>
        <p:spPr>
          <a:xfrm xmlns:a="http://schemas.openxmlformats.org/drawingml/2006/main">
            <a:off x="504825" y="49625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TableAnimationKeysTest</a:t>
            </a:r>
          </a:p>
        </p:txBody>
      </p:sp>
      <p:sp>
        <p:nvSpPr>
          <p:cNvPr id="65" name="">
            <a:extLst xmlns:a="http://schemas.openxmlformats.org/drawingml/2006/main">
              <a:ext uri="{FF2B5EF4-FFF2-40B4-BE49-F238E27FC236}">
                <a16:creationId xmlns:a16="http://schemas.microsoft.com/office/drawing/2014/main" id="{D06C010A-76D1-488C-A565-77AE01297966}"/>
              </a:ext>
            </a:extLst>
          </p:cNvPr>
          <p:cNvSpPr>
            <a:spLocks xmlns:a="http://schemas.openxmlformats.org/drawingml/2006/main" noGrp="1"/>
          </p:cNvSpPr>
          <p:nvPr/>
        </p:nvSpPr>
        <p:spPr>
          <a:xfrm xmlns:a="http://schemas.openxmlformats.org/drawingml/2006/main">
            <a:off x="4203700" y="49339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6" name="">
            <a:extLst xmlns:a="http://schemas.openxmlformats.org/drawingml/2006/main">
              <a:ext uri="{FF2B5EF4-FFF2-40B4-BE49-F238E27FC236}">
                <a16:creationId xmlns:a16="http://schemas.microsoft.com/office/drawing/2014/main" id="{2CA6AA9F-A07D-4A0D-8B01-DFEA158C833D}"/>
              </a:ext>
            </a:extLst>
          </p:cNvPr>
          <p:cNvSpPr>
            <a:spLocks xmlns:a="http://schemas.openxmlformats.org/drawingml/2006/main" noGrp="1"/>
          </p:cNvSpPr>
          <p:nvPr/>
        </p:nvSpPr>
        <p:spPr>
          <a:xfrm xmlns:a="http://schemas.openxmlformats.org/drawingml/2006/main">
            <a:off x="4251325" y="49625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出牌动画 key 和落桌动画 key 稳定性</a:t>
            </a:r>
          </a:p>
        </p:txBody>
      </p:sp>
      <p:sp>
        <p:nvSpPr>
          <p:cNvPr id="67" name="">
            <a:extLst xmlns:a="http://schemas.openxmlformats.org/drawingml/2006/main">
              <a:ext uri="{FF2B5EF4-FFF2-40B4-BE49-F238E27FC236}">
                <a16:creationId xmlns:a16="http://schemas.microsoft.com/office/drawing/2014/main" id="{6A8C1273-3FAD-486D-B952-D8B5D78E0037}"/>
              </a:ext>
            </a:extLst>
          </p:cNvPr>
          <p:cNvSpPr>
            <a:spLocks xmlns:a="http://schemas.openxmlformats.org/drawingml/2006/main" noGrp="1"/>
          </p:cNvSpPr>
          <p:nvPr/>
        </p:nvSpPr>
        <p:spPr>
          <a:xfrm xmlns:a="http://schemas.openxmlformats.org/drawingml/2006/main">
            <a:off x="7950200" y="49339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8" name="">
            <a:extLst xmlns:a="http://schemas.openxmlformats.org/drawingml/2006/main">
              <a:ext uri="{FF2B5EF4-FFF2-40B4-BE49-F238E27FC236}">
                <a16:creationId xmlns:a16="http://schemas.microsoft.com/office/drawing/2014/main" id="{DB58B4B0-C0C2-4FCF-A408-1B5803B17BDF}"/>
              </a:ext>
            </a:extLst>
          </p:cNvPr>
          <p:cNvSpPr>
            <a:spLocks xmlns:a="http://schemas.openxmlformats.org/drawingml/2006/main" noGrp="1"/>
          </p:cNvSpPr>
          <p:nvPr/>
        </p:nvSpPr>
        <p:spPr>
          <a:xfrm xmlns:a="http://schemas.openxmlformats.org/drawingml/2006/main">
            <a:off x="7997825" y="49625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覆盖动画重复触发风险</a:t>
            </a:r>
          </a:p>
        </p:txBody>
      </p:sp>
      <p:sp>
        <p:nvSpPr>
          <p:cNvPr id="69" name="">
            <a:extLst xmlns:a="http://schemas.openxmlformats.org/drawingml/2006/main">
              <a:ext uri="{FF2B5EF4-FFF2-40B4-BE49-F238E27FC236}">
                <a16:creationId xmlns:a16="http://schemas.microsoft.com/office/drawing/2014/main" id="{12CE6F25-6069-419F-8C96-C59669AD6C23}"/>
              </a:ext>
            </a:extLst>
          </p:cNvPr>
          <p:cNvSpPr>
            <a:spLocks xmlns:a="http://schemas.openxmlformats.org/drawingml/2006/main" noGrp="1"/>
          </p:cNvSpPr>
          <p:nvPr/>
        </p:nvSpPr>
        <p:spPr>
          <a:xfrm xmlns:a="http://schemas.openxmlformats.org/drawingml/2006/main">
            <a:off x="457200" y="52705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0" name="">
            <a:extLst xmlns:a="http://schemas.openxmlformats.org/drawingml/2006/main">
              <a:ext uri="{FF2B5EF4-FFF2-40B4-BE49-F238E27FC236}">
                <a16:creationId xmlns:a16="http://schemas.microsoft.com/office/drawing/2014/main" id="{32DEF54C-79AD-4789-BDF0-0A9636C6F1B6}"/>
              </a:ext>
            </a:extLst>
          </p:cNvPr>
          <p:cNvSpPr>
            <a:spLocks xmlns:a="http://schemas.openxmlformats.org/drawingml/2006/main" noGrp="1"/>
          </p:cNvSpPr>
          <p:nvPr/>
        </p:nvSpPr>
        <p:spPr>
          <a:xfrm xmlns:a="http://schemas.openxmlformats.org/drawingml/2006/main">
            <a:off x="504825" y="52990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MusicAssetTest</a:t>
            </a:r>
          </a:p>
        </p:txBody>
      </p:sp>
      <p:sp>
        <p:nvSpPr>
          <p:cNvPr id="71" name="">
            <a:extLst xmlns:a="http://schemas.openxmlformats.org/drawingml/2006/main">
              <a:ext uri="{FF2B5EF4-FFF2-40B4-BE49-F238E27FC236}">
                <a16:creationId xmlns:a16="http://schemas.microsoft.com/office/drawing/2014/main" id="{339EF73C-7195-4F9E-9DFE-62AF73450855}"/>
              </a:ext>
            </a:extLst>
          </p:cNvPr>
          <p:cNvSpPr>
            <a:spLocks xmlns:a="http://schemas.openxmlformats.org/drawingml/2006/main" noGrp="1"/>
          </p:cNvSpPr>
          <p:nvPr/>
        </p:nvSpPr>
        <p:spPr>
          <a:xfrm xmlns:a="http://schemas.openxmlformats.org/drawingml/2006/main">
            <a:off x="4203700" y="52705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2" name="">
            <a:extLst xmlns:a="http://schemas.openxmlformats.org/drawingml/2006/main">
              <a:ext uri="{FF2B5EF4-FFF2-40B4-BE49-F238E27FC236}">
                <a16:creationId xmlns:a16="http://schemas.microsoft.com/office/drawing/2014/main" id="{0746A333-7DEB-4E99-8F7B-2BBADB67C7F0}"/>
              </a:ext>
            </a:extLst>
          </p:cNvPr>
          <p:cNvSpPr>
            <a:spLocks xmlns:a="http://schemas.openxmlformats.org/drawingml/2006/main" noGrp="1"/>
          </p:cNvSpPr>
          <p:nvPr/>
        </p:nvSpPr>
        <p:spPr>
          <a:xfrm xmlns:a="http://schemas.openxmlformats.org/drawingml/2006/main">
            <a:off x="4251325" y="52990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背景音乐资源存在和循环配置</a:t>
            </a:r>
          </a:p>
        </p:txBody>
      </p:sp>
      <p:sp>
        <p:nvSpPr>
          <p:cNvPr id="73" name="">
            <a:extLst xmlns:a="http://schemas.openxmlformats.org/drawingml/2006/main">
              <a:ext uri="{FF2B5EF4-FFF2-40B4-BE49-F238E27FC236}">
                <a16:creationId xmlns:a16="http://schemas.microsoft.com/office/drawing/2014/main" id="{F7994BF0-26BF-450B-BAA7-6D35B1C0DE23}"/>
              </a:ext>
            </a:extLst>
          </p:cNvPr>
          <p:cNvSpPr>
            <a:spLocks xmlns:a="http://schemas.openxmlformats.org/drawingml/2006/main" noGrp="1"/>
          </p:cNvSpPr>
          <p:nvPr/>
        </p:nvSpPr>
        <p:spPr>
          <a:xfrm xmlns:a="http://schemas.openxmlformats.org/drawingml/2006/main">
            <a:off x="7950200" y="52705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4" name="">
            <a:extLst xmlns:a="http://schemas.openxmlformats.org/drawingml/2006/main">
              <a:ext uri="{FF2B5EF4-FFF2-40B4-BE49-F238E27FC236}">
                <a16:creationId xmlns:a16="http://schemas.microsoft.com/office/drawing/2014/main" id="{22DC9AD6-BBFB-42F7-8990-F42B9577A363}"/>
              </a:ext>
            </a:extLst>
          </p:cNvPr>
          <p:cNvSpPr>
            <a:spLocks xmlns:a="http://schemas.openxmlformats.org/drawingml/2006/main" noGrp="1"/>
          </p:cNvSpPr>
          <p:nvPr/>
        </p:nvSpPr>
        <p:spPr>
          <a:xfrm xmlns:a="http://schemas.openxmlformats.org/drawingml/2006/main">
            <a:off x="7997825" y="52990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覆盖音乐资源和 0:00-1:33 循环要求</a:t>
            </a:r>
          </a:p>
        </p:txBody>
      </p:sp>
      <p:sp>
        <p:nvSpPr>
          <p:cNvPr id="75" name="">
            <a:extLst xmlns:a="http://schemas.openxmlformats.org/drawingml/2006/main">
              <a:ext uri="{FF2B5EF4-FFF2-40B4-BE49-F238E27FC236}">
                <a16:creationId xmlns:a16="http://schemas.microsoft.com/office/drawing/2014/main" id="{82F48DAB-FB27-467B-B8FD-0E00AA687123}"/>
              </a:ext>
            </a:extLst>
          </p:cNvPr>
          <p:cNvSpPr>
            <a:spLocks xmlns:a="http://schemas.openxmlformats.org/drawingml/2006/main" noGrp="1"/>
          </p:cNvSpPr>
          <p:nvPr/>
        </p:nvSpPr>
        <p:spPr>
          <a:xfrm xmlns:a="http://schemas.openxmlformats.org/drawingml/2006/main">
            <a:off x="457200" y="56070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76" name="">
            <a:extLst xmlns:a="http://schemas.openxmlformats.org/drawingml/2006/main">
              <a:ext uri="{FF2B5EF4-FFF2-40B4-BE49-F238E27FC236}">
                <a16:creationId xmlns:a16="http://schemas.microsoft.com/office/drawing/2014/main" id="{A241E442-5E1A-427B-972A-7031689BECDB}"/>
              </a:ext>
            </a:extLst>
          </p:cNvPr>
          <p:cNvSpPr>
            <a:spLocks xmlns:a="http://schemas.openxmlformats.org/drawingml/2006/main" noGrp="1"/>
          </p:cNvSpPr>
          <p:nvPr/>
        </p:nvSpPr>
        <p:spPr>
          <a:xfrm xmlns:a="http://schemas.openxmlformats.org/drawingml/2006/main">
            <a:off x="504825" y="56356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ChudadiDeviceSmokeTest</a:t>
            </a:r>
          </a:p>
        </p:txBody>
      </p:sp>
      <p:sp>
        <p:nvSpPr>
          <p:cNvPr id="77" name="">
            <a:extLst xmlns:a="http://schemas.openxmlformats.org/drawingml/2006/main">
              <a:ext uri="{FF2B5EF4-FFF2-40B4-BE49-F238E27FC236}">
                <a16:creationId xmlns:a16="http://schemas.microsoft.com/office/drawing/2014/main" id="{04C83B20-6E14-44D5-B384-5D1352CF184D}"/>
              </a:ext>
            </a:extLst>
          </p:cNvPr>
          <p:cNvSpPr>
            <a:spLocks xmlns:a="http://schemas.openxmlformats.org/drawingml/2006/main" noGrp="1"/>
          </p:cNvSpPr>
          <p:nvPr/>
        </p:nvSpPr>
        <p:spPr>
          <a:xfrm xmlns:a="http://schemas.openxmlformats.org/drawingml/2006/main">
            <a:off x="4203700" y="56070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78" name="">
            <a:extLst xmlns:a="http://schemas.openxmlformats.org/drawingml/2006/main">
              <a:ext uri="{FF2B5EF4-FFF2-40B4-BE49-F238E27FC236}">
                <a16:creationId xmlns:a16="http://schemas.microsoft.com/office/drawing/2014/main" id="{E3FB9426-94FA-4A40-AFF5-3FB0FE902D1B}"/>
              </a:ext>
            </a:extLst>
          </p:cNvPr>
          <p:cNvSpPr>
            <a:spLocks xmlns:a="http://schemas.openxmlformats.org/drawingml/2006/main" noGrp="1"/>
          </p:cNvSpPr>
          <p:nvPr/>
        </p:nvSpPr>
        <p:spPr>
          <a:xfrm xmlns:a="http://schemas.openxmlformats.org/drawingml/2006/main">
            <a:off x="4251325" y="56356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真机/模拟器启动和基础 UI 冒烟</a:t>
            </a:r>
          </a:p>
        </p:txBody>
      </p:sp>
      <p:sp>
        <p:nvSpPr>
          <p:cNvPr id="79" name="">
            <a:extLst xmlns:a="http://schemas.openxmlformats.org/drawingml/2006/main">
              <a:ext uri="{FF2B5EF4-FFF2-40B4-BE49-F238E27FC236}">
                <a16:creationId xmlns:a16="http://schemas.microsoft.com/office/drawing/2014/main" id="{87B21D2B-0EBE-411F-850E-99085838FC0F}"/>
              </a:ext>
            </a:extLst>
          </p:cNvPr>
          <p:cNvSpPr>
            <a:spLocks xmlns:a="http://schemas.openxmlformats.org/drawingml/2006/main" noGrp="1"/>
          </p:cNvSpPr>
          <p:nvPr/>
        </p:nvSpPr>
        <p:spPr>
          <a:xfrm xmlns:a="http://schemas.openxmlformats.org/drawingml/2006/main">
            <a:off x="7950200" y="56070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80" name="">
            <a:extLst xmlns:a="http://schemas.openxmlformats.org/drawingml/2006/main">
              <a:ext uri="{FF2B5EF4-FFF2-40B4-BE49-F238E27FC236}">
                <a16:creationId xmlns:a16="http://schemas.microsoft.com/office/drawing/2014/main" id="{26398FE4-9E46-4392-BAFB-63F143E9617C}"/>
              </a:ext>
            </a:extLst>
          </p:cNvPr>
          <p:cNvSpPr>
            <a:spLocks xmlns:a="http://schemas.openxmlformats.org/drawingml/2006/main" noGrp="1"/>
          </p:cNvSpPr>
          <p:nvPr/>
        </p:nvSpPr>
        <p:spPr>
          <a:xfrm xmlns:a="http://schemas.openxmlformats.org/drawingml/2006/main">
            <a:off x="7997825" y="56356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覆盖设备启动验收</a:t>
            </a:r>
          </a:p>
        </p:txBody>
      </p:sp>
    </p:spTree>
    <p:extLst>
      <p:ext uri="{BB962C8B-B14F-4D97-AF65-F5344CB8AC3E}">
        <p14:creationId xmlns:p14="http://schemas.microsoft.com/office/powerpoint/2010/main" val="508040847"/>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82293E-4653-4120-BDD7-174629A0BF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388B01-0B62-4F35-A361-67D1705D7F1F}"/>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B5E847-78C1-498A-B326-9DCFBED199D0}"/>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59956A52-57D8-45A2-BBE6-4E8B2FCE477E}"/>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105F384F-344E-4DFA-9580-B0A97978D6D7}"/>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98</a:t>
            </a:r>
          </a:p>
        </p:txBody>
      </p:sp>
      <p:sp>
        <p:nvSpPr>
          <p:cNvPr id="6" name="">
            <a:extLst xmlns:a="http://schemas.openxmlformats.org/drawingml/2006/main">
              <a:ext uri="{FF2B5EF4-FFF2-40B4-BE49-F238E27FC236}">
                <a16:creationId xmlns:a16="http://schemas.microsoft.com/office/drawing/2014/main" id="{4C593C17-656F-4D8B-9235-CEC9F2CD6F44}"/>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10FB8752-438E-4C46-BE88-304F7DC44D4B}"/>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8.3 代码测试与验收（3/7）</a:t>
            </a:r>
          </a:p>
        </p:txBody>
      </p:sp>
      <p:sp>
        <p:nvSpPr>
          <p:cNvPr id="8" name="">
            <a:extLst xmlns:a="http://schemas.openxmlformats.org/drawingml/2006/main">
              <a:ext uri="{FF2B5EF4-FFF2-40B4-BE49-F238E27FC236}">
                <a16:creationId xmlns:a16="http://schemas.microsoft.com/office/drawing/2014/main" id="{0ADBECDF-8893-4B78-92BF-F0CDDBEA953D}"/>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58CE46B-35CE-4937-BB20-E435D3F42178}"/>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测试执行命令按以下顺序进行：</a:t>
            </a:r>
          </a:p>
        </p:txBody>
      </p:sp>
    </p:spTree>
    <p:extLst>
      <p:ext uri="{BB962C8B-B14F-4D97-AF65-F5344CB8AC3E}">
        <p14:creationId xmlns:p14="http://schemas.microsoft.com/office/powerpoint/2010/main" val="1038788290"/>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7AF202-C468-4092-B436-20EA8E2167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DF1227-0AE0-4D7A-9001-9C71E4FA1D03}"/>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723799-6943-4B10-A321-CFA23F801A09}"/>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7D9BB557-E845-4262-9323-5401FC4DD587}"/>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B520234D-D85F-4CE6-BE84-F13036A130D9}"/>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99</a:t>
            </a:r>
          </a:p>
        </p:txBody>
      </p:sp>
      <p:sp>
        <p:nvSpPr>
          <p:cNvPr id="6" name="">
            <a:extLst xmlns:a="http://schemas.openxmlformats.org/drawingml/2006/main">
              <a:ext uri="{FF2B5EF4-FFF2-40B4-BE49-F238E27FC236}">
                <a16:creationId xmlns:a16="http://schemas.microsoft.com/office/drawing/2014/main" id="{12AE466B-7503-4FC4-8D6E-28E6614E2C0D}"/>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B773F1D8-445A-4C05-9A25-B4141CDB6F0F}"/>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8.3 代码测试与验收（4/7）</a:t>
            </a:r>
          </a:p>
        </p:txBody>
      </p:sp>
      <p:sp>
        <p:nvSpPr>
          <p:cNvPr id="8" name="">
            <a:extLst xmlns:a="http://schemas.openxmlformats.org/drawingml/2006/main">
              <a:ext uri="{FF2B5EF4-FFF2-40B4-BE49-F238E27FC236}">
                <a16:creationId xmlns:a16="http://schemas.microsoft.com/office/drawing/2014/main" id="{85861A9F-D90D-458B-AF90-5F83D73EAD87}"/>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313E21F-4176-462C-A33B-381BDB077826}"/>
              </a:ext>
            </a:extLst>
          </p:cNvPr>
          <p:cNvSpPr>
            <a:spLocks xmlns:a="http://schemas.openxmlformats.org/drawingml/2006/main" noGrp="1"/>
          </p:cNvSpPr>
          <p:nvPr/>
        </p:nvSpPr>
        <p:spPr>
          <a:xfrm xmlns:a="http://schemas.openxmlformats.org/drawingml/2006/main">
            <a:off x="685800" y="1905000"/>
            <a:ext cx="10839450" cy="4038600"/>
          </a:xfrm>
          <a:prstGeom xmlns:a="http://schemas.openxmlformats.org/drawingml/2006/main" prst="roundRect">
            <a:avLst>
              <a:gd name="adj" fmla="val 1415"/>
            </a:avLst>
          </a:prstGeom>
          <a:solidFill xmlns:a="http://schemas.openxmlformats.org/drawingml/2006/main">
            <a:srgbClr val="102820"/>
          </a:solidFill>
          <a:ln xmlns:a="http://schemas.openxmlformats.org/drawingml/2006/main" w="9525">
            <a:solidFill>
              <a:srgbClr val="294C3E"/>
            </a:solidFill>
          </a:ln>
        </p:spPr>
      </p:sp>
      <p:sp>
        <p:nvSpPr>
          <p:cNvPr id="10" name="">
            <a:extLst xmlns:a="http://schemas.openxmlformats.org/drawingml/2006/main">
              <a:ext uri="{FF2B5EF4-FFF2-40B4-BE49-F238E27FC236}">
                <a16:creationId xmlns:a16="http://schemas.microsoft.com/office/drawing/2014/main" id="{6B106A33-87AD-47A3-8F91-DAB3E2C236D3}"/>
              </a:ext>
            </a:extLst>
          </p:cNvPr>
          <p:cNvSpPr>
            <a:spLocks xmlns:a="http://schemas.openxmlformats.org/drawingml/2006/main" noGrp="1"/>
          </p:cNvSpPr>
          <p:nvPr/>
        </p:nvSpPr>
        <p:spPr>
          <a:xfrm xmlns:a="http://schemas.openxmlformats.org/drawingml/2006/main">
            <a:off x="838200" y="2038350"/>
            <a:ext cx="1053465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./gradlew --stop</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./gradlew test --no-daemon</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./gradlew :app:assembleDebug --no-daemon</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./gradlew :app:assembleRelease --no-daemon</a:t>
            </a:r>
          </a:p>
          <a:p xmlns:a="http://schemas.openxmlformats.org/drawingml/2006/main">
            <a:pPr algn="l">
              <a:lnSpc>
                <a:spcPct val="102000"/>
              </a:lnSpc>
              <a:buNone/>
              <a:defRPr sz="938" b="0">
                <a:solidFill>
                  <a:srgbClr val="F4F1E6"/>
                </a:solidFill>
                <a:latin typeface="Menlo"/>
                <a:ea typeface="Menlo"/>
                <a:cs typeface="Menlo"/>
              </a:defRPr>
            </a:pPr>
            <a:r>
              <a:rPr sz="938" b="0">
                <a:solidFill>
                  <a:srgbClr val="F4F1E6"/>
                </a:solidFill>
                <a:latin typeface="Menlo"/>
                <a:ea typeface="Menlo"/>
                <a:cs typeface="Menlo"/>
              </a:rPr>
              <a:t>./gradlew :app:bundleRelease --no-daemon</a:t>
            </a:r>
          </a:p>
        </p:txBody>
      </p:sp>
    </p:spTree>
    <p:extLst>
      <p:ext uri="{BB962C8B-B14F-4D97-AF65-F5344CB8AC3E}">
        <p14:creationId xmlns:p14="http://schemas.microsoft.com/office/powerpoint/2010/main" val="98616140"/>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C40A5C3-9744-413F-B3FF-9BA110D95F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684D15-DD09-4755-8639-D38F4A0F0392}"/>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E795E1-8735-4032-AF8A-4D820E7C1246}"/>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2A62DDA-2FC0-462E-9EAA-1BE54D1C57E9}"/>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4955D1C5-698D-4379-975F-E95530105972}"/>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100</a:t>
            </a:r>
          </a:p>
        </p:txBody>
      </p:sp>
      <p:sp>
        <p:nvSpPr>
          <p:cNvPr id="6" name="">
            <a:extLst xmlns:a="http://schemas.openxmlformats.org/drawingml/2006/main">
              <a:ext uri="{FF2B5EF4-FFF2-40B4-BE49-F238E27FC236}">
                <a16:creationId xmlns:a16="http://schemas.microsoft.com/office/drawing/2014/main" id="{EEB6B8F6-9FF7-4AE3-AE50-13F07E988DBC}"/>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66B4F941-891D-4535-A9E7-ED6F701CD1EC}"/>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8.3 代码测试与验收（5/7）</a:t>
            </a:r>
          </a:p>
        </p:txBody>
      </p:sp>
      <p:sp>
        <p:nvSpPr>
          <p:cNvPr id="8" name="">
            <a:extLst xmlns:a="http://schemas.openxmlformats.org/drawingml/2006/main">
              <a:ext uri="{FF2B5EF4-FFF2-40B4-BE49-F238E27FC236}">
                <a16:creationId xmlns:a16="http://schemas.microsoft.com/office/drawing/2014/main" id="{60E04E9C-AA8C-4AB3-9896-30262FB2AD2D}"/>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F0422AC-BDE9-4C2C-8436-50815301F966}"/>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测试方法说明：</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1. 规则类测试放在本地单元测试中，运行快、可重复，不依赖手机。</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2. 蓝牙核心逻辑通过 SimulatedBluetoothHubTest 模拟，解决多台真机不足时无法复现并发加入、客户端断线托管等问题。</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3. 构建测试分 Debug 和 Release 两条线，Debug 证明开发环境能编译运行，Release 证明发布包能生成。</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4. 设备冒烟测试放在 androidTest，用于确认 App 可启动并显示主界面。</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5. 手动验收用于覆盖真机权限弹窗、蓝牙系统行为、音乐播放、动画观感和玩家实际操作路径。</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6. 文档和 UML 在测试后同步核对，避免答辩时“图、文、代码、运行效果”不一致。</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手动验收重点如下：</a:t>
            </a:r>
          </a:p>
        </p:txBody>
      </p:sp>
    </p:spTree>
    <p:extLst>
      <p:ext uri="{BB962C8B-B14F-4D97-AF65-F5344CB8AC3E}">
        <p14:creationId xmlns:p14="http://schemas.microsoft.com/office/powerpoint/2010/main" val="292697682"/>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C41B71-C3D4-4FE0-B5E5-929B34253C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62141D-2B84-45EE-9A9B-41E97A4E501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B3EBF3-6ACC-42DD-875B-29B1E93B8A6A}"/>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68DC6865-FDDB-4F42-A944-64564359C8A8}"/>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A14EA2C5-93DA-42D0-9834-757EE70E1612}"/>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101</a:t>
            </a:r>
          </a:p>
        </p:txBody>
      </p:sp>
      <p:sp>
        <p:nvSpPr>
          <p:cNvPr id="6" name="">
            <a:extLst xmlns:a="http://schemas.openxmlformats.org/drawingml/2006/main">
              <a:ext uri="{FF2B5EF4-FFF2-40B4-BE49-F238E27FC236}">
                <a16:creationId xmlns:a16="http://schemas.microsoft.com/office/drawing/2014/main" id="{C576B489-F515-4D9A-BD88-541061A86116}"/>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69A88ECA-0C93-4810-9887-516884337191}"/>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8.3 代码测试与验收（6/7）</a:t>
            </a:r>
          </a:p>
        </p:txBody>
      </p:sp>
      <p:sp>
        <p:nvSpPr>
          <p:cNvPr id="8" name="">
            <a:extLst xmlns:a="http://schemas.openxmlformats.org/drawingml/2006/main">
              <a:ext uri="{FF2B5EF4-FFF2-40B4-BE49-F238E27FC236}">
                <a16:creationId xmlns:a16="http://schemas.microsoft.com/office/drawing/2014/main" id="{EF755AFD-C40F-4FDE-9C95-04A3FBB37779}"/>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E5E968C-7F59-4F80-939A-85E9211EF02C}"/>
              </a:ext>
            </a:extLst>
          </p:cNvPr>
          <p:cNvSpPr>
            <a:spLocks xmlns:a="http://schemas.openxmlformats.org/drawingml/2006/main" noGrp="1"/>
          </p:cNvSpPr>
          <p:nvPr/>
        </p:nvSpPr>
        <p:spPr>
          <a:xfrm xmlns:a="http://schemas.openxmlformats.org/drawingml/2006/main">
            <a:off x="457200" y="1905000"/>
            <a:ext cx="5218339"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7F63E7DA-9941-4C59-9D29-08FFC8155336}"/>
              </a:ext>
            </a:extLst>
          </p:cNvPr>
          <p:cNvSpPr>
            <a:spLocks xmlns:a="http://schemas.openxmlformats.org/drawingml/2006/main" noGrp="1"/>
          </p:cNvSpPr>
          <p:nvPr/>
        </p:nvSpPr>
        <p:spPr>
          <a:xfrm xmlns:a="http://schemas.openxmlformats.org/drawingml/2006/main">
            <a:off x="504825" y="1943100"/>
            <a:ext cx="512308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场景</a:t>
            </a:r>
          </a:p>
        </p:txBody>
      </p:sp>
      <p:sp>
        <p:nvSpPr>
          <p:cNvPr id="11" name="">
            <a:extLst xmlns:a="http://schemas.openxmlformats.org/drawingml/2006/main">
              <a:ext uri="{FF2B5EF4-FFF2-40B4-BE49-F238E27FC236}">
                <a16:creationId xmlns:a16="http://schemas.microsoft.com/office/drawing/2014/main" id="{4D2B6040-7352-43AD-A574-92B9054AED29}"/>
              </a:ext>
            </a:extLst>
          </p:cNvPr>
          <p:cNvSpPr>
            <a:spLocks xmlns:a="http://schemas.openxmlformats.org/drawingml/2006/main" noGrp="1"/>
          </p:cNvSpPr>
          <p:nvPr/>
        </p:nvSpPr>
        <p:spPr>
          <a:xfrm xmlns:a="http://schemas.openxmlformats.org/drawingml/2006/main">
            <a:off x="5675539" y="1905000"/>
            <a:ext cx="6021161"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F36007AD-0C6E-47D0-9C1A-715ACE1FC0EE}"/>
              </a:ext>
            </a:extLst>
          </p:cNvPr>
          <p:cNvSpPr>
            <a:spLocks xmlns:a="http://schemas.openxmlformats.org/drawingml/2006/main" noGrp="1"/>
          </p:cNvSpPr>
          <p:nvPr/>
        </p:nvSpPr>
        <p:spPr>
          <a:xfrm xmlns:a="http://schemas.openxmlformats.org/drawingml/2006/main">
            <a:off x="5723164" y="1943100"/>
            <a:ext cx="592591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预期结果</a:t>
            </a:r>
          </a:p>
        </p:txBody>
      </p:sp>
      <p:sp>
        <p:nvSpPr>
          <p:cNvPr id="13" name="">
            <a:extLst xmlns:a="http://schemas.openxmlformats.org/drawingml/2006/main">
              <a:ext uri="{FF2B5EF4-FFF2-40B4-BE49-F238E27FC236}">
                <a16:creationId xmlns:a16="http://schemas.microsoft.com/office/drawing/2014/main" id="{42663433-EB6B-40D6-81B8-84C63024A0D2}"/>
              </a:ext>
            </a:extLst>
          </p:cNvPr>
          <p:cNvSpPr>
            <a:spLocks xmlns:a="http://schemas.openxmlformats.org/drawingml/2006/main" noGrp="1"/>
          </p:cNvSpPr>
          <p:nvPr/>
        </p:nvSpPr>
        <p:spPr>
          <a:xfrm xmlns:a="http://schemas.openxmlformats.org/drawingml/2006/main">
            <a:off x="457200" y="2305050"/>
            <a:ext cx="5218339"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4" name="">
            <a:extLst xmlns:a="http://schemas.openxmlformats.org/drawingml/2006/main">
              <a:ext uri="{FF2B5EF4-FFF2-40B4-BE49-F238E27FC236}">
                <a16:creationId xmlns:a16="http://schemas.microsoft.com/office/drawing/2014/main" id="{567C96E9-D2B7-4E7C-8FBB-D0D942DCC853}"/>
              </a:ext>
            </a:extLst>
          </p:cNvPr>
          <p:cNvSpPr>
            <a:spLocks xmlns:a="http://schemas.openxmlformats.org/drawingml/2006/main" noGrp="1"/>
          </p:cNvSpPr>
          <p:nvPr/>
        </p:nvSpPr>
        <p:spPr>
          <a:xfrm xmlns:a="http://schemas.openxmlformats.org/drawingml/2006/main">
            <a:off x="504825" y="2333625"/>
            <a:ext cx="5123089"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开屏进入大厅</a:t>
            </a:r>
          </a:p>
        </p:txBody>
      </p:sp>
      <p:sp>
        <p:nvSpPr>
          <p:cNvPr id="15" name="">
            <a:extLst xmlns:a="http://schemas.openxmlformats.org/drawingml/2006/main">
              <a:ext uri="{FF2B5EF4-FFF2-40B4-BE49-F238E27FC236}">
                <a16:creationId xmlns:a16="http://schemas.microsoft.com/office/drawing/2014/main" id="{222B8FD1-DE5E-4307-9676-4F32D2777101}"/>
              </a:ext>
            </a:extLst>
          </p:cNvPr>
          <p:cNvSpPr>
            <a:spLocks xmlns:a="http://schemas.openxmlformats.org/drawingml/2006/main" noGrp="1"/>
          </p:cNvSpPr>
          <p:nvPr/>
        </p:nvSpPr>
        <p:spPr>
          <a:xfrm xmlns:a="http://schemas.openxmlformats.org/drawingml/2006/main">
            <a:off x="5675539" y="2305050"/>
            <a:ext cx="6021161"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A4D3AB95-8619-4CD7-AE88-140591F772CF}"/>
              </a:ext>
            </a:extLst>
          </p:cNvPr>
          <p:cNvSpPr>
            <a:spLocks xmlns:a="http://schemas.openxmlformats.org/drawingml/2006/main" noGrp="1"/>
          </p:cNvSpPr>
          <p:nvPr/>
        </p:nvSpPr>
        <p:spPr>
          <a:xfrm xmlns:a="http://schemas.openxmlformats.org/drawingml/2006/main">
            <a:off x="5723164" y="2333625"/>
            <a:ext cx="5925911"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点击开始游戏后进入大厅，UI 无明显错位</a:t>
            </a:r>
          </a:p>
        </p:txBody>
      </p:sp>
      <p:sp>
        <p:nvSpPr>
          <p:cNvPr id="17" name="">
            <a:extLst xmlns:a="http://schemas.openxmlformats.org/drawingml/2006/main">
              <a:ext uri="{FF2B5EF4-FFF2-40B4-BE49-F238E27FC236}">
                <a16:creationId xmlns:a16="http://schemas.microsoft.com/office/drawing/2014/main" id="{629A580A-E178-4C62-8F7E-A23829CE78B4}"/>
              </a:ext>
            </a:extLst>
          </p:cNvPr>
          <p:cNvSpPr>
            <a:spLocks xmlns:a="http://schemas.openxmlformats.org/drawingml/2006/main" noGrp="1"/>
          </p:cNvSpPr>
          <p:nvPr/>
        </p:nvSpPr>
        <p:spPr>
          <a:xfrm xmlns:a="http://schemas.openxmlformats.org/drawingml/2006/main">
            <a:off x="457200" y="2709333"/>
            <a:ext cx="5218339"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3B3CD5DD-DBDB-4CB6-9387-326AB2C68BAD}"/>
              </a:ext>
            </a:extLst>
          </p:cNvPr>
          <p:cNvSpPr>
            <a:spLocks xmlns:a="http://schemas.openxmlformats.org/drawingml/2006/main" noGrp="1"/>
          </p:cNvSpPr>
          <p:nvPr/>
        </p:nvSpPr>
        <p:spPr>
          <a:xfrm xmlns:a="http://schemas.openxmlformats.org/drawingml/2006/main">
            <a:off x="504825" y="2737908"/>
            <a:ext cx="5123089"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人机对局</a:t>
            </a:r>
          </a:p>
        </p:txBody>
      </p:sp>
      <p:sp>
        <p:nvSpPr>
          <p:cNvPr id="19" name="">
            <a:extLst xmlns:a="http://schemas.openxmlformats.org/drawingml/2006/main">
              <a:ext uri="{FF2B5EF4-FFF2-40B4-BE49-F238E27FC236}">
                <a16:creationId xmlns:a16="http://schemas.microsoft.com/office/drawing/2014/main" id="{22A51460-E5AE-4DBE-BECD-E9A43A74334A}"/>
              </a:ext>
            </a:extLst>
          </p:cNvPr>
          <p:cNvSpPr>
            <a:spLocks xmlns:a="http://schemas.openxmlformats.org/drawingml/2006/main" noGrp="1"/>
          </p:cNvSpPr>
          <p:nvPr/>
        </p:nvSpPr>
        <p:spPr>
          <a:xfrm xmlns:a="http://schemas.openxmlformats.org/drawingml/2006/main">
            <a:off x="5675539" y="2709333"/>
            <a:ext cx="6021161"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83AFF86A-C5A0-485C-AEDA-75F55E196BBF}"/>
              </a:ext>
            </a:extLst>
          </p:cNvPr>
          <p:cNvSpPr>
            <a:spLocks xmlns:a="http://schemas.openxmlformats.org/drawingml/2006/main" noGrp="1"/>
          </p:cNvSpPr>
          <p:nvPr/>
        </p:nvSpPr>
        <p:spPr>
          <a:xfrm xmlns:a="http://schemas.openxmlformats.org/drawingml/2006/main">
            <a:off x="5723164" y="2737908"/>
            <a:ext cx="5925911"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简单、普通、困难均可开局并完成一局</a:t>
            </a:r>
          </a:p>
        </p:txBody>
      </p:sp>
      <p:sp>
        <p:nvSpPr>
          <p:cNvPr id="21" name="">
            <a:extLst xmlns:a="http://schemas.openxmlformats.org/drawingml/2006/main">
              <a:ext uri="{FF2B5EF4-FFF2-40B4-BE49-F238E27FC236}">
                <a16:creationId xmlns:a16="http://schemas.microsoft.com/office/drawing/2014/main" id="{B93143D6-40EC-4A95-A657-4176ADDD933E}"/>
              </a:ext>
            </a:extLst>
          </p:cNvPr>
          <p:cNvSpPr>
            <a:spLocks xmlns:a="http://schemas.openxmlformats.org/drawingml/2006/main" noGrp="1"/>
          </p:cNvSpPr>
          <p:nvPr/>
        </p:nvSpPr>
        <p:spPr>
          <a:xfrm xmlns:a="http://schemas.openxmlformats.org/drawingml/2006/main">
            <a:off x="457200" y="3113617"/>
            <a:ext cx="5218339"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FEA31766-E2E0-47AA-AED6-4F788E529955}"/>
              </a:ext>
            </a:extLst>
          </p:cNvPr>
          <p:cNvSpPr>
            <a:spLocks xmlns:a="http://schemas.openxmlformats.org/drawingml/2006/main" noGrp="1"/>
          </p:cNvSpPr>
          <p:nvPr/>
        </p:nvSpPr>
        <p:spPr>
          <a:xfrm xmlns:a="http://schemas.openxmlformats.org/drawingml/2006/main">
            <a:off x="504825" y="3142192"/>
            <a:ext cx="5123089"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南北规则</a:t>
            </a:r>
          </a:p>
        </p:txBody>
      </p:sp>
      <p:sp>
        <p:nvSpPr>
          <p:cNvPr id="23" name="">
            <a:extLst xmlns:a="http://schemas.openxmlformats.org/drawingml/2006/main">
              <a:ext uri="{FF2B5EF4-FFF2-40B4-BE49-F238E27FC236}">
                <a16:creationId xmlns:a16="http://schemas.microsoft.com/office/drawing/2014/main" id="{4867326B-BDB0-4957-B211-BD6466C65093}"/>
              </a:ext>
            </a:extLst>
          </p:cNvPr>
          <p:cNvSpPr>
            <a:spLocks xmlns:a="http://schemas.openxmlformats.org/drawingml/2006/main" noGrp="1"/>
          </p:cNvSpPr>
          <p:nvPr/>
        </p:nvSpPr>
        <p:spPr>
          <a:xfrm xmlns:a="http://schemas.openxmlformats.org/drawingml/2006/main">
            <a:off x="5675539" y="3113617"/>
            <a:ext cx="6021161"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447AF583-705E-4F72-9278-17D9A87319E8}"/>
              </a:ext>
            </a:extLst>
          </p:cNvPr>
          <p:cNvSpPr>
            <a:spLocks xmlns:a="http://schemas.openxmlformats.org/drawingml/2006/main" noGrp="1"/>
          </p:cNvSpPr>
          <p:nvPr/>
        </p:nvSpPr>
        <p:spPr>
          <a:xfrm xmlns:a="http://schemas.openxmlformats.org/drawingml/2006/main">
            <a:off x="5723164" y="3142192"/>
            <a:ext cx="5925911"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保存规则后影响后续人机和蓝牙对局</a:t>
            </a:r>
          </a:p>
        </p:txBody>
      </p:sp>
      <p:sp>
        <p:nvSpPr>
          <p:cNvPr id="25" name="">
            <a:extLst xmlns:a="http://schemas.openxmlformats.org/drawingml/2006/main">
              <a:ext uri="{FF2B5EF4-FFF2-40B4-BE49-F238E27FC236}">
                <a16:creationId xmlns:a16="http://schemas.microsoft.com/office/drawing/2014/main" id="{1B8445DA-6C4B-4516-B9E0-D934F547CAD4}"/>
              </a:ext>
            </a:extLst>
          </p:cNvPr>
          <p:cNvSpPr>
            <a:spLocks xmlns:a="http://schemas.openxmlformats.org/drawingml/2006/main" noGrp="1"/>
          </p:cNvSpPr>
          <p:nvPr/>
        </p:nvSpPr>
        <p:spPr>
          <a:xfrm xmlns:a="http://schemas.openxmlformats.org/drawingml/2006/main">
            <a:off x="457200" y="3517900"/>
            <a:ext cx="5218339"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7276F116-BE8A-4FAF-ABB7-CF13DC662635}"/>
              </a:ext>
            </a:extLst>
          </p:cNvPr>
          <p:cNvSpPr>
            <a:spLocks xmlns:a="http://schemas.openxmlformats.org/drawingml/2006/main" noGrp="1"/>
          </p:cNvSpPr>
          <p:nvPr/>
        </p:nvSpPr>
        <p:spPr>
          <a:xfrm xmlns:a="http://schemas.openxmlformats.org/drawingml/2006/main">
            <a:off x="504825" y="3546475"/>
            <a:ext cx="5123089"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蓝牙房间</a:t>
            </a:r>
          </a:p>
        </p:txBody>
      </p:sp>
      <p:sp>
        <p:nvSpPr>
          <p:cNvPr id="27" name="">
            <a:extLst xmlns:a="http://schemas.openxmlformats.org/drawingml/2006/main">
              <a:ext uri="{FF2B5EF4-FFF2-40B4-BE49-F238E27FC236}">
                <a16:creationId xmlns:a16="http://schemas.microsoft.com/office/drawing/2014/main" id="{28607EDA-F2A5-4E8D-995F-5A85769D8053}"/>
              </a:ext>
            </a:extLst>
          </p:cNvPr>
          <p:cNvSpPr>
            <a:spLocks xmlns:a="http://schemas.openxmlformats.org/drawingml/2006/main" noGrp="1"/>
          </p:cNvSpPr>
          <p:nvPr/>
        </p:nvSpPr>
        <p:spPr>
          <a:xfrm xmlns:a="http://schemas.openxmlformats.org/drawingml/2006/main">
            <a:off x="5675539" y="3517900"/>
            <a:ext cx="6021161"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F4285ED9-A4E4-43B4-995E-3231C7674FD3}"/>
              </a:ext>
            </a:extLst>
          </p:cNvPr>
          <p:cNvSpPr>
            <a:spLocks xmlns:a="http://schemas.openxmlformats.org/drawingml/2006/main" noGrp="1"/>
          </p:cNvSpPr>
          <p:nvPr/>
        </p:nvSpPr>
        <p:spPr>
          <a:xfrm xmlns:a="http://schemas.openxmlformats.org/drawingml/2006/main">
            <a:off x="5723164" y="3546475"/>
            <a:ext cx="5925911"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房主创建房间、加入者连接、四座位准备、人机补位、客户端断线托管、房主断线弹窗退出和开局</a:t>
            </a:r>
          </a:p>
        </p:txBody>
      </p:sp>
      <p:sp>
        <p:nvSpPr>
          <p:cNvPr id="29" name="">
            <a:extLst xmlns:a="http://schemas.openxmlformats.org/drawingml/2006/main">
              <a:ext uri="{FF2B5EF4-FFF2-40B4-BE49-F238E27FC236}">
                <a16:creationId xmlns:a16="http://schemas.microsoft.com/office/drawing/2014/main" id="{23B03080-E74D-49A2-9901-B56EA9242A89}"/>
              </a:ext>
            </a:extLst>
          </p:cNvPr>
          <p:cNvSpPr>
            <a:spLocks xmlns:a="http://schemas.openxmlformats.org/drawingml/2006/main" noGrp="1"/>
          </p:cNvSpPr>
          <p:nvPr/>
        </p:nvSpPr>
        <p:spPr>
          <a:xfrm xmlns:a="http://schemas.openxmlformats.org/drawingml/2006/main">
            <a:off x="457200" y="3922183"/>
            <a:ext cx="5218339"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4F74AF69-7A33-4322-9ABB-B30831BA114D}"/>
              </a:ext>
            </a:extLst>
          </p:cNvPr>
          <p:cNvSpPr>
            <a:spLocks xmlns:a="http://schemas.openxmlformats.org/drawingml/2006/main" noGrp="1"/>
          </p:cNvSpPr>
          <p:nvPr/>
        </p:nvSpPr>
        <p:spPr>
          <a:xfrm xmlns:a="http://schemas.openxmlformats.org/drawingml/2006/main">
            <a:off x="504825" y="3950758"/>
            <a:ext cx="5123089"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出牌流程</a:t>
            </a:r>
          </a:p>
        </p:txBody>
      </p:sp>
      <p:sp>
        <p:nvSpPr>
          <p:cNvPr id="31" name="">
            <a:extLst xmlns:a="http://schemas.openxmlformats.org/drawingml/2006/main">
              <a:ext uri="{FF2B5EF4-FFF2-40B4-BE49-F238E27FC236}">
                <a16:creationId xmlns:a16="http://schemas.microsoft.com/office/drawing/2014/main" id="{8647EBE9-9E84-4A05-B2B1-3BCB18651B67}"/>
              </a:ext>
            </a:extLst>
          </p:cNvPr>
          <p:cNvSpPr>
            <a:spLocks xmlns:a="http://schemas.openxmlformats.org/drawingml/2006/main" noGrp="1"/>
          </p:cNvSpPr>
          <p:nvPr/>
        </p:nvSpPr>
        <p:spPr>
          <a:xfrm xmlns:a="http://schemas.openxmlformats.org/drawingml/2006/main">
            <a:off x="5675539" y="3922183"/>
            <a:ext cx="6021161"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1DC2A32F-404E-49F6-A3DB-8903EBC3C522}"/>
              </a:ext>
            </a:extLst>
          </p:cNvPr>
          <p:cNvSpPr>
            <a:spLocks xmlns:a="http://schemas.openxmlformats.org/drawingml/2006/main" noGrp="1"/>
          </p:cNvSpPr>
          <p:nvPr/>
        </p:nvSpPr>
        <p:spPr>
          <a:xfrm xmlns:a="http://schemas.openxmlformats.org/drawingml/2006/main">
            <a:off x="5723164" y="3950758"/>
            <a:ext cx="5925911"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玩家可选牌、出牌、不出、提示，非法牌显示提示</a:t>
            </a:r>
          </a:p>
        </p:txBody>
      </p:sp>
      <p:sp>
        <p:nvSpPr>
          <p:cNvPr id="33" name="">
            <a:extLst xmlns:a="http://schemas.openxmlformats.org/drawingml/2006/main">
              <a:ext uri="{FF2B5EF4-FFF2-40B4-BE49-F238E27FC236}">
                <a16:creationId xmlns:a16="http://schemas.microsoft.com/office/drawing/2014/main" id="{7043015A-A3FE-48E6-A00A-13462E2585C8}"/>
              </a:ext>
            </a:extLst>
          </p:cNvPr>
          <p:cNvSpPr>
            <a:spLocks xmlns:a="http://schemas.openxmlformats.org/drawingml/2006/main" noGrp="1"/>
          </p:cNvSpPr>
          <p:nvPr/>
        </p:nvSpPr>
        <p:spPr>
          <a:xfrm xmlns:a="http://schemas.openxmlformats.org/drawingml/2006/main">
            <a:off x="457200" y="4326467"/>
            <a:ext cx="5218339"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611D5F6A-AABC-48F7-B0D3-02C0403EED02}"/>
              </a:ext>
            </a:extLst>
          </p:cNvPr>
          <p:cNvSpPr>
            <a:spLocks xmlns:a="http://schemas.openxmlformats.org/drawingml/2006/main" noGrp="1"/>
          </p:cNvSpPr>
          <p:nvPr/>
        </p:nvSpPr>
        <p:spPr>
          <a:xfrm xmlns:a="http://schemas.openxmlformats.org/drawingml/2006/main">
            <a:off x="504825" y="4355042"/>
            <a:ext cx="5123089"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无可压牌</a:t>
            </a:r>
          </a:p>
        </p:txBody>
      </p:sp>
      <p:sp>
        <p:nvSpPr>
          <p:cNvPr id="35" name="">
            <a:extLst xmlns:a="http://schemas.openxmlformats.org/drawingml/2006/main">
              <a:ext uri="{FF2B5EF4-FFF2-40B4-BE49-F238E27FC236}">
                <a16:creationId xmlns:a16="http://schemas.microsoft.com/office/drawing/2014/main" id="{EA905114-A292-43BD-A8C2-C63D7523E4E9}"/>
              </a:ext>
            </a:extLst>
          </p:cNvPr>
          <p:cNvSpPr>
            <a:spLocks xmlns:a="http://schemas.openxmlformats.org/drawingml/2006/main" noGrp="1"/>
          </p:cNvSpPr>
          <p:nvPr/>
        </p:nvSpPr>
        <p:spPr>
          <a:xfrm xmlns:a="http://schemas.openxmlformats.org/drawingml/2006/main">
            <a:off x="5675539" y="4326467"/>
            <a:ext cx="6021161"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A26FC686-2B7F-4B33-8D1E-4636FC233C56}"/>
              </a:ext>
            </a:extLst>
          </p:cNvPr>
          <p:cNvSpPr>
            <a:spLocks xmlns:a="http://schemas.openxmlformats.org/drawingml/2006/main" noGrp="1"/>
          </p:cNvSpPr>
          <p:nvPr/>
        </p:nvSpPr>
        <p:spPr>
          <a:xfrm xmlns:a="http://schemas.openxmlformats.org/drawingml/2006/main">
            <a:off x="5723164" y="4355042"/>
            <a:ext cx="5925911"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显示“手上没有可以大过人家的牌”，只允许不出</a:t>
            </a:r>
          </a:p>
        </p:txBody>
      </p:sp>
      <p:sp>
        <p:nvSpPr>
          <p:cNvPr id="37" name="">
            <a:extLst xmlns:a="http://schemas.openxmlformats.org/drawingml/2006/main">
              <a:ext uri="{FF2B5EF4-FFF2-40B4-BE49-F238E27FC236}">
                <a16:creationId xmlns:a16="http://schemas.microsoft.com/office/drawing/2014/main" id="{2C804A06-2698-4279-B6E4-843A0BB25A67}"/>
              </a:ext>
            </a:extLst>
          </p:cNvPr>
          <p:cNvSpPr>
            <a:spLocks xmlns:a="http://schemas.openxmlformats.org/drawingml/2006/main" noGrp="1"/>
          </p:cNvSpPr>
          <p:nvPr/>
        </p:nvSpPr>
        <p:spPr>
          <a:xfrm xmlns:a="http://schemas.openxmlformats.org/drawingml/2006/main">
            <a:off x="457200" y="4730750"/>
            <a:ext cx="5218339"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98B9B18F-5AA5-4089-96C6-872F737B073D}"/>
              </a:ext>
            </a:extLst>
          </p:cNvPr>
          <p:cNvSpPr>
            <a:spLocks xmlns:a="http://schemas.openxmlformats.org/drawingml/2006/main" noGrp="1"/>
          </p:cNvSpPr>
          <p:nvPr/>
        </p:nvSpPr>
        <p:spPr>
          <a:xfrm xmlns:a="http://schemas.openxmlformats.org/drawingml/2006/main">
            <a:off x="504825" y="4759325"/>
            <a:ext cx="5123089"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结算</a:t>
            </a:r>
          </a:p>
        </p:txBody>
      </p:sp>
      <p:sp>
        <p:nvSpPr>
          <p:cNvPr id="39" name="">
            <a:extLst xmlns:a="http://schemas.openxmlformats.org/drawingml/2006/main">
              <a:ext uri="{FF2B5EF4-FFF2-40B4-BE49-F238E27FC236}">
                <a16:creationId xmlns:a16="http://schemas.microsoft.com/office/drawing/2014/main" id="{C5350A20-7BEE-4393-A554-E09E1F84500C}"/>
              </a:ext>
            </a:extLst>
          </p:cNvPr>
          <p:cNvSpPr>
            <a:spLocks xmlns:a="http://schemas.openxmlformats.org/drawingml/2006/main" noGrp="1"/>
          </p:cNvSpPr>
          <p:nvPr/>
        </p:nvSpPr>
        <p:spPr>
          <a:xfrm xmlns:a="http://schemas.openxmlformats.org/drawingml/2006/main">
            <a:off x="5675539" y="4730750"/>
            <a:ext cx="6021161"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23F494CD-2EFF-4522-A594-815AE5BD3BF8}"/>
              </a:ext>
            </a:extLst>
          </p:cNvPr>
          <p:cNvSpPr>
            <a:spLocks xmlns:a="http://schemas.openxmlformats.org/drawingml/2006/main" noGrp="1"/>
          </p:cNvSpPr>
          <p:nvPr/>
        </p:nvSpPr>
        <p:spPr>
          <a:xfrm xmlns:a="http://schemas.openxmlformats.org/drawingml/2006/main">
            <a:off x="5723164" y="4759325"/>
            <a:ext cx="5925911"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显示胜负、金币、经验、升级和再来一局</a:t>
            </a:r>
          </a:p>
        </p:txBody>
      </p:sp>
      <p:sp>
        <p:nvSpPr>
          <p:cNvPr id="41" name="">
            <a:extLst xmlns:a="http://schemas.openxmlformats.org/drawingml/2006/main">
              <a:ext uri="{FF2B5EF4-FFF2-40B4-BE49-F238E27FC236}">
                <a16:creationId xmlns:a16="http://schemas.microsoft.com/office/drawing/2014/main" id="{3CD51C97-8663-49FE-B325-B8791CBBA3F2}"/>
              </a:ext>
            </a:extLst>
          </p:cNvPr>
          <p:cNvSpPr>
            <a:spLocks xmlns:a="http://schemas.openxmlformats.org/drawingml/2006/main" noGrp="1"/>
          </p:cNvSpPr>
          <p:nvPr/>
        </p:nvSpPr>
        <p:spPr>
          <a:xfrm xmlns:a="http://schemas.openxmlformats.org/drawingml/2006/main">
            <a:off x="457200" y="5135033"/>
            <a:ext cx="5218339"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CFD3B229-8C1A-4DDF-8D4F-AA74013FB5A0}"/>
              </a:ext>
            </a:extLst>
          </p:cNvPr>
          <p:cNvSpPr>
            <a:spLocks xmlns:a="http://schemas.openxmlformats.org/drawingml/2006/main" noGrp="1"/>
          </p:cNvSpPr>
          <p:nvPr/>
        </p:nvSpPr>
        <p:spPr>
          <a:xfrm xmlns:a="http://schemas.openxmlformats.org/drawingml/2006/main">
            <a:off x="504825" y="5163608"/>
            <a:ext cx="5123089"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玩家中心</a:t>
            </a:r>
          </a:p>
        </p:txBody>
      </p:sp>
      <p:sp>
        <p:nvSpPr>
          <p:cNvPr id="43" name="">
            <a:extLst xmlns:a="http://schemas.openxmlformats.org/drawingml/2006/main">
              <a:ext uri="{FF2B5EF4-FFF2-40B4-BE49-F238E27FC236}">
                <a16:creationId xmlns:a16="http://schemas.microsoft.com/office/drawing/2014/main" id="{803F05C0-196F-491E-AC88-1D0786E0D3A9}"/>
              </a:ext>
            </a:extLst>
          </p:cNvPr>
          <p:cNvSpPr>
            <a:spLocks xmlns:a="http://schemas.openxmlformats.org/drawingml/2006/main" noGrp="1"/>
          </p:cNvSpPr>
          <p:nvPr/>
        </p:nvSpPr>
        <p:spPr>
          <a:xfrm xmlns:a="http://schemas.openxmlformats.org/drawingml/2006/main">
            <a:off x="5675539" y="5135033"/>
            <a:ext cx="6021161"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09EC836C-4591-481C-B10D-00B7287EF8BD}"/>
              </a:ext>
            </a:extLst>
          </p:cNvPr>
          <p:cNvSpPr>
            <a:spLocks xmlns:a="http://schemas.openxmlformats.org/drawingml/2006/main" noGrp="1"/>
          </p:cNvSpPr>
          <p:nvPr/>
        </p:nvSpPr>
        <p:spPr>
          <a:xfrm xmlns:a="http://schemas.openxmlformats.org/drawingml/2006/main">
            <a:off x="5723164" y="5163608"/>
            <a:ext cx="5925911"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改名、头像、每日奖励、战绩和成就逻辑正常</a:t>
            </a:r>
          </a:p>
        </p:txBody>
      </p:sp>
      <p:sp>
        <p:nvSpPr>
          <p:cNvPr id="45" name="">
            <a:extLst xmlns:a="http://schemas.openxmlformats.org/drawingml/2006/main">
              <a:ext uri="{FF2B5EF4-FFF2-40B4-BE49-F238E27FC236}">
                <a16:creationId xmlns:a16="http://schemas.microsoft.com/office/drawing/2014/main" id="{C8E2099C-9798-4732-AAB7-089FFF272F5C}"/>
              </a:ext>
            </a:extLst>
          </p:cNvPr>
          <p:cNvSpPr>
            <a:spLocks xmlns:a="http://schemas.openxmlformats.org/drawingml/2006/main" noGrp="1"/>
          </p:cNvSpPr>
          <p:nvPr/>
        </p:nvSpPr>
        <p:spPr>
          <a:xfrm xmlns:a="http://schemas.openxmlformats.org/drawingml/2006/main">
            <a:off x="457200" y="5539317"/>
            <a:ext cx="5218339"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919229B0-E1FE-439C-B19F-4E4E39BFEF2E}"/>
              </a:ext>
            </a:extLst>
          </p:cNvPr>
          <p:cNvSpPr>
            <a:spLocks xmlns:a="http://schemas.openxmlformats.org/drawingml/2006/main" noGrp="1"/>
          </p:cNvSpPr>
          <p:nvPr/>
        </p:nvSpPr>
        <p:spPr>
          <a:xfrm xmlns:a="http://schemas.openxmlformats.org/drawingml/2006/main">
            <a:off x="504825" y="5567892"/>
            <a:ext cx="5123089"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音乐与反馈</a:t>
            </a:r>
          </a:p>
        </p:txBody>
      </p:sp>
      <p:sp>
        <p:nvSpPr>
          <p:cNvPr id="47" name="">
            <a:extLst xmlns:a="http://schemas.openxmlformats.org/drawingml/2006/main">
              <a:ext uri="{FF2B5EF4-FFF2-40B4-BE49-F238E27FC236}">
                <a16:creationId xmlns:a16="http://schemas.microsoft.com/office/drawing/2014/main" id="{77CB6D58-3B2C-4E6D-85EA-49F970CF7F32}"/>
              </a:ext>
            </a:extLst>
          </p:cNvPr>
          <p:cNvSpPr>
            <a:spLocks xmlns:a="http://schemas.openxmlformats.org/drawingml/2006/main" noGrp="1"/>
          </p:cNvSpPr>
          <p:nvPr/>
        </p:nvSpPr>
        <p:spPr>
          <a:xfrm xmlns:a="http://schemas.openxmlformats.org/drawingml/2006/main">
            <a:off x="5675539" y="5539317"/>
            <a:ext cx="6021161"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A79B14BE-DC43-4E62-A789-069715127A1D}"/>
              </a:ext>
            </a:extLst>
          </p:cNvPr>
          <p:cNvSpPr>
            <a:spLocks xmlns:a="http://schemas.openxmlformats.org/drawingml/2006/main" noGrp="1"/>
          </p:cNvSpPr>
          <p:nvPr/>
        </p:nvSpPr>
        <p:spPr>
          <a:xfrm xmlns:a="http://schemas.openxmlformats.org/drawingml/2006/main">
            <a:off x="5723164" y="5567892"/>
            <a:ext cx="5925911"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背景音乐循环、出牌音效、震动开关生效</a:t>
            </a:r>
          </a:p>
        </p:txBody>
      </p:sp>
    </p:spTree>
    <p:extLst>
      <p:ext uri="{BB962C8B-B14F-4D97-AF65-F5344CB8AC3E}">
        <p14:creationId xmlns:p14="http://schemas.microsoft.com/office/powerpoint/2010/main" val="830398539"/>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B539188-71F1-41DE-BB5D-F46D7C313A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C2D20D-7A9E-4B37-8C8B-B232866CCE8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A883025-5957-4629-918C-63FB41CA4928}"/>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D354E8A5-880E-4643-883C-358A2743C6C6}"/>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FACA5B98-4ED2-4306-B1B2-C243736A9D55}"/>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102</a:t>
            </a:r>
          </a:p>
        </p:txBody>
      </p:sp>
      <p:sp>
        <p:nvSpPr>
          <p:cNvPr id="6" name="">
            <a:extLst xmlns:a="http://schemas.openxmlformats.org/drawingml/2006/main">
              <a:ext uri="{FF2B5EF4-FFF2-40B4-BE49-F238E27FC236}">
                <a16:creationId xmlns:a16="http://schemas.microsoft.com/office/drawing/2014/main" id="{04890272-A4B4-4BEB-A06C-B390E9264CF6}"/>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275AACD2-B756-4BC6-B7B4-1BB4D0D5E21E}"/>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8.3 代码测试与验收（7/7）</a:t>
            </a:r>
          </a:p>
        </p:txBody>
      </p:sp>
      <p:sp>
        <p:nvSpPr>
          <p:cNvPr id="8" name="">
            <a:extLst xmlns:a="http://schemas.openxmlformats.org/drawingml/2006/main">
              <a:ext uri="{FF2B5EF4-FFF2-40B4-BE49-F238E27FC236}">
                <a16:creationId xmlns:a16="http://schemas.microsoft.com/office/drawing/2014/main" id="{2A3A76E4-5E44-4A8C-94E5-5773CAADE107}"/>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4220E0F-B4A8-4A91-9008-75422B0090E6}"/>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测试完成后，才进入 Release 发布和托管流程。</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本阶段使用的设计模式和设计原则如下：</a:t>
            </a:r>
          </a:p>
        </p:txBody>
      </p:sp>
      <p:sp>
        <p:nvSpPr>
          <p:cNvPr id="10" name="">
            <a:extLst xmlns:a="http://schemas.openxmlformats.org/drawingml/2006/main">
              <a:ext uri="{FF2B5EF4-FFF2-40B4-BE49-F238E27FC236}">
                <a16:creationId xmlns:a16="http://schemas.microsoft.com/office/drawing/2014/main" id="{44B4C07B-7CC8-4705-B830-A3CFCAB10473}"/>
              </a:ext>
            </a:extLst>
          </p:cNvPr>
          <p:cNvSpPr>
            <a:spLocks xmlns:a="http://schemas.openxmlformats.org/drawingml/2006/main" noGrp="1"/>
          </p:cNvSpPr>
          <p:nvPr/>
        </p:nvSpPr>
        <p:spPr>
          <a:xfrm xmlns:a="http://schemas.openxmlformats.org/drawingml/2006/main">
            <a:off x="5191125" y="1905000"/>
            <a:ext cx="178689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40162C00-E4EF-4A3F-BA37-4B4683CB58B6}"/>
              </a:ext>
            </a:extLst>
          </p:cNvPr>
          <p:cNvSpPr>
            <a:spLocks xmlns:a="http://schemas.openxmlformats.org/drawingml/2006/main" noGrp="1"/>
          </p:cNvSpPr>
          <p:nvPr/>
        </p:nvSpPr>
        <p:spPr>
          <a:xfrm xmlns:a="http://schemas.openxmlformats.org/drawingml/2006/main">
            <a:off x="5238750" y="1943100"/>
            <a:ext cx="169164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设计模式/原则</a:t>
            </a:r>
          </a:p>
        </p:txBody>
      </p:sp>
      <p:sp>
        <p:nvSpPr>
          <p:cNvPr id="12" name="">
            <a:extLst xmlns:a="http://schemas.openxmlformats.org/drawingml/2006/main">
              <a:ext uri="{FF2B5EF4-FFF2-40B4-BE49-F238E27FC236}">
                <a16:creationId xmlns:a16="http://schemas.microsoft.com/office/drawing/2014/main" id="{D860735C-AEDD-4F04-A41C-F30C839AE707}"/>
              </a:ext>
            </a:extLst>
          </p:cNvPr>
          <p:cNvSpPr>
            <a:spLocks xmlns:a="http://schemas.openxmlformats.org/drawingml/2006/main" noGrp="1"/>
          </p:cNvSpPr>
          <p:nvPr/>
        </p:nvSpPr>
        <p:spPr>
          <a:xfrm xmlns:a="http://schemas.openxmlformats.org/drawingml/2006/main">
            <a:off x="6978015" y="1905000"/>
            <a:ext cx="229743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B3C691A7-2C31-41E5-900B-7D989391E3AC}"/>
              </a:ext>
            </a:extLst>
          </p:cNvPr>
          <p:cNvSpPr>
            <a:spLocks xmlns:a="http://schemas.openxmlformats.org/drawingml/2006/main" noGrp="1"/>
          </p:cNvSpPr>
          <p:nvPr/>
        </p:nvSpPr>
        <p:spPr>
          <a:xfrm xmlns:a="http://schemas.openxmlformats.org/drawingml/2006/main">
            <a:off x="7025640" y="1943100"/>
            <a:ext cx="220218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阶段作用</a:t>
            </a:r>
          </a:p>
        </p:txBody>
      </p:sp>
      <p:sp>
        <p:nvSpPr>
          <p:cNvPr id="14" name="">
            <a:extLst xmlns:a="http://schemas.openxmlformats.org/drawingml/2006/main">
              <a:ext uri="{FF2B5EF4-FFF2-40B4-BE49-F238E27FC236}">
                <a16:creationId xmlns:a16="http://schemas.microsoft.com/office/drawing/2014/main" id="{DF967F95-7951-47B8-BC47-726AECA86264}"/>
              </a:ext>
            </a:extLst>
          </p:cNvPr>
          <p:cNvSpPr>
            <a:spLocks xmlns:a="http://schemas.openxmlformats.org/drawingml/2006/main" noGrp="1"/>
          </p:cNvSpPr>
          <p:nvPr/>
        </p:nvSpPr>
        <p:spPr>
          <a:xfrm xmlns:a="http://schemas.openxmlformats.org/drawingml/2006/main">
            <a:off x="9275445" y="1905000"/>
            <a:ext cx="229743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023BB20F-F919-4562-A20D-7896191152B0}"/>
              </a:ext>
            </a:extLst>
          </p:cNvPr>
          <p:cNvSpPr>
            <a:spLocks xmlns:a="http://schemas.openxmlformats.org/drawingml/2006/main" noGrp="1"/>
          </p:cNvSpPr>
          <p:nvPr/>
        </p:nvSpPr>
        <p:spPr>
          <a:xfrm xmlns:a="http://schemas.openxmlformats.org/drawingml/2006/main">
            <a:off x="9323070" y="1943100"/>
            <a:ext cx="220218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代码或文档落点</a:t>
            </a:r>
          </a:p>
        </p:txBody>
      </p:sp>
      <p:sp>
        <p:nvSpPr>
          <p:cNvPr id="16" name="">
            <a:extLst xmlns:a="http://schemas.openxmlformats.org/drawingml/2006/main">
              <a:ext uri="{FF2B5EF4-FFF2-40B4-BE49-F238E27FC236}">
                <a16:creationId xmlns:a16="http://schemas.microsoft.com/office/drawing/2014/main" id="{1C079B46-43AC-4A71-BD76-522508D1B276}"/>
              </a:ext>
            </a:extLst>
          </p:cNvPr>
          <p:cNvSpPr>
            <a:spLocks xmlns:a="http://schemas.openxmlformats.org/drawingml/2006/main" noGrp="1"/>
          </p:cNvSpPr>
          <p:nvPr/>
        </p:nvSpPr>
        <p:spPr>
          <a:xfrm xmlns:a="http://schemas.openxmlformats.org/drawingml/2006/main">
            <a:off x="5191125" y="2305050"/>
            <a:ext cx="1786890"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5C72505E-14A9-42A8-AA09-6BB1A449F990}"/>
              </a:ext>
            </a:extLst>
          </p:cNvPr>
          <p:cNvSpPr>
            <a:spLocks xmlns:a="http://schemas.openxmlformats.org/drawingml/2006/main" noGrp="1"/>
          </p:cNvSpPr>
          <p:nvPr/>
        </p:nvSpPr>
        <p:spPr>
          <a:xfrm xmlns:a="http://schemas.openxmlformats.org/drawingml/2006/main">
            <a:off x="5238750" y="2333625"/>
            <a:ext cx="169164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仓储模式</a:t>
            </a:r>
          </a:p>
        </p:txBody>
      </p:sp>
      <p:sp>
        <p:nvSpPr>
          <p:cNvPr id="18" name="">
            <a:extLst xmlns:a="http://schemas.openxmlformats.org/drawingml/2006/main">
              <a:ext uri="{FF2B5EF4-FFF2-40B4-BE49-F238E27FC236}">
                <a16:creationId xmlns:a16="http://schemas.microsoft.com/office/drawing/2014/main" id="{E0358A90-5B69-4547-A171-50B4A898FED5}"/>
              </a:ext>
            </a:extLst>
          </p:cNvPr>
          <p:cNvSpPr>
            <a:spLocks xmlns:a="http://schemas.openxmlformats.org/drawingml/2006/main" noGrp="1"/>
          </p:cNvSpPr>
          <p:nvPr/>
        </p:nvSpPr>
        <p:spPr>
          <a:xfrm xmlns:a="http://schemas.openxmlformats.org/drawingml/2006/main">
            <a:off x="6978015" y="2305050"/>
            <a:ext cx="2297430"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1B48A2BF-F9D2-45FA-BD0B-30B49733D7F1}"/>
              </a:ext>
            </a:extLst>
          </p:cNvPr>
          <p:cNvSpPr>
            <a:spLocks xmlns:a="http://schemas.openxmlformats.org/drawingml/2006/main" noGrp="1"/>
          </p:cNvSpPr>
          <p:nvPr/>
        </p:nvSpPr>
        <p:spPr>
          <a:xfrm xmlns:a="http://schemas.openxmlformats.org/drawingml/2006/main">
            <a:off x="7025640" y="2333625"/>
            <a:ext cx="220218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ProfileStore 集中处理 SharedPreferences，避免页面直接拼接和读取本地数据</a:t>
            </a:r>
          </a:p>
        </p:txBody>
      </p:sp>
      <p:sp>
        <p:nvSpPr>
          <p:cNvPr id="20" name="">
            <a:extLst xmlns:a="http://schemas.openxmlformats.org/drawingml/2006/main">
              <a:ext uri="{FF2B5EF4-FFF2-40B4-BE49-F238E27FC236}">
                <a16:creationId xmlns:a16="http://schemas.microsoft.com/office/drawing/2014/main" id="{664B1481-E99C-4516-9E8E-F966D235DFEC}"/>
              </a:ext>
            </a:extLst>
          </p:cNvPr>
          <p:cNvSpPr>
            <a:spLocks xmlns:a="http://schemas.openxmlformats.org/drawingml/2006/main" noGrp="1"/>
          </p:cNvSpPr>
          <p:nvPr/>
        </p:nvSpPr>
        <p:spPr>
          <a:xfrm xmlns:a="http://schemas.openxmlformats.org/drawingml/2006/main">
            <a:off x="9275445" y="2305050"/>
            <a:ext cx="2297430"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3727564F-A972-4FCE-A412-A45448C678AD}"/>
              </a:ext>
            </a:extLst>
          </p:cNvPr>
          <p:cNvSpPr>
            <a:spLocks xmlns:a="http://schemas.openxmlformats.org/drawingml/2006/main" noGrp="1"/>
          </p:cNvSpPr>
          <p:nvPr/>
        </p:nvSpPr>
        <p:spPr>
          <a:xfrm xmlns:a="http://schemas.openxmlformats.org/drawingml/2006/main">
            <a:off x="9323070" y="2333625"/>
            <a:ext cx="220218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profile/ProfileStore.kt</a:t>
            </a:r>
          </a:p>
        </p:txBody>
      </p:sp>
      <p:sp>
        <p:nvSpPr>
          <p:cNvPr id="22" name="">
            <a:extLst xmlns:a="http://schemas.openxmlformats.org/drawingml/2006/main">
              <a:ext uri="{FF2B5EF4-FFF2-40B4-BE49-F238E27FC236}">
                <a16:creationId xmlns:a16="http://schemas.microsoft.com/office/drawing/2014/main" id="{4D00577C-CCDE-4DF1-8370-FFC1CF034471}"/>
              </a:ext>
            </a:extLst>
          </p:cNvPr>
          <p:cNvSpPr>
            <a:spLocks xmlns:a="http://schemas.openxmlformats.org/drawingml/2006/main" noGrp="1"/>
          </p:cNvSpPr>
          <p:nvPr/>
        </p:nvSpPr>
        <p:spPr>
          <a:xfrm xmlns:a="http://schemas.openxmlformats.org/drawingml/2006/main">
            <a:off x="5191125" y="3214688"/>
            <a:ext cx="1786890"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604E47B0-FE43-4FE1-A29C-B03237CC1B6F}"/>
              </a:ext>
            </a:extLst>
          </p:cNvPr>
          <p:cNvSpPr>
            <a:spLocks xmlns:a="http://schemas.openxmlformats.org/drawingml/2006/main" noGrp="1"/>
          </p:cNvSpPr>
          <p:nvPr/>
        </p:nvSpPr>
        <p:spPr>
          <a:xfrm xmlns:a="http://schemas.openxmlformats.org/drawingml/2006/main">
            <a:off x="5238750" y="3243263"/>
            <a:ext cx="169164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门面/控制器模式</a:t>
            </a:r>
          </a:p>
        </p:txBody>
      </p:sp>
      <p:sp>
        <p:nvSpPr>
          <p:cNvPr id="24" name="">
            <a:extLst xmlns:a="http://schemas.openxmlformats.org/drawingml/2006/main">
              <a:ext uri="{FF2B5EF4-FFF2-40B4-BE49-F238E27FC236}">
                <a16:creationId xmlns:a16="http://schemas.microsoft.com/office/drawing/2014/main" id="{97C3829D-B524-4F6D-BBE1-1D419D3D264A}"/>
              </a:ext>
            </a:extLst>
          </p:cNvPr>
          <p:cNvSpPr>
            <a:spLocks xmlns:a="http://schemas.openxmlformats.org/drawingml/2006/main" noGrp="1"/>
          </p:cNvSpPr>
          <p:nvPr/>
        </p:nvSpPr>
        <p:spPr>
          <a:xfrm xmlns:a="http://schemas.openxmlformats.org/drawingml/2006/main">
            <a:off x="6978015" y="3214688"/>
            <a:ext cx="2297430"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C97704FA-A783-43EC-9F2E-BC14BBEC18F7}"/>
              </a:ext>
            </a:extLst>
          </p:cNvPr>
          <p:cNvSpPr>
            <a:spLocks xmlns:a="http://schemas.openxmlformats.org/drawingml/2006/main" noGrp="1"/>
          </p:cNvSpPr>
          <p:nvPr/>
        </p:nvSpPr>
        <p:spPr>
          <a:xfrm xmlns:a="http://schemas.openxmlformats.org/drawingml/2006/main">
            <a:off x="7025640" y="3243263"/>
            <a:ext cx="220218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ProfileController 统一处理结算奖励、金币消费、头像解锁、改名和战绩重置</a:t>
            </a:r>
          </a:p>
        </p:txBody>
      </p:sp>
      <p:sp>
        <p:nvSpPr>
          <p:cNvPr id="26" name="">
            <a:extLst xmlns:a="http://schemas.openxmlformats.org/drawingml/2006/main">
              <a:ext uri="{FF2B5EF4-FFF2-40B4-BE49-F238E27FC236}">
                <a16:creationId xmlns:a16="http://schemas.microsoft.com/office/drawing/2014/main" id="{AE7A5FBC-C0FD-446E-948F-9CC75CBE64D6}"/>
              </a:ext>
            </a:extLst>
          </p:cNvPr>
          <p:cNvSpPr>
            <a:spLocks xmlns:a="http://schemas.openxmlformats.org/drawingml/2006/main" noGrp="1"/>
          </p:cNvSpPr>
          <p:nvPr/>
        </p:nvSpPr>
        <p:spPr>
          <a:xfrm xmlns:a="http://schemas.openxmlformats.org/drawingml/2006/main">
            <a:off x="9275445" y="3214688"/>
            <a:ext cx="2297430"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0A41DB8F-7B27-4E24-AC6E-FF5ABEADD4DB}"/>
              </a:ext>
            </a:extLst>
          </p:cNvPr>
          <p:cNvSpPr>
            <a:spLocks xmlns:a="http://schemas.openxmlformats.org/drawingml/2006/main" noGrp="1"/>
          </p:cNvSpPr>
          <p:nvPr/>
        </p:nvSpPr>
        <p:spPr>
          <a:xfrm xmlns:a="http://schemas.openxmlformats.org/drawingml/2006/main">
            <a:off x="9323070" y="3243263"/>
            <a:ext cx="220218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profile/ProfileController.kt</a:t>
            </a:r>
          </a:p>
        </p:txBody>
      </p:sp>
      <p:sp>
        <p:nvSpPr>
          <p:cNvPr id="28" name="">
            <a:extLst xmlns:a="http://schemas.openxmlformats.org/drawingml/2006/main">
              <a:ext uri="{FF2B5EF4-FFF2-40B4-BE49-F238E27FC236}">
                <a16:creationId xmlns:a16="http://schemas.microsoft.com/office/drawing/2014/main" id="{0CFF314A-7B50-4620-BA5B-77DACD8208FD}"/>
              </a:ext>
            </a:extLst>
          </p:cNvPr>
          <p:cNvSpPr>
            <a:spLocks xmlns:a="http://schemas.openxmlformats.org/drawingml/2006/main" noGrp="1"/>
          </p:cNvSpPr>
          <p:nvPr/>
        </p:nvSpPr>
        <p:spPr>
          <a:xfrm xmlns:a="http://schemas.openxmlformats.org/drawingml/2006/main">
            <a:off x="5191125" y="4124325"/>
            <a:ext cx="1786890"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3C92CDEC-5C0D-45D3-92DF-A17156A5BBEB}"/>
              </a:ext>
            </a:extLst>
          </p:cNvPr>
          <p:cNvSpPr>
            <a:spLocks xmlns:a="http://schemas.openxmlformats.org/drawingml/2006/main" noGrp="1"/>
          </p:cNvSpPr>
          <p:nvPr/>
        </p:nvSpPr>
        <p:spPr>
          <a:xfrm xmlns:a="http://schemas.openxmlformats.org/drawingml/2006/main">
            <a:off x="5238750" y="4152900"/>
            <a:ext cx="169164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观察者/事件驱动思想</a:t>
            </a:r>
          </a:p>
        </p:txBody>
      </p:sp>
      <p:sp>
        <p:nvSpPr>
          <p:cNvPr id="30" name="">
            <a:extLst xmlns:a="http://schemas.openxmlformats.org/drawingml/2006/main">
              <a:ext uri="{FF2B5EF4-FFF2-40B4-BE49-F238E27FC236}">
                <a16:creationId xmlns:a16="http://schemas.microsoft.com/office/drawing/2014/main" id="{099F4D86-D05B-42D5-B0F1-426D51390B66}"/>
              </a:ext>
            </a:extLst>
          </p:cNvPr>
          <p:cNvSpPr>
            <a:spLocks xmlns:a="http://schemas.openxmlformats.org/drawingml/2006/main" noGrp="1"/>
          </p:cNvSpPr>
          <p:nvPr/>
        </p:nvSpPr>
        <p:spPr>
          <a:xfrm xmlns:a="http://schemas.openxmlformats.org/drawingml/2006/main">
            <a:off x="6978015" y="4124325"/>
            <a:ext cx="2297430"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9FB360BE-32E2-434B-8CC4-19C93A0CBC3C}"/>
              </a:ext>
            </a:extLst>
          </p:cNvPr>
          <p:cNvSpPr>
            <a:spLocks xmlns:a="http://schemas.openxmlformats.org/drawingml/2006/main" noGrp="1"/>
          </p:cNvSpPr>
          <p:nvPr/>
        </p:nvSpPr>
        <p:spPr>
          <a:xfrm xmlns:a="http://schemas.openxmlformats.org/drawingml/2006/main">
            <a:off x="7025640" y="4152900"/>
            <a:ext cx="220218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蓝牙 TransportEvent 和 UI 状态提示把错误、连接、断线转为可展示事件</a:t>
            </a:r>
          </a:p>
        </p:txBody>
      </p:sp>
      <p:sp>
        <p:nvSpPr>
          <p:cNvPr id="32" name="">
            <a:extLst xmlns:a="http://schemas.openxmlformats.org/drawingml/2006/main">
              <a:ext uri="{FF2B5EF4-FFF2-40B4-BE49-F238E27FC236}">
                <a16:creationId xmlns:a16="http://schemas.microsoft.com/office/drawing/2014/main" id="{B682F28B-02BC-4286-8EF0-9618FBD24462}"/>
              </a:ext>
            </a:extLst>
          </p:cNvPr>
          <p:cNvSpPr>
            <a:spLocks xmlns:a="http://schemas.openxmlformats.org/drawingml/2006/main" noGrp="1"/>
          </p:cNvSpPr>
          <p:nvPr/>
        </p:nvSpPr>
        <p:spPr>
          <a:xfrm xmlns:a="http://schemas.openxmlformats.org/drawingml/2006/main">
            <a:off x="9275445" y="4124325"/>
            <a:ext cx="2297430"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BC85661F-E650-4CB8-A436-96C56E69BE15}"/>
              </a:ext>
            </a:extLst>
          </p:cNvPr>
          <p:cNvSpPr>
            <a:spLocks xmlns:a="http://schemas.openxmlformats.org/drawingml/2006/main" noGrp="1"/>
          </p:cNvSpPr>
          <p:nvPr/>
        </p:nvSpPr>
        <p:spPr>
          <a:xfrm xmlns:a="http://schemas.openxmlformats.org/drawingml/2006/main">
            <a:off x="9323070" y="4152900"/>
            <a:ext cx="220218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transport/GameTransport.kt、ChudadiApp.kt</a:t>
            </a:r>
          </a:p>
        </p:txBody>
      </p:sp>
      <p:sp>
        <p:nvSpPr>
          <p:cNvPr id="34" name="">
            <a:extLst xmlns:a="http://schemas.openxmlformats.org/drawingml/2006/main">
              <a:ext uri="{FF2B5EF4-FFF2-40B4-BE49-F238E27FC236}">
                <a16:creationId xmlns:a16="http://schemas.microsoft.com/office/drawing/2014/main" id="{0E345385-B9C5-4984-83EE-82C1637B45BC}"/>
              </a:ext>
            </a:extLst>
          </p:cNvPr>
          <p:cNvSpPr>
            <a:spLocks xmlns:a="http://schemas.openxmlformats.org/drawingml/2006/main" noGrp="1"/>
          </p:cNvSpPr>
          <p:nvPr/>
        </p:nvSpPr>
        <p:spPr>
          <a:xfrm xmlns:a="http://schemas.openxmlformats.org/drawingml/2006/main">
            <a:off x="5191125" y="5033963"/>
            <a:ext cx="1786890"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5" name="">
            <a:extLst xmlns:a="http://schemas.openxmlformats.org/drawingml/2006/main">
              <a:ext uri="{FF2B5EF4-FFF2-40B4-BE49-F238E27FC236}">
                <a16:creationId xmlns:a16="http://schemas.microsoft.com/office/drawing/2014/main" id="{44918E73-ECF9-44A0-BC45-7C8006F6CDB9}"/>
              </a:ext>
            </a:extLst>
          </p:cNvPr>
          <p:cNvSpPr>
            <a:spLocks xmlns:a="http://schemas.openxmlformats.org/drawingml/2006/main" noGrp="1"/>
          </p:cNvSpPr>
          <p:nvPr/>
        </p:nvSpPr>
        <p:spPr>
          <a:xfrm xmlns:a="http://schemas.openxmlformats.org/drawingml/2006/main">
            <a:off x="5238750" y="5062538"/>
            <a:ext cx="169164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构建配置隔离</a:t>
            </a:r>
          </a:p>
        </p:txBody>
      </p:sp>
      <p:sp>
        <p:nvSpPr>
          <p:cNvPr id="36" name="">
            <a:extLst xmlns:a="http://schemas.openxmlformats.org/drawingml/2006/main">
              <a:ext uri="{FF2B5EF4-FFF2-40B4-BE49-F238E27FC236}">
                <a16:creationId xmlns:a16="http://schemas.microsoft.com/office/drawing/2014/main" id="{875910EE-1ED0-4650-8C77-9B077F8FD8D9}"/>
              </a:ext>
            </a:extLst>
          </p:cNvPr>
          <p:cNvSpPr>
            <a:spLocks xmlns:a="http://schemas.openxmlformats.org/drawingml/2006/main" noGrp="1"/>
          </p:cNvSpPr>
          <p:nvPr/>
        </p:nvSpPr>
        <p:spPr>
          <a:xfrm xmlns:a="http://schemas.openxmlformats.org/drawingml/2006/main">
            <a:off x="6978015" y="5033963"/>
            <a:ext cx="2297430"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7" name="">
            <a:extLst xmlns:a="http://schemas.openxmlformats.org/drawingml/2006/main">
              <a:ext uri="{FF2B5EF4-FFF2-40B4-BE49-F238E27FC236}">
                <a16:creationId xmlns:a16="http://schemas.microsoft.com/office/drawing/2014/main" id="{E4A09D1C-A169-47FC-BD35-E307E1D5A4F6}"/>
              </a:ext>
            </a:extLst>
          </p:cNvPr>
          <p:cNvSpPr>
            <a:spLocks xmlns:a="http://schemas.openxmlformats.org/drawingml/2006/main" noGrp="1"/>
          </p:cNvSpPr>
          <p:nvPr/>
        </p:nvSpPr>
        <p:spPr>
          <a:xfrm xmlns:a="http://schemas.openxmlformats.org/drawingml/2006/main">
            <a:off x="7025640" y="5062538"/>
            <a:ext cx="220218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Debug/Release、签名文件和敏感配置分离，降低发布与仓库托管风险</a:t>
            </a:r>
          </a:p>
        </p:txBody>
      </p:sp>
      <p:sp>
        <p:nvSpPr>
          <p:cNvPr id="38" name="">
            <a:extLst xmlns:a="http://schemas.openxmlformats.org/drawingml/2006/main">
              <a:ext uri="{FF2B5EF4-FFF2-40B4-BE49-F238E27FC236}">
                <a16:creationId xmlns:a16="http://schemas.microsoft.com/office/drawing/2014/main" id="{DAC6C673-6581-4CC3-A6AD-94FF0E82F427}"/>
              </a:ext>
            </a:extLst>
          </p:cNvPr>
          <p:cNvSpPr>
            <a:spLocks xmlns:a="http://schemas.openxmlformats.org/drawingml/2006/main" noGrp="1"/>
          </p:cNvSpPr>
          <p:nvPr/>
        </p:nvSpPr>
        <p:spPr>
          <a:xfrm xmlns:a="http://schemas.openxmlformats.org/drawingml/2006/main">
            <a:off x="9275445" y="5033963"/>
            <a:ext cx="2297430"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9" name="">
            <a:extLst xmlns:a="http://schemas.openxmlformats.org/drawingml/2006/main">
              <a:ext uri="{FF2B5EF4-FFF2-40B4-BE49-F238E27FC236}">
                <a16:creationId xmlns:a16="http://schemas.microsoft.com/office/drawing/2014/main" id="{1A01D895-CF8F-4E75-8DB6-B215D25D493E}"/>
              </a:ext>
            </a:extLst>
          </p:cNvPr>
          <p:cNvSpPr>
            <a:spLocks xmlns:a="http://schemas.openxmlformats.org/drawingml/2006/main" noGrp="1"/>
          </p:cNvSpPr>
          <p:nvPr/>
        </p:nvSpPr>
        <p:spPr>
          <a:xfrm xmlns:a="http://schemas.openxmlformats.org/drawingml/2006/main">
            <a:off x="9323070" y="5062538"/>
            <a:ext cx="220218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build.gradle.kts、.gitignore、release 文档</a:t>
            </a:r>
          </a:p>
        </p:txBody>
      </p:sp>
    </p:spTree>
    <p:extLst>
      <p:ext uri="{BB962C8B-B14F-4D97-AF65-F5344CB8AC3E}">
        <p14:creationId xmlns:p14="http://schemas.microsoft.com/office/powerpoint/2010/main" val="800984607"/>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885719-C1EC-4CED-9A62-427609F9DE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3DCC47-CEA3-4CF8-A625-0EFED343808D}"/>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ABD9A1-07CD-4A56-BFAB-39391A81928A}"/>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550EB468-CC08-439C-9919-E91DCD893A73}"/>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AD9556A8-44C6-49F6-B5C4-ACE0D184CFAB}"/>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103</a:t>
            </a:r>
          </a:p>
        </p:txBody>
      </p:sp>
      <p:sp>
        <p:nvSpPr>
          <p:cNvPr id="6" name="">
            <a:extLst xmlns:a="http://schemas.openxmlformats.org/drawingml/2006/main">
              <a:ext uri="{FF2B5EF4-FFF2-40B4-BE49-F238E27FC236}">
                <a16:creationId xmlns:a16="http://schemas.microsoft.com/office/drawing/2014/main" id="{7668F706-924C-4F00-AFD0-94B5995A7D4D}"/>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8C87A73-D58B-4716-84BB-58406A8A950B}"/>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8.4 Release 发布与托管（1/3）</a:t>
            </a:r>
          </a:p>
        </p:txBody>
      </p:sp>
      <p:sp>
        <p:nvSpPr>
          <p:cNvPr id="8" name="">
            <a:extLst xmlns:a="http://schemas.openxmlformats.org/drawingml/2006/main">
              <a:ext uri="{FF2B5EF4-FFF2-40B4-BE49-F238E27FC236}">
                <a16:creationId xmlns:a16="http://schemas.microsoft.com/office/drawing/2014/main" id="{6D2ABE31-584E-47E3-BE25-745631C1718B}"/>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146B37D-B512-4D29-91C9-F80D4212FF38}"/>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测试通过后第三步才是发布 Release。Release 发布不是简单复制 APK，而是要确认签名、包路径、敏感文件、GitHub 托管和一键运行配置。</a:t>
            </a:r>
          </a:p>
        </p:txBody>
      </p:sp>
    </p:spTree>
    <p:extLst>
      <p:ext uri="{BB962C8B-B14F-4D97-AF65-F5344CB8AC3E}">
        <p14:creationId xmlns:p14="http://schemas.microsoft.com/office/powerpoint/2010/main" val="244242464"/>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6DBF94C-B31F-43C9-A2DF-C573579A1A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F26A7B-C8A7-46D1-ACD5-765671015B8D}"/>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FCC8E2-CB61-427D-82F5-2B4B8E4F129C}"/>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8ACD75C8-DBA5-4BAC-9F89-6AC3BFF2CEAD}"/>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5A7D3FE4-6213-41FC-BF76-6E0ECE4B819C}"/>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104</a:t>
            </a:r>
          </a:p>
        </p:txBody>
      </p:sp>
      <p:sp>
        <p:nvSpPr>
          <p:cNvPr id="6" name="">
            <a:extLst xmlns:a="http://schemas.openxmlformats.org/drawingml/2006/main">
              <a:ext uri="{FF2B5EF4-FFF2-40B4-BE49-F238E27FC236}">
                <a16:creationId xmlns:a16="http://schemas.microsoft.com/office/drawing/2014/main" id="{071A2709-54A9-464C-B701-6B5305C10986}"/>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08251D6C-7263-44C3-AAFD-63439B9805B6}"/>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8.4 Release 发布与托管（2/3）</a:t>
            </a:r>
          </a:p>
        </p:txBody>
      </p:sp>
      <p:sp>
        <p:nvSpPr>
          <p:cNvPr id="8" name="">
            <a:extLst xmlns:a="http://schemas.openxmlformats.org/drawingml/2006/main">
              <a:ext uri="{FF2B5EF4-FFF2-40B4-BE49-F238E27FC236}">
                <a16:creationId xmlns:a16="http://schemas.microsoft.com/office/drawing/2014/main" id="{D68FBE35-A41A-41D0-8A24-DB9D98FD7E18}"/>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DC1BC2E-A965-42C5-BF0D-3A1C9F58CFB0}"/>
              </a:ext>
            </a:extLst>
          </p:cNvPr>
          <p:cNvSpPr>
            <a:spLocks xmlns:a="http://schemas.openxmlformats.org/drawingml/2006/main" noGrp="1"/>
          </p:cNvSpPr>
          <p:nvPr/>
        </p:nvSpPr>
        <p:spPr>
          <a:xfrm xmlns:a="http://schemas.openxmlformats.org/drawingml/2006/main">
            <a:off x="45720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708686ED-A549-43CD-8E23-E8236B324B35}"/>
              </a:ext>
            </a:extLst>
          </p:cNvPr>
          <p:cNvSpPr>
            <a:spLocks xmlns:a="http://schemas.openxmlformats.org/drawingml/2006/main" noGrp="1"/>
          </p:cNvSpPr>
          <p:nvPr/>
        </p:nvSpPr>
        <p:spPr>
          <a:xfrm xmlns:a="http://schemas.openxmlformats.org/drawingml/2006/main">
            <a:off x="50482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项目</a:t>
            </a:r>
          </a:p>
        </p:txBody>
      </p:sp>
      <p:sp>
        <p:nvSpPr>
          <p:cNvPr id="11" name="">
            <a:extLst xmlns:a="http://schemas.openxmlformats.org/drawingml/2006/main">
              <a:ext uri="{FF2B5EF4-FFF2-40B4-BE49-F238E27FC236}">
                <a16:creationId xmlns:a16="http://schemas.microsoft.com/office/drawing/2014/main" id="{90AFF6AF-8F38-4524-AD52-96B4F2E5E9AA}"/>
              </a:ext>
            </a:extLst>
          </p:cNvPr>
          <p:cNvSpPr>
            <a:spLocks xmlns:a="http://schemas.openxmlformats.org/drawingml/2006/main" noGrp="1"/>
          </p:cNvSpPr>
          <p:nvPr/>
        </p:nvSpPr>
        <p:spPr>
          <a:xfrm xmlns:a="http://schemas.openxmlformats.org/drawingml/2006/main">
            <a:off x="607695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1EFA6EF0-CDF4-4037-AD2B-39A38FF0C253}"/>
              </a:ext>
            </a:extLst>
          </p:cNvPr>
          <p:cNvSpPr>
            <a:spLocks xmlns:a="http://schemas.openxmlformats.org/drawingml/2006/main" noGrp="1"/>
          </p:cNvSpPr>
          <p:nvPr/>
        </p:nvSpPr>
        <p:spPr>
          <a:xfrm xmlns:a="http://schemas.openxmlformats.org/drawingml/2006/main">
            <a:off x="612457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当前交付</a:t>
            </a:r>
          </a:p>
        </p:txBody>
      </p:sp>
      <p:sp>
        <p:nvSpPr>
          <p:cNvPr id="13" name="">
            <a:extLst xmlns:a="http://schemas.openxmlformats.org/drawingml/2006/main">
              <a:ext uri="{FF2B5EF4-FFF2-40B4-BE49-F238E27FC236}">
                <a16:creationId xmlns:a16="http://schemas.microsoft.com/office/drawing/2014/main" id="{7C600679-89EC-446C-AB41-FD2482DF9121}"/>
              </a:ext>
            </a:extLst>
          </p:cNvPr>
          <p:cNvSpPr>
            <a:spLocks xmlns:a="http://schemas.openxmlformats.org/drawingml/2006/main" noGrp="1"/>
          </p:cNvSpPr>
          <p:nvPr/>
        </p:nvSpPr>
        <p:spPr>
          <a:xfrm xmlns:a="http://schemas.openxmlformats.org/drawingml/2006/main">
            <a:off x="457200" y="2305050"/>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4" name="">
            <a:extLst xmlns:a="http://schemas.openxmlformats.org/drawingml/2006/main">
              <a:ext uri="{FF2B5EF4-FFF2-40B4-BE49-F238E27FC236}">
                <a16:creationId xmlns:a16="http://schemas.microsoft.com/office/drawing/2014/main" id="{C5B84C67-85FD-42E7-B4A9-923BCDCFCDEA}"/>
              </a:ext>
            </a:extLst>
          </p:cNvPr>
          <p:cNvSpPr>
            <a:spLocks xmlns:a="http://schemas.openxmlformats.org/drawingml/2006/main" noGrp="1"/>
          </p:cNvSpPr>
          <p:nvPr/>
        </p:nvSpPr>
        <p:spPr>
          <a:xfrm xmlns:a="http://schemas.openxmlformats.org/drawingml/2006/main">
            <a:off x="504825" y="2333625"/>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包名</a:t>
            </a:r>
          </a:p>
        </p:txBody>
      </p:sp>
      <p:sp>
        <p:nvSpPr>
          <p:cNvPr id="15" name="">
            <a:extLst xmlns:a="http://schemas.openxmlformats.org/drawingml/2006/main">
              <a:ext uri="{FF2B5EF4-FFF2-40B4-BE49-F238E27FC236}">
                <a16:creationId xmlns:a16="http://schemas.microsoft.com/office/drawing/2014/main" id="{B512516D-3D9C-4059-A0B8-3D7FED7B1458}"/>
              </a:ext>
            </a:extLst>
          </p:cNvPr>
          <p:cNvSpPr>
            <a:spLocks xmlns:a="http://schemas.openxmlformats.org/drawingml/2006/main" noGrp="1"/>
          </p:cNvSpPr>
          <p:nvPr/>
        </p:nvSpPr>
        <p:spPr>
          <a:xfrm xmlns:a="http://schemas.openxmlformats.org/drawingml/2006/main">
            <a:off x="6076950" y="2305050"/>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54BA52F1-3AB6-424C-A79B-52D911C9A5BA}"/>
              </a:ext>
            </a:extLst>
          </p:cNvPr>
          <p:cNvSpPr>
            <a:spLocks xmlns:a="http://schemas.openxmlformats.org/drawingml/2006/main" noGrp="1"/>
          </p:cNvSpPr>
          <p:nvPr/>
        </p:nvSpPr>
        <p:spPr>
          <a:xfrm xmlns:a="http://schemas.openxmlformats.org/drawingml/2006/main">
            <a:off x="6124575" y="2333625"/>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com.example.uml_chudadi</a:t>
            </a:r>
          </a:p>
        </p:txBody>
      </p:sp>
      <p:sp>
        <p:nvSpPr>
          <p:cNvPr id="17" name="">
            <a:extLst xmlns:a="http://schemas.openxmlformats.org/drawingml/2006/main">
              <a:ext uri="{FF2B5EF4-FFF2-40B4-BE49-F238E27FC236}">
                <a16:creationId xmlns:a16="http://schemas.microsoft.com/office/drawing/2014/main" id="{4B46F76B-9A25-4599-8F03-AE8EB934138C}"/>
              </a:ext>
            </a:extLst>
          </p:cNvPr>
          <p:cNvSpPr>
            <a:spLocks xmlns:a="http://schemas.openxmlformats.org/drawingml/2006/main" noGrp="1"/>
          </p:cNvSpPr>
          <p:nvPr/>
        </p:nvSpPr>
        <p:spPr>
          <a:xfrm xmlns:a="http://schemas.openxmlformats.org/drawingml/2006/main">
            <a:off x="457200" y="2759869"/>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8826FA8B-14E3-4ED9-885C-BE238DCC9CF1}"/>
              </a:ext>
            </a:extLst>
          </p:cNvPr>
          <p:cNvSpPr>
            <a:spLocks xmlns:a="http://schemas.openxmlformats.org/drawingml/2006/main" noGrp="1"/>
          </p:cNvSpPr>
          <p:nvPr/>
        </p:nvSpPr>
        <p:spPr>
          <a:xfrm xmlns:a="http://schemas.openxmlformats.org/drawingml/2006/main">
            <a:off x="504825" y="2788444"/>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Release APK</a:t>
            </a:r>
          </a:p>
        </p:txBody>
      </p:sp>
      <p:sp>
        <p:nvSpPr>
          <p:cNvPr id="19" name="">
            <a:extLst xmlns:a="http://schemas.openxmlformats.org/drawingml/2006/main">
              <a:ext uri="{FF2B5EF4-FFF2-40B4-BE49-F238E27FC236}">
                <a16:creationId xmlns:a16="http://schemas.microsoft.com/office/drawing/2014/main" id="{BB95F132-BDB7-4924-8A2A-584D111390FA}"/>
              </a:ext>
            </a:extLst>
          </p:cNvPr>
          <p:cNvSpPr>
            <a:spLocks xmlns:a="http://schemas.openxmlformats.org/drawingml/2006/main" noGrp="1"/>
          </p:cNvSpPr>
          <p:nvPr/>
        </p:nvSpPr>
        <p:spPr>
          <a:xfrm xmlns:a="http://schemas.openxmlformats.org/drawingml/2006/main">
            <a:off x="6076950" y="2759869"/>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9F4F07D4-23D2-4666-9DE5-12380EEEE72B}"/>
              </a:ext>
            </a:extLst>
          </p:cNvPr>
          <p:cNvSpPr>
            <a:spLocks xmlns:a="http://schemas.openxmlformats.org/drawingml/2006/main" noGrp="1"/>
          </p:cNvSpPr>
          <p:nvPr/>
        </p:nvSpPr>
        <p:spPr>
          <a:xfrm xmlns:a="http://schemas.openxmlformats.org/drawingml/2006/main">
            <a:off x="6124575" y="2788444"/>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release/chudadi-v1.3-release.apk</a:t>
            </a:r>
          </a:p>
        </p:txBody>
      </p:sp>
      <p:sp>
        <p:nvSpPr>
          <p:cNvPr id="21" name="">
            <a:extLst xmlns:a="http://schemas.openxmlformats.org/drawingml/2006/main">
              <a:ext uri="{FF2B5EF4-FFF2-40B4-BE49-F238E27FC236}">
                <a16:creationId xmlns:a16="http://schemas.microsoft.com/office/drawing/2014/main" id="{F7BB16FF-BAB8-473F-B800-3F16C76E9370}"/>
              </a:ext>
            </a:extLst>
          </p:cNvPr>
          <p:cNvSpPr>
            <a:spLocks xmlns:a="http://schemas.openxmlformats.org/drawingml/2006/main" noGrp="1"/>
          </p:cNvSpPr>
          <p:nvPr/>
        </p:nvSpPr>
        <p:spPr>
          <a:xfrm xmlns:a="http://schemas.openxmlformats.org/drawingml/2006/main">
            <a:off x="457200" y="3214688"/>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BC6CAEF5-B15F-4A2C-B571-FF86011524E6}"/>
              </a:ext>
            </a:extLst>
          </p:cNvPr>
          <p:cNvSpPr>
            <a:spLocks xmlns:a="http://schemas.openxmlformats.org/drawingml/2006/main" noGrp="1"/>
          </p:cNvSpPr>
          <p:nvPr/>
        </p:nvSpPr>
        <p:spPr>
          <a:xfrm xmlns:a="http://schemas.openxmlformats.org/drawingml/2006/main">
            <a:off x="504825" y="3243263"/>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Release AAB</a:t>
            </a:r>
          </a:p>
        </p:txBody>
      </p:sp>
      <p:sp>
        <p:nvSpPr>
          <p:cNvPr id="23" name="">
            <a:extLst xmlns:a="http://schemas.openxmlformats.org/drawingml/2006/main">
              <a:ext uri="{FF2B5EF4-FFF2-40B4-BE49-F238E27FC236}">
                <a16:creationId xmlns:a16="http://schemas.microsoft.com/office/drawing/2014/main" id="{D8128D81-EB9A-4E7F-860C-B9A23D95C33D}"/>
              </a:ext>
            </a:extLst>
          </p:cNvPr>
          <p:cNvSpPr>
            <a:spLocks xmlns:a="http://schemas.openxmlformats.org/drawingml/2006/main" noGrp="1"/>
          </p:cNvSpPr>
          <p:nvPr/>
        </p:nvSpPr>
        <p:spPr>
          <a:xfrm xmlns:a="http://schemas.openxmlformats.org/drawingml/2006/main">
            <a:off x="6076950" y="3214688"/>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120D7E70-308B-4914-AC94-6855CA7808B7}"/>
              </a:ext>
            </a:extLst>
          </p:cNvPr>
          <p:cNvSpPr>
            <a:spLocks xmlns:a="http://schemas.openxmlformats.org/drawingml/2006/main" noGrp="1"/>
          </p:cNvSpPr>
          <p:nvPr/>
        </p:nvSpPr>
        <p:spPr>
          <a:xfrm xmlns:a="http://schemas.openxmlformats.org/drawingml/2006/main">
            <a:off x="6124575" y="3243263"/>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release/chudadi-v1.3-release.aab</a:t>
            </a:r>
          </a:p>
        </p:txBody>
      </p:sp>
      <p:sp>
        <p:nvSpPr>
          <p:cNvPr id="25" name="">
            <a:extLst xmlns:a="http://schemas.openxmlformats.org/drawingml/2006/main">
              <a:ext uri="{FF2B5EF4-FFF2-40B4-BE49-F238E27FC236}">
                <a16:creationId xmlns:a16="http://schemas.microsoft.com/office/drawing/2014/main" id="{7EB8F6F2-115D-4C2E-BC52-69AF97F526D3}"/>
              </a:ext>
            </a:extLst>
          </p:cNvPr>
          <p:cNvSpPr>
            <a:spLocks xmlns:a="http://schemas.openxmlformats.org/drawingml/2006/main" noGrp="1"/>
          </p:cNvSpPr>
          <p:nvPr/>
        </p:nvSpPr>
        <p:spPr>
          <a:xfrm xmlns:a="http://schemas.openxmlformats.org/drawingml/2006/main">
            <a:off x="457200" y="3669506"/>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F96FEB71-DEAC-417C-A524-E76B45686BDB}"/>
              </a:ext>
            </a:extLst>
          </p:cNvPr>
          <p:cNvSpPr>
            <a:spLocks xmlns:a="http://schemas.openxmlformats.org/drawingml/2006/main" noGrp="1"/>
          </p:cNvSpPr>
          <p:nvPr/>
        </p:nvSpPr>
        <p:spPr>
          <a:xfrm xmlns:a="http://schemas.openxmlformats.org/drawingml/2006/main">
            <a:off x="504825" y="3698081"/>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GitHub 远程</a:t>
            </a:r>
          </a:p>
        </p:txBody>
      </p:sp>
      <p:sp>
        <p:nvSpPr>
          <p:cNvPr id="27" name="">
            <a:extLst xmlns:a="http://schemas.openxmlformats.org/drawingml/2006/main">
              <a:ext uri="{FF2B5EF4-FFF2-40B4-BE49-F238E27FC236}">
                <a16:creationId xmlns:a16="http://schemas.microsoft.com/office/drawing/2014/main" id="{FA964AF1-41DB-4404-8260-88AA17C5B721}"/>
              </a:ext>
            </a:extLst>
          </p:cNvPr>
          <p:cNvSpPr>
            <a:spLocks xmlns:a="http://schemas.openxmlformats.org/drawingml/2006/main" noGrp="1"/>
          </p:cNvSpPr>
          <p:nvPr/>
        </p:nvSpPr>
        <p:spPr>
          <a:xfrm xmlns:a="http://schemas.openxmlformats.org/drawingml/2006/main">
            <a:off x="6076950" y="3669506"/>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D04E865F-3FF9-4105-B9F4-7DA4D130BB46}"/>
              </a:ext>
            </a:extLst>
          </p:cNvPr>
          <p:cNvSpPr>
            <a:spLocks xmlns:a="http://schemas.openxmlformats.org/drawingml/2006/main" noGrp="1"/>
          </p:cNvSpPr>
          <p:nvPr/>
        </p:nvSpPr>
        <p:spPr>
          <a:xfrm xmlns:a="http://schemas.openxmlformats.org/drawingml/2006/main">
            <a:off x="6124575" y="3698081"/>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https://github.com/Mojieeee/uml_chudadi.git</a:t>
            </a:r>
          </a:p>
        </p:txBody>
      </p:sp>
      <p:sp>
        <p:nvSpPr>
          <p:cNvPr id="29" name="">
            <a:extLst xmlns:a="http://schemas.openxmlformats.org/drawingml/2006/main">
              <a:ext uri="{FF2B5EF4-FFF2-40B4-BE49-F238E27FC236}">
                <a16:creationId xmlns:a16="http://schemas.microsoft.com/office/drawing/2014/main" id="{765F21E1-9CBB-49FD-9C6E-CEE2E4D28B7C}"/>
              </a:ext>
            </a:extLst>
          </p:cNvPr>
          <p:cNvSpPr>
            <a:spLocks xmlns:a="http://schemas.openxmlformats.org/drawingml/2006/main" noGrp="1"/>
          </p:cNvSpPr>
          <p:nvPr/>
        </p:nvSpPr>
        <p:spPr>
          <a:xfrm xmlns:a="http://schemas.openxmlformats.org/drawingml/2006/main">
            <a:off x="457200" y="4124325"/>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3578B06D-5309-4554-A06B-7D5FDD4EEEBD}"/>
              </a:ext>
            </a:extLst>
          </p:cNvPr>
          <p:cNvSpPr>
            <a:spLocks xmlns:a="http://schemas.openxmlformats.org/drawingml/2006/main" noGrp="1"/>
          </p:cNvSpPr>
          <p:nvPr/>
        </p:nvSpPr>
        <p:spPr>
          <a:xfrm xmlns:a="http://schemas.openxmlformats.org/drawingml/2006/main">
            <a:off x="504825" y="4152900"/>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常用测试命令</a:t>
            </a:r>
          </a:p>
        </p:txBody>
      </p:sp>
      <p:sp>
        <p:nvSpPr>
          <p:cNvPr id="31" name="">
            <a:extLst xmlns:a="http://schemas.openxmlformats.org/drawingml/2006/main">
              <a:ext uri="{FF2B5EF4-FFF2-40B4-BE49-F238E27FC236}">
                <a16:creationId xmlns:a16="http://schemas.microsoft.com/office/drawing/2014/main" id="{0B3A75BC-CB86-413C-AD64-A820060F6DD0}"/>
              </a:ext>
            </a:extLst>
          </p:cNvPr>
          <p:cNvSpPr>
            <a:spLocks xmlns:a="http://schemas.openxmlformats.org/drawingml/2006/main" noGrp="1"/>
          </p:cNvSpPr>
          <p:nvPr/>
        </p:nvSpPr>
        <p:spPr>
          <a:xfrm xmlns:a="http://schemas.openxmlformats.org/drawingml/2006/main">
            <a:off x="6076950" y="4124325"/>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6486F4A1-6077-4CCE-93ED-F2C3940C91DB}"/>
              </a:ext>
            </a:extLst>
          </p:cNvPr>
          <p:cNvSpPr>
            <a:spLocks xmlns:a="http://schemas.openxmlformats.org/drawingml/2006/main" noGrp="1"/>
          </p:cNvSpPr>
          <p:nvPr/>
        </p:nvSpPr>
        <p:spPr>
          <a:xfrm xmlns:a="http://schemas.openxmlformats.org/drawingml/2006/main">
            <a:off x="6124575" y="4152900"/>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./gradlew test --no-daemon</a:t>
            </a:r>
          </a:p>
        </p:txBody>
      </p:sp>
      <p:sp>
        <p:nvSpPr>
          <p:cNvPr id="33" name="">
            <a:extLst xmlns:a="http://schemas.openxmlformats.org/drawingml/2006/main">
              <a:ext uri="{FF2B5EF4-FFF2-40B4-BE49-F238E27FC236}">
                <a16:creationId xmlns:a16="http://schemas.microsoft.com/office/drawing/2014/main" id="{EB8C86FE-4468-435E-861A-71F518E0E537}"/>
              </a:ext>
            </a:extLst>
          </p:cNvPr>
          <p:cNvSpPr>
            <a:spLocks xmlns:a="http://schemas.openxmlformats.org/drawingml/2006/main" noGrp="1"/>
          </p:cNvSpPr>
          <p:nvPr/>
        </p:nvSpPr>
        <p:spPr>
          <a:xfrm xmlns:a="http://schemas.openxmlformats.org/drawingml/2006/main">
            <a:off x="457200" y="4579144"/>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3C5990DC-45FD-4A47-A8C2-6BCF1D897D57}"/>
              </a:ext>
            </a:extLst>
          </p:cNvPr>
          <p:cNvSpPr>
            <a:spLocks xmlns:a="http://schemas.openxmlformats.org/drawingml/2006/main" noGrp="1"/>
          </p:cNvSpPr>
          <p:nvPr/>
        </p:nvSpPr>
        <p:spPr>
          <a:xfrm xmlns:a="http://schemas.openxmlformats.org/drawingml/2006/main">
            <a:off x="504825" y="4607719"/>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Debug 构建</a:t>
            </a:r>
          </a:p>
        </p:txBody>
      </p:sp>
      <p:sp>
        <p:nvSpPr>
          <p:cNvPr id="35" name="">
            <a:extLst xmlns:a="http://schemas.openxmlformats.org/drawingml/2006/main">
              <a:ext uri="{FF2B5EF4-FFF2-40B4-BE49-F238E27FC236}">
                <a16:creationId xmlns:a16="http://schemas.microsoft.com/office/drawing/2014/main" id="{C09A4BFA-9BB2-4A2F-A4DC-26217252F9A4}"/>
              </a:ext>
            </a:extLst>
          </p:cNvPr>
          <p:cNvSpPr>
            <a:spLocks xmlns:a="http://schemas.openxmlformats.org/drawingml/2006/main" noGrp="1"/>
          </p:cNvSpPr>
          <p:nvPr/>
        </p:nvSpPr>
        <p:spPr>
          <a:xfrm xmlns:a="http://schemas.openxmlformats.org/drawingml/2006/main">
            <a:off x="6076950" y="4579144"/>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09B81FFA-A4A1-4073-BB2E-C795D4055D57}"/>
              </a:ext>
            </a:extLst>
          </p:cNvPr>
          <p:cNvSpPr>
            <a:spLocks xmlns:a="http://schemas.openxmlformats.org/drawingml/2006/main" noGrp="1"/>
          </p:cNvSpPr>
          <p:nvPr/>
        </p:nvSpPr>
        <p:spPr>
          <a:xfrm xmlns:a="http://schemas.openxmlformats.org/drawingml/2006/main">
            <a:off x="6124575" y="4607719"/>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./gradlew :app:assembleDebug --no-daemon</a:t>
            </a:r>
          </a:p>
        </p:txBody>
      </p:sp>
      <p:sp>
        <p:nvSpPr>
          <p:cNvPr id="37" name="">
            <a:extLst xmlns:a="http://schemas.openxmlformats.org/drawingml/2006/main">
              <a:ext uri="{FF2B5EF4-FFF2-40B4-BE49-F238E27FC236}">
                <a16:creationId xmlns:a16="http://schemas.microsoft.com/office/drawing/2014/main" id="{769D7CD2-5CB7-4420-85F0-263683AF819B}"/>
              </a:ext>
            </a:extLst>
          </p:cNvPr>
          <p:cNvSpPr>
            <a:spLocks xmlns:a="http://schemas.openxmlformats.org/drawingml/2006/main" noGrp="1"/>
          </p:cNvSpPr>
          <p:nvPr/>
        </p:nvSpPr>
        <p:spPr>
          <a:xfrm xmlns:a="http://schemas.openxmlformats.org/drawingml/2006/main">
            <a:off x="457200" y="5033963"/>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4069CD4C-5714-4251-8502-1EA210559003}"/>
              </a:ext>
            </a:extLst>
          </p:cNvPr>
          <p:cNvSpPr>
            <a:spLocks xmlns:a="http://schemas.openxmlformats.org/drawingml/2006/main" noGrp="1"/>
          </p:cNvSpPr>
          <p:nvPr/>
        </p:nvSpPr>
        <p:spPr>
          <a:xfrm xmlns:a="http://schemas.openxmlformats.org/drawingml/2006/main">
            <a:off x="504825" y="5062538"/>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Release 构建</a:t>
            </a:r>
          </a:p>
        </p:txBody>
      </p:sp>
      <p:sp>
        <p:nvSpPr>
          <p:cNvPr id="39" name="">
            <a:extLst xmlns:a="http://schemas.openxmlformats.org/drawingml/2006/main">
              <a:ext uri="{FF2B5EF4-FFF2-40B4-BE49-F238E27FC236}">
                <a16:creationId xmlns:a16="http://schemas.microsoft.com/office/drawing/2014/main" id="{DDBE4FB4-FBCD-440E-86D3-145410BC2551}"/>
              </a:ext>
            </a:extLst>
          </p:cNvPr>
          <p:cNvSpPr>
            <a:spLocks xmlns:a="http://schemas.openxmlformats.org/drawingml/2006/main" noGrp="1"/>
          </p:cNvSpPr>
          <p:nvPr/>
        </p:nvSpPr>
        <p:spPr>
          <a:xfrm xmlns:a="http://schemas.openxmlformats.org/drawingml/2006/main">
            <a:off x="6076950" y="5033963"/>
            <a:ext cx="561975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626EA80E-21EA-4016-8D3D-038E8404C368}"/>
              </a:ext>
            </a:extLst>
          </p:cNvPr>
          <p:cNvSpPr>
            <a:spLocks xmlns:a="http://schemas.openxmlformats.org/drawingml/2006/main" noGrp="1"/>
          </p:cNvSpPr>
          <p:nvPr/>
        </p:nvSpPr>
        <p:spPr>
          <a:xfrm xmlns:a="http://schemas.openxmlformats.org/drawingml/2006/main">
            <a:off x="6124575" y="5062538"/>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./gradlew :app:assembleRelease --no-daemon</a:t>
            </a:r>
          </a:p>
        </p:txBody>
      </p:sp>
      <p:sp>
        <p:nvSpPr>
          <p:cNvPr id="41" name="">
            <a:extLst xmlns:a="http://schemas.openxmlformats.org/drawingml/2006/main">
              <a:ext uri="{FF2B5EF4-FFF2-40B4-BE49-F238E27FC236}">
                <a16:creationId xmlns:a16="http://schemas.microsoft.com/office/drawing/2014/main" id="{378435EE-F63E-4BD3-B82D-B6ED6289058F}"/>
              </a:ext>
            </a:extLst>
          </p:cNvPr>
          <p:cNvSpPr>
            <a:spLocks xmlns:a="http://schemas.openxmlformats.org/drawingml/2006/main" noGrp="1"/>
          </p:cNvSpPr>
          <p:nvPr/>
        </p:nvSpPr>
        <p:spPr>
          <a:xfrm xmlns:a="http://schemas.openxmlformats.org/drawingml/2006/main">
            <a:off x="457200" y="5488781"/>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01549120-6A3E-4AC7-B5F6-04E80097E626}"/>
              </a:ext>
            </a:extLst>
          </p:cNvPr>
          <p:cNvSpPr>
            <a:spLocks xmlns:a="http://schemas.openxmlformats.org/drawingml/2006/main" noGrp="1"/>
          </p:cNvSpPr>
          <p:nvPr/>
        </p:nvSpPr>
        <p:spPr>
          <a:xfrm xmlns:a="http://schemas.openxmlformats.org/drawingml/2006/main">
            <a:off x="504825" y="5517356"/>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Release Bundle</a:t>
            </a:r>
          </a:p>
        </p:txBody>
      </p:sp>
      <p:sp>
        <p:nvSpPr>
          <p:cNvPr id="43" name="">
            <a:extLst xmlns:a="http://schemas.openxmlformats.org/drawingml/2006/main">
              <a:ext uri="{FF2B5EF4-FFF2-40B4-BE49-F238E27FC236}">
                <a16:creationId xmlns:a16="http://schemas.microsoft.com/office/drawing/2014/main" id="{FA9E4F46-0AAD-4C4C-B429-DFE5AB6EB751}"/>
              </a:ext>
            </a:extLst>
          </p:cNvPr>
          <p:cNvSpPr>
            <a:spLocks xmlns:a="http://schemas.openxmlformats.org/drawingml/2006/main" noGrp="1"/>
          </p:cNvSpPr>
          <p:nvPr/>
        </p:nvSpPr>
        <p:spPr>
          <a:xfrm xmlns:a="http://schemas.openxmlformats.org/drawingml/2006/main">
            <a:off x="6076950" y="5488781"/>
            <a:ext cx="561975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6DE9381D-E908-4D06-9A85-229D35DA290E}"/>
              </a:ext>
            </a:extLst>
          </p:cNvPr>
          <p:cNvSpPr>
            <a:spLocks xmlns:a="http://schemas.openxmlformats.org/drawingml/2006/main" noGrp="1"/>
          </p:cNvSpPr>
          <p:nvPr/>
        </p:nvSpPr>
        <p:spPr>
          <a:xfrm xmlns:a="http://schemas.openxmlformats.org/drawingml/2006/main">
            <a:off x="6124575" y="5517356"/>
            <a:ext cx="552450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./gradlew :app:bundleRelease --no-daemon</a:t>
            </a:r>
          </a:p>
        </p:txBody>
      </p:sp>
    </p:spTree>
    <p:extLst>
      <p:ext uri="{BB962C8B-B14F-4D97-AF65-F5344CB8AC3E}">
        <p14:creationId xmlns:p14="http://schemas.microsoft.com/office/powerpoint/2010/main" val="2145576380"/>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E2B7D0-848F-44C9-A277-BD7AAF5213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B83A2C-4C54-4DCB-B911-E7AA6350591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07D2093-9B6C-4BC6-936C-4344357C8AB7}"/>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0D6A246-349A-4D20-AA03-9E5F0A994524}"/>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AFAE3B3A-B2D4-4326-8FCD-3A6B02680027}"/>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105</a:t>
            </a:r>
          </a:p>
        </p:txBody>
      </p:sp>
      <p:sp>
        <p:nvSpPr>
          <p:cNvPr id="6" name="">
            <a:extLst xmlns:a="http://schemas.openxmlformats.org/drawingml/2006/main">
              <a:ext uri="{FF2B5EF4-FFF2-40B4-BE49-F238E27FC236}">
                <a16:creationId xmlns:a16="http://schemas.microsoft.com/office/drawing/2014/main" id="{CC9831F0-F3F5-4505-A72D-4F607EF04BAE}"/>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F3BF557F-922C-42BC-B783-CE9699941B82}"/>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8.4 Release 发布与托管（3/3）</a:t>
            </a:r>
          </a:p>
        </p:txBody>
      </p:sp>
      <p:sp>
        <p:nvSpPr>
          <p:cNvPr id="8" name="">
            <a:extLst xmlns:a="http://schemas.openxmlformats.org/drawingml/2006/main">
              <a:ext uri="{FF2B5EF4-FFF2-40B4-BE49-F238E27FC236}">
                <a16:creationId xmlns:a16="http://schemas.microsoft.com/office/drawing/2014/main" id="{2145A1D4-3EE2-45D4-9BB2-A0F98508A0B7}"/>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E1997F2-CDDC-437C-8658-944FBAC4230D}"/>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0554"/>
          </a:bodyPr>
          <a:lstStyle xmlns:a="http://schemas.openxmlformats.org/drawingml/2006/main"/>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 Release 发布流程如下：</a:t>
            </a:r>
          </a:p>
          <a:p xmlns:a="http://schemas.openxmlformats.org/drawingml/2006/main">
            <a:r>
              <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1. 确认 ./gradlew test --no-daemon、Debug 构建和 Release 构建已经通过。</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2. 执行 ./gradlew :app:assembleRelease --no-daemon 生成 Release APK。</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3. 执行 ./gradlew :app:bundleRelease --no-daemon 生成 AAB。</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4. 使用 apksigner verify --verbose --print-certs app/build/outputs/apk/release/app-release.apk 检查签名。</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5. 将 APK/AAB 复制或归档到 release/ 目录，作为测试分发包。</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6. 使用 .idea/runConfigurations/runRelease.xml 在 Android Studio 中一键安装 Release 包到手机。</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7. 使用 GitHub HTTPS 上传项目源码，确保 .jks 私钥和 keystore.properties 不进入仓库。</a:t>
            </a:r>
          </a:p>
          <a:p xmlns:a="http://schemas.openxmlformats.org/drawingml/2006/main">
            <a:r>
              <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 Release 私钥、keystore.properties、local.properties、.gradle、build/ 等敏感或构建目录不上传 GitHub。</a:t>
            </a:r>
          </a:p>
          <a:p xmlns:a="http://schemas.openxmlformats.org/drawingml/2006/main">
            <a:r>
              <a:t/>
            </a:r>
          </a:p>
          <a:p xmlns:a="http://schemas.openxmlformats.org/drawingml/2006/main">
            <a:pPr algn="l">
              <a:lnSpc>
                <a:spcPct val="113000"/>
              </a:lnSpc>
              <a:buNone/>
              <a:defRPr sz="1238" b="0">
                <a:solidFill>
                  <a:srgbClr val="17211D"/>
                </a:solidFill>
                <a:latin typeface="PingFang SC"/>
                <a:ea typeface="PingFang SC"/>
                <a:cs typeface="PingFang SC"/>
              </a:defRPr>
            </a:pPr>
            <a:r>
              <a:rPr sz="1238" b="0">
                <a:solidFill>
                  <a:srgbClr val="17211D"/>
                </a:solidFill>
                <a:latin typeface="PingFang SC"/>
                <a:ea typeface="PingFang SC"/>
                <a:cs typeface="PingFang SC"/>
              </a:rPr>
              <a:t>• Release 和 Debug 的差异可在答辩中从以下角度展开：</a:t>
            </a:r>
          </a:p>
        </p:txBody>
      </p:sp>
      <p:sp>
        <p:nvSpPr>
          <p:cNvPr id="10" name="">
            <a:extLst xmlns:a="http://schemas.openxmlformats.org/drawingml/2006/main">
              <a:ext uri="{FF2B5EF4-FFF2-40B4-BE49-F238E27FC236}">
                <a16:creationId xmlns:a16="http://schemas.microsoft.com/office/drawing/2014/main" id="{0A53F2E7-D1C2-4481-BB5C-91CA386BB098}"/>
              </a:ext>
            </a:extLst>
          </p:cNvPr>
          <p:cNvSpPr>
            <a:spLocks xmlns:a="http://schemas.openxmlformats.org/drawingml/2006/main" noGrp="1"/>
          </p:cNvSpPr>
          <p:nvPr/>
        </p:nvSpPr>
        <p:spPr>
          <a:xfrm xmlns:a="http://schemas.openxmlformats.org/drawingml/2006/main">
            <a:off x="5191125" y="1905000"/>
            <a:ext cx="1112415"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B3E3A9ED-7074-4CD9-A979-6F7765BE254E}"/>
              </a:ext>
            </a:extLst>
          </p:cNvPr>
          <p:cNvSpPr>
            <a:spLocks xmlns:a="http://schemas.openxmlformats.org/drawingml/2006/main" noGrp="1"/>
          </p:cNvSpPr>
          <p:nvPr/>
        </p:nvSpPr>
        <p:spPr>
          <a:xfrm xmlns:a="http://schemas.openxmlformats.org/drawingml/2006/main">
            <a:off x="5238750" y="1943100"/>
            <a:ext cx="101716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项目</a:t>
            </a:r>
          </a:p>
        </p:txBody>
      </p:sp>
      <p:sp>
        <p:nvSpPr>
          <p:cNvPr id="12" name="">
            <a:extLst xmlns:a="http://schemas.openxmlformats.org/drawingml/2006/main">
              <a:ext uri="{FF2B5EF4-FFF2-40B4-BE49-F238E27FC236}">
                <a16:creationId xmlns:a16="http://schemas.microsoft.com/office/drawing/2014/main" id="{4249680E-B27D-4F96-B359-FA4366118690}"/>
              </a:ext>
            </a:extLst>
          </p:cNvPr>
          <p:cNvSpPr>
            <a:spLocks xmlns:a="http://schemas.openxmlformats.org/drawingml/2006/main" noGrp="1"/>
          </p:cNvSpPr>
          <p:nvPr/>
        </p:nvSpPr>
        <p:spPr>
          <a:xfrm xmlns:a="http://schemas.openxmlformats.org/drawingml/2006/main">
            <a:off x="6303540" y="1905000"/>
            <a:ext cx="263466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0347EAA2-5A78-467E-B4A8-86ED15C198D8}"/>
              </a:ext>
            </a:extLst>
          </p:cNvPr>
          <p:cNvSpPr>
            <a:spLocks xmlns:a="http://schemas.openxmlformats.org/drawingml/2006/main" noGrp="1"/>
          </p:cNvSpPr>
          <p:nvPr/>
        </p:nvSpPr>
        <p:spPr>
          <a:xfrm xmlns:a="http://schemas.openxmlformats.org/drawingml/2006/main">
            <a:off x="6351165" y="1943100"/>
            <a:ext cx="253941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Debug</a:t>
            </a:r>
          </a:p>
        </p:txBody>
      </p:sp>
      <p:sp>
        <p:nvSpPr>
          <p:cNvPr id="14" name="">
            <a:extLst xmlns:a="http://schemas.openxmlformats.org/drawingml/2006/main">
              <a:ext uri="{FF2B5EF4-FFF2-40B4-BE49-F238E27FC236}">
                <a16:creationId xmlns:a16="http://schemas.microsoft.com/office/drawing/2014/main" id="{DCC705F1-DA93-400D-AF59-2E4F06556051}"/>
              </a:ext>
            </a:extLst>
          </p:cNvPr>
          <p:cNvSpPr>
            <a:spLocks xmlns:a="http://schemas.openxmlformats.org/drawingml/2006/main" noGrp="1"/>
          </p:cNvSpPr>
          <p:nvPr/>
        </p:nvSpPr>
        <p:spPr>
          <a:xfrm xmlns:a="http://schemas.openxmlformats.org/drawingml/2006/main">
            <a:off x="8938208" y="1905000"/>
            <a:ext cx="263466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94D68C3C-F7A0-4086-8816-DE82A530BE90}"/>
              </a:ext>
            </a:extLst>
          </p:cNvPr>
          <p:cNvSpPr>
            <a:spLocks xmlns:a="http://schemas.openxmlformats.org/drawingml/2006/main" noGrp="1"/>
          </p:cNvSpPr>
          <p:nvPr/>
        </p:nvSpPr>
        <p:spPr>
          <a:xfrm xmlns:a="http://schemas.openxmlformats.org/drawingml/2006/main">
            <a:off x="8985833" y="1943100"/>
            <a:ext cx="253941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Release</a:t>
            </a:r>
          </a:p>
        </p:txBody>
      </p:sp>
      <p:sp>
        <p:nvSpPr>
          <p:cNvPr id="16" name="">
            <a:extLst xmlns:a="http://schemas.openxmlformats.org/drawingml/2006/main">
              <a:ext uri="{FF2B5EF4-FFF2-40B4-BE49-F238E27FC236}">
                <a16:creationId xmlns:a16="http://schemas.microsoft.com/office/drawing/2014/main" id="{8FA453A6-BAB6-45C7-B3A3-5FACD7FE6ADA}"/>
              </a:ext>
            </a:extLst>
          </p:cNvPr>
          <p:cNvSpPr>
            <a:spLocks xmlns:a="http://schemas.openxmlformats.org/drawingml/2006/main" noGrp="1"/>
          </p:cNvSpPr>
          <p:nvPr/>
        </p:nvSpPr>
        <p:spPr>
          <a:xfrm xmlns:a="http://schemas.openxmlformats.org/drawingml/2006/main">
            <a:off x="5191125" y="2305050"/>
            <a:ext cx="1112415"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7" name="">
            <a:extLst xmlns:a="http://schemas.openxmlformats.org/drawingml/2006/main">
              <a:ext uri="{FF2B5EF4-FFF2-40B4-BE49-F238E27FC236}">
                <a16:creationId xmlns:a16="http://schemas.microsoft.com/office/drawing/2014/main" id="{1A861F30-24C6-4D54-A349-D3C4B0716E39}"/>
              </a:ext>
            </a:extLst>
          </p:cNvPr>
          <p:cNvSpPr>
            <a:spLocks xmlns:a="http://schemas.openxmlformats.org/drawingml/2006/main" noGrp="1"/>
          </p:cNvSpPr>
          <p:nvPr/>
        </p:nvSpPr>
        <p:spPr>
          <a:xfrm xmlns:a="http://schemas.openxmlformats.org/drawingml/2006/main">
            <a:off x="5238750" y="2333625"/>
            <a:ext cx="101716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用途</a:t>
            </a:r>
          </a:p>
        </p:txBody>
      </p:sp>
      <p:sp>
        <p:nvSpPr>
          <p:cNvPr id="18" name="">
            <a:extLst xmlns:a="http://schemas.openxmlformats.org/drawingml/2006/main">
              <a:ext uri="{FF2B5EF4-FFF2-40B4-BE49-F238E27FC236}">
                <a16:creationId xmlns:a16="http://schemas.microsoft.com/office/drawing/2014/main" id="{40D97798-27AC-48C2-B35C-E860E6AA2288}"/>
              </a:ext>
            </a:extLst>
          </p:cNvPr>
          <p:cNvSpPr>
            <a:spLocks xmlns:a="http://schemas.openxmlformats.org/drawingml/2006/main" noGrp="1"/>
          </p:cNvSpPr>
          <p:nvPr/>
        </p:nvSpPr>
        <p:spPr>
          <a:xfrm xmlns:a="http://schemas.openxmlformats.org/drawingml/2006/main">
            <a:off x="6303540" y="2305050"/>
            <a:ext cx="2634667"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9" name="">
            <a:extLst xmlns:a="http://schemas.openxmlformats.org/drawingml/2006/main">
              <a:ext uri="{FF2B5EF4-FFF2-40B4-BE49-F238E27FC236}">
                <a16:creationId xmlns:a16="http://schemas.microsoft.com/office/drawing/2014/main" id="{F22FB580-2612-4C2B-8047-2C08FC5BC9FB}"/>
              </a:ext>
            </a:extLst>
          </p:cNvPr>
          <p:cNvSpPr>
            <a:spLocks xmlns:a="http://schemas.openxmlformats.org/drawingml/2006/main" noGrp="1"/>
          </p:cNvSpPr>
          <p:nvPr/>
        </p:nvSpPr>
        <p:spPr>
          <a:xfrm xmlns:a="http://schemas.openxmlformats.org/drawingml/2006/main">
            <a:off x="6351165" y="2333625"/>
            <a:ext cx="2539417"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开发调试、Android Studio 运行</a:t>
            </a:r>
          </a:p>
        </p:txBody>
      </p:sp>
      <p:sp>
        <p:nvSpPr>
          <p:cNvPr id="20" name="">
            <a:extLst xmlns:a="http://schemas.openxmlformats.org/drawingml/2006/main">
              <a:ext uri="{FF2B5EF4-FFF2-40B4-BE49-F238E27FC236}">
                <a16:creationId xmlns:a16="http://schemas.microsoft.com/office/drawing/2014/main" id="{93F5A96F-4B8E-49F6-8574-A32ED91912CC}"/>
              </a:ext>
            </a:extLst>
          </p:cNvPr>
          <p:cNvSpPr>
            <a:spLocks xmlns:a="http://schemas.openxmlformats.org/drawingml/2006/main" noGrp="1"/>
          </p:cNvSpPr>
          <p:nvPr/>
        </p:nvSpPr>
        <p:spPr>
          <a:xfrm xmlns:a="http://schemas.openxmlformats.org/drawingml/2006/main">
            <a:off x="8938208" y="2305050"/>
            <a:ext cx="2634667"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71417B10-AD39-4E84-8EA3-294194940896}"/>
              </a:ext>
            </a:extLst>
          </p:cNvPr>
          <p:cNvSpPr>
            <a:spLocks xmlns:a="http://schemas.openxmlformats.org/drawingml/2006/main" noGrp="1"/>
          </p:cNvSpPr>
          <p:nvPr/>
        </p:nvSpPr>
        <p:spPr>
          <a:xfrm xmlns:a="http://schemas.openxmlformats.org/drawingml/2006/main">
            <a:off x="8985833" y="2333625"/>
            <a:ext cx="2539417"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测试分发、正式发布</a:t>
            </a:r>
          </a:p>
        </p:txBody>
      </p:sp>
      <p:sp>
        <p:nvSpPr>
          <p:cNvPr id="22" name="">
            <a:extLst xmlns:a="http://schemas.openxmlformats.org/drawingml/2006/main">
              <a:ext uri="{FF2B5EF4-FFF2-40B4-BE49-F238E27FC236}">
                <a16:creationId xmlns:a16="http://schemas.microsoft.com/office/drawing/2014/main" id="{DBA69F7B-BC03-4241-AEDA-E0D012E15477}"/>
              </a:ext>
            </a:extLst>
          </p:cNvPr>
          <p:cNvSpPr>
            <a:spLocks xmlns:a="http://schemas.openxmlformats.org/drawingml/2006/main" noGrp="1"/>
          </p:cNvSpPr>
          <p:nvPr/>
        </p:nvSpPr>
        <p:spPr>
          <a:xfrm xmlns:a="http://schemas.openxmlformats.org/drawingml/2006/main">
            <a:off x="5191125" y="3032760"/>
            <a:ext cx="1112415"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EE526B4C-7C39-46E5-AC2B-1C01E3F80C0B}"/>
              </a:ext>
            </a:extLst>
          </p:cNvPr>
          <p:cNvSpPr>
            <a:spLocks xmlns:a="http://schemas.openxmlformats.org/drawingml/2006/main" noGrp="1"/>
          </p:cNvSpPr>
          <p:nvPr/>
        </p:nvSpPr>
        <p:spPr>
          <a:xfrm xmlns:a="http://schemas.openxmlformats.org/drawingml/2006/main">
            <a:off x="5238750" y="3061335"/>
            <a:ext cx="101716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签名</a:t>
            </a:r>
          </a:p>
        </p:txBody>
      </p:sp>
      <p:sp>
        <p:nvSpPr>
          <p:cNvPr id="24" name="">
            <a:extLst xmlns:a="http://schemas.openxmlformats.org/drawingml/2006/main">
              <a:ext uri="{FF2B5EF4-FFF2-40B4-BE49-F238E27FC236}">
                <a16:creationId xmlns:a16="http://schemas.microsoft.com/office/drawing/2014/main" id="{EBA32A9B-A6F3-44D8-BAD5-B16FA80DFFCB}"/>
              </a:ext>
            </a:extLst>
          </p:cNvPr>
          <p:cNvSpPr>
            <a:spLocks xmlns:a="http://schemas.openxmlformats.org/drawingml/2006/main" noGrp="1"/>
          </p:cNvSpPr>
          <p:nvPr/>
        </p:nvSpPr>
        <p:spPr>
          <a:xfrm xmlns:a="http://schemas.openxmlformats.org/drawingml/2006/main">
            <a:off x="6303540" y="3032760"/>
            <a:ext cx="2634667"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C5209C1C-B6EF-4F0B-A402-5B2057B80C00}"/>
              </a:ext>
            </a:extLst>
          </p:cNvPr>
          <p:cNvSpPr>
            <a:spLocks xmlns:a="http://schemas.openxmlformats.org/drawingml/2006/main" noGrp="1"/>
          </p:cNvSpPr>
          <p:nvPr/>
        </p:nvSpPr>
        <p:spPr>
          <a:xfrm xmlns:a="http://schemas.openxmlformats.org/drawingml/2006/main">
            <a:off x="6351165" y="3061335"/>
            <a:ext cx="2539417"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默认 debug keystore</a:t>
            </a:r>
          </a:p>
        </p:txBody>
      </p:sp>
      <p:sp>
        <p:nvSpPr>
          <p:cNvPr id="26" name="">
            <a:extLst xmlns:a="http://schemas.openxmlformats.org/drawingml/2006/main">
              <a:ext uri="{FF2B5EF4-FFF2-40B4-BE49-F238E27FC236}">
                <a16:creationId xmlns:a16="http://schemas.microsoft.com/office/drawing/2014/main" id="{8CEB463D-CE73-40D5-B351-414E1B887829}"/>
              </a:ext>
            </a:extLst>
          </p:cNvPr>
          <p:cNvSpPr>
            <a:spLocks xmlns:a="http://schemas.openxmlformats.org/drawingml/2006/main" noGrp="1"/>
          </p:cNvSpPr>
          <p:nvPr/>
        </p:nvSpPr>
        <p:spPr>
          <a:xfrm xmlns:a="http://schemas.openxmlformats.org/drawingml/2006/main">
            <a:off x="8938208" y="3032760"/>
            <a:ext cx="2634667"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58E56680-E186-4536-AD6E-55F15DC18B0B}"/>
              </a:ext>
            </a:extLst>
          </p:cNvPr>
          <p:cNvSpPr>
            <a:spLocks xmlns:a="http://schemas.openxmlformats.org/drawingml/2006/main" noGrp="1"/>
          </p:cNvSpPr>
          <p:nvPr/>
        </p:nvSpPr>
        <p:spPr>
          <a:xfrm xmlns:a="http://schemas.openxmlformats.org/drawingml/2006/main">
            <a:off x="8985833" y="3061335"/>
            <a:ext cx="2539417"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自建 release keystore</a:t>
            </a:r>
          </a:p>
        </p:txBody>
      </p:sp>
      <p:sp>
        <p:nvSpPr>
          <p:cNvPr id="28" name="">
            <a:extLst xmlns:a="http://schemas.openxmlformats.org/drawingml/2006/main">
              <a:ext uri="{FF2B5EF4-FFF2-40B4-BE49-F238E27FC236}">
                <a16:creationId xmlns:a16="http://schemas.microsoft.com/office/drawing/2014/main" id="{30E78FF9-F22F-40EC-95BB-1255E03C8285}"/>
              </a:ext>
            </a:extLst>
          </p:cNvPr>
          <p:cNvSpPr>
            <a:spLocks xmlns:a="http://schemas.openxmlformats.org/drawingml/2006/main" noGrp="1"/>
          </p:cNvSpPr>
          <p:nvPr/>
        </p:nvSpPr>
        <p:spPr>
          <a:xfrm xmlns:a="http://schemas.openxmlformats.org/drawingml/2006/main">
            <a:off x="5191125" y="3760470"/>
            <a:ext cx="1112415"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0EE24271-146A-4E9D-8ED4-CCB15AD38F2D}"/>
              </a:ext>
            </a:extLst>
          </p:cNvPr>
          <p:cNvSpPr>
            <a:spLocks xmlns:a="http://schemas.openxmlformats.org/drawingml/2006/main" noGrp="1"/>
          </p:cNvSpPr>
          <p:nvPr/>
        </p:nvSpPr>
        <p:spPr>
          <a:xfrm xmlns:a="http://schemas.openxmlformats.org/drawingml/2006/main">
            <a:off x="5238750" y="3789045"/>
            <a:ext cx="101716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调试属性</a:t>
            </a:r>
          </a:p>
        </p:txBody>
      </p:sp>
      <p:sp>
        <p:nvSpPr>
          <p:cNvPr id="30" name="">
            <a:extLst xmlns:a="http://schemas.openxmlformats.org/drawingml/2006/main">
              <a:ext uri="{FF2B5EF4-FFF2-40B4-BE49-F238E27FC236}">
                <a16:creationId xmlns:a16="http://schemas.microsoft.com/office/drawing/2014/main" id="{51E2D6D4-7F82-45EF-B9D4-2C7D83E83C8F}"/>
              </a:ext>
            </a:extLst>
          </p:cNvPr>
          <p:cNvSpPr>
            <a:spLocks xmlns:a="http://schemas.openxmlformats.org/drawingml/2006/main" noGrp="1"/>
          </p:cNvSpPr>
          <p:nvPr/>
        </p:nvSpPr>
        <p:spPr>
          <a:xfrm xmlns:a="http://schemas.openxmlformats.org/drawingml/2006/main">
            <a:off x="6303540" y="3760470"/>
            <a:ext cx="2634667"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1378F1D7-4D29-4AE0-8E3D-057FEE4D25D6}"/>
              </a:ext>
            </a:extLst>
          </p:cNvPr>
          <p:cNvSpPr>
            <a:spLocks xmlns:a="http://schemas.openxmlformats.org/drawingml/2006/main" noGrp="1"/>
          </p:cNvSpPr>
          <p:nvPr/>
        </p:nvSpPr>
        <p:spPr>
          <a:xfrm xmlns:a="http://schemas.openxmlformats.org/drawingml/2006/main">
            <a:off x="6351165" y="3789045"/>
            <a:ext cx="2539417"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可调试，便于 logcat 和断点</a:t>
            </a:r>
          </a:p>
        </p:txBody>
      </p:sp>
      <p:sp>
        <p:nvSpPr>
          <p:cNvPr id="32" name="">
            <a:extLst xmlns:a="http://schemas.openxmlformats.org/drawingml/2006/main">
              <a:ext uri="{FF2B5EF4-FFF2-40B4-BE49-F238E27FC236}">
                <a16:creationId xmlns:a16="http://schemas.microsoft.com/office/drawing/2014/main" id="{34AFE968-E22C-42F0-B65F-B13F04118EB4}"/>
              </a:ext>
            </a:extLst>
          </p:cNvPr>
          <p:cNvSpPr>
            <a:spLocks xmlns:a="http://schemas.openxmlformats.org/drawingml/2006/main" noGrp="1"/>
          </p:cNvSpPr>
          <p:nvPr/>
        </p:nvSpPr>
        <p:spPr>
          <a:xfrm xmlns:a="http://schemas.openxmlformats.org/drawingml/2006/main">
            <a:off x="8938208" y="3760470"/>
            <a:ext cx="2634667"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AA0B78A5-BC78-4E14-8FA1-FD102C5DEA66}"/>
              </a:ext>
            </a:extLst>
          </p:cNvPr>
          <p:cNvSpPr>
            <a:spLocks xmlns:a="http://schemas.openxmlformats.org/drawingml/2006/main" noGrp="1"/>
          </p:cNvSpPr>
          <p:nvPr/>
        </p:nvSpPr>
        <p:spPr>
          <a:xfrm xmlns:a="http://schemas.openxmlformats.org/drawingml/2006/main">
            <a:off x="8985833" y="3789045"/>
            <a:ext cx="2539417"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默认不可调试，更接近用户安装包</a:t>
            </a:r>
          </a:p>
        </p:txBody>
      </p:sp>
      <p:sp>
        <p:nvSpPr>
          <p:cNvPr id="34" name="">
            <a:extLst xmlns:a="http://schemas.openxmlformats.org/drawingml/2006/main">
              <a:ext uri="{FF2B5EF4-FFF2-40B4-BE49-F238E27FC236}">
                <a16:creationId xmlns:a16="http://schemas.microsoft.com/office/drawing/2014/main" id="{2C03E499-EB91-4EEC-847C-A52FB1BE6DA3}"/>
              </a:ext>
            </a:extLst>
          </p:cNvPr>
          <p:cNvSpPr>
            <a:spLocks xmlns:a="http://schemas.openxmlformats.org/drawingml/2006/main" noGrp="1"/>
          </p:cNvSpPr>
          <p:nvPr/>
        </p:nvSpPr>
        <p:spPr>
          <a:xfrm xmlns:a="http://schemas.openxmlformats.org/drawingml/2006/main">
            <a:off x="5191125" y="4488180"/>
            <a:ext cx="1112415"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5" name="">
            <a:extLst xmlns:a="http://schemas.openxmlformats.org/drawingml/2006/main">
              <a:ext uri="{FF2B5EF4-FFF2-40B4-BE49-F238E27FC236}">
                <a16:creationId xmlns:a16="http://schemas.microsoft.com/office/drawing/2014/main" id="{DCCD5EC8-96AC-4542-B06E-3432605C99D1}"/>
              </a:ext>
            </a:extLst>
          </p:cNvPr>
          <p:cNvSpPr>
            <a:spLocks xmlns:a="http://schemas.openxmlformats.org/drawingml/2006/main" noGrp="1"/>
          </p:cNvSpPr>
          <p:nvPr/>
        </p:nvSpPr>
        <p:spPr>
          <a:xfrm xmlns:a="http://schemas.openxmlformats.org/drawingml/2006/main">
            <a:off x="5238750" y="4516755"/>
            <a:ext cx="101716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包体和优化</a:t>
            </a:r>
          </a:p>
        </p:txBody>
      </p:sp>
      <p:sp>
        <p:nvSpPr>
          <p:cNvPr id="36" name="">
            <a:extLst xmlns:a="http://schemas.openxmlformats.org/drawingml/2006/main">
              <a:ext uri="{FF2B5EF4-FFF2-40B4-BE49-F238E27FC236}">
                <a16:creationId xmlns:a16="http://schemas.microsoft.com/office/drawing/2014/main" id="{CED1B7E1-55AC-461E-86C5-879DFA4D3D2F}"/>
              </a:ext>
            </a:extLst>
          </p:cNvPr>
          <p:cNvSpPr>
            <a:spLocks xmlns:a="http://schemas.openxmlformats.org/drawingml/2006/main" noGrp="1"/>
          </p:cNvSpPr>
          <p:nvPr/>
        </p:nvSpPr>
        <p:spPr>
          <a:xfrm xmlns:a="http://schemas.openxmlformats.org/drawingml/2006/main">
            <a:off x="6303540" y="4488180"/>
            <a:ext cx="2634667"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7" name="">
            <a:extLst xmlns:a="http://schemas.openxmlformats.org/drawingml/2006/main">
              <a:ext uri="{FF2B5EF4-FFF2-40B4-BE49-F238E27FC236}">
                <a16:creationId xmlns:a16="http://schemas.microsoft.com/office/drawing/2014/main" id="{FE825911-CADF-408E-96CB-7169A3D08725}"/>
              </a:ext>
            </a:extLst>
          </p:cNvPr>
          <p:cNvSpPr>
            <a:spLocks xmlns:a="http://schemas.openxmlformats.org/drawingml/2006/main" noGrp="1"/>
          </p:cNvSpPr>
          <p:nvPr/>
        </p:nvSpPr>
        <p:spPr>
          <a:xfrm xmlns:a="http://schemas.openxmlformats.org/drawingml/2006/main">
            <a:off x="6351165" y="4516755"/>
            <a:ext cx="2539417"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更偏调试便利</a:t>
            </a:r>
          </a:p>
        </p:txBody>
      </p:sp>
      <p:sp>
        <p:nvSpPr>
          <p:cNvPr id="38" name="">
            <a:extLst xmlns:a="http://schemas.openxmlformats.org/drawingml/2006/main">
              <a:ext uri="{FF2B5EF4-FFF2-40B4-BE49-F238E27FC236}">
                <a16:creationId xmlns:a16="http://schemas.microsoft.com/office/drawing/2014/main" id="{CAF8203D-1517-4EE0-A86E-5A54E3DC1A41}"/>
              </a:ext>
            </a:extLst>
          </p:cNvPr>
          <p:cNvSpPr>
            <a:spLocks xmlns:a="http://schemas.openxmlformats.org/drawingml/2006/main" noGrp="1"/>
          </p:cNvSpPr>
          <p:nvPr/>
        </p:nvSpPr>
        <p:spPr>
          <a:xfrm xmlns:a="http://schemas.openxmlformats.org/drawingml/2006/main">
            <a:off x="8938208" y="4488180"/>
            <a:ext cx="2634667"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9" name="">
            <a:extLst xmlns:a="http://schemas.openxmlformats.org/drawingml/2006/main">
              <a:ext uri="{FF2B5EF4-FFF2-40B4-BE49-F238E27FC236}">
                <a16:creationId xmlns:a16="http://schemas.microsoft.com/office/drawing/2014/main" id="{B3272ECE-21AE-4FD7-AA48-5718CA82F516}"/>
              </a:ext>
            </a:extLst>
          </p:cNvPr>
          <p:cNvSpPr>
            <a:spLocks xmlns:a="http://schemas.openxmlformats.org/drawingml/2006/main" noGrp="1"/>
          </p:cNvSpPr>
          <p:nvPr/>
        </p:nvSpPr>
        <p:spPr>
          <a:xfrm xmlns:a="http://schemas.openxmlformats.org/drawingml/2006/main">
            <a:off x="8985833" y="4516755"/>
            <a:ext cx="2539417"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更偏发布稳定</a:t>
            </a:r>
          </a:p>
        </p:txBody>
      </p:sp>
      <p:sp>
        <p:nvSpPr>
          <p:cNvPr id="40" name="">
            <a:extLst xmlns:a="http://schemas.openxmlformats.org/drawingml/2006/main">
              <a:ext uri="{FF2B5EF4-FFF2-40B4-BE49-F238E27FC236}">
                <a16:creationId xmlns:a16="http://schemas.microsoft.com/office/drawing/2014/main" id="{D4787A37-DEB3-4D87-A6F1-8AA3BAE907C8}"/>
              </a:ext>
            </a:extLst>
          </p:cNvPr>
          <p:cNvSpPr>
            <a:spLocks xmlns:a="http://schemas.openxmlformats.org/drawingml/2006/main" noGrp="1"/>
          </p:cNvSpPr>
          <p:nvPr/>
        </p:nvSpPr>
        <p:spPr>
          <a:xfrm xmlns:a="http://schemas.openxmlformats.org/drawingml/2006/main">
            <a:off x="5191125" y="5215890"/>
            <a:ext cx="1112415"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1" name="">
            <a:extLst xmlns:a="http://schemas.openxmlformats.org/drawingml/2006/main">
              <a:ext uri="{FF2B5EF4-FFF2-40B4-BE49-F238E27FC236}">
                <a16:creationId xmlns:a16="http://schemas.microsoft.com/office/drawing/2014/main" id="{2AFAF17B-D878-43AC-82FA-9E019231D708}"/>
              </a:ext>
            </a:extLst>
          </p:cNvPr>
          <p:cNvSpPr>
            <a:spLocks xmlns:a="http://schemas.openxmlformats.org/drawingml/2006/main" noGrp="1"/>
          </p:cNvSpPr>
          <p:nvPr/>
        </p:nvSpPr>
        <p:spPr>
          <a:xfrm xmlns:a="http://schemas.openxmlformats.org/drawingml/2006/main">
            <a:off x="5238750" y="5244465"/>
            <a:ext cx="1017165"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升级要求</a:t>
            </a:r>
          </a:p>
        </p:txBody>
      </p:sp>
      <p:sp>
        <p:nvSpPr>
          <p:cNvPr id="42" name="">
            <a:extLst xmlns:a="http://schemas.openxmlformats.org/drawingml/2006/main">
              <a:ext uri="{FF2B5EF4-FFF2-40B4-BE49-F238E27FC236}">
                <a16:creationId xmlns:a16="http://schemas.microsoft.com/office/drawing/2014/main" id="{728A2E48-6B9C-40DF-BEB1-210B8E52B2EE}"/>
              </a:ext>
            </a:extLst>
          </p:cNvPr>
          <p:cNvSpPr>
            <a:spLocks xmlns:a="http://schemas.openxmlformats.org/drawingml/2006/main" noGrp="1"/>
          </p:cNvSpPr>
          <p:nvPr/>
        </p:nvSpPr>
        <p:spPr>
          <a:xfrm xmlns:a="http://schemas.openxmlformats.org/drawingml/2006/main">
            <a:off x="6303540" y="5215890"/>
            <a:ext cx="2634667"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3" name="">
            <a:extLst xmlns:a="http://schemas.openxmlformats.org/drawingml/2006/main">
              <a:ext uri="{FF2B5EF4-FFF2-40B4-BE49-F238E27FC236}">
                <a16:creationId xmlns:a16="http://schemas.microsoft.com/office/drawing/2014/main" id="{A86FB47A-6CF9-4CDC-8C49-046A42C3AB5D}"/>
              </a:ext>
            </a:extLst>
          </p:cNvPr>
          <p:cNvSpPr>
            <a:spLocks xmlns:a="http://schemas.openxmlformats.org/drawingml/2006/main" noGrp="1"/>
          </p:cNvSpPr>
          <p:nvPr/>
        </p:nvSpPr>
        <p:spPr>
          <a:xfrm xmlns:a="http://schemas.openxmlformats.org/drawingml/2006/main">
            <a:off x="6351165" y="5244465"/>
            <a:ext cx="2539417"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debug 包之间使用 debug 签名</a:t>
            </a:r>
          </a:p>
        </p:txBody>
      </p:sp>
      <p:sp>
        <p:nvSpPr>
          <p:cNvPr id="44" name="">
            <a:extLst xmlns:a="http://schemas.openxmlformats.org/drawingml/2006/main">
              <a:ext uri="{FF2B5EF4-FFF2-40B4-BE49-F238E27FC236}">
                <a16:creationId xmlns:a16="http://schemas.microsoft.com/office/drawing/2014/main" id="{6B01CC02-A6AD-4345-8790-E78C7057B2C1}"/>
              </a:ext>
            </a:extLst>
          </p:cNvPr>
          <p:cNvSpPr>
            <a:spLocks xmlns:a="http://schemas.openxmlformats.org/drawingml/2006/main" noGrp="1"/>
          </p:cNvSpPr>
          <p:nvPr/>
        </p:nvSpPr>
        <p:spPr>
          <a:xfrm xmlns:a="http://schemas.openxmlformats.org/drawingml/2006/main">
            <a:off x="8938208" y="5215890"/>
            <a:ext cx="2634667"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5" name="">
            <a:extLst xmlns:a="http://schemas.openxmlformats.org/drawingml/2006/main">
              <a:ext uri="{FF2B5EF4-FFF2-40B4-BE49-F238E27FC236}">
                <a16:creationId xmlns:a16="http://schemas.microsoft.com/office/drawing/2014/main" id="{2B5C28AC-AFED-4058-9514-36A250BBB1B7}"/>
              </a:ext>
            </a:extLst>
          </p:cNvPr>
          <p:cNvSpPr>
            <a:spLocks xmlns:a="http://schemas.openxmlformats.org/drawingml/2006/main" noGrp="1"/>
          </p:cNvSpPr>
          <p:nvPr/>
        </p:nvSpPr>
        <p:spPr>
          <a:xfrm xmlns:a="http://schemas.openxmlformats.org/drawingml/2006/main">
            <a:off x="8985833" y="5244465"/>
            <a:ext cx="2539417"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release 包升级必须同一 release 证书</a:t>
            </a:r>
          </a:p>
        </p:txBody>
      </p:sp>
    </p:spTree>
    <p:extLst>
      <p:ext uri="{BB962C8B-B14F-4D97-AF65-F5344CB8AC3E}">
        <p14:creationId xmlns:p14="http://schemas.microsoft.com/office/powerpoint/2010/main" val="730099381"/>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CA157B4-DE34-4B88-A321-B0841754D2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97DB42-255F-44DB-AA69-1EF762D3602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D2D559-EEEF-466A-A051-06F2705D384F}"/>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836FEDD6-AE59-4C90-B39E-08031F6875EE}"/>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5F6064DB-4400-4AAC-B750-BEC6744665CA}"/>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106</a:t>
            </a:r>
          </a:p>
        </p:txBody>
      </p:sp>
      <p:sp>
        <p:nvSpPr>
          <p:cNvPr id="6" name="">
            <a:extLst xmlns:a="http://schemas.openxmlformats.org/drawingml/2006/main">
              <a:ext uri="{FF2B5EF4-FFF2-40B4-BE49-F238E27FC236}">
                <a16:creationId xmlns:a16="http://schemas.microsoft.com/office/drawing/2014/main" id="{3D677390-1708-4BA9-9A9A-87EAAC2B8837}"/>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FDF28AAE-9FF5-406B-941D-928A6DC235DC}"/>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8.5 Codex/GPT 使用情况</a:t>
            </a:r>
          </a:p>
        </p:txBody>
      </p:sp>
      <p:sp>
        <p:nvSpPr>
          <p:cNvPr id="8" name="">
            <a:extLst xmlns:a="http://schemas.openxmlformats.org/drawingml/2006/main">
              <a:ext uri="{FF2B5EF4-FFF2-40B4-BE49-F238E27FC236}">
                <a16:creationId xmlns:a16="http://schemas.microsoft.com/office/drawing/2014/main" id="{454DB0BA-E4A1-40D2-A83C-5A9E41CC9E42}"/>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3204C82-37E1-43A1-AB9E-FDCFD545362A}"/>
              </a:ext>
            </a:extLst>
          </p:cNvPr>
          <p:cNvSpPr>
            <a:spLocks xmlns:a="http://schemas.openxmlformats.org/drawingml/2006/main" noGrp="1"/>
          </p:cNvSpPr>
          <p:nvPr/>
        </p:nvSpPr>
        <p:spPr>
          <a:xfrm xmlns:a="http://schemas.openxmlformats.org/drawingml/2006/main">
            <a:off x="457200" y="1905000"/>
            <a:ext cx="2314015"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896E89DD-AD13-41EC-983A-7E4401497012}"/>
              </a:ext>
            </a:extLst>
          </p:cNvPr>
          <p:cNvSpPr>
            <a:spLocks xmlns:a="http://schemas.openxmlformats.org/drawingml/2006/main" noGrp="1"/>
          </p:cNvSpPr>
          <p:nvPr/>
        </p:nvSpPr>
        <p:spPr>
          <a:xfrm xmlns:a="http://schemas.openxmlformats.org/drawingml/2006/main">
            <a:off x="504825" y="1943100"/>
            <a:ext cx="221876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使用位置</a:t>
            </a:r>
          </a:p>
        </p:txBody>
      </p:sp>
      <p:sp>
        <p:nvSpPr>
          <p:cNvPr id="11" name="">
            <a:extLst xmlns:a="http://schemas.openxmlformats.org/drawingml/2006/main">
              <a:ext uri="{FF2B5EF4-FFF2-40B4-BE49-F238E27FC236}">
                <a16:creationId xmlns:a16="http://schemas.microsoft.com/office/drawing/2014/main" id="{F187CA79-AD99-44C1-8F9F-F7B499B64161}"/>
              </a:ext>
            </a:extLst>
          </p:cNvPr>
          <p:cNvSpPr>
            <a:spLocks xmlns:a="http://schemas.openxmlformats.org/drawingml/2006/main" noGrp="1"/>
          </p:cNvSpPr>
          <p:nvPr/>
        </p:nvSpPr>
        <p:spPr>
          <a:xfrm xmlns:a="http://schemas.openxmlformats.org/drawingml/2006/main">
            <a:off x="2771215" y="1905000"/>
            <a:ext cx="2975162"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4928690C-0BCC-4405-BC9A-5A332D646C3A}"/>
              </a:ext>
            </a:extLst>
          </p:cNvPr>
          <p:cNvSpPr>
            <a:spLocks xmlns:a="http://schemas.openxmlformats.org/drawingml/2006/main" noGrp="1"/>
          </p:cNvSpPr>
          <p:nvPr/>
        </p:nvSpPr>
        <p:spPr>
          <a:xfrm xmlns:a="http://schemas.openxmlformats.org/drawingml/2006/main">
            <a:off x="2818840" y="1943100"/>
            <a:ext cx="287991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使用方式</a:t>
            </a:r>
          </a:p>
        </p:txBody>
      </p:sp>
      <p:sp>
        <p:nvSpPr>
          <p:cNvPr id="13" name="">
            <a:extLst xmlns:a="http://schemas.openxmlformats.org/drawingml/2006/main">
              <a:ext uri="{FF2B5EF4-FFF2-40B4-BE49-F238E27FC236}">
                <a16:creationId xmlns:a16="http://schemas.microsoft.com/office/drawing/2014/main" id="{40F80A82-9E10-4363-AF2C-54AF0D602EAC}"/>
              </a:ext>
            </a:extLst>
          </p:cNvPr>
          <p:cNvSpPr>
            <a:spLocks xmlns:a="http://schemas.openxmlformats.org/drawingml/2006/main" noGrp="1"/>
          </p:cNvSpPr>
          <p:nvPr/>
        </p:nvSpPr>
        <p:spPr>
          <a:xfrm xmlns:a="http://schemas.openxmlformats.org/drawingml/2006/main">
            <a:off x="5746376" y="1905000"/>
            <a:ext cx="2975162"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61682A82-A619-40F5-84C8-609D6338540C}"/>
              </a:ext>
            </a:extLst>
          </p:cNvPr>
          <p:cNvSpPr>
            <a:spLocks xmlns:a="http://schemas.openxmlformats.org/drawingml/2006/main" noGrp="1"/>
          </p:cNvSpPr>
          <p:nvPr/>
        </p:nvSpPr>
        <p:spPr>
          <a:xfrm xmlns:a="http://schemas.openxmlformats.org/drawingml/2006/main">
            <a:off x="5794001" y="1943100"/>
            <a:ext cx="287991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Codex/GPT 产出</a:t>
            </a:r>
          </a:p>
        </p:txBody>
      </p:sp>
      <p:sp>
        <p:nvSpPr>
          <p:cNvPr id="15" name="">
            <a:extLst xmlns:a="http://schemas.openxmlformats.org/drawingml/2006/main">
              <a:ext uri="{FF2B5EF4-FFF2-40B4-BE49-F238E27FC236}">
                <a16:creationId xmlns:a16="http://schemas.microsoft.com/office/drawing/2014/main" id="{305D1034-40E9-4E5D-A8DD-73F4EE51897A}"/>
              </a:ext>
            </a:extLst>
          </p:cNvPr>
          <p:cNvSpPr>
            <a:spLocks xmlns:a="http://schemas.openxmlformats.org/drawingml/2006/main" noGrp="1"/>
          </p:cNvSpPr>
          <p:nvPr/>
        </p:nvSpPr>
        <p:spPr>
          <a:xfrm xmlns:a="http://schemas.openxmlformats.org/drawingml/2006/main">
            <a:off x="8721538" y="1905000"/>
            <a:ext cx="2975162"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465E6EF0-FD15-44BA-9EB2-04F8A4726B53}"/>
              </a:ext>
            </a:extLst>
          </p:cNvPr>
          <p:cNvSpPr>
            <a:spLocks xmlns:a="http://schemas.openxmlformats.org/drawingml/2006/main" noGrp="1"/>
          </p:cNvSpPr>
          <p:nvPr/>
        </p:nvSpPr>
        <p:spPr>
          <a:xfrm xmlns:a="http://schemas.openxmlformats.org/drawingml/2006/main">
            <a:off x="8769163" y="1943100"/>
            <a:ext cx="287991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开发者确认与调整</a:t>
            </a:r>
          </a:p>
        </p:txBody>
      </p:sp>
      <p:sp>
        <p:nvSpPr>
          <p:cNvPr id="17" name="">
            <a:extLst xmlns:a="http://schemas.openxmlformats.org/drawingml/2006/main">
              <a:ext uri="{FF2B5EF4-FFF2-40B4-BE49-F238E27FC236}">
                <a16:creationId xmlns:a16="http://schemas.microsoft.com/office/drawing/2014/main" id="{82B61624-1F8A-4B6D-AF59-4F4975918177}"/>
              </a:ext>
            </a:extLst>
          </p:cNvPr>
          <p:cNvSpPr>
            <a:spLocks xmlns:a="http://schemas.openxmlformats.org/drawingml/2006/main" noGrp="1"/>
          </p:cNvSpPr>
          <p:nvPr/>
        </p:nvSpPr>
        <p:spPr>
          <a:xfrm xmlns:a="http://schemas.openxmlformats.org/drawingml/2006/main">
            <a:off x="457200" y="2305050"/>
            <a:ext cx="231401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B9F9DB38-7E30-4B71-915F-FC73BE65FC03}"/>
              </a:ext>
            </a:extLst>
          </p:cNvPr>
          <p:cNvSpPr>
            <a:spLocks xmlns:a="http://schemas.openxmlformats.org/drawingml/2006/main" noGrp="1"/>
          </p:cNvSpPr>
          <p:nvPr/>
        </p:nvSpPr>
        <p:spPr>
          <a:xfrm xmlns:a="http://schemas.openxmlformats.org/drawingml/2006/main">
            <a:off x="504825" y="2333625"/>
            <a:ext cx="221876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测试清单整理</a:t>
            </a:r>
          </a:p>
        </p:txBody>
      </p:sp>
      <p:sp>
        <p:nvSpPr>
          <p:cNvPr id="19" name="">
            <a:extLst xmlns:a="http://schemas.openxmlformats.org/drawingml/2006/main">
              <a:ext uri="{FF2B5EF4-FFF2-40B4-BE49-F238E27FC236}">
                <a16:creationId xmlns:a16="http://schemas.microsoft.com/office/drawing/2014/main" id="{E351B417-FC77-4B12-A890-FF765B404F9E}"/>
              </a:ext>
            </a:extLst>
          </p:cNvPr>
          <p:cNvSpPr>
            <a:spLocks xmlns:a="http://schemas.openxmlformats.org/drawingml/2006/main" noGrp="1"/>
          </p:cNvSpPr>
          <p:nvPr/>
        </p:nvSpPr>
        <p:spPr>
          <a:xfrm xmlns:a="http://schemas.openxmlformats.org/drawingml/2006/main">
            <a:off x="2771215" y="2305050"/>
            <a:ext cx="2975162"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AC2C2DF9-C16B-4DF0-B464-9A8CE826B202}"/>
              </a:ext>
            </a:extLst>
          </p:cNvPr>
          <p:cNvSpPr>
            <a:spLocks xmlns:a="http://schemas.openxmlformats.org/drawingml/2006/main" noGrp="1"/>
          </p:cNvSpPr>
          <p:nvPr/>
        </p:nvSpPr>
        <p:spPr>
          <a:xfrm xmlns:a="http://schemas.openxmlformats.org/drawingml/2006/main">
            <a:off x="2818840" y="2333625"/>
            <a:ext cx="287991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完成规则、AI、蓝牙、玩家成长、动画、音乐和设备启动测试场景设计</a:t>
            </a:r>
          </a:p>
        </p:txBody>
      </p:sp>
      <p:sp>
        <p:nvSpPr>
          <p:cNvPr id="21" name="">
            <a:extLst xmlns:a="http://schemas.openxmlformats.org/drawingml/2006/main">
              <a:ext uri="{FF2B5EF4-FFF2-40B4-BE49-F238E27FC236}">
                <a16:creationId xmlns:a16="http://schemas.microsoft.com/office/drawing/2014/main" id="{9F9DD0C8-E85D-480D-AB11-A55B9D4748FB}"/>
              </a:ext>
            </a:extLst>
          </p:cNvPr>
          <p:cNvSpPr>
            <a:spLocks xmlns:a="http://schemas.openxmlformats.org/drawingml/2006/main" noGrp="1"/>
          </p:cNvSpPr>
          <p:nvPr/>
        </p:nvSpPr>
        <p:spPr>
          <a:xfrm xmlns:a="http://schemas.openxmlformats.org/drawingml/2006/main">
            <a:off x="5746376" y="2305050"/>
            <a:ext cx="2975162"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8D42C442-FCB8-47E7-B6BD-A3F6A438C312}"/>
              </a:ext>
            </a:extLst>
          </p:cNvPr>
          <p:cNvSpPr>
            <a:spLocks xmlns:a="http://schemas.openxmlformats.org/drawingml/2006/main" noGrp="1"/>
          </p:cNvSpPr>
          <p:nvPr/>
        </p:nvSpPr>
        <p:spPr>
          <a:xfrm xmlns:a="http://schemas.openxmlformats.org/drawingml/2006/main">
            <a:off x="5794001" y="2333625"/>
            <a:ext cx="287991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形成 docs/test_report.md 中的测试范围表</a:t>
            </a:r>
          </a:p>
        </p:txBody>
      </p:sp>
      <p:sp>
        <p:nvSpPr>
          <p:cNvPr id="23" name="">
            <a:extLst xmlns:a="http://schemas.openxmlformats.org/drawingml/2006/main">
              <a:ext uri="{FF2B5EF4-FFF2-40B4-BE49-F238E27FC236}">
                <a16:creationId xmlns:a16="http://schemas.microsoft.com/office/drawing/2014/main" id="{24F1F666-0BAA-424F-9D54-C11B344F4BD4}"/>
              </a:ext>
            </a:extLst>
          </p:cNvPr>
          <p:cNvSpPr>
            <a:spLocks xmlns:a="http://schemas.openxmlformats.org/drawingml/2006/main" noGrp="1"/>
          </p:cNvSpPr>
          <p:nvPr/>
        </p:nvSpPr>
        <p:spPr>
          <a:xfrm xmlns:a="http://schemas.openxmlformats.org/drawingml/2006/main">
            <a:off x="8721538" y="2305050"/>
            <a:ext cx="2975162"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427CB866-33A5-4F05-980B-D765460AFB1C}"/>
              </a:ext>
            </a:extLst>
          </p:cNvPr>
          <p:cNvSpPr>
            <a:spLocks xmlns:a="http://schemas.openxmlformats.org/drawingml/2006/main" noGrp="1"/>
          </p:cNvSpPr>
          <p:nvPr/>
        </p:nvSpPr>
        <p:spPr>
          <a:xfrm xmlns:a="http://schemas.openxmlformats.org/drawingml/2006/main">
            <a:off x="8769163" y="2333625"/>
            <a:ext cx="287991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郭铭涛按实际测试文件和命令核对</a:t>
            </a:r>
          </a:p>
        </p:txBody>
      </p:sp>
      <p:sp>
        <p:nvSpPr>
          <p:cNvPr id="25" name="">
            <a:extLst xmlns:a="http://schemas.openxmlformats.org/drawingml/2006/main">
              <a:ext uri="{FF2B5EF4-FFF2-40B4-BE49-F238E27FC236}">
                <a16:creationId xmlns:a16="http://schemas.microsoft.com/office/drawing/2014/main" id="{F6DEFB73-5991-4F1E-B580-91A2EBA7B4AB}"/>
              </a:ext>
            </a:extLst>
          </p:cNvPr>
          <p:cNvSpPr>
            <a:spLocks xmlns:a="http://schemas.openxmlformats.org/drawingml/2006/main" noGrp="1"/>
          </p:cNvSpPr>
          <p:nvPr/>
        </p:nvSpPr>
        <p:spPr>
          <a:xfrm xmlns:a="http://schemas.openxmlformats.org/drawingml/2006/main">
            <a:off x="457200" y="3214688"/>
            <a:ext cx="231401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F97A606A-7810-4B0A-9E0E-DB48903326B6}"/>
              </a:ext>
            </a:extLst>
          </p:cNvPr>
          <p:cNvSpPr>
            <a:spLocks xmlns:a="http://schemas.openxmlformats.org/drawingml/2006/main" noGrp="1"/>
          </p:cNvSpPr>
          <p:nvPr/>
        </p:nvSpPr>
        <p:spPr>
          <a:xfrm xmlns:a="http://schemas.openxmlformats.org/drawingml/2006/main">
            <a:off x="504825" y="3243263"/>
            <a:ext cx="221876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Release 流程检查</a:t>
            </a:r>
          </a:p>
        </p:txBody>
      </p:sp>
      <p:sp>
        <p:nvSpPr>
          <p:cNvPr id="27" name="">
            <a:extLst xmlns:a="http://schemas.openxmlformats.org/drawingml/2006/main">
              <a:ext uri="{FF2B5EF4-FFF2-40B4-BE49-F238E27FC236}">
                <a16:creationId xmlns:a16="http://schemas.microsoft.com/office/drawing/2014/main" id="{81A70EE1-6CB1-4A24-AD89-EC9876F953DD}"/>
              </a:ext>
            </a:extLst>
          </p:cNvPr>
          <p:cNvSpPr>
            <a:spLocks xmlns:a="http://schemas.openxmlformats.org/drawingml/2006/main" noGrp="1"/>
          </p:cNvSpPr>
          <p:nvPr/>
        </p:nvSpPr>
        <p:spPr>
          <a:xfrm xmlns:a="http://schemas.openxmlformats.org/drawingml/2006/main">
            <a:off x="2771215" y="3214688"/>
            <a:ext cx="2975162"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2C9512F7-D610-404D-AF07-48902AEAD78F}"/>
              </a:ext>
            </a:extLst>
          </p:cNvPr>
          <p:cNvSpPr>
            <a:spLocks xmlns:a="http://schemas.openxmlformats.org/drawingml/2006/main" noGrp="1"/>
          </p:cNvSpPr>
          <p:nvPr/>
        </p:nvSpPr>
        <p:spPr>
          <a:xfrm xmlns:a="http://schemas.openxmlformats.org/drawingml/2006/main">
            <a:off x="2818840" y="3243263"/>
            <a:ext cx="287991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完成梳理 debug/release 差异、签名证书、AAB/APK、runRelease 和敏感文件风险</a:t>
            </a:r>
          </a:p>
        </p:txBody>
      </p:sp>
      <p:sp>
        <p:nvSpPr>
          <p:cNvPr id="29" name="">
            <a:extLst xmlns:a="http://schemas.openxmlformats.org/drawingml/2006/main">
              <a:ext uri="{FF2B5EF4-FFF2-40B4-BE49-F238E27FC236}">
                <a16:creationId xmlns:a16="http://schemas.microsoft.com/office/drawing/2014/main" id="{F2D2DD82-1464-4211-A0D4-634FEEDEA542}"/>
              </a:ext>
            </a:extLst>
          </p:cNvPr>
          <p:cNvSpPr>
            <a:spLocks xmlns:a="http://schemas.openxmlformats.org/drawingml/2006/main" noGrp="1"/>
          </p:cNvSpPr>
          <p:nvPr/>
        </p:nvSpPr>
        <p:spPr>
          <a:xfrm xmlns:a="http://schemas.openxmlformats.org/drawingml/2006/main">
            <a:off x="5746376" y="3214688"/>
            <a:ext cx="2975162"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6076E1DF-3D0B-46F2-ADDE-B4D4042A297E}"/>
              </a:ext>
            </a:extLst>
          </p:cNvPr>
          <p:cNvSpPr>
            <a:spLocks xmlns:a="http://schemas.openxmlformats.org/drawingml/2006/main" noGrp="1"/>
          </p:cNvSpPr>
          <p:nvPr/>
        </p:nvSpPr>
        <p:spPr>
          <a:xfrm xmlns:a="http://schemas.openxmlformats.org/drawingml/2006/main">
            <a:off x="5794001" y="3243263"/>
            <a:ext cx="287991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形成 docs/release_testing.md 的发布流程说明</a:t>
            </a:r>
          </a:p>
        </p:txBody>
      </p:sp>
      <p:sp>
        <p:nvSpPr>
          <p:cNvPr id="31" name="">
            <a:extLst xmlns:a="http://schemas.openxmlformats.org/drawingml/2006/main">
              <a:ext uri="{FF2B5EF4-FFF2-40B4-BE49-F238E27FC236}">
                <a16:creationId xmlns:a16="http://schemas.microsoft.com/office/drawing/2014/main" id="{8B969A4D-C05F-4DC0-AA93-8AF7483B5533}"/>
              </a:ext>
            </a:extLst>
          </p:cNvPr>
          <p:cNvSpPr>
            <a:spLocks xmlns:a="http://schemas.openxmlformats.org/drawingml/2006/main" noGrp="1"/>
          </p:cNvSpPr>
          <p:nvPr/>
        </p:nvSpPr>
        <p:spPr>
          <a:xfrm xmlns:a="http://schemas.openxmlformats.org/drawingml/2006/main">
            <a:off x="8721538" y="3214688"/>
            <a:ext cx="2975162"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F685EC57-1422-48DB-A6BE-F7288375FD85}"/>
              </a:ext>
            </a:extLst>
          </p:cNvPr>
          <p:cNvSpPr>
            <a:spLocks xmlns:a="http://schemas.openxmlformats.org/drawingml/2006/main" noGrp="1"/>
          </p:cNvSpPr>
          <p:nvPr/>
        </p:nvSpPr>
        <p:spPr>
          <a:xfrm xmlns:a="http://schemas.openxmlformats.org/drawingml/2006/main">
            <a:off x="8769163" y="3243263"/>
            <a:ext cx="287991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莫均杰按本机构建配置和 release 目录确认</a:t>
            </a:r>
          </a:p>
        </p:txBody>
      </p:sp>
      <p:sp>
        <p:nvSpPr>
          <p:cNvPr id="33" name="">
            <a:extLst xmlns:a="http://schemas.openxmlformats.org/drawingml/2006/main">
              <a:ext uri="{FF2B5EF4-FFF2-40B4-BE49-F238E27FC236}">
                <a16:creationId xmlns:a16="http://schemas.microsoft.com/office/drawing/2014/main" id="{3589DE30-28C8-4812-BAED-014F1724D421}"/>
              </a:ext>
            </a:extLst>
          </p:cNvPr>
          <p:cNvSpPr>
            <a:spLocks xmlns:a="http://schemas.openxmlformats.org/drawingml/2006/main" noGrp="1"/>
          </p:cNvSpPr>
          <p:nvPr/>
        </p:nvSpPr>
        <p:spPr>
          <a:xfrm xmlns:a="http://schemas.openxmlformats.org/drawingml/2006/main">
            <a:off x="457200" y="4124325"/>
            <a:ext cx="2314015"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2B1ACE3D-799F-48F2-B3FB-AE9993C0A227}"/>
              </a:ext>
            </a:extLst>
          </p:cNvPr>
          <p:cNvSpPr>
            <a:spLocks xmlns:a="http://schemas.openxmlformats.org/drawingml/2006/main" noGrp="1"/>
          </p:cNvSpPr>
          <p:nvPr/>
        </p:nvSpPr>
        <p:spPr>
          <a:xfrm xmlns:a="http://schemas.openxmlformats.org/drawingml/2006/main">
            <a:off x="504825" y="4152900"/>
            <a:ext cx="221876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文档一致性检查</a:t>
            </a:r>
          </a:p>
        </p:txBody>
      </p:sp>
      <p:sp>
        <p:nvSpPr>
          <p:cNvPr id="35" name="">
            <a:extLst xmlns:a="http://schemas.openxmlformats.org/drawingml/2006/main">
              <a:ext uri="{FF2B5EF4-FFF2-40B4-BE49-F238E27FC236}">
                <a16:creationId xmlns:a16="http://schemas.microsoft.com/office/drawing/2014/main" id="{72CEC4ED-1788-46B3-B3D5-CF61FB7D2E89}"/>
              </a:ext>
            </a:extLst>
          </p:cNvPr>
          <p:cNvSpPr>
            <a:spLocks xmlns:a="http://schemas.openxmlformats.org/drawingml/2006/main" noGrp="1"/>
          </p:cNvSpPr>
          <p:nvPr/>
        </p:nvSpPr>
        <p:spPr>
          <a:xfrm xmlns:a="http://schemas.openxmlformats.org/drawingml/2006/main">
            <a:off x="2771215" y="4124325"/>
            <a:ext cx="2975162"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9DFFF5DA-3FB6-44AB-844A-5BBF1DB9F6AB}"/>
              </a:ext>
            </a:extLst>
          </p:cNvPr>
          <p:cNvSpPr>
            <a:spLocks xmlns:a="http://schemas.openxmlformats.org/drawingml/2006/main" noGrp="1"/>
          </p:cNvSpPr>
          <p:nvPr/>
        </p:nvSpPr>
        <p:spPr>
          <a:xfrm xmlns:a="http://schemas.openxmlformats.org/drawingml/2006/main">
            <a:off x="2818840" y="4152900"/>
            <a:ext cx="287991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完成检查需求、设计、UML、测试、AI 使用说明是否覆盖评分标准</a:t>
            </a:r>
          </a:p>
        </p:txBody>
      </p:sp>
      <p:sp>
        <p:nvSpPr>
          <p:cNvPr id="37" name="">
            <a:extLst xmlns:a="http://schemas.openxmlformats.org/drawingml/2006/main">
              <a:ext uri="{FF2B5EF4-FFF2-40B4-BE49-F238E27FC236}">
                <a16:creationId xmlns:a16="http://schemas.microsoft.com/office/drawing/2014/main" id="{C9C499B8-2EBB-4434-8EAA-8731C6D6F2D0}"/>
              </a:ext>
            </a:extLst>
          </p:cNvPr>
          <p:cNvSpPr>
            <a:spLocks xmlns:a="http://schemas.openxmlformats.org/drawingml/2006/main" noGrp="1"/>
          </p:cNvSpPr>
          <p:nvPr/>
        </p:nvSpPr>
        <p:spPr>
          <a:xfrm xmlns:a="http://schemas.openxmlformats.org/drawingml/2006/main">
            <a:off x="5746376" y="4124325"/>
            <a:ext cx="2975162"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EE11649F-20A1-42CC-B91F-E52A89A57D45}"/>
              </a:ext>
            </a:extLst>
          </p:cNvPr>
          <p:cNvSpPr>
            <a:spLocks xmlns:a="http://schemas.openxmlformats.org/drawingml/2006/main" noGrp="1"/>
          </p:cNvSpPr>
          <p:nvPr/>
        </p:nvSpPr>
        <p:spPr>
          <a:xfrm xmlns:a="http://schemas.openxmlformats.org/drawingml/2006/main">
            <a:off x="5794001" y="4152900"/>
            <a:ext cx="287991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形成 docs/final_checklist.md 和本报告评分映射</a:t>
            </a:r>
          </a:p>
        </p:txBody>
      </p:sp>
      <p:sp>
        <p:nvSpPr>
          <p:cNvPr id="39" name="">
            <a:extLst xmlns:a="http://schemas.openxmlformats.org/drawingml/2006/main">
              <a:ext uri="{FF2B5EF4-FFF2-40B4-BE49-F238E27FC236}">
                <a16:creationId xmlns:a16="http://schemas.microsoft.com/office/drawing/2014/main" id="{5B838E55-E477-46E7-91D9-9A1A0842D869}"/>
              </a:ext>
            </a:extLst>
          </p:cNvPr>
          <p:cNvSpPr>
            <a:spLocks xmlns:a="http://schemas.openxmlformats.org/drawingml/2006/main" noGrp="1"/>
          </p:cNvSpPr>
          <p:nvPr/>
        </p:nvSpPr>
        <p:spPr>
          <a:xfrm xmlns:a="http://schemas.openxmlformats.org/drawingml/2006/main">
            <a:off x="8721538" y="4124325"/>
            <a:ext cx="2975162" cy="909638"/>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7934A696-2BB9-4CAD-BCD9-CA02DF92E4D1}"/>
              </a:ext>
            </a:extLst>
          </p:cNvPr>
          <p:cNvSpPr>
            <a:spLocks xmlns:a="http://schemas.openxmlformats.org/drawingml/2006/main" noGrp="1"/>
          </p:cNvSpPr>
          <p:nvPr/>
        </p:nvSpPr>
        <p:spPr>
          <a:xfrm xmlns:a="http://schemas.openxmlformats.org/drawingml/2006/main">
            <a:off x="8769163" y="4152900"/>
            <a:ext cx="287991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小组按实际文件路径和源码模块逐项核对</a:t>
            </a:r>
          </a:p>
        </p:txBody>
      </p:sp>
      <p:sp>
        <p:nvSpPr>
          <p:cNvPr id="41" name="">
            <a:extLst xmlns:a="http://schemas.openxmlformats.org/drawingml/2006/main">
              <a:ext uri="{FF2B5EF4-FFF2-40B4-BE49-F238E27FC236}">
                <a16:creationId xmlns:a16="http://schemas.microsoft.com/office/drawing/2014/main" id="{8D667DFF-88F2-42C1-9D76-04D05249648F}"/>
              </a:ext>
            </a:extLst>
          </p:cNvPr>
          <p:cNvSpPr>
            <a:spLocks xmlns:a="http://schemas.openxmlformats.org/drawingml/2006/main" noGrp="1"/>
          </p:cNvSpPr>
          <p:nvPr/>
        </p:nvSpPr>
        <p:spPr>
          <a:xfrm xmlns:a="http://schemas.openxmlformats.org/drawingml/2006/main">
            <a:off x="457200" y="5033963"/>
            <a:ext cx="2314015"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55483178-135B-46DB-8161-7270AAAFAC61}"/>
              </a:ext>
            </a:extLst>
          </p:cNvPr>
          <p:cNvSpPr>
            <a:spLocks xmlns:a="http://schemas.openxmlformats.org/drawingml/2006/main" noGrp="1"/>
          </p:cNvSpPr>
          <p:nvPr/>
        </p:nvSpPr>
        <p:spPr>
          <a:xfrm xmlns:a="http://schemas.openxmlformats.org/drawingml/2006/main">
            <a:off x="504825" y="5062538"/>
            <a:ext cx="2218765"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交付材料组织</a:t>
            </a:r>
          </a:p>
        </p:txBody>
      </p:sp>
      <p:sp>
        <p:nvSpPr>
          <p:cNvPr id="43" name="">
            <a:extLst xmlns:a="http://schemas.openxmlformats.org/drawingml/2006/main">
              <a:ext uri="{FF2B5EF4-FFF2-40B4-BE49-F238E27FC236}">
                <a16:creationId xmlns:a16="http://schemas.microsoft.com/office/drawing/2014/main" id="{7DEF482A-4520-45B8-B6FB-0B3CBA31BBD4}"/>
              </a:ext>
            </a:extLst>
          </p:cNvPr>
          <p:cNvSpPr>
            <a:spLocks xmlns:a="http://schemas.openxmlformats.org/drawingml/2006/main" noGrp="1"/>
          </p:cNvSpPr>
          <p:nvPr/>
        </p:nvSpPr>
        <p:spPr>
          <a:xfrm xmlns:a="http://schemas.openxmlformats.org/drawingml/2006/main">
            <a:off x="2771215" y="5033963"/>
            <a:ext cx="2975162"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10073054-6C4F-4CC7-9BBB-CA6388C47838}"/>
              </a:ext>
            </a:extLst>
          </p:cNvPr>
          <p:cNvSpPr>
            <a:spLocks xmlns:a="http://schemas.openxmlformats.org/drawingml/2006/main" noGrp="1"/>
          </p:cNvSpPr>
          <p:nvPr/>
        </p:nvSpPr>
        <p:spPr>
          <a:xfrm xmlns:a="http://schemas.openxmlformats.org/drawingml/2006/main">
            <a:off x="2818840" y="5062538"/>
            <a:ext cx="287991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主要由 Codex/GPT 完成代码、文档、UML 图、安装包和录屏材料归档说明</a:t>
            </a:r>
          </a:p>
        </p:txBody>
      </p:sp>
      <p:sp>
        <p:nvSpPr>
          <p:cNvPr id="45" name="">
            <a:extLst xmlns:a="http://schemas.openxmlformats.org/drawingml/2006/main">
              <a:ext uri="{FF2B5EF4-FFF2-40B4-BE49-F238E27FC236}">
                <a16:creationId xmlns:a16="http://schemas.microsoft.com/office/drawing/2014/main" id="{DA9EB892-9B89-4404-AB3F-C347C37B15BF}"/>
              </a:ext>
            </a:extLst>
          </p:cNvPr>
          <p:cNvSpPr>
            <a:spLocks xmlns:a="http://schemas.openxmlformats.org/drawingml/2006/main" noGrp="1"/>
          </p:cNvSpPr>
          <p:nvPr/>
        </p:nvSpPr>
        <p:spPr>
          <a:xfrm xmlns:a="http://schemas.openxmlformats.org/drawingml/2006/main">
            <a:off x="5746376" y="5033963"/>
            <a:ext cx="2975162"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F0E7ABE6-4DCB-450D-8FCB-6B80361FADC3}"/>
              </a:ext>
            </a:extLst>
          </p:cNvPr>
          <p:cNvSpPr>
            <a:spLocks xmlns:a="http://schemas.openxmlformats.org/drawingml/2006/main" noGrp="1"/>
          </p:cNvSpPr>
          <p:nvPr/>
        </p:nvSpPr>
        <p:spPr>
          <a:xfrm xmlns:a="http://schemas.openxmlformats.org/drawingml/2006/main">
            <a:off x="5794001" y="5062538"/>
            <a:ext cx="287991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形成“成果类型/展示内容/证据材料”表</a:t>
            </a:r>
          </a:p>
        </p:txBody>
      </p:sp>
      <p:sp>
        <p:nvSpPr>
          <p:cNvPr id="47" name="">
            <a:extLst xmlns:a="http://schemas.openxmlformats.org/drawingml/2006/main">
              <a:ext uri="{FF2B5EF4-FFF2-40B4-BE49-F238E27FC236}">
                <a16:creationId xmlns:a16="http://schemas.microsoft.com/office/drawing/2014/main" id="{8B32A2BF-A061-4BBA-AC2C-9E935C452BA5}"/>
              </a:ext>
            </a:extLst>
          </p:cNvPr>
          <p:cNvSpPr>
            <a:spLocks xmlns:a="http://schemas.openxmlformats.org/drawingml/2006/main" noGrp="1"/>
          </p:cNvSpPr>
          <p:nvPr/>
        </p:nvSpPr>
        <p:spPr>
          <a:xfrm xmlns:a="http://schemas.openxmlformats.org/drawingml/2006/main">
            <a:off x="8721538" y="5033963"/>
            <a:ext cx="2975162" cy="909638"/>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6431FCF4-2AF0-4C80-B077-2B6F63B5C126}"/>
              </a:ext>
            </a:extLst>
          </p:cNvPr>
          <p:cNvSpPr>
            <a:spLocks xmlns:a="http://schemas.openxmlformats.org/drawingml/2006/main" noGrp="1"/>
          </p:cNvSpPr>
          <p:nvPr/>
        </p:nvSpPr>
        <p:spPr>
          <a:xfrm xmlns:a="http://schemas.openxmlformats.org/drawingml/2006/main">
            <a:off x="8769163" y="5062538"/>
            <a:ext cx="2879912"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0">
                <a:solidFill>
                  <a:srgbClr val="17211D"/>
                </a:solidFill>
                <a:latin typeface="PingFang SC"/>
                <a:ea typeface="PingFang SC"/>
                <a:cs typeface="PingFang SC"/>
              </a:defRPr>
            </a:pPr>
            <a:r>
              <a:rPr sz="788" b="0">
                <a:solidFill>
                  <a:srgbClr val="17211D"/>
                </a:solidFill>
                <a:latin typeface="PingFang SC"/>
                <a:ea typeface="PingFang SC"/>
                <a:cs typeface="PingFang SC"/>
              </a:rPr>
              <a:t>最终提交前按文件是否存在和截图材料进行确认</a:t>
            </a:r>
          </a:p>
        </p:txBody>
      </p:sp>
    </p:spTree>
    <p:extLst>
      <p:ext uri="{BB962C8B-B14F-4D97-AF65-F5344CB8AC3E}">
        <p14:creationId xmlns:p14="http://schemas.microsoft.com/office/powerpoint/2010/main" val="1396484110"/>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962D61-B2D6-47ED-980D-0D6AD9FDE31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8EE63E-0BFF-4E64-8EBB-CC90F895F302}"/>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B070D9-02A5-4801-ADD0-28BAAAB97DD2}"/>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D05CE269-A290-46F7-934D-7331D4286F7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8. 阶段 5：交付（Transition）</a:t>
            </a:r>
          </a:p>
        </p:txBody>
      </p:sp>
      <p:sp>
        <p:nvSpPr>
          <p:cNvPr id="5" name="">
            <a:extLst xmlns:a="http://schemas.openxmlformats.org/drawingml/2006/main">
              <a:ext uri="{FF2B5EF4-FFF2-40B4-BE49-F238E27FC236}">
                <a16:creationId xmlns:a16="http://schemas.microsoft.com/office/drawing/2014/main" id="{00B46A43-0FC0-4360-9995-DA5FF3CDC7D7}"/>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107</a:t>
            </a:r>
          </a:p>
        </p:txBody>
      </p:sp>
      <p:sp>
        <p:nvSpPr>
          <p:cNvPr id="6" name="">
            <a:extLst xmlns:a="http://schemas.openxmlformats.org/drawingml/2006/main">
              <a:ext uri="{FF2B5EF4-FFF2-40B4-BE49-F238E27FC236}">
                <a16:creationId xmlns:a16="http://schemas.microsoft.com/office/drawing/2014/main" id="{D3D063B2-11E9-403B-A531-84F1CE0E4F00}"/>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44565FA7-507D-4FFF-873B-28B259375160}"/>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8.6 问题与解决</a:t>
            </a:r>
          </a:p>
        </p:txBody>
      </p:sp>
      <p:sp>
        <p:nvSpPr>
          <p:cNvPr id="8" name="">
            <a:extLst xmlns:a="http://schemas.openxmlformats.org/drawingml/2006/main">
              <a:ext uri="{FF2B5EF4-FFF2-40B4-BE49-F238E27FC236}">
                <a16:creationId xmlns:a16="http://schemas.microsoft.com/office/drawing/2014/main" id="{FDF0444E-06E7-45C6-8B68-30DEEECCDB52}"/>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F2A94E5-A420-4144-8D7F-4FFE5866D75D}"/>
              </a:ext>
            </a:extLst>
          </p:cNvPr>
          <p:cNvSpPr>
            <a:spLocks xmlns:a="http://schemas.openxmlformats.org/drawingml/2006/main" noGrp="1"/>
          </p:cNvSpPr>
          <p:nvPr/>
        </p:nvSpPr>
        <p:spPr>
          <a:xfrm xmlns:a="http://schemas.openxmlformats.org/drawingml/2006/main">
            <a:off x="45720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1458493E-537B-4DB2-8AB7-810EB49DB03D}"/>
              </a:ext>
            </a:extLst>
          </p:cNvPr>
          <p:cNvSpPr>
            <a:spLocks xmlns:a="http://schemas.openxmlformats.org/drawingml/2006/main" noGrp="1"/>
          </p:cNvSpPr>
          <p:nvPr/>
        </p:nvSpPr>
        <p:spPr>
          <a:xfrm xmlns:a="http://schemas.openxmlformats.org/drawingml/2006/main">
            <a:off x="50482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问题</a:t>
            </a:r>
          </a:p>
        </p:txBody>
      </p:sp>
      <p:sp>
        <p:nvSpPr>
          <p:cNvPr id="11" name="">
            <a:extLst xmlns:a="http://schemas.openxmlformats.org/drawingml/2006/main">
              <a:ext uri="{FF2B5EF4-FFF2-40B4-BE49-F238E27FC236}">
                <a16:creationId xmlns:a16="http://schemas.microsoft.com/office/drawing/2014/main" id="{2D4BF2FA-8156-4FDF-9EC0-04592573AF39}"/>
              </a:ext>
            </a:extLst>
          </p:cNvPr>
          <p:cNvSpPr>
            <a:spLocks xmlns:a="http://schemas.openxmlformats.org/drawingml/2006/main" noGrp="1"/>
          </p:cNvSpPr>
          <p:nvPr/>
        </p:nvSpPr>
        <p:spPr>
          <a:xfrm xmlns:a="http://schemas.openxmlformats.org/drawingml/2006/main">
            <a:off x="607695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21225A13-6E83-4510-8F36-F9161A9B3FC3}"/>
              </a:ext>
            </a:extLst>
          </p:cNvPr>
          <p:cNvSpPr>
            <a:spLocks xmlns:a="http://schemas.openxmlformats.org/drawingml/2006/main" noGrp="1"/>
          </p:cNvSpPr>
          <p:nvPr/>
        </p:nvSpPr>
        <p:spPr>
          <a:xfrm xmlns:a="http://schemas.openxmlformats.org/drawingml/2006/main">
            <a:off x="612457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解决方法</a:t>
            </a:r>
          </a:p>
        </p:txBody>
      </p:sp>
      <p:sp>
        <p:nvSpPr>
          <p:cNvPr id="13" name="">
            <a:extLst xmlns:a="http://schemas.openxmlformats.org/drawingml/2006/main">
              <a:ext uri="{FF2B5EF4-FFF2-40B4-BE49-F238E27FC236}">
                <a16:creationId xmlns:a16="http://schemas.microsoft.com/office/drawing/2014/main" id="{72F09230-F912-4D86-ADED-B6D302AA6AB9}"/>
              </a:ext>
            </a:extLst>
          </p:cNvPr>
          <p:cNvSpPr>
            <a:spLocks xmlns:a="http://schemas.openxmlformats.org/drawingml/2006/main" noGrp="1"/>
          </p:cNvSpPr>
          <p:nvPr/>
        </p:nvSpPr>
        <p:spPr>
          <a:xfrm xmlns:a="http://schemas.openxmlformats.org/drawingml/2006/main">
            <a:off x="457200" y="2305050"/>
            <a:ext cx="56197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4" name="">
            <a:extLst xmlns:a="http://schemas.openxmlformats.org/drawingml/2006/main">
              <a:ext uri="{FF2B5EF4-FFF2-40B4-BE49-F238E27FC236}">
                <a16:creationId xmlns:a16="http://schemas.microsoft.com/office/drawing/2014/main" id="{2F96C10C-35F6-4DAA-92EB-55441A90898A}"/>
              </a:ext>
            </a:extLst>
          </p:cNvPr>
          <p:cNvSpPr>
            <a:spLocks xmlns:a="http://schemas.openxmlformats.org/drawingml/2006/main" noGrp="1"/>
          </p:cNvSpPr>
          <p:nvPr/>
        </p:nvSpPr>
        <p:spPr>
          <a:xfrm xmlns:a="http://schemas.openxmlformats.org/drawingml/2006/main">
            <a:off x="504825" y="233362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真机蓝牙受品牌、权限、配对状态影响</a:t>
            </a:r>
          </a:p>
        </p:txBody>
      </p:sp>
      <p:sp>
        <p:nvSpPr>
          <p:cNvPr id="15" name="">
            <a:extLst xmlns:a="http://schemas.openxmlformats.org/drawingml/2006/main">
              <a:ext uri="{FF2B5EF4-FFF2-40B4-BE49-F238E27FC236}">
                <a16:creationId xmlns:a16="http://schemas.microsoft.com/office/drawing/2014/main" id="{CD7B1A73-BEDB-4A0D-A197-9D45B3C284D3}"/>
              </a:ext>
            </a:extLst>
          </p:cNvPr>
          <p:cNvSpPr>
            <a:spLocks xmlns:a="http://schemas.openxmlformats.org/drawingml/2006/main" noGrp="1"/>
          </p:cNvSpPr>
          <p:nvPr/>
        </p:nvSpPr>
        <p:spPr>
          <a:xfrm xmlns:a="http://schemas.openxmlformats.org/drawingml/2006/main">
            <a:off x="6076950" y="2305050"/>
            <a:ext cx="56197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6C3F6FE4-DED9-4702-94E5-4634CE2E0A81}"/>
              </a:ext>
            </a:extLst>
          </p:cNvPr>
          <p:cNvSpPr>
            <a:spLocks xmlns:a="http://schemas.openxmlformats.org/drawingml/2006/main" noGrp="1"/>
          </p:cNvSpPr>
          <p:nvPr/>
        </p:nvSpPr>
        <p:spPr>
          <a:xfrm xmlns:a="http://schemas.openxmlformats.org/drawingml/2006/main">
            <a:off x="6124575" y="233362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自动化模拟测试覆盖协议和房间逻辑，答辩前再做真机复测</a:t>
            </a:r>
          </a:p>
        </p:txBody>
      </p:sp>
      <p:sp>
        <p:nvSpPr>
          <p:cNvPr id="17" name="">
            <a:extLst xmlns:a="http://schemas.openxmlformats.org/drawingml/2006/main">
              <a:ext uri="{FF2B5EF4-FFF2-40B4-BE49-F238E27FC236}">
                <a16:creationId xmlns:a16="http://schemas.microsoft.com/office/drawing/2014/main" id="{9F31987D-5A92-44AB-A309-16F33631AEBD}"/>
              </a:ext>
            </a:extLst>
          </p:cNvPr>
          <p:cNvSpPr>
            <a:spLocks xmlns:a="http://schemas.openxmlformats.org/drawingml/2006/main" noGrp="1"/>
          </p:cNvSpPr>
          <p:nvPr/>
        </p:nvSpPr>
        <p:spPr>
          <a:xfrm xmlns:a="http://schemas.openxmlformats.org/drawingml/2006/main">
            <a:off x="457200" y="3032760"/>
            <a:ext cx="56197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80222046-4AFA-45AF-AF80-2049B265CA46}"/>
              </a:ext>
            </a:extLst>
          </p:cNvPr>
          <p:cNvSpPr>
            <a:spLocks xmlns:a="http://schemas.openxmlformats.org/drawingml/2006/main" noGrp="1"/>
          </p:cNvSpPr>
          <p:nvPr/>
        </p:nvSpPr>
        <p:spPr>
          <a:xfrm xmlns:a="http://schemas.openxmlformats.org/drawingml/2006/main">
            <a:off x="504825" y="306133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蓝牙断线场景难以稳定人工复现</a:t>
            </a:r>
          </a:p>
        </p:txBody>
      </p:sp>
      <p:sp>
        <p:nvSpPr>
          <p:cNvPr id="19" name="">
            <a:extLst xmlns:a="http://schemas.openxmlformats.org/drawingml/2006/main">
              <a:ext uri="{FF2B5EF4-FFF2-40B4-BE49-F238E27FC236}">
                <a16:creationId xmlns:a16="http://schemas.microsoft.com/office/drawing/2014/main" id="{BF72479B-2B6D-4A4E-9C9D-9C3A8F2AC765}"/>
              </a:ext>
            </a:extLst>
          </p:cNvPr>
          <p:cNvSpPr>
            <a:spLocks xmlns:a="http://schemas.openxmlformats.org/drawingml/2006/main" noGrp="1"/>
          </p:cNvSpPr>
          <p:nvPr/>
        </p:nvSpPr>
        <p:spPr>
          <a:xfrm xmlns:a="http://schemas.openxmlformats.org/drawingml/2006/main">
            <a:off x="6076950" y="3032760"/>
            <a:ext cx="56197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4E093EEA-C4A0-42B3-90D4-F014BC9F7BF0}"/>
              </a:ext>
            </a:extLst>
          </p:cNvPr>
          <p:cNvSpPr>
            <a:spLocks xmlns:a="http://schemas.openxmlformats.org/drawingml/2006/main" noGrp="1"/>
          </p:cNvSpPr>
          <p:nvPr/>
        </p:nvSpPr>
        <p:spPr>
          <a:xfrm xmlns:a="http://schemas.openxmlformats.org/drawingml/2006/main">
            <a:off x="6124575" y="306133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使用模拟传输覆盖客户端断线托管；房主断线采用真机/手动验收确认弹窗退出</a:t>
            </a:r>
          </a:p>
        </p:txBody>
      </p:sp>
      <p:sp>
        <p:nvSpPr>
          <p:cNvPr id="21" name="">
            <a:extLst xmlns:a="http://schemas.openxmlformats.org/drawingml/2006/main">
              <a:ext uri="{FF2B5EF4-FFF2-40B4-BE49-F238E27FC236}">
                <a16:creationId xmlns:a16="http://schemas.microsoft.com/office/drawing/2014/main" id="{085136EB-D302-467C-A176-32EF8207972A}"/>
              </a:ext>
            </a:extLst>
          </p:cNvPr>
          <p:cNvSpPr>
            <a:spLocks xmlns:a="http://schemas.openxmlformats.org/drawingml/2006/main" noGrp="1"/>
          </p:cNvSpPr>
          <p:nvPr/>
        </p:nvSpPr>
        <p:spPr>
          <a:xfrm xmlns:a="http://schemas.openxmlformats.org/drawingml/2006/main">
            <a:off x="457200" y="3760470"/>
            <a:ext cx="56197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9FAA164D-6041-47E2-88DB-37D53B87A36A}"/>
              </a:ext>
            </a:extLst>
          </p:cNvPr>
          <p:cNvSpPr>
            <a:spLocks xmlns:a="http://schemas.openxmlformats.org/drawingml/2006/main" noGrp="1"/>
          </p:cNvSpPr>
          <p:nvPr/>
        </p:nvSpPr>
        <p:spPr>
          <a:xfrm xmlns:a="http://schemas.openxmlformats.org/drawingml/2006/main">
            <a:off x="504825" y="378904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Debug 和 Release 签名不同</a:t>
            </a:r>
          </a:p>
        </p:txBody>
      </p:sp>
      <p:sp>
        <p:nvSpPr>
          <p:cNvPr id="23" name="">
            <a:extLst xmlns:a="http://schemas.openxmlformats.org/drawingml/2006/main">
              <a:ext uri="{FF2B5EF4-FFF2-40B4-BE49-F238E27FC236}">
                <a16:creationId xmlns:a16="http://schemas.microsoft.com/office/drawing/2014/main" id="{BB1DF54F-2737-4340-95C9-54A3C6071F5D}"/>
              </a:ext>
            </a:extLst>
          </p:cNvPr>
          <p:cNvSpPr>
            <a:spLocks xmlns:a="http://schemas.openxmlformats.org/drawingml/2006/main" noGrp="1"/>
          </p:cNvSpPr>
          <p:nvPr/>
        </p:nvSpPr>
        <p:spPr>
          <a:xfrm xmlns:a="http://schemas.openxmlformats.org/drawingml/2006/main">
            <a:off x="6076950" y="3760470"/>
            <a:ext cx="56197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32F90049-7882-467A-8A1A-E4136C0B67EE}"/>
              </a:ext>
            </a:extLst>
          </p:cNvPr>
          <p:cNvSpPr>
            <a:spLocks xmlns:a="http://schemas.openxmlformats.org/drawingml/2006/main" noGrp="1"/>
          </p:cNvSpPr>
          <p:nvPr/>
        </p:nvSpPr>
        <p:spPr>
          <a:xfrm xmlns:a="http://schemas.openxmlformats.org/drawingml/2006/main">
            <a:off x="6124575" y="378904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使用 runRelease 自动卸载旧包并安装 Release</a:t>
            </a:r>
          </a:p>
        </p:txBody>
      </p:sp>
      <p:sp>
        <p:nvSpPr>
          <p:cNvPr id="25" name="">
            <a:extLst xmlns:a="http://schemas.openxmlformats.org/drawingml/2006/main">
              <a:ext uri="{FF2B5EF4-FFF2-40B4-BE49-F238E27FC236}">
                <a16:creationId xmlns:a16="http://schemas.microsoft.com/office/drawing/2014/main" id="{5E8C9C79-5D17-4DB1-AA72-34CF3A676399}"/>
              </a:ext>
            </a:extLst>
          </p:cNvPr>
          <p:cNvSpPr>
            <a:spLocks xmlns:a="http://schemas.openxmlformats.org/drawingml/2006/main" noGrp="1"/>
          </p:cNvSpPr>
          <p:nvPr/>
        </p:nvSpPr>
        <p:spPr>
          <a:xfrm xmlns:a="http://schemas.openxmlformats.org/drawingml/2006/main">
            <a:off x="457200" y="4488180"/>
            <a:ext cx="56197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D0C7277B-298B-45B7-8842-886F0448F4FE}"/>
              </a:ext>
            </a:extLst>
          </p:cNvPr>
          <p:cNvSpPr>
            <a:spLocks xmlns:a="http://schemas.openxmlformats.org/drawingml/2006/main" noGrp="1"/>
          </p:cNvSpPr>
          <p:nvPr/>
        </p:nvSpPr>
        <p:spPr>
          <a:xfrm xmlns:a="http://schemas.openxmlformats.org/drawingml/2006/main">
            <a:off x="504825" y="451675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文档与最终代码可能不同步</a:t>
            </a:r>
          </a:p>
        </p:txBody>
      </p:sp>
      <p:sp>
        <p:nvSpPr>
          <p:cNvPr id="27" name="">
            <a:extLst xmlns:a="http://schemas.openxmlformats.org/drawingml/2006/main">
              <a:ext uri="{FF2B5EF4-FFF2-40B4-BE49-F238E27FC236}">
                <a16:creationId xmlns:a16="http://schemas.microsoft.com/office/drawing/2014/main" id="{AEB08824-3460-4EAB-9E04-AC099AE589C0}"/>
              </a:ext>
            </a:extLst>
          </p:cNvPr>
          <p:cNvSpPr>
            <a:spLocks xmlns:a="http://schemas.openxmlformats.org/drawingml/2006/main" noGrp="1"/>
          </p:cNvSpPr>
          <p:nvPr/>
        </p:nvSpPr>
        <p:spPr>
          <a:xfrm xmlns:a="http://schemas.openxmlformats.org/drawingml/2006/main">
            <a:off x="6076950" y="4488180"/>
            <a:ext cx="5619750"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5295F4C5-6AA5-4CAD-8FE7-E60B27485391}"/>
              </a:ext>
            </a:extLst>
          </p:cNvPr>
          <p:cNvSpPr>
            <a:spLocks xmlns:a="http://schemas.openxmlformats.org/drawingml/2006/main" noGrp="1"/>
          </p:cNvSpPr>
          <p:nvPr/>
        </p:nvSpPr>
        <p:spPr>
          <a:xfrm xmlns:a="http://schemas.openxmlformats.org/drawingml/2006/main">
            <a:off x="6124575" y="451675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使用 docs/final_checklist.md 逐项核查</a:t>
            </a:r>
          </a:p>
        </p:txBody>
      </p:sp>
      <p:sp>
        <p:nvSpPr>
          <p:cNvPr id="29" name="">
            <a:extLst xmlns:a="http://schemas.openxmlformats.org/drawingml/2006/main">
              <a:ext uri="{FF2B5EF4-FFF2-40B4-BE49-F238E27FC236}">
                <a16:creationId xmlns:a16="http://schemas.microsoft.com/office/drawing/2014/main" id="{14C1369D-D1A1-482E-B9B2-4EB1A9109E9E}"/>
              </a:ext>
            </a:extLst>
          </p:cNvPr>
          <p:cNvSpPr>
            <a:spLocks xmlns:a="http://schemas.openxmlformats.org/drawingml/2006/main" noGrp="1"/>
          </p:cNvSpPr>
          <p:nvPr/>
        </p:nvSpPr>
        <p:spPr>
          <a:xfrm xmlns:a="http://schemas.openxmlformats.org/drawingml/2006/main">
            <a:off x="457200" y="5215890"/>
            <a:ext cx="56197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12B6123D-1FC7-4121-9D0A-205CAA9DDC81}"/>
              </a:ext>
            </a:extLst>
          </p:cNvPr>
          <p:cNvSpPr>
            <a:spLocks xmlns:a="http://schemas.openxmlformats.org/drawingml/2006/main" noGrp="1"/>
          </p:cNvSpPr>
          <p:nvPr/>
        </p:nvSpPr>
        <p:spPr>
          <a:xfrm xmlns:a="http://schemas.openxmlformats.org/drawingml/2006/main">
            <a:off x="504825" y="524446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敏感文件不能上传</a:t>
            </a:r>
          </a:p>
        </p:txBody>
      </p:sp>
      <p:sp>
        <p:nvSpPr>
          <p:cNvPr id="31" name="">
            <a:extLst xmlns:a="http://schemas.openxmlformats.org/drawingml/2006/main">
              <a:ext uri="{FF2B5EF4-FFF2-40B4-BE49-F238E27FC236}">
                <a16:creationId xmlns:a16="http://schemas.microsoft.com/office/drawing/2014/main" id="{D97460BB-F577-44B2-B7C7-2D4FE995429B}"/>
              </a:ext>
            </a:extLst>
          </p:cNvPr>
          <p:cNvSpPr>
            <a:spLocks xmlns:a="http://schemas.openxmlformats.org/drawingml/2006/main" noGrp="1"/>
          </p:cNvSpPr>
          <p:nvPr/>
        </p:nvSpPr>
        <p:spPr>
          <a:xfrm xmlns:a="http://schemas.openxmlformats.org/drawingml/2006/main">
            <a:off x="6076950" y="5215890"/>
            <a:ext cx="5619750"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90C36029-ED95-4F60-A9B7-C03ABAE7BF2C}"/>
              </a:ext>
            </a:extLst>
          </p:cNvPr>
          <p:cNvSpPr>
            <a:spLocks xmlns:a="http://schemas.openxmlformats.org/drawingml/2006/main" noGrp="1"/>
          </p:cNvSpPr>
          <p:nvPr/>
        </p:nvSpPr>
        <p:spPr>
          <a:xfrm xmlns:a="http://schemas.openxmlformats.org/drawingml/2006/main">
            <a:off x="6124575" y="5244465"/>
            <a:ext cx="5524500"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将签名私钥和本地配置排除在 GitHub 之外</a:t>
            </a:r>
          </a:p>
        </p:txBody>
      </p:sp>
    </p:spTree>
    <p:extLst>
      <p:ext uri="{BB962C8B-B14F-4D97-AF65-F5344CB8AC3E}">
        <p14:creationId xmlns:p14="http://schemas.microsoft.com/office/powerpoint/2010/main" val="609997241"/>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85F1E6-369E-4DE9-A59B-3467C1C5B0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79912F-3BC6-4BEE-A136-A0CD51C76C19}"/>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D043B6-7135-44AF-A823-EEA1EBCCAC35}"/>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D5C945E6-4C52-44F0-85B0-0BCD70664508}"/>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软件综合开发实训实验报告</a:t>
            </a:r>
          </a:p>
        </p:txBody>
      </p:sp>
      <p:sp>
        <p:nvSpPr>
          <p:cNvPr id="5" name="">
            <a:extLst xmlns:a="http://schemas.openxmlformats.org/drawingml/2006/main">
              <a:ext uri="{FF2B5EF4-FFF2-40B4-BE49-F238E27FC236}">
                <a16:creationId xmlns:a16="http://schemas.microsoft.com/office/drawing/2014/main" id="{6DD41A73-EC88-420C-AD0D-FF5B85423374}"/>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108</a:t>
            </a:r>
          </a:p>
        </p:txBody>
      </p:sp>
      <p:sp>
        <p:nvSpPr>
          <p:cNvPr id="6" name="">
            <a:extLst xmlns:a="http://schemas.openxmlformats.org/drawingml/2006/main">
              <a:ext uri="{FF2B5EF4-FFF2-40B4-BE49-F238E27FC236}">
                <a16:creationId xmlns:a16="http://schemas.microsoft.com/office/drawing/2014/main" id="{7D8145DA-8694-4E1F-8ED0-2403D2C833C2}"/>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SECTION</a:t>
            </a:r>
          </a:p>
        </p:txBody>
      </p:sp>
      <p:sp>
        <p:nvSpPr>
          <p:cNvPr id="7" name="">
            <a:extLst xmlns:a="http://schemas.openxmlformats.org/drawingml/2006/main">
              <a:ext uri="{FF2B5EF4-FFF2-40B4-BE49-F238E27FC236}">
                <a16:creationId xmlns:a16="http://schemas.microsoft.com/office/drawing/2014/main" id="{62E791C2-B509-4EA6-9CFB-E6B252647B44}"/>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9. 评分标准映射表（1/3）</a:t>
            </a:r>
          </a:p>
        </p:txBody>
      </p:sp>
      <p:sp>
        <p:nvSpPr>
          <p:cNvPr id="8" name="">
            <a:extLst xmlns:a="http://schemas.openxmlformats.org/drawingml/2006/main">
              <a:ext uri="{FF2B5EF4-FFF2-40B4-BE49-F238E27FC236}">
                <a16:creationId xmlns:a16="http://schemas.microsoft.com/office/drawing/2014/main" id="{B6DA4989-DCDE-4E1C-8703-08D1892F35A7}"/>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FE23E3D-C1A1-496D-8265-CB0563B61365}"/>
              </a:ext>
            </a:extLst>
          </p:cNvPr>
          <p:cNvSpPr>
            <a:spLocks xmlns:a="http://schemas.openxmlformats.org/drawingml/2006/main" noGrp="1"/>
          </p:cNvSpPr>
          <p:nvPr/>
        </p:nvSpPr>
        <p:spPr>
          <a:xfrm xmlns:a="http://schemas.openxmlformats.org/drawingml/2006/main">
            <a:off x="457200" y="1905000"/>
            <a:ext cx="37465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D625E46A-903F-4699-8826-1434E0ADE5E8}"/>
              </a:ext>
            </a:extLst>
          </p:cNvPr>
          <p:cNvSpPr>
            <a:spLocks xmlns:a="http://schemas.openxmlformats.org/drawingml/2006/main" noGrp="1"/>
          </p:cNvSpPr>
          <p:nvPr/>
        </p:nvSpPr>
        <p:spPr>
          <a:xfrm xmlns:a="http://schemas.openxmlformats.org/drawingml/2006/main">
            <a:off x="504825" y="1943100"/>
            <a:ext cx="365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评分标准</a:t>
            </a:r>
          </a:p>
        </p:txBody>
      </p:sp>
      <p:sp>
        <p:nvSpPr>
          <p:cNvPr id="11" name="">
            <a:extLst xmlns:a="http://schemas.openxmlformats.org/drawingml/2006/main">
              <a:ext uri="{FF2B5EF4-FFF2-40B4-BE49-F238E27FC236}">
                <a16:creationId xmlns:a16="http://schemas.microsoft.com/office/drawing/2014/main" id="{059F453B-9DC9-46A5-9D89-A64F38431FCC}"/>
              </a:ext>
            </a:extLst>
          </p:cNvPr>
          <p:cNvSpPr>
            <a:spLocks xmlns:a="http://schemas.openxmlformats.org/drawingml/2006/main" noGrp="1"/>
          </p:cNvSpPr>
          <p:nvPr/>
        </p:nvSpPr>
        <p:spPr>
          <a:xfrm xmlns:a="http://schemas.openxmlformats.org/drawingml/2006/main">
            <a:off x="4203700" y="1905000"/>
            <a:ext cx="37465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B5337D00-03AE-45F4-92DB-7CBA681FB520}"/>
              </a:ext>
            </a:extLst>
          </p:cNvPr>
          <p:cNvSpPr>
            <a:spLocks xmlns:a="http://schemas.openxmlformats.org/drawingml/2006/main" noGrp="1"/>
          </p:cNvSpPr>
          <p:nvPr/>
        </p:nvSpPr>
        <p:spPr>
          <a:xfrm xmlns:a="http://schemas.openxmlformats.org/drawingml/2006/main">
            <a:off x="4251325" y="1943100"/>
            <a:ext cx="365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项目完成情况</a:t>
            </a:r>
          </a:p>
        </p:txBody>
      </p:sp>
      <p:sp>
        <p:nvSpPr>
          <p:cNvPr id="13" name="">
            <a:extLst xmlns:a="http://schemas.openxmlformats.org/drawingml/2006/main">
              <a:ext uri="{FF2B5EF4-FFF2-40B4-BE49-F238E27FC236}">
                <a16:creationId xmlns:a16="http://schemas.microsoft.com/office/drawing/2014/main" id="{24CE447C-87C3-47B2-B735-553BDDCF7947}"/>
              </a:ext>
            </a:extLst>
          </p:cNvPr>
          <p:cNvSpPr>
            <a:spLocks xmlns:a="http://schemas.openxmlformats.org/drawingml/2006/main" noGrp="1"/>
          </p:cNvSpPr>
          <p:nvPr/>
        </p:nvSpPr>
        <p:spPr>
          <a:xfrm xmlns:a="http://schemas.openxmlformats.org/drawingml/2006/main">
            <a:off x="7950200" y="1905000"/>
            <a:ext cx="37465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552B586B-7A22-4DC1-ABBA-392FB5B0467C}"/>
              </a:ext>
            </a:extLst>
          </p:cNvPr>
          <p:cNvSpPr>
            <a:spLocks xmlns:a="http://schemas.openxmlformats.org/drawingml/2006/main" noGrp="1"/>
          </p:cNvSpPr>
          <p:nvPr/>
        </p:nvSpPr>
        <p:spPr>
          <a:xfrm xmlns:a="http://schemas.openxmlformats.org/drawingml/2006/main">
            <a:off x="7997825" y="1943100"/>
            <a:ext cx="365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证据材料</a:t>
            </a:r>
          </a:p>
        </p:txBody>
      </p:sp>
      <p:sp>
        <p:nvSpPr>
          <p:cNvPr id="15" name="">
            <a:extLst xmlns:a="http://schemas.openxmlformats.org/drawingml/2006/main">
              <a:ext uri="{FF2B5EF4-FFF2-40B4-BE49-F238E27FC236}">
                <a16:creationId xmlns:a16="http://schemas.microsoft.com/office/drawing/2014/main" id="{88B1D10B-ED09-46AB-86E1-B50689180984}"/>
              </a:ext>
            </a:extLst>
          </p:cNvPr>
          <p:cNvSpPr>
            <a:spLocks xmlns:a="http://schemas.openxmlformats.org/drawingml/2006/main" noGrp="1"/>
          </p:cNvSpPr>
          <p:nvPr/>
        </p:nvSpPr>
        <p:spPr>
          <a:xfrm xmlns:a="http://schemas.openxmlformats.org/drawingml/2006/main">
            <a:off x="457200" y="2305050"/>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712DA26F-2093-49A0-813B-73F219273EEE}"/>
              </a:ext>
            </a:extLst>
          </p:cNvPr>
          <p:cNvSpPr>
            <a:spLocks xmlns:a="http://schemas.openxmlformats.org/drawingml/2006/main" noGrp="1"/>
          </p:cNvSpPr>
          <p:nvPr/>
        </p:nvSpPr>
        <p:spPr>
          <a:xfrm xmlns:a="http://schemas.openxmlformats.org/drawingml/2006/main">
            <a:off x="504825" y="2333625"/>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掌握 ProcessOn UML 工具进行 UML 7 大图建模</a:t>
            </a:r>
          </a:p>
        </p:txBody>
      </p:sp>
      <p:sp>
        <p:nvSpPr>
          <p:cNvPr id="17" name="">
            <a:extLst xmlns:a="http://schemas.openxmlformats.org/drawingml/2006/main">
              <a:ext uri="{FF2B5EF4-FFF2-40B4-BE49-F238E27FC236}">
                <a16:creationId xmlns:a16="http://schemas.microsoft.com/office/drawing/2014/main" id="{9413D860-C212-435C-9AE5-5662A87CE710}"/>
              </a:ext>
            </a:extLst>
          </p:cNvPr>
          <p:cNvSpPr>
            <a:spLocks xmlns:a="http://schemas.openxmlformats.org/drawingml/2006/main" noGrp="1"/>
          </p:cNvSpPr>
          <p:nvPr/>
        </p:nvSpPr>
        <p:spPr>
          <a:xfrm xmlns:a="http://schemas.openxmlformats.org/drawingml/2006/main">
            <a:off x="4203700" y="2305050"/>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3600AE79-FDAA-47FB-8314-527CF0CEA241}"/>
              </a:ext>
            </a:extLst>
          </p:cNvPr>
          <p:cNvSpPr>
            <a:spLocks xmlns:a="http://schemas.openxmlformats.org/drawingml/2006/main" noGrp="1"/>
          </p:cNvSpPr>
          <p:nvPr/>
        </p:nvSpPr>
        <p:spPr>
          <a:xfrm xmlns:a="http://schemas.openxmlformats.org/drawingml/2006/main">
            <a:off x="4251325" y="2333625"/>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已完成用例图、类图、顺序图、状态图、活动图、组件图、部署图；PlantUML 内容导入或参照迁移到 ProcessOn 后整理正式图</a:t>
            </a:r>
          </a:p>
        </p:txBody>
      </p:sp>
      <p:sp>
        <p:nvSpPr>
          <p:cNvPr id="19" name="">
            <a:extLst xmlns:a="http://schemas.openxmlformats.org/drawingml/2006/main">
              <a:ext uri="{FF2B5EF4-FFF2-40B4-BE49-F238E27FC236}">
                <a16:creationId xmlns:a16="http://schemas.microsoft.com/office/drawing/2014/main" id="{BEA5783C-1CB9-4286-809C-B03E43D86161}"/>
              </a:ext>
            </a:extLst>
          </p:cNvPr>
          <p:cNvSpPr>
            <a:spLocks xmlns:a="http://schemas.openxmlformats.org/drawingml/2006/main" noGrp="1"/>
          </p:cNvSpPr>
          <p:nvPr/>
        </p:nvSpPr>
        <p:spPr>
          <a:xfrm xmlns:a="http://schemas.openxmlformats.org/drawingml/2006/main">
            <a:off x="7950200" y="2305050"/>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B162A132-9521-4BB2-B63A-6EB74BB53A31}"/>
              </a:ext>
            </a:extLst>
          </p:cNvPr>
          <p:cNvSpPr>
            <a:spLocks xmlns:a="http://schemas.openxmlformats.org/drawingml/2006/main" noGrp="1"/>
          </p:cNvSpPr>
          <p:nvPr/>
        </p:nvSpPr>
        <p:spPr>
          <a:xfrm xmlns:a="http://schemas.openxmlformats.org/drawingml/2006/main">
            <a:off x="7997825" y="2333625"/>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docs/uml/，docs/uml/README.md</a:t>
            </a:r>
          </a:p>
        </p:txBody>
      </p:sp>
      <p:sp>
        <p:nvSpPr>
          <p:cNvPr id="21" name="">
            <a:extLst xmlns:a="http://schemas.openxmlformats.org/drawingml/2006/main">
              <a:ext uri="{FF2B5EF4-FFF2-40B4-BE49-F238E27FC236}">
                <a16:creationId xmlns:a16="http://schemas.microsoft.com/office/drawing/2014/main" id="{BEC0E710-67F0-440D-8737-AE31763E8148}"/>
              </a:ext>
            </a:extLst>
          </p:cNvPr>
          <p:cNvSpPr>
            <a:spLocks xmlns:a="http://schemas.openxmlformats.org/drawingml/2006/main" noGrp="1"/>
          </p:cNvSpPr>
          <p:nvPr/>
        </p:nvSpPr>
        <p:spPr>
          <a:xfrm xmlns:a="http://schemas.openxmlformats.org/drawingml/2006/main">
            <a:off x="457200" y="2759869"/>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4B3FB540-55BC-4070-B964-5AA93A69D9F9}"/>
              </a:ext>
            </a:extLst>
          </p:cNvPr>
          <p:cNvSpPr>
            <a:spLocks xmlns:a="http://schemas.openxmlformats.org/drawingml/2006/main" noGrp="1"/>
          </p:cNvSpPr>
          <p:nvPr/>
        </p:nvSpPr>
        <p:spPr>
          <a:xfrm xmlns:a="http://schemas.openxmlformats.org/drawingml/2006/main">
            <a:off x="504825" y="2788444"/>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进行需求分析和面向对象设计，并进行分析建模和设计建模</a:t>
            </a:r>
          </a:p>
        </p:txBody>
      </p:sp>
      <p:sp>
        <p:nvSpPr>
          <p:cNvPr id="23" name="">
            <a:extLst xmlns:a="http://schemas.openxmlformats.org/drawingml/2006/main">
              <a:ext uri="{FF2B5EF4-FFF2-40B4-BE49-F238E27FC236}">
                <a16:creationId xmlns:a16="http://schemas.microsoft.com/office/drawing/2014/main" id="{9DFE7003-4054-4E6B-BCDD-E28FA7286E6A}"/>
              </a:ext>
            </a:extLst>
          </p:cNvPr>
          <p:cNvSpPr>
            <a:spLocks xmlns:a="http://schemas.openxmlformats.org/drawingml/2006/main" noGrp="1"/>
          </p:cNvSpPr>
          <p:nvPr/>
        </p:nvSpPr>
        <p:spPr>
          <a:xfrm xmlns:a="http://schemas.openxmlformats.org/drawingml/2006/main">
            <a:off x="4203700" y="2759869"/>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5DB360EB-D079-4351-BA69-DD14FCD1AAAC}"/>
              </a:ext>
            </a:extLst>
          </p:cNvPr>
          <p:cNvSpPr>
            <a:spLocks xmlns:a="http://schemas.openxmlformats.org/drawingml/2006/main" noGrp="1"/>
          </p:cNvSpPr>
          <p:nvPr/>
        </p:nvSpPr>
        <p:spPr>
          <a:xfrm xmlns:a="http://schemas.openxmlformats.org/drawingml/2006/main">
            <a:off x="4251325" y="2788444"/>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完成需求说明、MVC 分层、领域模型、交互流程和设计说明</a:t>
            </a:r>
          </a:p>
        </p:txBody>
      </p:sp>
      <p:sp>
        <p:nvSpPr>
          <p:cNvPr id="25" name="">
            <a:extLst xmlns:a="http://schemas.openxmlformats.org/drawingml/2006/main">
              <a:ext uri="{FF2B5EF4-FFF2-40B4-BE49-F238E27FC236}">
                <a16:creationId xmlns:a16="http://schemas.microsoft.com/office/drawing/2014/main" id="{546903B4-2595-46B8-B392-FF4D5FC9957B}"/>
              </a:ext>
            </a:extLst>
          </p:cNvPr>
          <p:cNvSpPr>
            <a:spLocks xmlns:a="http://schemas.openxmlformats.org/drawingml/2006/main" noGrp="1"/>
          </p:cNvSpPr>
          <p:nvPr/>
        </p:nvSpPr>
        <p:spPr>
          <a:xfrm xmlns:a="http://schemas.openxmlformats.org/drawingml/2006/main">
            <a:off x="7950200" y="2759869"/>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3B303656-F300-4A02-9AAE-D4DBF9216779}"/>
              </a:ext>
            </a:extLst>
          </p:cNvPr>
          <p:cNvSpPr>
            <a:spLocks xmlns:a="http://schemas.openxmlformats.org/drawingml/2006/main" noGrp="1"/>
          </p:cNvSpPr>
          <p:nvPr/>
        </p:nvSpPr>
        <p:spPr>
          <a:xfrm xmlns:a="http://schemas.openxmlformats.org/drawingml/2006/main">
            <a:off x="7997825" y="2788444"/>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docs/requirements.md、docs/design.md</a:t>
            </a:r>
          </a:p>
        </p:txBody>
      </p:sp>
      <p:sp>
        <p:nvSpPr>
          <p:cNvPr id="27" name="">
            <a:extLst xmlns:a="http://schemas.openxmlformats.org/drawingml/2006/main">
              <a:ext uri="{FF2B5EF4-FFF2-40B4-BE49-F238E27FC236}">
                <a16:creationId xmlns:a16="http://schemas.microsoft.com/office/drawing/2014/main" id="{D09B8A61-8C32-4031-9DC9-26E8D05C8593}"/>
              </a:ext>
            </a:extLst>
          </p:cNvPr>
          <p:cNvSpPr>
            <a:spLocks xmlns:a="http://schemas.openxmlformats.org/drawingml/2006/main" noGrp="1"/>
          </p:cNvSpPr>
          <p:nvPr/>
        </p:nvSpPr>
        <p:spPr>
          <a:xfrm xmlns:a="http://schemas.openxmlformats.org/drawingml/2006/main">
            <a:off x="457200" y="3214688"/>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CC019FD9-E09F-48C5-8A3A-3C2CD7E16A16}"/>
              </a:ext>
            </a:extLst>
          </p:cNvPr>
          <p:cNvSpPr>
            <a:spLocks xmlns:a="http://schemas.openxmlformats.org/drawingml/2006/main" noGrp="1"/>
          </p:cNvSpPr>
          <p:nvPr/>
        </p:nvSpPr>
        <p:spPr>
          <a:xfrm xmlns:a="http://schemas.openxmlformats.org/drawingml/2006/main">
            <a:off x="504825" y="3243263"/>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设计模式和优化设计</a:t>
            </a:r>
          </a:p>
        </p:txBody>
      </p:sp>
      <p:sp>
        <p:nvSpPr>
          <p:cNvPr id="29" name="">
            <a:extLst xmlns:a="http://schemas.openxmlformats.org/drawingml/2006/main">
              <a:ext uri="{FF2B5EF4-FFF2-40B4-BE49-F238E27FC236}">
                <a16:creationId xmlns:a16="http://schemas.microsoft.com/office/drawing/2014/main" id="{F5C3620C-D8FD-4534-BFF2-5AC1AEC95E55}"/>
              </a:ext>
            </a:extLst>
          </p:cNvPr>
          <p:cNvSpPr>
            <a:spLocks xmlns:a="http://schemas.openxmlformats.org/drawingml/2006/main" noGrp="1"/>
          </p:cNvSpPr>
          <p:nvPr/>
        </p:nvSpPr>
        <p:spPr>
          <a:xfrm xmlns:a="http://schemas.openxmlformats.org/drawingml/2006/main">
            <a:off x="4203700" y="3214688"/>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8BB7AB99-8793-4B87-ABA9-D30F2FCB45CA}"/>
              </a:ext>
            </a:extLst>
          </p:cNvPr>
          <p:cNvSpPr>
            <a:spLocks xmlns:a="http://schemas.openxmlformats.org/drawingml/2006/main" noGrp="1"/>
          </p:cNvSpPr>
          <p:nvPr/>
        </p:nvSpPr>
        <p:spPr>
          <a:xfrm xmlns:a="http://schemas.openxmlformats.org/drawingml/2006/main">
            <a:off x="4251325" y="3243263"/>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详细设计中使用策略模式、接口隔离、主机权威同步、状态快照、命令对象、编码器/解码器、仓储模式和状态模式</a:t>
            </a:r>
          </a:p>
        </p:txBody>
      </p:sp>
      <p:sp>
        <p:nvSpPr>
          <p:cNvPr id="31" name="">
            <a:extLst xmlns:a="http://schemas.openxmlformats.org/drawingml/2006/main">
              <a:ext uri="{FF2B5EF4-FFF2-40B4-BE49-F238E27FC236}">
                <a16:creationId xmlns:a16="http://schemas.microsoft.com/office/drawing/2014/main" id="{EE9838AE-15C1-48EE-A18C-819EBF3471C3}"/>
              </a:ext>
            </a:extLst>
          </p:cNvPr>
          <p:cNvSpPr>
            <a:spLocks xmlns:a="http://schemas.openxmlformats.org/drawingml/2006/main" noGrp="1"/>
          </p:cNvSpPr>
          <p:nvPr/>
        </p:nvSpPr>
        <p:spPr>
          <a:xfrm xmlns:a="http://schemas.openxmlformats.org/drawingml/2006/main">
            <a:off x="7950200" y="3214688"/>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3F9E482E-EF29-4D50-968C-DAC3662A578A}"/>
              </a:ext>
            </a:extLst>
          </p:cNvPr>
          <p:cNvSpPr>
            <a:spLocks xmlns:a="http://schemas.openxmlformats.org/drawingml/2006/main" noGrp="1"/>
          </p:cNvSpPr>
          <p:nvPr/>
        </p:nvSpPr>
        <p:spPr>
          <a:xfrm xmlns:a="http://schemas.openxmlformats.org/drawingml/2006/main">
            <a:off x="7997825" y="3243263"/>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docs/design.md，controller/，transport/，profile/</a:t>
            </a:r>
          </a:p>
        </p:txBody>
      </p:sp>
      <p:sp>
        <p:nvSpPr>
          <p:cNvPr id="33" name="">
            <a:extLst xmlns:a="http://schemas.openxmlformats.org/drawingml/2006/main">
              <a:ext uri="{FF2B5EF4-FFF2-40B4-BE49-F238E27FC236}">
                <a16:creationId xmlns:a16="http://schemas.microsoft.com/office/drawing/2014/main" id="{467A83D1-1E3C-4D30-AB69-AAFA3DF9A307}"/>
              </a:ext>
            </a:extLst>
          </p:cNvPr>
          <p:cNvSpPr>
            <a:spLocks xmlns:a="http://schemas.openxmlformats.org/drawingml/2006/main" noGrp="1"/>
          </p:cNvSpPr>
          <p:nvPr/>
        </p:nvSpPr>
        <p:spPr>
          <a:xfrm xmlns:a="http://schemas.openxmlformats.org/drawingml/2006/main">
            <a:off x="457200" y="3669506"/>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ABF95EEA-E655-43C9-B5C7-74A36BD26961}"/>
              </a:ext>
            </a:extLst>
          </p:cNvPr>
          <p:cNvSpPr>
            <a:spLocks xmlns:a="http://schemas.openxmlformats.org/drawingml/2006/main" noGrp="1"/>
          </p:cNvSpPr>
          <p:nvPr/>
        </p:nvSpPr>
        <p:spPr>
          <a:xfrm xmlns:a="http://schemas.openxmlformats.org/drawingml/2006/main">
            <a:off x="504825" y="3698081"/>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完成 UI 界面设计，实现不同页面切换</a:t>
            </a:r>
          </a:p>
        </p:txBody>
      </p:sp>
      <p:sp>
        <p:nvSpPr>
          <p:cNvPr id="35" name="">
            <a:extLst xmlns:a="http://schemas.openxmlformats.org/drawingml/2006/main">
              <a:ext uri="{FF2B5EF4-FFF2-40B4-BE49-F238E27FC236}">
                <a16:creationId xmlns:a16="http://schemas.microsoft.com/office/drawing/2014/main" id="{12FE239E-7538-435D-98B8-9258663AD6F2}"/>
              </a:ext>
            </a:extLst>
          </p:cNvPr>
          <p:cNvSpPr>
            <a:spLocks xmlns:a="http://schemas.openxmlformats.org/drawingml/2006/main" noGrp="1"/>
          </p:cNvSpPr>
          <p:nvPr/>
        </p:nvSpPr>
        <p:spPr>
          <a:xfrm xmlns:a="http://schemas.openxmlformats.org/drawingml/2006/main">
            <a:off x="4203700" y="3669506"/>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5A3666EE-B394-4416-B3B8-109AAA0C1C6E}"/>
              </a:ext>
            </a:extLst>
          </p:cNvPr>
          <p:cNvSpPr>
            <a:spLocks xmlns:a="http://schemas.openxmlformats.org/drawingml/2006/main" noGrp="1"/>
          </p:cNvSpPr>
          <p:nvPr/>
        </p:nvSpPr>
        <p:spPr>
          <a:xfrm xmlns:a="http://schemas.openxmlformats.org/drawingml/2006/main">
            <a:off x="4251325" y="3698081"/>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实现开屏、大厅、人机、规则、设置、教程、蓝牙房间、牌桌、结算和玩家中心</a:t>
            </a:r>
          </a:p>
        </p:txBody>
      </p:sp>
      <p:sp>
        <p:nvSpPr>
          <p:cNvPr id="37" name="">
            <a:extLst xmlns:a="http://schemas.openxmlformats.org/drawingml/2006/main">
              <a:ext uri="{FF2B5EF4-FFF2-40B4-BE49-F238E27FC236}">
                <a16:creationId xmlns:a16="http://schemas.microsoft.com/office/drawing/2014/main" id="{24B82525-1FC6-4E24-BB09-E456674C6FB5}"/>
              </a:ext>
            </a:extLst>
          </p:cNvPr>
          <p:cNvSpPr>
            <a:spLocks xmlns:a="http://schemas.openxmlformats.org/drawingml/2006/main" noGrp="1"/>
          </p:cNvSpPr>
          <p:nvPr/>
        </p:nvSpPr>
        <p:spPr>
          <a:xfrm xmlns:a="http://schemas.openxmlformats.org/drawingml/2006/main">
            <a:off x="7950200" y="3669506"/>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12597FCE-B4BB-41D5-9C10-1D860EC8F057}"/>
              </a:ext>
            </a:extLst>
          </p:cNvPr>
          <p:cNvSpPr>
            <a:spLocks xmlns:a="http://schemas.openxmlformats.org/drawingml/2006/main" noGrp="1"/>
          </p:cNvSpPr>
          <p:nvPr/>
        </p:nvSpPr>
        <p:spPr>
          <a:xfrm xmlns:a="http://schemas.openxmlformats.org/drawingml/2006/main">
            <a:off x="7997825" y="3698081"/>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app/src/main/java/com/example/uml_chudadi/view/ChudadiApp.kt</a:t>
            </a:r>
          </a:p>
        </p:txBody>
      </p:sp>
      <p:sp>
        <p:nvSpPr>
          <p:cNvPr id="39" name="">
            <a:extLst xmlns:a="http://schemas.openxmlformats.org/drawingml/2006/main">
              <a:ext uri="{FF2B5EF4-FFF2-40B4-BE49-F238E27FC236}">
                <a16:creationId xmlns:a16="http://schemas.microsoft.com/office/drawing/2014/main" id="{900012EC-7158-4D30-82EE-14AF416CC06A}"/>
              </a:ext>
            </a:extLst>
          </p:cNvPr>
          <p:cNvSpPr>
            <a:spLocks xmlns:a="http://schemas.openxmlformats.org/drawingml/2006/main" noGrp="1"/>
          </p:cNvSpPr>
          <p:nvPr/>
        </p:nvSpPr>
        <p:spPr>
          <a:xfrm xmlns:a="http://schemas.openxmlformats.org/drawingml/2006/main">
            <a:off x="457200" y="4124325"/>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13387C72-3863-4BEA-B638-E8BAE60C3935}"/>
              </a:ext>
            </a:extLst>
          </p:cNvPr>
          <p:cNvSpPr>
            <a:spLocks xmlns:a="http://schemas.openxmlformats.org/drawingml/2006/main" noGrp="1"/>
          </p:cNvSpPr>
          <p:nvPr/>
        </p:nvSpPr>
        <p:spPr>
          <a:xfrm xmlns:a="http://schemas.openxmlformats.org/drawingml/2006/main">
            <a:off x="504825" y="4152900"/>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实现多人的蓝牙连接，提供多名玩家联机对战功能</a:t>
            </a:r>
          </a:p>
        </p:txBody>
      </p:sp>
      <p:sp>
        <p:nvSpPr>
          <p:cNvPr id="41" name="">
            <a:extLst xmlns:a="http://schemas.openxmlformats.org/drawingml/2006/main">
              <a:ext uri="{FF2B5EF4-FFF2-40B4-BE49-F238E27FC236}">
                <a16:creationId xmlns:a16="http://schemas.microsoft.com/office/drawing/2014/main" id="{2A1429E7-23CD-4C98-BB66-9FBBABE901C4}"/>
              </a:ext>
            </a:extLst>
          </p:cNvPr>
          <p:cNvSpPr>
            <a:spLocks xmlns:a="http://schemas.openxmlformats.org/drawingml/2006/main" noGrp="1"/>
          </p:cNvSpPr>
          <p:nvPr/>
        </p:nvSpPr>
        <p:spPr>
          <a:xfrm xmlns:a="http://schemas.openxmlformats.org/drawingml/2006/main">
            <a:off x="4203700" y="4124325"/>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0A3CDB00-7ABD-44E5-B857-AB0B2E9CC538}"/>
              </a:ext>
            </a:extLst>
          </p:cNvPr>
          <p:cNvSpPr>
            <a:spLocks xmlns:a="http://schemas.openxmlformats.org/drawingml/2006/main" noGrp="1"/>
          </p:cNvSpPr>
          <p:nvPr/>
        </p:nvSpPr>
        <p:spPr>
          <a:xfrm xmlns:a="http://schemas.openxmlformats.org/drawingml/2006/main">
            <a:off x="4251325" y="4152900"/>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71146"/>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实现房主 C/S 房间、四座位、加入者连接、人机补位、房主广播、状态快照、客户端断线托管和房主断线弹窗退出</a:t>
            </a:r>
          </a:p>
        </p:txBody>
      </p:sp>
      <p:sp>
        <p:nvSpPr>
          <p:cNvPr id="43" name="">
            <a:extLst xmlns:a="http://schemas.openxmlformats.org/drawingml/2006/main">
              <a:ext uri="{FF2B5EF4-FFF2-40B4-BE49-F238E27FC236}">
                <a16:creationId xmlns:a16="http://schemas.microsoft.com/office/drawing/2014/main" id="{F05F257D-840F-48E4-9025-2D71EABEC7D3}"/>
              </a:ext>
            </a:extLst>
          </p:cNvPr>
          <p:cNvSpPr>
            <a:spLocks xmlns:a="http://schemas.openxmlformats.org/drawingml/2006/main" noGrp="1"/>
          </p:cNvSpPr>
          <p:nvPr/>
        </p:nvSpPr>
        <p:spPr>
          <a:xfrm xmlns:a="http://schemas.openxmlformats.org/drawingml/2006/main">
            <a:off x="7950200" y="4124325"/>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A46A8D2D-21F7-4114-8849-A9E0B2354568}"/>
              </a:ext>
            </a:extLst>
          </p:cNvPr>
          <p:cNvSpPr>
            <a:spLocks xmlns:a="http://schemas.openxmlformats.org/drawingml/2006/main" noGrp="1"/>
          </p:cNvSpPr>
          <p:nvPr/>
        </p:nvSpPr>
        <p:spPr>
          <a:xfrm xmlns:a="http://schemas.openxmlformats.org/drawingml/2006/main">
            <a:off x="7997825" y="4152900"/>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transport/，SimulatedBluetoothHubTest</a:t>
            </a:r>
          </a:p>
        </p:txBody>
      </p:sp>
      <p:sp>
        <p:nvSpPr>
          <p:cNvPr id="45" name="">
            <a:extLst xmlns:a="http://schemas.openxmlformats.org/drawingml/2006/main">
              <a:ext uri="{FF2B5EF4-FFF2-40B4-BE49-F238E27FC236}">
                <a16:creationId xmlns:a16="http://schemas.microsoft.com/office/drawing/2014/main" id="{BC16A00F-17A0-40C0-8123-0FCE1AB05A38}"/>
              </a:ext>
            </a:extLst>
          </p:cNvPr>
          <p:cNvSpPr>
            <a:spLocks xmlns:a="http://schemas.openxmlformats.org/drawingml/2006/main" noGrp="1"/>
          </p:cNvSpPr>
          <p:nvPr/>
        </p:nvSpPr>
        <p:spPr>
          <a:xfrm xmlns:a="http://schemas.openxmlformats.org/drawingml/2006/main">
            <a:off x="457200" y="4579144"/>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13588636-2E02-4299-9F1C-2E0455393820}"/>
              </a:ext>
            </a:extLst>
          </p:cNvPr>
          <p:cNvSpPr>
            <a:spLocks xmlns:a="http://schemas.openxmlformats.org/drawingml/2006/main" noGrp="1"/>
          </p:cNvSpPr>
          <p:nvPr/>
        </p:nvSpPr>
        <p:spPr>
          <a:xfrm xmlns:a="http://schemas.openxmlformats.org/drawingml/2006/main">
            <a:off x="504825" y="4607719"/>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适配玩家自由选择南北规则的不同玩法</a:t>
            </a:r>
          </a:p>
        </p:txBody>
      </p:sp>
      <p:sp>
        <p:nvSpPr>
          <p:cNvPr id="47" name="">
            <a:extLst xmlns:a="http://schemas.openxmlformats.org/drawingml/2006/main">
              <a:ext uri="{FF2B5EF4-FFF2-40B4-BE49-F238E27FC236}">
                <a16:creationId xmlns:a16="http://schemas.microsoft.com/office/drawing/2014/main" id="{16A29231-C0ED-4561-9184-F2D85FC6C589}"/>
              </a:ext>
            </a:extLst>
          </p:cNvPr>
          <p:cNvSpPr>
            <a:spLocks xmlns:a="http://schemas.openxmlformats.org/drawingml/2006/main" noGrp="1"/>
          </p:cNvSpPr>
          <p:nvPr/>
        </p:nvSpPr>
        <p:spPr>
          <a:xfrm xmlns:a="http://schemas.openxmlformats.org/drawingml/2006/main">
            <a:off x="4203700" y="4579144"/>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A606F6B9-5980-4560-B873-7C223BEFD285}"/>
              </a:ext>
            </a:extLst>
          </p:cNvPr>
          <p:cNvSpPr>
            <a:spLocks xmlns:a="http://schemas.openxmlformats.org/drawingml/2006/main" noGrp="1"/>
          </p:cNvSpPr>
          <p:nvPr/>
        </p:nvSpPr>
        <p:spPr>
          <a:xfrm xmlns:a="http://schemas.openxmlformats.org/drawingml/2006/main">
            <a:off x="4251325" y="4607719"/>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实现北方规则和南方规则，支持本机保存并应用到后续对局</a:t>
            </a:r>
          </a:p>
        </p:txBody>
      </p:sp>
      <p:sp>
        <p:nvSpPr>
          <p:cNvPr id="49" name="">
            <a:extLst xmlns:a="http://schemas.openxmlformats.org/drawingml/2006/main">
              <a:ext uri="{FF2B5EF4-FFF2-40B4-BE49-F238E27FC236}">
                <a16:creationId xmlns:a16="http://schemas.microsoft.com/office/drawing/2014/main" id="{844B15C6-6402-40F5-AAB5-316472417755}"/>
              </a:ext>
            </a:extLst>
          </p:cNvPr>
          <p:cNvSpPr>
            <a:spLocks xmlns:a="http://schemas.openxmlformats.org/drawingml/2006/main" noGrp="1"/>
          </p:cNvSpPr>
          <p:nvPr/>
        </p:nvSpPr>
        <p:spPr>
          <a:xfrm xmlns:a="http://schemas.openxmlformats.org/drawingml/2006/main">
            <a:off x="7950200" y="4579144"/>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80F202F2-E644-47D1-8564-D9F412804755}"/>
              </a:ext>
            </a:extLst>
          </p:cNvPr>
          <p:cNvSpPr>
            <a:spLocks xmlns:a="http://schemas.openxmlformats.org/drawingml/2006/main" noGrp="1"/>
          </p:cNvSpPr>
          <p:nvPr/>
        </p:nvSpPr>
        <p:spPr>
          <a:xfrm xmlns:a="http://schemas.openxmlformats.org/drawingml/2006/main">
            <a:off x="7997825" y="4607719"/>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model/RuleSet.kt，HandClassifierTest</a:t>
            </a:r>
          </a:p>
        </p:txBody>
      </p:sp>
      <p:sp>
        <p:nvSpPr>
          <p:cNvPr id="51" name="">
            <a:extLst xmlns:a="http://schemas.openxmlformats.org/drawingml/2006/main">
              <a:ext uri="{FF2B5EF4-FFF2-40B4-BE49-F238E27FC236}">
                <a16:creationId xmlns:a16="http://schemas.microsoft.com/office/drawing/2014/main" id="{4560EDBE-125B-435B-B3A7-A590C0FE6344}"/>
              </a:ext>
            </a:extLst>
          </p:cNvPr>
          <p:cNvSpPr>
            <a:spLocks xmlns:a="http://schemas.openxmlformats.org/drawingml/2006/main" noGrp="1"/>
          </p:cNvSpPr>
          <p:nvPr/>
        </p:nvSpPr>
        <p:spPr>
          <a:xfrm xmlns:a="http://schemas.openxmlformats.org/drawingml/2006/main">
            <a:off x="457200" y="5033963"/>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F3EF3DEC-719D-4C16-8E51-A39B7C9B8161}"/>
              </a:ext>
            </a:extLst>
          </p:cNvPr>
          <p:cNvSpPr>
            <a:spLocks xmlns:a="http://schemas.openxmlformats.org/drawingml/2006/main" noGrp="1"/>
          </p:cNvSpPr>
          <p:nvPr/>
        </p:nvSpPr>
        <p:spPr>
          <a:xfrm xmlns:a="http://schemas.openxmlformats.org/drawingml/2006/main">
            <a:off x="504825" y="5062538"/>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对扑克牌博弈 AI 模块提供不同 AI 算法策略，至少 2 种，使用策略模式</a:t>
            </a:r>
          </a:p>
        </p:txBody>
      </p:sp>
      <p:sp>
        <p:nvSpPr>
          <p:cNvPr id="53" name="">
            <a:extLst xmlns:a="http://schemas.openxmlformats.org/drawingml/2006/main">
              <a:ext uri="{FF2B5EF4-FFF2-40B4-BE49-F238E27FC236}">
                <a16:creationId xmlns:a16="http://schemas.microsoft.com/office/drawing/2014/main" id="{354A322E-1DF3-4634-BBFC-9F3EFD377A35}"/>
              </a:ext>
            </a:extLst>
          </p:cNvPr>
          <p:cNvSpPr>
            <a:spLocks xmlns:a="http://schemas.openxmlformats.org/drawingml/2006/main" noGrp="1"/>
          </p:cNvSpPr>
          <p:nvPr/>
        </p:nvSpPr>
        <p:spPr>
          <a:xfrm xmlns:a="http://schemas.openxmlformats.org/drawingml/2006/main">
            <a:off x="4203700" y="5033963"/>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E957EE68-1186-463A-BF82-D1299B25FCCC}"/>
              </a:ext>
            </a:extLst>
          </p:cNvPr>
          <p:cNvSpPr>
            <a:spLocks xmlns:a="http://schemas.openxmlformats.org/drawingml/2006/main" noGrp="1"/>
          </p:cNvSpPr>
          <p:nvPr/>
        </p:nvSpPr>
        <p:spPr>
          <a:xfrm xmlns:a="http://schemas.openxmlformats.org/drawingml/2006/main">
            <a:off x="4251325" y="5062538"/>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实现简单、普通、困难三档 AI，包括贪心、启发式和模拟评估策略</a:t>
            </a:r>
          </a:p>
        </p:txBody>
      </p:sp>
      <p:sp>
        <p:nvSpPr>
          <p:cNvPr id="55" name="">
            <a:extLst xmlns:a="http://schemas.openxmlformats.org/drawingml/2006/main">
              <a:ext uri="{FF2B5EF4-FFF2-40B4-BE49-F238E27FC236}">
                <a16:creationId xmlns:a16="http://schemas.microsoft.com/office/drawing/2014/main" id="{A99690C3-2E87-4625-966D-9078A3DC6008}"/>
              </a:ext>
            </a:extLst>
          </p:cNvPr>
          <p:cNvSpPr>
            <a:spLocks xmlns:a="http://schemas.openxmlformats.org/drawingml/2006/main" noGrp="1"/>
          </p:cNvSpPr>
          <p:nvPr/>
        </p:nvSpPr>
        <p:spPr>
          <a:xfrm xmlns:a="http://schemas.openxmlformats.org/drawingml/2006/main">
            <a:off x="7950200" y="5033963"/>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3E129BFB-C2FD-465C-A4FC-7541D86257EF}"/>
              </a:ext>
            </a:extLst>
          </p:cNvPr>
          <p:cNvSpPr>
            <a:spLocks xmlns:a="http://schemas.openxmlformats.org/drawingml/2006/main" noGrp="1"/>
          </p:cNvSpPr>
          <p:nvPr/>
        </p:nvSpPr>
        <p:spPr>
          <a:xfrm xmlns:a="http://schemas.openxmlformats.org/drawingml/2006/main">
            <a:off x="7997825" y="5062538"/>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controller/AiStrategy.kt，GameControllerTest</a:t>
            </a:r>
          </a:p>
        </p:txBody>
      </p:sp>
      <p:sp>
        <p:nvSpPr>
          <p:cNvPr id="57" name="">
            <a:extLst xmlns:a="http://schemas.openxmlformats.org/drawingml/2006/main">
              <a:ext uri="{FF2B5EF4-FFF2-40B4-BE49-F238E27FC236}">
                <a16:creationId xmlns:a16="http://schemas.microsoft.com/office/drawing/2014/main" id="{F845177F-231E-451C-977A-8CF839D2149C}"/>
              </a:ext>
            </a:extLst>
          </p:cNvPr>
          <p:cNvSpPr>
            <a:spLocks xmlns:a="http://schemas.openxmlformats.org/drawingml/2006/main" noGrp="1"/>
          </p:cNvSpPr>
          <p:nvPr/>
        </p:nvSpPr>
        <p:spPr>
          <a:xfrm xmlns:a="http://schemas.openxmlformats.org/drawingml/2006/main">
            <a:off x="457200" y="5488781"/>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8" name="">
            <a:extLst xmlns:a="http://schemas.openxmlformats.org/drawingml/2006/main">
              <a:ext uri="{FF2B5EF4-FFF2-40B4-BE49-F238E27FC236}">
                <a16:creationId xmlns:a16="http://schemas.microsoft.com/office/drawing/2014/main" id="{3B08FAE6-338F-4010-92D8-039D43AD6A3C}"/>
              </a:ext>
            </a:extLst>
          </p:cNvPr>
          <p:cNvSpPr>
            <a:spLocks xmlns:a="http://schemas.openxmlformats.org/drawingml/2006/main" noGrp="1"/>
          </p:cNvSpPr>
          <p:nvPr/>
        </p:nvSpPr>
        <p:spPr>
          <a:xfrm xmlns:a="http://schemas.openxmlformats.org/drawingml/2006/main">
            <a:off x="504825" y="5517356"/>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关键软件工程阶段尽量使用大语言模型和 AI 工具支持，并详尽说明使用情况和效果评价</a:t>
            </a:r>
          </a:p>
        </p:txBody>
      </p:sp>
      <p:sp>
        <p:nvSpPr>
          <p:cNvPr id="59" name="">
            <a:extLst xmlns:a="http://schemas.openxmlformats.org/drawingml/2006/main">
              <a:ext uri="{FF2B5EF4-FFF2-40B4-BE49-F238E27FC236}">
                <a16:creationId xmlns:a16="http://schemas.microsoft.com/office/drawing/2014/main" id="{7624B46F-8752-417A-89BD-154C71A77251}"/>
              </a:ext>
            </a:extLst>
          </p:cNvPr>
          <p:cNvSpPr>
            <a:spLocks xmlns:a="http://schemas.openxmlformats.org/drawingml/2006/main" noGrp="1"/>
          </p:cNvSpPr>
          <p:nvPr/>
        </p:nvSpPr>
        <p:spPr>
          <a:xfrm xmlns:a="http://schemas.openxmlformats.org/drawingml/2006/main">
            <a:off x="4203700" y="5488781"/>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0" name="">
            <a:extLst xmlns:a="http://schemas.openxmlformats.org/drawingml/2006/main">
              <a:ext uri="{FF2B5EF4-FFF2-40B4-BE49-F238E27FC236}">
                <a16:creationId xmlns:a16="http://schemas.microsoft.com/office/drawing/2014/main" id="{5DC120A6-7AF0-4DC0-9E05-E39FA1D8EE59}"/>
              </a:ext>
            </a:extLst>
          </p:cNvPr>
          <p:cNvSpPr>
            <a:spLocks xmlns:a="http://schemas.openxmlformats.org/drawingml/2006/main" noGrp="1"/>
          </p:cNvSpPr>
          <p:nvPr/>
        </p:nvSpPr>
        <p:spPr>
          <a:xfrm xmlns:a="http://schemas.openxmlformats.org/drawingml/2006/main">
            <a:off x="4251325" y="5517356"/>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按需求、设计、UML、编码、测试、发布、文档阶段记录 AI 使用和开发者确认与调整</a:t>
            </a:r>
          </a:p>
        </p:txBody>
      </p:sp>
      <p:sp>
        <p:nvSpPr>
          <p:cNvPr id="61" name="">
            <a:extLst xmlns:a="http://schemas.openxmlformats.org/drawingml/2006/main">
              <a:ext uri="{FF2B5EF4-FFF2-40B4-BE49-F238E27FC236}">
                <a16:creationId xmlns:a16="http://schemas.microsoft.com/office/drawing/2014/main" id="{1BEAAA1E-D9A3-4AA9-823F-21FEB9048FD4}"/>
              </a:ext>
            </a:extLst>
          </p:cNvPr>
          <p:cNvSpPr>
            <a:spLocks xmlns:a="http://schemas.openxmlformats.org/drawingml/2006/main" noGrp="1"/>
          </p:cNvSpPr>
          <p:nvPr/>
        </p:nvSpPr>
        <p:spPr>
          <a:xfrm xmlns:a="http://schemas.openxmlformats.org/drawingml/2006/main">
            <a:off x="7950200" y="5488781"/>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2" name="">
            <a:extLst xmlns:a="http://schemas.openxmlformats.org/drawingml/2006/main">
              <a:ext uri="{FF2B5EF4-FFF2-40B4-BE49-F238E27FC236}">
                <a16:creationId xmlns:a16="http://schemas.microsoft.com/office/drawing/2014/main" id="{F0B5C364-DA26-4026-8A1B-1FF5786629AC}"/>
              </a:ext>
            </a:extLst>
          </p:cNvPr>
          <p:cNvSpPr>
            <a:spLocks xmlns:a="http://schemas.openxmlformats.org/drawingml/2006/main" noGrp="1"/>
          </p:cNvSpPr>
          <p:nvPr/>
        </p:nvSpPr>
        <p:spPr>
          <a:xfrm xmlns:a="http://schemas.openxmlformats.org/drawingml/2006/main">
            <a:off x="7997825" y="5517356"/>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docs/ai_usage.md，本报告第 10 章</a:t>
            </a:r>
          </a:p>
        </p:txBody>
      </p:sp>
    </p:spTree>
    <p:extLst>
      <p:ext uri="{BB962C8B-B14F-4D97-AF65-F5344CB8AC3E}">
        <p14:creationId xmlns:p14="http://schemas.microsoft.com/office/powerpoint/2010/main" val="1746917694"/>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DE8DBA-204C-4C21-92BA-7CB1ABA100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8DB1A8-0CB7-4C2C-BB79-F6440A995B17}"/>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57A1010-931A-4B48-A9FF-F8566CA1F2F0}"/>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1AC61AC1-6616-4771-941A-43AC10CCC055}"/>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软件综合开发实训实验报告</a:t>
            </a:r>
          </a:p>
        </p:txBody>
      </p:sp>
      <p:sp>
        <p:nvSpPr>
          <p:cNvPr id="5" name="">
            <a:extLst xmlns:a="http://schemas.openxmlformats.org/drawingml/2006/main">
              <a:ext uri="{FF2B5EF4-FFF2-40B4-BE49-F238E27FC236}">
                <a16:creationId xmlns:a16="http://schemas.microsoft.com/office/drawing/2014/main" id="{EA8AFC64-24C5-49C8-85F9-C3F2B7A0646A}"/>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109</a:t>
            </a:r>
          </a:p>
        </p:txBody>
      </p:sp>
      <p:sp>
        <p:nvSpPr>
          <p:cNvPr id="6" name="">
            <a:extLst xmlns:a="http://schemas.openxmlformats.org/drawingml/2006/main">
              <a:ext uri="{FF2B5EF4-FFF2-40B4-BE49-F238E27FC236}">
                <a16:creationId xmlns:a16="http://schemas.microsoft.com/office/drawing/2014/main" id="{25D24E84-9FB5-416B-B0C9-517A28F1C93B}"/>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SECTION</a:t>
            </a:r>
          </a:p>
        </p:txBody>
      </p:sp>
      <p:sp>
        <p:nvSpPr>
          <p:cNvPr id="7" name="">
            <a:extLst xmlns:a="http://schemas.openxmlformats.org/drawingml/2006/main">
              <a:ext uri="{FF2B5EF4-FFF2-40B4-BE49-F238E27FC236}">
                <a16:creationId xmlns:a16="http://schemas.microsoft.com/office/drawing/2014/main" id="{16E4A90B-32D8-4EA8-A5D7-56430DD302D5}"/>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9. 评分标准映射表（2/3）</a:t>
            </a:r>
          </a:p>
        </p:txBody>
      </p:sp>
      <p:sp>
        <p:nvSpPr>
          <p:cNvPr id="8" name="">
            <a:extLst xmlns:a="http://schemas.openxmlformats.org/drawingml/2006/main">
              <a:ext uri="{FF2B5EF4-FFF2-40B4-BE49-F238E27FC236}">
                <a16:creationId xmlns:a16="http://schemas.microsoft.com/office/drawing/2014/main" id="{8275A4C3-E15A-4699-B219-84C8C011EAB3}"/>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AB297A0-E194-465C-B0C1-2C1936976732}"/>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UML 图与评分标准的对应关系进一步细化如下：</a:t>
            </a:r>
          </a:p>
        </p:txBody>
      </p:sp>
    </p:spTree>
    <p:extLst>
      <p:ext uri="{BB962C8B-B14F-4D97-AF65-F5344CB8AC3E}">
        <p14:creationId xmlns:p14="http://schemas.microsoft.com/office/powerpoint/2010/main" val="1481886247"/>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014B61-E241-4884-838D-3127235C6D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2D3AF2-A868-4500-8216-E65D2DC88F0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137999-9168-460B-9EBB-51446F5EE7C3}"/>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47C316BD-A198-4548-B8FB-EC6C27BA1F2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软件综合开发实训实验报告</a:t>
            </a:r>
          </a:p>
        </p:txBody>
      </p:sp>
      <p:sp>
        <p:nvSpPr>
          <p:cNvPr id="5" name="">
            <a:extLst xmlns:a="http://schemas.openxmlformats.org/drawingml/2006/main">
              <a:ext uri="{FF2B5EF4-FFF2-40B4-BE49-F238E27FC236}">
                <a16:creationId xmlns:a16="http://schemas.microsoft.com/office/drawing/2014/main" id="{34BDF884-C3F5-46CE-9081-60DF5692711C}"/>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110</a:t>
            </a:r>
          </a:p>
        </p:txBody>
      </p:sp>
      <p:sp>
        <p:nvSpPr>
          <p:cNvPr id="6" name="">
            <a:extLst xmlns:a="http://schemas.openxmlformats.org/drawingml/2006/main">
              <a:ext uri="{FF2B5EF4-FFF2-40B4-BE49-F238E27FC236}">
                <a16:creationId xmlns:a16="http://schemas.microsoft.com/office/drawing/2014/main" id="{E187FBC0-AB49-4B1D-9420-F474E9F74C10}"/>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SECTION</a:t>
            </a:r>
          </a:p>
        </p:txBody>
      </p:sp>
      <p:sp>
        <p:nvSpPr>
          <p:cNvPr id="7" name="">
            <a:extLst xmlns:a="http://schemas.openxmlformats.org/drawingml/2006/main">
              <a:ext uri="{FF2B5EF4-FFF2-40B4-BE49-F238E27FC236}">
                <a16:creationId xmlns:a16="http://schemas.microsoft.com/office/drawing/2014/main" id="{B9D20B60-DFF8-4920-948C-14F62F4C5347}"/>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9. 评分标准映射表（3/3）</a:t>
            </a:r>
          </a:p>
        </p:txBody>
      </p:sp>
      <p:sp>
        <p:nvSpPr>
          <p:cNvPr id="8" name="">
            <a:extLst xmlns:a="http://schemas.openxmlformats.org/drawingml/2006/main">
              <a:ext uri="{FF2B5EF4-FFF2-40B4-BE49-F238E27FC236}">
                <a16:creationId xmlns:a16="http://schemas.microsoft.com/office/drawing/2014/main" id="{79575B4A-28C7-40BF-8DCB-13379ED42529}"/>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F6298D2-ABB4-4097-9FCB-2F9FEA043792}"/>
              </a:ext>
            </a:extLst>
          </p:cNvPr>
          <p:cNvSpPr>
            <a:spLocks xmlns:a="http://schemas.openxmlformats.org/drawingml/2006/main" noGrp="1"/>
          </p:cNvSpPr>
          <p:nvPr/>
        </p:nvSpPr>
        <p:spPr>
          <a:xfrm xmlns:a="http://schemas.openxmlformats.org/drawingml/2006/main">
            <a:off x="457200" y="1905000"/>
            <a:ext cx="37465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64B52C50-EB59-4BCE-AA1C-7FBFB723D33E}"/>
              </a:ext>
            </a:extLst>
          </p:cNvPr>
          <p:cNvSpPr>
            <a:spLocks xmlns:a="http://schemas.openxmlformats.org/drawingml/2006/main" noGrp="1"/>
          </p:cNvSpPr>
          <p:nvPr/>
        </p:nvSpPr>
        <p:spPr>
          <a:xfrm xmlns:a="http://schemas.openxmlformats.org/drawingml/2006/main">
            <a:off x="504825" y="1943100"/>
            <a:ext cx="365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评分点</a:t>
            </a:r>
          </a:p>
        </p:txBody>
      </p:sp>
      <p:sp>
        <p:nvSpPr>
          <p:cNvPr id="11" name="">
            <a:extLst xmlns:a="http://schemas.openxmlformats.org/drawingml/2006/main">
              <a:ext uri="{FF2B5EF4-FFF2-40B4-BE49-F238E27FC236}">
                <a16:creationId xmlns:a16="http://schemas.microsoft.com/office/drawing/2014/main" id="{B03FE313-7601-48CA-93E4-97F088ECEF85}"/>
              </a:ext>
            </a:extLst>
          </p:cNvPr>
          <p:cNvSpPr>
            <a:spLocks xmlns:a="http://schemas.openxmlformats.org/drawingml/2006/main" noGrp="1"/>
          </p:cNvSpPr>
          <p:nvPr/>
        </p:nvSpPr>
        <p:spPr>
          <a:xfrm xmlns:a="http://schemas.openxmlformats.org/drawingml/2006/main">
            <a:off x="4203700" y="1905000"/>
            <a:ext cx="37465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E05CD7A5-E616-4077-B1CF-6C77ACD98FB9}"/>
              </a:ext>
            </a:extLst>
          </p:cNvPr>
          <p:cNvSpPr>
            <a:spLocks xmlns:a="http://schemas.openxmlformats.org/drawingml/2006/main" noGrp="1"/>
          </p:cNvSpPr>
          <p:nvPr/>
        </p:nvSpPr>
        <p:spPr>
          <a:xfrm xmlns:a="http://schemas.openxmlformats.org/drawingml/2006/main">
            <a:off x="4251325" y="1943100"/>
            <a:ext cx="365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UML 图证据</a:t>
            </a:r>
          </a:p>
        </p:txBody>
      </p:sp>
      <p:sp>
        <p:nvSpPr>
          <p:cNvPr id="13" name="">
            <a:extLst xmlns:a="http://schemas.openxmlformats.org/drawingml/2006/main">
              <a:ext uri="{FF2B5EF4-FFF2-40B4-BE49-F238E27FC236}">
                <a16:creationId xmlns:a16="http://schemas.microsoft.com/office/drawing/2014/main" id="{0A2D44E0-49CE-4A6F-AAED-2C4BDD381542}"/>
              </a:ext>
            </a:extLst>
          </p:cNvPr>
          <p:cNvSpPr>
            <a:spLocks xmlns:a="http://schemas.openxmlformats.org/drawingml/2006/main" noGrp="1"/>
          </p:cNvSpPr>
          <p:nvPr/>
        </p:nvSpPr>
        <p:spPr>
          <a:xfrm xmlns:a="http://schemas.openxmlformats.org/drawingml/2006/main">
            <a:off x="7950200" y="1905000"/>
            <a:ext cx="374650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1F0C7A3B-3949-49E5-A93A-EE7C3D100BAB}"/>
              </a:ext>
            </a:extLst>
          </p:cNvPr>
          <p:cNvSpPr>
            <a:spLocks xmlns:a="http://schemas.openxmlformats.org/drawingml/2006/main" noGrp="1"/>
          </p:cNvSpPr>
          <p:nvPr/>
        </p:nvSpPr>
        <p:spPr>
          <a:xfrm xmlns:a="http://schemas.openxmlformats.org/drawingml/2006/main">
            <a:off x="7997825" y="1943100"/>
            <a:ext cx="365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说明</a:t>
            </a:r>
          </a:p>
        </p:txBody>
      </p:sp>
      <p:sp>
        <p:nvSpPr>
          <p:cNvPr id="15" name="">
            <a:extLst xmlns:a="http://schemas.openxmlformats.org/drawingml/2006/main">
              <a:ext uri="{FF2B5EF4-FFF2-40B4-BE49-F238E27FC236}">
                <a16:creationId xmlns:a16="http://schemas.microsoft.com/office/drawing/2014/main" id="{A78B023B-208A-4709-B419-D1A00D585CFD}"/>
              </a:ext>
            </a:extLst>
          </p:cNvPr>
          <p:cNvSpPr>
            <a:spLocks xmlns:a="http://schemas.openxmlformats.org/drawingml/2006/main" noGrp="1"/>
          </p:cNvSpPr>
          <p:nvPr/>
        </p:nvSpPr>
        <p:spPr>
          <a:xfrm xmlns:a="http://schemas.openxmlformats.org/drawingml/2006/main">
            <a:off x="457200" y="2305050"/>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89F264EF-13CC-4B62-B19F-25ED034653A1}"/>
              </a:ext>
            </a:extLst>
          </p:cNvPr>
          <p:cNvSpPr>
            <a:spLocks xmlns:a="http://schemas.openxmlformats.org/drawingml/2006/main" noGrp="1"/>
          </p:cNvSpPr>
          <p:nvPr/>
        </p:nvSpPr>
        <p:spPr>
          <a:xfrm xmlns:a="http://schemas.openxmlformats.org/drawingml/2006/main">
            <a:off x="504825" y="2333625"/>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ProcessOn UML 7 大图建模</a:t>
            </a:r>
          </a:p>
        </p:txBody>
      </p:sp>
      <p:sp>
        <p:nvSpPr>
          <p:cNvPr id="17" name="">
            <a:extLst xmlns:a="http://schemas.openxmlformats.org/drawingml/2006/main">
              <a:ext uri="{FF2B5EF4-FFF2-40B4-BE49-F238E27FC236}">
                <a16:creationId xmlns:a16="http://schemas.microsoft.com/office/drawing/2014/main" id="{6F149CC9-56B6-4A3C-BF68-D5009681D811}"/>
              </a:ext>
            </a:extLst>
          </p:cNvPr>
          <p:cNvSpPr>
            <a:spLocks xmlns:a="http://schemas.openxmlformats.org/drawingml/2006/main" noGrp="1"/>
          </p:cNvSpPr>
          <p:nvPr/>
        </p:nvSpPr>
        <p:spPr>
          <a:xfrm xmlns:a="http://schemas.openxmlformats.org/drawingml/2006/main">
            <a:off x="4203700" y="2305050"/>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08973403-F79E-4CC0-B7B1-DDE029B00001}"/>
              </a:ext>
            </a:extLst>
          </p:cNvPr>
          <p:cNvSpPr>
            <a:spLocks xmlns:a="http://schemas.openxmlformats.org/drawingml/2006/main" noGrp="1"/>
          </p:cNvSpPr>
          <p:nvPr/>
        </p:nvSpPr>
        <p:spPr>
          <a:xfrm xmlns:a="http://schemas.openxmlformats.org/drawingml/2006/main">
            <a:off x="4251325" y="2333625"/>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用例图、类图、顺序图、状态图、活动图、组件图、部署图</a:t>
            </a:r>
          </a:p>
        </p:txBody>
      </p:sp>
      <p:sp>
        <p:nvSpPr>
          <p:cNvPr id="19" name="">
            <a:extLst xmlns:a="http://schemas.openxmlformats.org/drawingml/2006/main">
              <a:ext uri="{FF2B5EF4-FFF2-40B4-BE49-F238E27FC236}">
                <a16:creationId xmlns:a16="http://schemas.microsoft.com/office/drawing/2014/main" id="{93197441-17E9-43EC-A5CF-94652F075665}"/>
              </a:ext>
            </a:extLst>
          </p:cNvPr>
          <p:cNvSpPr>
            <a:spLocks xmlns:a="http://schemas.openxmlformats.org/drawingml/2006/main" noGrp="1"/>
          </p:cNvSpPr>
          <p:nvPr/>
        </p:nvSpPr>
        <p:spPr>
          <a:xfrm xmlns:a="http://schemas.openxmlformats.org/drawingml/2006/main">
            <a:off x="7950200" y="2305050"/>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F1F8E7FB-066C-480F-8D78-85E05A09E6FA}"/>
              </a:ext>
            </a:extLst>
          </p:cNvPr>
          <p:cNvSpPr>
            <a:spLocks xmlns:a="http://schemas.openxmlformats.org/drawingml/2006/main" noGrp="1"/>
          </p:cNvSpPr>
          <p:nvPr/>
        </p:nvSpPr>
        <p:spPr>
          <a:xfrm xmlns:a="http://schemas.openxmlformats.org/drawingml/2006/main">
            <a:off x="7997825" y="2333625"/>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覆盖实训要求中的 UML 7 大图，正式图通过 PlantUML 内容导入或参照迁移到 ProcessOn UML 绘制</a:t>
            </a:r>
          </a:p>
        </p:txBody>
      </p:sp>
      <p:sp>
        <p:nvSpPr>
          <p:cNvPr id="21" name="">
            <a:extLst xmlns:a="http://schemas.openxmlformats.org/drawingml/2006/main">
              <a:ext uri="{FF2B5EF4-FFF2-40B4-BE49-F238E27FC236}">
                <a16:creationId xmlns:a16="http://schemas.microsoft.com/office/drawing/2014/main" id="{3586B80B-46ED-4141-9734-1D075878103C}"/>
              </a:ext>
            </a:extLst>
          </p:cNvPr>
          <p:cNvSpPr>
            <a:spLocks xmlns:a="http://schemas.openxmlformats.org/drawingml/2006/main" noGrp="1"/>
          </p:cNvSpPr>
          <p:nvPr/>
        </p:nvSpPr>
        <p:spPr>
          <a:xfrm xmlns:a="http://schemas.openxmlformats.org/drawingml/2006/main">
            <a:off x="457200" y="2759869"/>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9DDC6E7D-B925-4D46-8C4D-52074F04B950}"/>
              </a:ext>
            </a:extLst>
          </p:cNvPr>
          <p:cNvSpPr>
            <a:spLocks xmlns:a="http://schemas.openxmlformats.org/drawingml/2006/main" noGrp="1"/>
          </p:cNvSpPr>
          <p:nvPr/>
        </p:nvSpPr>
        <p:spPr>
          <a:xfrm xmlns:a="http://schemas.openxmlformats.org/drawingml/2006/main">
            <a:off x="504825" y="2788444"/>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需求分析和面向对象设计</a:t>
            </a:r>
          </a:p>
        </p:txBody>
      </p:sp>
      <p:sp>
        <p:nvSpPr>
          <p:cNvPr id="23" name="">
            <a:extLst xmlns:a="http://schemas.openxmlformats.org/drawingml/2006/main">
              <a:ext uri="{FF2B5EF4-FFF2-40B4-BE49-F238E27FC236}">
                <a16:creationId xmlns:a16="http://schemas.microsoft.com/office/drawing/2014/main" id="{257F72DB-8525-492D-9BB3-5B78B1B35718}"/>
              </a:ext>
            </a:extLst>
          </p:cNvPr>
          <p:cNvSpPr>
            <a:spLocks xmlns:a="http://schemas.openxmlformats.org/drawingml/2006/main" noGrp="1"/>
          </p:cNvSpPr>
          <p:nvPr/>
        </p:nvSpPr>
        <p:spPr>
          <a:xfrm xmlns:a="http://schemas.openxmlformats.org/drawingml/2006/main">
            <a:off x="4203700" y="2759869"/>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FE774B75-F3DC-4DA6-82FE-054A0AC34A7D}"/>
              </a:ext>
            </a:extLst>
          </p:cNvPr>
          <p:cNvSpPr>
            <a:spLocks xmlns:a="http://schemas.openxmlformats.org/drawingml/2006/main" noGrp="1"/>
          </p:cNvSpPr>
          <p:nvPr/>
        </p:nvSpPr>
        <p:spPr>
          <a:xfrm xmlns:a="http://schemas.openxmlformats.org/drawingml/2006/main">
            <a:off x="4251325" y="2788444"/>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用例图、类图、顺序图</a:t>
            </a:r>
          </a:p>
        </p:txBody>
      </p:sp>
      <p:sp>
        <p:nvSpPr>
          <p:cNvPr id="25" name="">
            <a:extLst xmlns:a="http://schemas.openxmlformats.org/drawingml/2006/main">
              <a:ext uri="{FF2B5EF4-FFF2-40B4-BE49-F238E27FC236}">
                <a16:creationId xmlns:a16="http://schemas.microsoft.com/office/drawing/2014/main" id="{AC1C52B9-A9A1-4344-94DE-51841B71E256}"/>
              </a:ext>
            </a:extLst>
          </p:cNvPr>
          <p:cNvSpPr>
            <a:spLocks xmlns:a="http://schemas.openxmlformats.org/drawingml/2006/main" noGrp="1"/>
          </p:cNvSpPr>
          <p:nvPr/>
        </p:nvSpPr>
        <p:spPr>
          <a:xfrm xmlns:a="http://schemas.openxmlformats.org/drawingml/2006/main">
            <a:off x="7950200" y="2759869"/>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EC120F5C-B171-4B4B-A41A-36BB1FD7E499}"/>
              </a:ext>
            </a:extLst>
          </p:cNvPr>
          <p:cNvSpPr>
            <a:spLocks xmlns:a="http://schemas.openxmlformats.org/drawingml/2006/main" noGrp="1"/>
          </p:cNvSpPr>
          <p:nvPr/>
        </p:nvSpPr>
        <p:spPr>
          <a:xfrm xmlns:a="http://schemas.openxmlformats.org/drawingml/2006/main">
            <a:off x="7997825" y="2788444"/>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用例图说明需求边界，类图说明领域对象和控制器，顺序图说明系统交互</a:t>
            </a:r>
          </a:p>
        </p:txBody>
      </p:sp>
      <p:sp>
        <p:nvSpPr>
          <p:cNvPr id="27" name="">
            <a:extLst xmlns:a="http://schemas.openxmlformats.org/drawingml/2006/main">
              <a:ext uri="{FF2B5EF4-FFF2-40B4-BE49-F238E27FC236}">
                <a16:creationId xmlns:a16="http://schemas.microsoft.com/office/drawing/2014/main" id="{053AA3E8-3211-4AD3-95DE-FC5CA7AB0E6E}"/>
              </a:ext>
            </a:extLst>
          </p:cNvPr>
          <p:cNvSpPr>
            <a:spLocks xmlns:a="http://schemas.openxmlformats.org/drawingml/2006/main" noGrp="1"/>
          </p:cNvSpPr>
          <p:nvPr/>
        </p:nvSpPr>
        <p:spPr>
          <a:xfrm xmlns:a="http://schemas.openxmlformats.org/drawingml/2006/main">
            <a:off x="457200" y="3214688"/>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B9BE0F2D-F4E1-4178-BEF6-55CAD6CBD3CF}"/>
              </a:ext>
            </a:extLst>
          </p:cNvPr>
          <p:cNvSpPr>
            <a:spLocks xmlns:a="http://schemas.openxmlformats.org/drawingml/2006/main" noGrp="1"/>
          </p:cNvSpPr>
          <p:nvPr/>
        </p:nvSpPr>
        <p:spPr>
          <a:xfrm xmlns:a="http://schemas.openxmlformats.org/drawingml/2006/main">
            <a:off x="504825" y="3243263"/>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设计模式和优化设计</a:t>
            </a:r>
          </a:p>
        </p:txBody>
      </p:sp>
      <p:sp>
        <p:nvSpPr>
          <p:cNvPr id="29" name="">
            <a:extLst xmlns:a="http://schemas.openxmlformats.org/drawingml/2006/main">
              <a:ext uri="{FF2B5EF4-FFF2-40B4-BE49-F238E27FC236}">
                <a16:creationId xmlns:a16="http://schemas.microsoft.com/office/drawing/2014/main" id="{1659F11B-0719-4871-8646-9D0CB86AF5D6}"/>
              </a:ext>
            </a:extLst>
          </p:cNvPr>
          <p:cNvSpPr>
            <a:spLocks xmlns:a="http://schemas.openxmlformats.org/drawingml/2006/main" noGrp="1"/>
          </p:cNvSpPr>
          <p:nvPr/>
        </p:nvSpPr>
        <p:spPr>
          <a:xfrm xmlns:a="http://schemas.openxmlformats.org/drawingml/2006/main">
            <a:off x="4203700" y="3214688"/>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691A417D-6DFD-48C8-A79F-5129C1AD7CE5}"/>
              </a:ext>
            </a:extLst>
          </p:cNvPr>
          <p:cNvSpPr>
            <a:spLocks xmlns:a="http://schemas.openxmlformats.org/drawingml/2006/main" noGrp="1"/>
          </p:cNvSpPr>
          <p:nvPr/>
        </p:nvSpPr>
        <p:spPr>
          <a:xfrm xmlns:a="http://schemas.openxmlformats.org/drawingml/2006/main">
            <a:off x="4251325" y="3243263"/>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类图、组件图、顺序图</a:t>
            </a:r>
          </a:p>
        </p:txBody>
      </p:sp>
      <p:sp>
        <p:nvSpPr>
          <p:cNvPr id="31" name="">
            <a:extLst xmlns:a="http://schemas.openxmlformats.org/drawingml/2006/main">
              <a:ext uri="{FF2B5EF4-FFF2-40B4-BE49-F238E27FC236}">
                <a16:creationId xmlns:a16="http://schemas.microsoft.com/office/drawing/2014/main" id="{D36EFB27-FC17-4E49-AF18-3BEAEBCAD7D6}"/>
              </a:ext>
            </a:extLst>
          </p:cNvPr>
          <p:cNvSpPr>
            <a:spLocks xmlns:a="http://schemas.openxmlformats.org/drawingml/2006/main" noGrp="1"/>
          </p:cNvSpPr>
          <p:nvPr/>
        </p:nvSpPr>
        <p:spPr>
          <a:xfrm xmlns:a="http://schemas.openxmlformats.org/drawingml/2006/main">
            <a:off x="7950200" y="3214688"/>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286BA8AE-DB0E-4968-95AA-5567B9B5A36D}"/>
              </a:ext>
            </a:extLst>
          </p:cNvPr>
          <p:cNvSpPr>
            <a:spLocks xmlns:a="http://schemas.openxmlformats.org/drawingml/2006/main" noGrp="1"/>
          </p:cNvSpPr>
          <p:nvPr/>
        </p:nvSpPr>
        <p:spPr>
          <a:xfrm xmlns:a="http://schemas.openxmlformats.org/drawingml/2006/main">
            <a:off x="7997825" y="3243263"/>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策略模式、仓储模式、编码器/解码器、状态快照和传输抽象都能在图中追踪</a:t>
            </a:r>
          </a:p>
        </p:txBody>
      </p:sp>
      <p:sp>
        <p:nvSpPr>
          <p:cNvPr id="33" name="">
            <a:extLst xmlns:a="http://schemas.openxmlformats.org/drawingml/2006/main">
              <a:ext uri="{FF2B5EF4-FFF2-40B4-BE49-F238E27FC236}">
                <a16:creationId xmlns:a16="http://schemas.microsoft.com/office/drawing/2014/main" id="{E5887EB3-2013-415F-B65D-4964633C5754}"/>
              </a:ext>
            </a:extLst>
          </p:cNvPr>
          <p:cNvSpPr>
            <a:spLocks xmlns:a="http://schemas.openxmlformats.org/drawingml/2006/main" noGrp="1"/>
          </p:cNvSpPr>
          <p:nvPr/>
        </p:nvSpPr>
        <p:spPr>
          <a:xfrm xmlns:a="http://schemas.openxmlformats.org/drawingml/2006/main">
            <a:off x="457200" y="3669506"/>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DF111801-2B37-46AB-879E-5862327E1220}"/>
              </a:ext>
            </a:extLst>
          </p:cNvPr>
          <p:cNvSpPr>
            <a:spLocks xmlns:a="http://schemas.openxmlformats.org/drawingml/2006/main" noGrp="1"/>
          </p:cNvSpPr>
          <p:nvPr/>
        </p:nvSpPr>
        <p:spPr>
          <a:xfrm xmlns:a="http://schemas.openxmlformats.org/drawingml/2006/main">
            <a:off x="504825" y="3698081"/>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UI 页面切换</a:t>
            </a:r>
          </a:p>
        </p:txBody>
      </p:sp>
      <p:sp>
        <p:nvSpPr>
          <p:cNvPr id="35" name="">
            <a:extLst xmlns:a="http://schemas.openxmlformats.org/drawingml/2006/main">
              <a:ext uri="{FF2B5EF4-FFF2-40B4-BE49-F238E27FC236}">
                <a16:creationId xmlns:a16="http://schemas.microsoft.com/office/drawing/2014/main" id="{A8BFA57D-93FD-4119-8E42-B5E3F337B8E6}"/>
              </a:ext>
            </a:extLst>
          </p:cNvPr>
          <p:cNvSpPr>
            <a:spLocks xmlns:a="http://schemas.openxmlformats.org/drawingml/2006/main" noGrp="1"/>
          </p:cNvSpPr>
          <p:nvPr/>
        </p:nvSpPr>
        <p:spPr>
          <a:xfrm xmlns:a="http://schemas.openxmlformats.org/drawingml/2006/main">
            <a:off x="4203700" y="3669506"/>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B38A7769-C616-42DA-9007-3BA4A3134A4D}"/>
              </a:ext>
            </a:extLst>
          </p:cNvPr>
          <p:cNvSpPr>
            <a:spLocks xmlns:a="http://schemas.openxmlformats.org/drawingml/2006/main" noGrp="1"/>
          </p:cNvSpPr>
          <p:nvPr/>
        </p:nvSpPr>
        <p:spPr>
          <a:xfrm xmlns:a="http://schemas.openxmlformats.org/drawingml/2006/main">
            <a:off x="4251325" y="3698081"/>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状态图、活动图</a:t>
            </a:r>
          </a:p>
        </p:txBody>
      </p:sp>
      <p:sp>
        <p:nvSpPr>
          <p:cNvPr id="37" name="">
            <a:extLst xmlns:a="http://schemas.openxmlformats.org/drawingml/2006/main">
              <a:ext uri="{FF2B5EF4-FFF2-40B4-BE49-F238E27FC236}">
                <a16:creationId xmlns:a16="http://schemas.microsoft.com/office/drawing/2014/main" id="{0F4ECC5C-811E-4879-91CD-FB6000B520B8}"/>
              </a:ext>
            </a:extLst>
          </p:cNvPr>
          <p:cNvSpPr>
            <a:spLocks xmlns:a="http://schemas.openxmlformats.org/drawingml/2006/main" noGrp="1"/>
          </p:cNvSpPr>
          <p:nvPr/>
        </p:nvSpPr>
        <p:spPr>
          <a:xfrm xmlns:a="http://schemas.openxmlformats.org/drawingml/2006/main">
            <a:off x="7950200" y="3669506"/>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23D7C0C1-FA6D-4B8A-904D-33EB1AFBED5E}"/>
              </a:ext>
            </a:extLst>
          </p:cNvPr>
          <p:cNvSpPr>
            <a:spLocks xmlns:a="http://schemas.openxmlformats.org/drawingml/2006/main" noGrp="1"/>
          </p:cNvSpPr>
          <p:nvPr/>
        </p:nvSpPr>
        <p:spPr>
          <a:xfrm xmlns:a="http://schemas.openxmlformats.org/drawingml/2006/main">
            <a:off x="7997825" y="3698081"/>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状态图说明页面和牌局阶段，活动图说明玩家一次对局流程</a:t>
            </a:r>
          </a:p>
        </p:txBody>
      </p:sp>
      <p:sp>
        <p:nvSpPr>
          <p:cNvPr id="39" name="">
            <a:extLst xmlns:a="http://schemas.openxmlformats.org/drawingml/2006/main">
              <a:ext uri="{FF2B5EF4-FFF2-40B4-BE49-F238E27FC236}">
                <a16:creationId xmlns:a16="http://schemas.microsoft.com/office/drawing/2014/main" id="{AF9C5EE9-D06B-455B-B983-C89147C4E96B}"/>
              </a:ext>
            </a:extLst>
          </p:cNvPr>
          <p:cNvSpPr>
            <a:spLocks xmlns:a="http://schemas.openxmlformats.org/drawingml/2006/main" noGrp="1"/>
          </p:cNvSpPr>
          <p:nvPr/>
        </p:nvSpPr>
        <p:spPr>
          <a:xfrm xmlns:a="http://schemas.openxmlformats.org/drawingml/2006/main">
            <a:off x="457200" y="4124325"/>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95016DE1-2C53-45AF-8DB8-EDA1E146FCB4}"/>
              </a:ext>
            </a:extLst>
          </p:cNvPr>
          <p:cNvSpPr>
            <a:spLocks xmlns:a="http://schemas.openxmlformats.org/drawingml/2006/main" noGrp="1"/>
          </p:cNvSpPr>
          <p:nvPr/>
        </p:nvSpPr>
        <p:spPr>
          <a:xfrm xmlns:a="http://schemas.openxmlformats.org/drawingml/2006/main">
            <a:off x="504825" y="4152900"/>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多人蓝牙联机</a:t>
            </a:r>
          </a:p>
        </p:txBody>
      </p:sp>
      <p:sp>
        <p:nvSpPr>
          <p:cNvPr id="41" name="">
            <a:extLst xmlns:a="http://schemas.openxmlformats.org/drawingml/2006/main">
              <a:ext uri="{FF2B5EF4-FFF2-40B4-BE49-F238E27FC236}">
                <a16:creationId xmlns:a16="http://schemas.microsoft.com/office/drawing/2014/main" id="{F3A62D9B-FFFC-4FC1-B83E-0DBC625A4D70}"/>
              </a:ext>
            </a:extLst>
          </p:cNvPr>
          <p:cNvSpPr>
            <a:spLocks xmlns:a="http://schemas.openxmlformats.org/drawingml/2006/main" noGrp="1"/>
          </p:cNvSpPr>
          <p:nvPr/>
        </p:nvSpPr>
        <p:spPr>
          <a:xfrm xmlns:a="http://schemas.openxmlformats.org/drawingml/2006/main">
            <a:off x="4203700" y="4124325"/>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4D465B02-7937-4F11-B125-A293C4726820}"/>
              </a:ext>
            </a:extLst>
          </p:cNvPr>
          <p:cNvSpPr>
            <a:spLocks xmlns:a="http://schemas.openxmlformats.org/drawingml/2006/main" noGrp="1"/>
          </p:cNvSpPr>
          <p:nvPr/>
        </p:nvSpPr>
        <p:spPr>
          <a:xfrm xmlns:a="http://schemas.openxmlformats.org/drawingml/2006/main">
            <a:off x="4251325" y="4152900"/>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顺序图、组件图、部署图</a:t>
            </a:r>
          </a:p>
        </p:txBody>
      </p:sp>
      <p:sp>
        <p:nvSpPr>
          <p:cNvPr id="43" name="">
            <a:extLst xmlns:a="http://schemas.openxmlformats.org/drawingml/2006/main">
              <a:ext uri="{FF2B5EF4-FFF2-40B4-BE49-F238E27FC236}">
                <a16:creationId xmlns:a16="http://schemas.microsoft.com/office/drawing/2014/main" id="{0D5E0003-6033-464D-A7EA-D77485553C85}"/>
              </a:ext>
            </a:extLst>
          </p:cNvPr>
          <p:cNvSpPr>
            <a:spLocks xmlns:a="http://schemas.openxmlformats.org/drawingml/2006/main" noGrp="1"/>
          </p:cNvSpPr>
          <p:nvPr/>
        </p:nvSpPr>
        <p:spPr>
          <a:xfrm xmlns:a="http://schemas.openxmlformats.org/drawingml/2006/main">
            <a:off x="7950200" y="4124325"/>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44C10D16-F5B7-464E-ACA6-C74524DCA53F}"/>
              </a:ext>
            </a:extLst>
          </p:cNvPr>
          <p:cNvSpPr>
            <a:spLocks xmlns:a="http://schemas.openxmlformats.org/drawingml/2006/main" noGrp="1"/>
          </p:cNvSpPr>
          <p:nvPr/>
        </p:nvSpPr>
        <p:spPr>
          <a:xfrm xmlns:a="http://schemas.openxmlformats.org/drawingml/2006/main">
            <a:off x="7997825" y="4152900"/>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顺序图说明房主权威同步，组件图说明传输层，部署图说明多台手机和蓝牙栈关系</a:t>
            </a:r>
          </a:p>
        </p:txBody>
      </p:sp>
      <p:sp>
        <p:nvSpPr>
          <p:cNvPr id="45" name="">
            <a:extLst xmlns:a="http://schemas.openxmlformats.org/drawingml/2006/main">
              <a:ext uri="{FF2B5EF4-FFF2-40B4-BE49-F238E27FC236}">
                <a16:creationId xmlns:a16="http://schemas.microsoft.com/office/drawing/2014/main" id="{8BA54B41-F33C-45E7-939B-1BF1DD56125D}"/>
              </a:ext>
            </a:extLst>
          </p:cNvPr>
          <p:cNvSpPr>
            <a:spLocks xmlns:a="http://schemas.openxmlformats.org/drawingml/2006/main" noGrp="1"/>
          </p:cNvSpPr>
          <p:nvPr/>
        </p:nvSpPr>
        <p:spPr>
          <a:xfrm xmlns:a="http://schemas.openxmlformats.org/drawingml/2006/main">
            <a:off x="457200" y="4579144"/>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A497DBE8-706B-4C6F-A61B-93DCD0D96B69}"/>
              </a:ext>
            </a:extLst>
          </p:cNvPr>
          <p:cNvSpPr>
            <a:spLocks xmlns:a="http://schemas.openxmlformats.org/drawingml/2006/main" noGrp="1"/>
          </p:cNvSpPr>
          <p:nvPr/>
        </p:nvSpPr>
        <p:spPr>
          <a:xfrm xmlns:a="http://schemas.openxmlformats.org/drawingml/2006/main">
            <a:off x="504825" y="4607719"/>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南北规则</a:t>
            </a:r>
          </a:p>
        </p:txBody>
      </p:sp>
      <p:sp>
        <p:nvSpPr>
          <p:cNvPr id="47" name="">
            <a:extLst xmlns:a="http://schemas.openxmlformats.org/drawingml/2006/main">
              <a:ext uri="{FF2B5EF4-FFF2-40B4-BE49-F238E27FC236}">
                <a16:creationId xmlns:a16="http://schemas.microsoft.com/office/drawing/2014/main" id="{643D2442-F05B-4068-A972-1299D63AC692}"/>
              </a:ext>
            </a:extLst>
          </p:cNvPr>
          <p:cNvSpPr>
            <a:spLocks xmlns:a="http://schemas.openxmlformats.org/drawingml/2006/main" noGrp="1"/>
          </p:cNvSpPr>
          <p:nvPr/>
        </p:nvSpPr>
        <p:spPr>
          <a:xfrm xmlns:a="http://schemas.openxmlformats.org/drawingml/2006/main">
            <a:off x="4203700" y="4579144"/>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C22CBBCA-1B80-421A-9545-635E60CF5373}"/>
              </a:ext>
            </a:extLst>
          </p:cNvPr>
          <p:cNvSpPr>
            <a:spLocks xmlns:a="http://schemas.openxmlformats.org/drawingml/2006/main" noGrp="1"/>
          </p:cNvSpPr>
          <p:nvPr/>
        </p:nvSpPr>
        <p:spPr>
          <a:xfrm xmlns:a="http://schemas.openxmlformats.org/drawingml/2006/main">
            <a:off x="4251325" y="4607719"/>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类图、活动图</a:t>
            </a:r>
          </a:p>
        </p:txBody>
      </p:sp>
      <p:sp>
        <p:nvSpPr>
          <p:cNvPr id="49" name="">
            <a:extLst xmlns:a="http://schemas.openxmlformats.org/drawingml/2006/main">
              <a:ext uri="{FF2B5EF4-FFF2-40B4-BE49-F238E27FC236}">
                <a16:creationId xmlns:a16="http://schemas.microsoft.com/office/drawing/2014/main" id="{BD0EC7A6-1478-433A-B7DF-AA2E57744505}"/>
              </a:ext>
            </a:extLst>
          </p:cNvPr>
          <p:cNvSpPr>
            <a:spLocks xmlns:a="http://schemas.openxmlformats.org/drawingml/2006/main" noGrp="1"/>
          </p:cNvSpPr>
          <p:nvPr/>
        </p:nvSpPr>
        <p:spPr>
          <a:xfrm xmlns:a="http://schemas.openxmlformats.org/drawingml/2006/main">
            <a:off x="7950200" y="4579144"/>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7F0DCFEB-DF9F-4272-BF9B-68A8DC3270FF}"/>
              </a:ext>
            </a:extLst>
          </p:cNvPr>
          <p:cNvSpPr>
            <a:spLocks xmlns:a="http://schemas.openxmlformats.org/drawingml/2006/main" noGrp="1"/>
          </p:cNvSpPr>
          <p:nvPr/>
        </p:nvSpPr>
        <p:spPr>
          <a:xfrm xmlns:a="http://schemas.openxmlformats.org/drawingml/2006/main">
            <a:off x="7997825" y="4607719"/>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类图中的 RuleSet 和 RuleProfile 表达规则抽象，活动图体现出牌校验流程</a:t>
            </a:r>
          </a:p>
        </p:txBody>
      </p:sp>
      <p:sp>
        <p:nvSpPr>
          <p:cNvPr id="51" name="">
            <a:extLst xmlns:a="http://schemas.openxmlformats.org/drawingml/2006/main">
              <a:ext uri="{FF2B5EF4-FFF2-40B4-BE49-F238E27FC236}">
                <a16:creationId xmlns:a16="http://schemas.microsoft.com/office/drawing/2014/main" id="{97C257C8-5727-4A71-9DFB-9EFDC8A1A70E}"/>
              </a:ext>
            </a:extLst>
          </p:cNvPr>
          <p:cNvSpPr>
            <a:spLocks xmlns:a="http://schemas.openxmlformats.org/drawingml/2006/main" noGrp="1"/>
          </p:cNvSpPr>
          <p:nvPr/>
        </p:nvSpPr>
        <p:spPr>
          <a:xfrm xmlns:a="http://schemas.openxmlformats.org/drawingml/2006/main">
            <a:off x="457200" y="5033963"/>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15EB799C-9D77-48C0-922F-88C5B186AF27}"/>
              </a:ext>
            </a:extLst>
          </p:cNvPr>
          <p:cNvSpPr>
            <a:spLocks xmlns:a="http://schemas.openxmlformats.org/drawingml/2006/main" noGrp="1"/>
          </p:cNvSpPr>
          <p:nvPr/>
        </p:nvSpPr>
        <p:spPr>
          <a:xfrm xmlns:a="http://schemas.openxmlformats.org/drawingml/2006/main">
            <a:off x="504825" y="5062538"/>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AI 策略</a:t>
            </a:r>
          </a:p>
        </p:txBody>
      </p:sp>
      <p:sp>
        <p:nvSpPr>
          <p:cNvPr id="53" name="">
            <a:extLst xmlns:a="http://schemas.openxmlformats.org/drawingml/2006/main">
              <a:ext uri="{FF2B5EF4-FFF2-40B4-BE49-F238E27FC236}">
                <a16:creationId xmlns:a16="http://schemas.microsoft.com/office/drawing/2014/main" id="{4B659ADE-CAD7-46B6-8DB4-012C43A7ACE4}"/>
              </a:ext>
            </a:extLst>
          </p:cNvPr>
          <p:cNvSpPr>
            <a:spLocks xmlns:a="http://schemas.openxmlformats.org/drawingml/2006/main" noGrp="1"/>
          </p:cNvSpPr>
          <p:nvPr/>
        </p:nvSpPr>
        <p:spPr>
          <a:xfrm xmlns:a="http://schemas.openxmlformats.org/drawingml/2006/main">
            <a:off x="4203700" y="5033963"/>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3CECB05E-7D19-4362-8B19-868323D93F50}"/>
              </a:ext>
            </a:extLst>
          </p:cNvPr>
          <p:cNvSpPr>
            <a:spLocks xmlns:a="http://schemas.openxmlformats.org/drawingml/2006/main" noGrp="1"/>
          </p:cNvSpPr>
          <p:nvPr/>
        </p:nvSpPr>
        <p:spPr>
          <a:xfrm xmlns:a="http://schemas.openxmlformats.org/drawingml/2006/main">
            <a:off x="4251325" y="5062538"/>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类图、状态图</a:t>
            </a:r>
          </a:p>
        </p:txBody>
      </p:sp>
      <p:sp>
        <p:nvSpPr>
          <p:cNvPr id="55" name="">
            <a:extLst xmlns:a="http://schemas.openxmlformats.org/drawingml/2006/main">
              <a:ext uri="{FF2B5EF4-FFF2-40B4-BE49-F238E27FC236}">
                <a16:creationId xmlns:a16="http://schemas.microsoft.com/office/drawing/2014/main" id="{297F70AD-5A9D-4B52-979B-03E64FF5B0FA}"/>
              </a:ext>
            </a:extLst>
          </p:cNvPr>
          <p:cNvSpPr>
            <a:spLocks xmlns:a="http://schemas.openxmlformats.org/drawingml/2006/main" noGrp="1"/>
          </p:cNvSpPr>
          <p:nvPr/>
        </p:nvSpPr>
        <p:spPr>
          <a:xfrm xmlns:a="http://schemas.openxmlformats.org/drawingml/2006/main">
            <a:off x="7950200" y="5033963"/>
            <a:ext cx="3746500" cy="454819"/>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3B3039E9-07C4-4774-8CED-99D9A806E00D}"/>
              </a:ext>
            </a:extLst>
          </p:cNvPr>
          <p:cNvSpPr>
            <a:spLocks xmlns:a="http://schemas.openxmlformats.org/drawingml/2006/main" noGrp="1"/>
          </p:cNvSpPr>
          <p:nvPr/>
        </p:nvSpPr>
        <p:spPr>
          <a:xfrm xmlns:a="http://schemas.openxmlformats.org/drawingml/2006/main">
            <a:off x="7997825" y="5062538"/>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类图展示 AiStrategy 三种实现，状态图展示 AI 回合和牌局状态</a:t>
            </a:r>
          </a:p>
        </p:txBody>
      </p:sp>
      <p:sp>
        <p:nvSpPr>
          <p:cNvPr id="57" name="">
            <a:extLst xmlns:a="http://schemas.openxmlformats.org/drawingml/2006/main">
              <a:ext uri="{FF2B5EF4-FFF2-40B4-BE49-F238E27FC236}">
                <a16:creationId xmlns:a16="http://schemas.microsoft.com/office/drawing/2014/main" id="{1BD0FCE7-D852-44BC-9FAE-702614345820}"/>
              </a:ext>
            </a:extLst>
          </p:cNvPr>
          <p:cNvSpPr>
            <a:spLocks xmlns:a="http://schemas.openxmlformats.org/drawingml/2006/main" noGrp="1"/>
          </p:cNvSpPr>
          <p:nvPr/>
        </p:nvSpPr>
        <p:spPr>
          <a:xfrm xmlns:a="http://schemas.openxmlformats.org/drawingml/2006/main">
            <a:off x="457200" y="5488781"/>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8" name="">
            <a:extLst xmlns:a="http://schemas.openxmlformats.org/drawingml/2006/main">
              <a:ext uri="{FF2B5EF4-FFF2-40B4-BE49-F238E27FC236}">
                <a16:creationId xmlns:a16="http://schemas.microsoft.com/office/drawing/2014/main" id="{38BCADCD-31B4-4988-9EED-EE48C60EB3B4}"/>
              </a:ext>
            </a:extLst>
          </p:cNvPr>
          <p:cNvSpPr>
            <a:spLocks xmlns:a="http://schemas.openxmlformats.org/drawingml/2006/main" noGrp="1"/>
          </p:cNvSpPr>
          <p:nvPr/>
        </p:nvSpPr>
        <p:spPr>
          <a:xfrm xmlns:a="http://schemas.openxmlformats.org/drawingml/2006/main">
            <a:off x="504825" y="5517356"/>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AI 工具使用说明</a:t>
            </a:r>
          </a:p>
        </p:txBody>
      </p:sp>
      <p:sp>
        <p:nvSpPr>
          <p:cNvPr id="59" name="">
            <a:extLst xmlns:a="http://schemas.openxmlformats.org/drawingml/2006/main">
              <a:ext uri="{FF2B5EF4-FFF2-40B4-BE49-F238E27FC236}">
                <a16:creationId xmlns:a16="http://schemas.microsoft.com/office/drawing/2014/main" id="{5D7D0C55-99F0-4000-8BA6-AC91435F4BC3}"/>
              </a:ext>
            </a:extLst>
          </p:cNvPr>
          <p:cNvSpPr>
            <a:spLocks xmlns:a="http://schemas.openxmlformats.org/drawingml/2006/main" noGrp="1"/>
          </p:cNvSpPr>
          <p:nvPr/>
        </p:nvSpPr>
        <p:spPr>
          <a:xfrm xmlns:a="http://schemas.openxmlformats.org/drawingml/2006/main">
            <a:off x="4203700" y="5488781"/>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0" name="">
            <a:extLst xmlns:a="http://schemas.openxmlformats.org/drawingml/2006/main">
              <a:ext uri="{FF2B5EF4-FFF2-40B4-BE49-F238E27FC236}">
                <a16:creationId xmlns:a16="http://schemas.microsoft.com/office/drawing/2014/main" id="{6963437B-04E2-4F19-A743-1DD27B2E7BD9}"/>
              </a:ext>
            </a:extLst>
          </p:cNvPr>
          <p:cNvSpPr>
            <a:spLocks xmlns:a="http://schemas.openxmlformats.org/drawingml/2006/main" noGrp="1"/>
          </p:cNvSpPr>
          <p:nvPr/>
        </p:nvSpPr>
        <p:spPr>
          <a:xfrm xmlns:a="http://schemas.openxmlformats.org/drawingml/2006/main">
            <a:off x="4251325" y="5517356"/>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UML 总映射表、ProcessOn 汇总图</a:t>
            </a:r>
          </a:p>
        </p:txBody>
      </p:sp>
      <p:sp>
        <p:nvSpPr>
          <p:cNvPr id="61" name="">
            <a:extLst xmlns:a="http://schemas.openxmlformats.org/drawingml/2006/main">
              <a:ext uri="{FF2B5EF4-FFF2-40B4-BE49-F238E27FC236}">
                <a16:creationId xmlns:a16="http://schemas.microsoft.com/office/drawing/2014/main" id="{FBF899D0-27EA-4409-A902-B52C4C7DE9E8}"/>
              </a:ext>
            </a:extLst>
          </p:cNvPr>
          <p:cNvSpPr>
            <a:spLocks xmlns:a="http://schemas.openxmlformats.org/drawingml/2006/main" noGrp="1"/>
          </p:cNvSpPr>
          <p:nvPr/>
        </p:nvSpPr>
        <p:spPr>
          <a:xfrm xmlns:a="http://schemas.openxmlformats.org/drawingml/2006/main">
            <a:off x="7950200" y="5488781"/>
            <a:ext cx="3746500" cy="454819"/>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2" name="">
            <a:extLst xmlns:a="http://schemas.openxmlformats.org/drawingml/2006/main">
              <a:ext uri="{FF2B5EF4-FFF2-40B4-BE49-F238E27FC236}">
                <a16:creationId xmlns:a16="http://schemas.microsoft.com/office/drawing/2014/main" id="{CB0C875B-59B2-4C6A-A87A-F7BFB44808F0}"/>
              </a:ext>
            </a:extLst>
          </p:cNvPr>
          <p:cNvSpPr>
            <a:spLocks xmlns:a="http://schemas.openxmlformats.org/drawingml/2006/main" noGrp="1"/>
          </p:cNvSpPr>
          <p:nvPr/>
        </p:nvSpPr>
        <p:spPr>
          <a:xfrm xmlns:a="http://schemas.openxmlformats.org/drawingml/2006/main">
            <a:off x="7997825" y="5517356"/>
            <a:ext cx="3651250" cy="397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说明 PlantUML 文本、ProcessOn UML 绘制和 Codex/GPT 参与建模之间的关系</a:t>
            </a:r>
          </a:p>
        </p:txBody>
      </p:sp>
    </p:spTree>
    <p:extLst>
      <p:ext uri="{BB962C8B-B14F-4D97-AF65-F5344CB8AC3E}">
        <p14:creationId xmlns:p14="http://schemas.microsoft.com/office/powerpoint/2010/main" val="172270707"/>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970FAF-CA43-46C9-B94D-0E511DE3BF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6FB8A1-FB14-4D24-9FCB-F8387D2851EF}"/>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C134D9F-F401-4058-8BC0-FAFFBDCC4CD6}"/>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33A8CE53-76BD-4F0A-865A-AB958B079C53}"/>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10. AI 大语言模型与 AI 代码引擎使用说明</a:t>
            </a:r>
          </a:p>
        </p:txBody>
      </p:sp>
      <p:sp>
        <p:nvSpPr>
          <p:cNvPr id="5" name="">
            <a:extLst xmlns:a="http://schemas.openxmlformats.org/drawingml/2006/main">
              <a:ext uri="{FF2B5EF4-FFF2-40B4-BE49-F238E27FC236}">
                <a16:creationId xmlns:a16="http://schemas.microsoft.com/office/drawing/2014/main" id="{A776FA1D-0915-4F69-AF0F-D4CF33AE8743}"/>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111</a:t>
            </a:r>
          </a:p>
        </p:txBody>
      </p:sp>
      <p:sp>
        <p:nvSpPr>
          <p:cNvPr id="6" name="">
            <a:extLst xmlns:a="http://schemas.openxmlformats.org/drawingml/2006/main">
              <a:ext uri="{FF2B5EF4-FFF2-40B4-BE49-F238E27FC236}">
                <a16:creationId xmlns:a16="http://schemas.microsoft.com/office/drawing/2014/main" id="{D0B5A279-B812-4F38-AD0D-59BCD2B98A9E}"/>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854D7478-BBF6-4340-88C3-62958F845C8E}"/>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10.1 使用记录</a:t>
            </a:r>
          </a:p>
        </p:txBody>
      </p:sp>
      <p:sp>
        <p:nvSpPr>
          <p:cNvPr id="8" name="">
            <a:extLst xmlns:a="http://schemas.openxmlformats.org/drawingml/2006/main">
              <a:ext uri="{FF2B5EF4-FFF2-40B4-BE49-F238E27FC236}">
                <a16:creationId xmlns:a16="http://schemas.microsoft.com/office/drawing/2014/main" id="{ADF3B228-3B38-47E7-A2E4-EB254B8A4C99}"/>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71ED01B-73F4-4FD0-8E0D-99C515777DC5}"/>
              </a:ext>
            </a:extLst>
          </p:cNvPr>
          <p:cNvSpPr>
            <a:spLocks xmlns:a="http://schemas.openxmlformats.org/drawingml/2006/main" noGrp="1"/>
          </p:cNvSpPr>
          <p:nvPr/>
        </p:nvSpPr>
        <p:spPr>
          <a:xfrm xmlns:a="http://schemas.openxmlformats.org/drawingml/2006/main">
            <a:off x="457200" y="1905000"/>
            <a:ext cx="1322294"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2126027B-D6AA-41AE-BF82-24461C7238D3}"/>
              </a:ext>
            </a:extLst>
          </p:cNvPr>
          <p:cNvSpPr>
            <a:spLocks xmlns:a="http://schemas.openxmlformats.org/drawingml/2006/main" noGrp="1"/>
          </p:cNvSpPr>
          <p:nvPr/>
        </p:nvSpPr>
        <p:spPr>
          <a:xfrm xmlns:a="http://schemas.openxmlformats.org/drawingml/2006/main">
            <a:off x="504825" y="1943100"/>
            <a:ext cx="122704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阶段</a:t>
            </a:r>
          </a:p>
        </p:txBody>
      </p:sp>
      <p:sp>
        <p:nvSpPr>
          <p:cNvPr id="11" name="">
            <a:extLst xmlns:a="http://schemas.openxmlformats.org/drawingml/2006/main">
              <a:ext uri="{FF2B5EF4-FFF2-40B4-BE49-F238E27FC236}">
                <a16:creationId xmlns:a16="http://schemas.microsoft.com/office/drawing/2014/main" id="{A66F315A-E95F-4506-96E2-937DF4BFC3A9}"/>
              </a:ext>
            </a:extLst>
          </p:cNvPr>
          <p:cNvSpPr>
            <a:spLocks xmlns:a="http://schemas.openxmlformats.org/drawingml/2006/main" noGrp="1"/>
          </p:cNvSpPr>
          <p:nvPr/>
        </p:nvSpPr>
        <p:spPr>
          <a:xfrm xmlns:a="http://schemas.openxmlformats.org/drawingml/2006/main">
            <a:off x="1779494" y="1905000"/>
            <a:ext cx="2479301"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7E509F47-E7D3-4CB0-80BC-7090A3F820EC}"/>
              </a:ext>
            </a:extLst>
          </p:cNvPr>
          <p:cNvSpPr>
            <a:spLocks xmlns:a="http://schemas.openxmlformats.org/drawingml/2006/main" noGrp="1"/>
          </p:cNvSpPr>
          <p:nvPr/>
        </p:nvSpPr>
        <p:spPr>
          <a:xfrm xmlns:a="http://schemas.openxmlformats.org/drawingml/2006/main">
            <a:off x="1827119" y="1943100"/>
            <a:ext cx="238405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使用工具</a:t>
            </a:r>
          </a:p>
        </p:txBody>
      </p:sp>
      <p:sp>
        <p:nvSpPr>
          <p:cNvPr id="13" name="">
            <a:extLst xmlns:a="http://schemas.openxmlformats.org/drawingml/2006/main">
              <a:ext uri="{FF2B5EF4-FFF2-40B4-BE49-F238E27FC236}">
                <a16:creationId xmlns:a16="http://schemas.microsoft.com/office/drawing/2014/main" id="{2C117912-24B8-4A19-BF8F-79143C8692FB}"/>
              </a:ext>
            </a:extLst>
          </p:cNvPr>
          <p:cNvSpPr>
            <a:spLocks xmlns:a="http://schemas.openxmlformats.org/drawingml/2006/main" noGrp="1"/>
          </p:cNvSpPr>
          <p:nvPr/>
        </p:nvSpPr>
        <p:spPr>
          <a:xfrm xmlns:a="http://schemas.openxmlformats.org/drawingml/2006/main">
            <a:off x="4258796" y="1905000"/>
            <a:ext cx="2479301"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6C4A1C18-2284-4609-883F-4A6C6AB54B5C}"/>
              </a:ext>
            </a:extLst>
          </p:cNvPr>
          <p:cNvSpPr>
            <a:spLocks xmlns:a="http://schemas.openxmlformats.org/drawingml/2006/main" noGrp="1"/>
          </p:cNvSpPr>
          <p:nvPr/>
        </p:nvSpPr>
        <p:spPr>
          <a:xfrm xmlns:a="http://schemas.openxmlformats.org/drawingml/2006/main">
            <a:off x="4306421" y="1943100"/>
            <a:ext cx="238405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主要用途</a:t>
            </a:r>
          </a:p>
        </p:txBody>
      </p:sp>
      <p:sp>
        <p:nvSpPr>
          <p:cNvPr id="15" name="">
            <a:extLst xmlns:a="http://schemas.openxmlformats.org/drawingml/2006/main">
              <a:ext uri="{FF2B5EF4-FFF2-40B4-BE49-F238E27FC236}">
                <a16:creationId xmlns:a16="http://schemas.microsoft.com/office/drawing/2014/main" id="{CE0175C2-0BA3-4D60-8A37-7117E84A76BD}"/>
              </a:ext>
            </a:extLst>
          </p:cNvPr>
          <p:cNvSpPr>
            <a:spLocks xmlns:a="http://schemas.openxmlformats.org/drawingml/2006/main" noGrp="1"/>
          </p:cNvSpPr>
          <p:nvPr/>
        </p:nvSpPr>
        <p:spPr>
          <a:xfrm xmlns:a="http://schemas.openxmlformats.org/drawingml/2006/main">
            <a:off x="6738097" y="1905000"/>
            <a:ext cx="2479301"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77349A33-060F-4538-9A95-38F714AEDDEE}"/>
              </a:ext>
            </a:extLst>
          </p:cNvPr>
          <p:cNvSpPr>
            <a:spLocks xmlns:a="http://schemas.openxmlformats.org/drawingml/2006/main" noGrp="1"/>
          </p:cNvSpPr>
          <p:nvPr/>
        </p:nvSpPr>
        <p:spPr>
          <a:xfrm xmlns:a="http://schemas.openxmlformats.org/drawingml/2006/main">
            <a:off x="6785722" y="1943100"/>
            <a:ext cx="238405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产出</a:t>
            </a:r>
          </a:p>
        </p:txBody>
      </p:sp>
      <p:sp>
        <p:nvSpPr>
          <p:cNvPr id="17" name="">
            <a:extLst xmlns:a="http://schemas.openxmlformats.org/drawingml/2006/main">
              <a:ext uri="{FF2B5EF4-FFF2-40B4-BE49-F238E27FC236}">
                <a16:creationId xmlns:a16="http://schemas.microsoft.com/office/drawing/2014/main" id="{E352CD6F-92D2-4911-B259-4F46CA19A0D1}"/>
              </a:ext>
            </a:extLst>
          </p:cNvPr>
          <p:cNvSpPr>
            <a:spLocks xmlns:a="http://schemas.openxmlformats.org/drawingml/2006/main" noGrp="1"/>
          </p:cNvSpPr>
          <p:nvPr/>
        </p:nvSpPr>
        <p:spPr>
          <a:xfrm xmlns:a="http://schemas.openxmlformats.org/drawingml/2006/main">
            <a:off x="9217399" y="1905000"/>
            <a:ext cx="2479301"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8" name="">
            <a:extLst xmlns:a="http://schemas.openxmlformats.org/drawingml/2006/main">
              <a:ext uri="{FF2B5EF4-FFF2-40B4-BE49-F238E27FC236}">
                <a16:creationId xmlns:a16="http://schemas.microsoft.com/office/drawing/2014/main" id="{7B50490E-0E4D-492D-8EA9-B04A081B83AB}"/>
              </a:ext>
            </a:extLst>
          </p:cNvPr>
          <p:cNvSpPr>
            <a:spLocks xmlns:a="http://schemas.openxmlformats.org/drawingml/2006/main" noGrp="1"/>
          </p:cNvSpPr>
          <p:nvPr/>
        </p:nvSpPr>
        <p:spPr>
          <a:xfrm xmlns:a="http://schemas.openxmlformats.org/drawingml/2006/main">
            <a:off x="9265024" y="1943100"/>
            <a:ext cx="238405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开发者确认与调整</a:t>
            </a:r>
          </a:p>
        </p:txBody>
      </p:sp>
      <p:sp>
        <p:nvSpPr>
          <p:cNvPr id="19" name="">
            <a:extLst xmlns:a="http://schemas.openxmlformats.org/drawingml/2006/main">
              <a:ext uri="{FF2B5EF4-FFF2-40B4-BE49-F238E27FC236}">
                <a16:creationId xmlns:a16="http://schemas.microsoft.com/office/drawing/2014/main" id="{61FCAB2E-7BD7-47A4-B824-1F98E2CF20F5}"/>
              </a:ext>
            </a:extLst>
          </p:cNvPr>
          <p:cNvSpPr>
            <a:spLocks xmlns:a="http://schemas.openxmlformats.org/drawingml/2006/main" noGrp="1"/>
          </p:cNvSpPr>
          <p:nvPr/>
        </p:nvSpPr>
        <p:spPr>
          <a:xfrm xmlns:a="http://schemas.openxmlformats.org/drawingml/2006/main">
            <a:off x="457200" y="2305050"/>
            <a:ext cx="1322294"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56E32A19-EB87-49EA-AB86-2268DE65BB59}"/>
              </a:ext>
            </a:extLst>
          </p:cNvPr>
          <p:cNvSpPr>
            <a:spLocks xmlns:a="http://schemas.openxmlformats.org/drawingml/2006/main" noGrp="1"/>
          </p:cNvSpPr>
          <p:nvPr/>
        </p:nvSpPr>
        <p:spPr>
          <a:xfrm xmlns:a="http://schemas.openxmlformats.org/drawingml/2006/main">
            <a:off x="504825" y="2333625"/>
            <a:ext cx="1227044"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开始</a:t>
            </a:r>
          </a:p>
        </p:txBody>
      </p:sp>
      <p:sp>
        <p:nvSpPr>
          <p:cNvPr id="21" name="">
            <a:extLst xmlns:a="http://schemas.openxmlformats.org/drawingml/2006/main">
              <a:ext uri="{FF2B5EF4-FFF2-40B4-BE49-F238E27FC236}">
                <a16:creationId xmlns:a16="http://schemas.microsoft.com/office/drawing/2014/main" id="{9748DB8E-E488-470F-88CD-0D3C4B1CD621}"/>
              </a:ext>
            </a:extLst>
          </p:cNvPr>
          <p:cNvSpPr>
            <a:spLocks xmlns:a="http://schemas.openxmlformats.org/drawingml/2006/main" noGrp="1"/>
          </p:cNvSpPr>
          <p:nvPr/>
        </p:nvSpPr>
        <p:spPr>
          <a:xfrm xmlns:a="http://schemas.openxmlformats.org/drawingml/2006/main">
            <a:off x="1779494" y="2305050"/>
            <a:ext cx="247930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514C8AAD-B926-4842-BBF2-4AA2CE6B2A84}"/>
              </a:ext>
            </a:extLst>
          </p:cNvPr>
          <p:cNvSpPr>
            <a:spLocks xmlns:a="http://schemas.openxmlformats.org/drawingml/2006/main" noGrp="1"/>
          </p:cNvSpPr>
          <p:nvPr/>
        </p:nvSpPr>
        <p:spPr>
          <a:xfrm xmlns:a="http://schemas.openxmlformats.org/drawingml/2006/main">
            <a:off x="1827119" y="233362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OpenAI Codex / GPT-5</a:t>
            </a:r>
          </a:p>
        </p:txBody>
      </p:sp>
      <p:sp>
        <p:nvSpPr>
          <p:cNvPr id="23" name="">
            <a:extLst xmlns:a="http://schemas.openxmlformats.org/drawingml/2006/main">
              <a:ext uri="{FF2B5EF4-FFF2-40B4-BE49-F238E27FC236}">
                <a16:creationId xmlns:a16="http://schemas.microsoft.com/office/drawing/2014/main" id="{61CF43DF-9828-406B-B23C-5F40E9FB8A28}"/>
              </a:ext>
            </a:extLst>
          </p:cNvPr>
          <p:cNvSpPr>
            <a:spLocks xmlns:a="http://schemas.openxmlformats.org/drawingml/2006/main" noGrp="1"/>
          </p:cNvSpPr>
          <p:nvPr/>
        </p:nvSpPr>
        <p:spPr>
          <a:xfrm xmlns:a="http://schemas.openxmlformats.org/drawingml/2006/main">
            <a:off x="4258796" y="2305050"/>
            <a:ext cx="247930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DCCD30F5-2DF3-4B66-98DD-CD85620464A8}"/>
              </a:ext>
            </a:extLst>
          </p:cNvPr>
          <p:cNvSpPr>
            <a:spLocks xmlns:a="http://schemas.openxmlformats.org/drawingml/2006/main" noGrp="1"/>
          </p:cNvSpPr>
          <p:nvPr/>
        </p:nvSpPr>
        <p:spPr>
          <a:xfrm xmlns:a="http://schemas.openxmlformats.org/drawingml/2006/main">
            <a:off x="4306421" y="233362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阅读实训要求，提炼评分点和功能边界</a:t>
            </a:r>
          </a:p>
        </p:txBody>
      </p:sp>
      <p:sp>
        <p:nvSpPr>
          <p:cNvPr id="25" name="">
            <a:extLst xmlns:a="http://schemas.openxmlformats.org/drawingml/2006/main">
              <a:ext uri="{FF2B5EF4-FFF2-40B4-BE49-F238E27FC236}">
                <a16:creationId xmlns:a16="http://schemas.microsoft.com/office/drawing/2014/main" id="{B3D6764A-86F3-4391-92BA-7CCD6841FD59}"/>
              </a:ext>
            </a:extLst>
          </p:cNvPr>
          <p:cNvSpPr>
            <a:spLocks xmlns:a="http://schemas.openxmlformats.org/drawingml/2006/main" noGrp="1"/>
          </p:cNvSpPr>
          <p:nvPr/>
        </p:nvSpPr>
        <p:spPr>
          <a:xfrm xmlns:a="http://schemas.openxmlformats.org/drawingml/2006/main">
            <a:off x="6738097" y="2305050"/>
            <a:ext cx="247930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D0B043CA-0836-487E-A546-5AD181A23789}"/>
              </a:ext>
            </a:extLst>
          </p:cNvPr>
          <p:cNvSpPr>
            <a:spLocks xmlns:a="http://schemas.openxmlformats.org/drawingml/2006/main" noGrp="1"/>
          </p:cNvSpPr>
          <p:nvPr/>
        </p:nvSpPr>
        <p:spPr>
          <a:xfrm xmlns:a="http://schemas.openxmlformats.org/drawingml/2006/main">
            <a:off x="6785722" y="233362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需求拆解、阶段计划、评分点映射</a:t>
            </a:r>
          </a:p>
        </p:txBody>
      </p:sp>
      <p:sp>
        <p:nvSpPr>
          <p:cNvPr id="27" name="">
            <a:extLst xmlns:a="http://schemas.openxmlformats.org/drawingml/2006/main">
              <a:ext uri="{FF2B5EF4-FFF2-40B4-BE49-F238E27FC236}">
                <a16:creationId xmlns:a16="http://schemas.microsoft.com/office/drawing/2014/main" id="{6A350D7C-19F9-483F-877F-14A88240A796}"/>
              </a:ext>
            </a:extLst>
          </p:cNvPr>
          <p:cNvSpPr>
            <a:spLocks xmlns:a="http://schemas.openxmlformats.org/drawingml/2006/main" noGrp="1"/>
          </p:cNvSpPr>
          <p:nvPr/>
        </p:nvSpPr>
        <p:spPr>
          <a:xfrm xmlns:a="http://schemas.openxmlformats.org/drawingml/2006/main">
            <a:off x="9217399" y="2305050"/>
            <a:ext cx="247930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87A83DAD-79DE-498F-8DBD-4A288C20E54B}"/>
              </a:ext>
            </a:extLst>
          </p:cNvPr>
          <p:cNvSpPr>
            <a:spLocks xmlns:a="http://schemas.openxmlformats.org/drawingml/2006/main" noGrp="1"/>
          </p:cNvSpPr>
          <p:nvPr/>
        </p:nvSpPr>
        <p:spPr>
          <a:xfrm xmlns:a="http://schemas.openxmlformats.org/drawingml/2006/main">
            <a:off x="9265024" y="233362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小组确认最终项目范围并保留实际可运行版本</a:t>
            </a:r>
          </a:p>
        </p:txBody>
      </p:sp>
      <p:sp>
        <p:nvSpPr>
          <p:cNvPr id="29" name="">
            <a:extLst xmlns:a="http://schemas.openxmlformats.org/drawingml/2006/main">
              <a:ext uri="{FF2B5EF4-FFF2-40B4-BE49-F238E27FC236}">
                <a16:creationId xmlns:a16="http://schemas.microsoft.com/office/drawing/2014/main" id="{C2831FD9-FC47-458F-AEC9-6DCDC433DD5C}"/>
              </a:ext>
            </a:extLst>
          </p:cNvPr>
          <p:cNvSpPr>
            <a:spLocks xmlns:a="http://schemas.openxmlformats.org/drawingml/2006/main" noGrp="1"/>
          </p:cNvSpPr>
          <p:nvPr/>
        </p:nvSpPr>
        <p:spPr>
          <a:xfrm xmlns:a="http://schemas.openxmlformats.org/drawingml/2006/main">
            <a:off x="457200" y="3032760"/>
            <a:ext cx="1322294"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DD216AA0-2FD5-41FA-B1A7-5D1086D4E517}"/>
              </a:ext>
            </a:extLst>
          </p:cNvPr>
          <p:cNvSpPr>
            <a:spLocks xmlns:a="http://schemas.openxmlformats.org/drawingml/2006/main" noGrp="1"/>
          </p:cNvSpPr>
          <p:nvPr/>
        </p:nvSpPr>
        <p:spPr>
          <a:xfrm xmlns:a="http://schemas.openxmlformats.org/drawingml/2006/main">
            <a:off x="504825" y="3061335"/>
            <a:ext cx="1227044"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细化迭代 1</a:t>
            </a:r>
          </a:p>
        </p:txBody>
      </p:sp>
      <p:sp>
        <p:nvSpPr>
          <p:cNvPr id="31" name="">
            <a:extLst xmlns:a="http://schemas.openxmlformats.org/drawingml/2006/main">
              <a:ext uri="{FF2B5EF4-FFF2-40B4-BE49-F238E27FC236}">
                <a16:creationId xmlns:a16="http://schemas.microsoft.com/office/drawing/2014/main" id="{3459C9D6-FEFD-4DEF-9EF2-A3171415304F}"/>
              </a:ext>
            </a:extLst>
          </p:cNvPr>
          <p:cNvSpPr>
            <a:spLocks xmlns:a="http://schemas.openxmlformats.org/drawingml/2006/main" noGrp="1"/>
          </p:cNvSpPr>
          <p:nvPr/>
        </p:nvSpPr>
        <p:spPr>
          <a:xfrm xmlns:a="http://schemas.openxmlformats.org/drawingml/2006/main">
            <a:off x="1779494" y="3032760"/>
            <a:ext cx="247930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1992147B-D9D9-400B-8295-8C793836A388}"/>
              </a:ext>
            </a:extLst>
          </p:cNvPr>
          <p:cNvSpPr>
            <a:spLocks xmlns:a="http://schemas.openxmlformats.org/drawingml/2006/main" noGrp="1"/>
          </p:cNvSpPr>
          <p:nvPr/>
        </p:nvSpPr>
        <p:spPr>
          <a:xfrm xmlns:a="http://schemas.openxmlformats.org/drawingml/2006/main">
            <a:off x="1827119" y="306133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OpenAI Codex / GPT-5、PlantUML</a:t>
            </a:r>
          </a:p>
        </p:txBody>
      </p:sp>
      <p:sp>
        <p:nvSpPr>
          <p:cNvPr id="33" name="">
            <a:extLst xmlns:a="http://schemas.openxmlformats.org/drawingml/2006/main">
              <a:ext uri="{FF2B5EF4-FFF2-40B4-BE49-F238E27FC236}">
                <a16:creationId xmlns:a16="http://schemas.microsoft.com/office/drawing/2014/main" id="{070B34E5-BFB9-467A-A528-424648332D5F}"/>
              </a:ext>
            </a:extLst>
          </p:cNvPr>
          <p:cNvSpPr>
            <a:spLocks xmlns:a="http://schemas.openxmlformats.org/drawingml/2006/main" noGrp="1"/>
          </p:cNvSpPr>
          <p:nvPr/>
        </p:nvSpPr>
        <p:spPr>
          <a:xfrm xmlns:a="http://schemas.openxmlformats.org/drawingml/2006/main">
            <a:off x="4258796" y="3032760"/>
            <a:ext cx="247930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B60AB2B0-570C-400D-9507-3510DFA0FADB}"/>
              </a:ext>
            </a:extLst>
          </p:cNvPr>
          <p:cNvSpPr>
            <a:spLocks xmlns:a="http://schemas.openxmlformats.org/drawingml/2006/main" noGrp="1"/>
          </p:cNvSpPr>
          <p:nvPr/>
        </p:nvSpPr>
        <p:spPr>
          <a:xfrm xmlns:a="http://schemas.openxmlformats.org/drawingml/2006/main">
            <a:off x="4306421" y="306133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生成 MVC 分层方案、领域模型代码和 UML 图草稿</a:t>
            </a:r>
          </a:p>
        </p:txBody>
      </p:sp>
      <p:sp>
        <p:nvSpPr>
          <p:cNvPr id="35" name="">
            <a:extLst xmlns:a="http://schemas.openxmlformats.org/drawingml/2006/main">
              <a:ext uri="{FF2B5EF4-FFF2-40B4-BE49-F238E27FC236}">
                <a16:creationId xmlns:a16="http://schemas.microsoft.com/office/drawing/2014/main" id="{9DF28316-C04C-4A54-A584-3A5E0EEDE1AE}"/>
              </a:ext>
            </a:extLst>
          </p:cNvPr>
          <p:cNvSpPr>
            <a:spLocks xmlns:a="http://schemas.openxmlformats.org/drawingml/2006/main" noGrp="1"/>
          </p:cNvSpPr>
          <p:nvPr/>
        </p:nvSpPr>
        <p:spPr>
          <a:xfrm xmlns:a="http://schemas.openxmlformats.org/drawingml/2006/main">
            <a:off x="6738097" y="3032760"/>
            <a:ext cx="247930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2DE37A64-7AAA-46E7-B3B2-2A0F5353913A}"/>
              </a:ext>
            </a:extLst>
          </p:cNvPr>
          <p:cNvSpPr>
            <a:spLocks xmlns:a="http://schemas.openxmlformats.org/drawingml/2006/main" noGrp="1"/>
          </p:cNvSpPr>
          <p:nvPr/>
        </p:nvSpPr>
        <p:spPr>
          <a:xfrm xmlns:a="http://schemas.openxmlformats.org/drawingml/2006/main">
            <a:off x="6785722" y="306133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类图、顺序图、组件关系草稿、核心 Model/Controller 代码</a:t>
            </a:r>
          </a:p>
        </p:txBody>
      </p:sp>
      <p:sp>
        <p:nvSpPr>
          <p:cNvPr id="37" name="">
            <a:extLst xmlns:a="http://schemas.openxmlformats.org/drawingml/2006/main">
              <a:ext uri="{FF2B5EF4-FFF2-40B4-BE49-F238E27FC236}">
                <a16:creationId xmlns:a16="http://schemas.microsoft.com/office/drawing/2014/main" id="{56AC9D19-3D02-4DFF-9E47-C959C90485F7}"/>
              </a:ext>
            </a:extLst>
          </p:cNvPr>
          <p:cNvSpPr>
            <a:spLocks xmlns:a="http://schemas.openxmlformats.org/drawingml/2006/main" noGrp="1"/>
          </p:cNvSpPr>
          <p:nvPr/>
        </p:nvSpPr>
        <p:spPr>
          <a:xfrm xmlns:a="http://schemas.openxmlformats.org/drawingml/2006/main">
            <a:off x="9217399" y="3032760"/>
            <a:ext cx="247930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A2A056A5-E6E2-4919-BB70-5D01A5CB7DB0}"/>
              </a:ext>
            </a:extLst>
          </p:cNvPr>
          <p:cNvSpPr>
            <a:spLocks xmlns:a="http://schemas.openxmlformats.org/drawingml/2006/main" noGrp="1"/>
          </p:cNvSpPr>
          <p:nvPr/>
        </p:nvSpPr>
        <p:spPr>
          <a:xfrm xmlns:a="http://schemas.openxmlformats.org/drawingml/2006/main">
            <a:off x="9265024" y="306133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Sedar 在 ProcessOn 中校对正式图，莫均杰运行代码</a:t>
            </a:r>
          </a:p>
        </p:txBody>
      </p:sp>
      <p:sp>
        <p:nvSpPr>
          <p:cNvPr id="39" name="">
            <a:extLst xmlns:a="http://schemas.openxmlformats.org/drawingml/2006/main">
              <a:ext uri="{FF2B5EF4-FFF2-40B4-BE49-F238E27FC236}">
                <a16:creationId xmlns:a16="http://schemas.microsoft.com/office/drawing/2014/main" id="{E37DA7E8-DD7A-47C8-865C-901B75C05274}"/>
              </a:ext>
            </a:extLst>
          </p:cNvPr>
          <p:cNvSpPr>
            <a:spLocks xmlns:a="http://schemas.openxmlformats.org/drawingml/2006/main" noGrp="1"/>
          </p:cNvSpPr>
          <p:nvPr/>
        </p:nvSpPr>
        <p:spPr>
          <a:xfrm xmlns:a="http://schemas.openxmlformats.org/drawingml/2006/main">
            <a:off x="457200" y="3760470"/>
            <a:ext cx="1322294"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177399A9-F36E-4539-B1EC-C15B701550CC}"/>
              </a:ext>
            </a:extLst>
          </p:cNvPr>
          <p:cNvSpPr>
            <a:spLocks xmlns:a="http://schemas.openxmlformats.org/drawingml/2006/main" noGrp="1"/>
          </p:cNvSpPr>
          <p:nvPr/>
        </p:nvSpPr>
        <p:spPr>
          <a:xfrm xmlns:a="http://schemas.openxmlformats.org/drawingml/2006/main">
            <a:off x="504825" y="3789045"/>
            <a:ext cx="1227044"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细化迭代 2</a:t>
            </a:r>
          </a:p>
        </p:txBody>
      </p:sp>
      <p:sp>
        <p:nvSpPr>
          <p:cNvPr id="41" name="">
            <a:extLst xmlns:a="http://schemas.openxmlformats.org/drawingml/2006/main">
              <a:ext uri="{FF2B5EF4-FFF2-40B4-BE49-F238E27FC236}">
                <a16:creationId xmlns:a16="http://schemas.microsoft.com/office/drawing/2014/main" id="{04037877-10B4-463C-A7A1-41B58C098B77}"/>
              </a:ext>
            </a:extLst>
          </p:cNvPr>
          <p:cNvSpPr>
            <a:spLocks xmlns:a="http://schemas.openxmlformats.org/drawingml/2006/main" noGrp="1"/>
          </p:cNvSpPr>
          <p:nvPr/>
        </p:nvSpPr>
        <p:spPr>
          <a:xfrm xmlns:a="http://schemas.openxmlformats.org/drawingml/2006/main">
            <a:off x="1779494" y="3760470"/>
            <a:ext cx="247930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F3DDF1A7-2B21-4328-9716-ED036633940F}"/>
              </a:ext>
            </a:extLst>
          </p:cNvPr>
          <p:cNvSpPr>
            <a:spLocks xmlns:a="http://schemas.openxmlformats.org/drawingml/2006/main" noGrp="1"/>
          </p:cNvSpPr>
          <p:nvPr/>
        </p:nvSpPr>
        <p:spPr>
          <a:xfrm xmlns:a="http://schemas.openxmlformats.org/drawingml/2006/main">
            <a:off x="1827119" y="378904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OpenAI Codex / GPT-5</a:t>
            </a:r>
          </a:p>
        </p:txBody>
      </p:sp>
      <p:sp>
        <p:nvSpPr>
          <p:cNvPr id="43" name="">
            <a:extLst xmlns:a="http://schemas.openxmlformats.org/drawingml/2006/main">
              <a:ext uri="{FF2B5EF4-FFF2-40B4-BE49-F238E27FC236}">
                <a16:creationId xmlns:a16="http://schemas.microsoft.com/office/drawing/2014/main" id="{7F73B78A-A6D6-4AAF-899E-2C45DF12BE94}"/>
              </a:ext>
            </a:extLst>
          </p:cNvPr>
          <p:cNvSpPr>
            <a:spLocks xmlns:a="http://schemas.openxmlformats.org/drawingml/2006/main" noGrp="1"/>
          </p:cNvSpPr>
          <p:nvPr/>
        </p:nvSpPr>
        <p:spPr>
          <a:xfrm xmlns:a="http://schemas.openxmlformats.org/drawingml/2006/main">
            <a:off x="4258796" y="3760470"/>
            <a:ext cx="247930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C1F8549E-1031-414F-801E-1BAD7F8A2660}"/>
              </a:ext>
            </a:extLst>
          </p:cNvPr>
          <p:cNvSpPr>
            <a:spLocks xmlns:a="http://schemas.openxmlformats.org/drawingml/2006/main" noGrp="1"/>
          </p:cNvSpPr>
          <p:nvPr/>
        </p:nvSpPr>
        <p:spPr>
          <a:xfrm xmlns:a="http://schemas.openxmlformats.org/drawingml/2006/main">
            <a:off x="4306421" y="378904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比较南北规则实现、蓝牙 C/S 拓扑、房主权威同步、客户端断线托管和房主断线退出方案</a:t>
            </a:r>
          </a:p>
        </p:txBody>
      </p:sp>
      <p:sp>
        <p:nvSpPr>
          <p:cNvPr id="45" name="">
            <a:extLst xmlns:a="http://schemas.openxmlformats.org/drawingml/2006/main">
              <a:ext uri="{FF2B5EF4-FFF2-40B4-BE49-F238E27FC236}">
                <a16:creationId xmlns:a16="http://schemas.microsoft.com/office/drawing/2014/main" id="{EEA3D8E5-C843-4CBD-A4D2-AAB853017BF1}"/>
              </a:ext>
            </a:extLst>
          </p:cNvPr>
          <p:cNvSpPr>
            <a:spLocks xmlns:a="http://schemas.openxmlformats.org/drawingml/2006/main" noGrp="1"/>
          </p:cNvSpPr>
          <p:nvPr/>
        </p:nvSpPr>
        <p:spPr>
          <a:xfrm xmlns:a="http://schemas.openxmlformats.org/drawingml/2006/main">
            <a:off x="6738097" y="3760470"/>
            <a:ext cx="247930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B66F50F5-B7BD-4C8E-A49F-AF275781F442}"/>
              </a:ext>
            </a:extLst>
          </p:cNvPr>
          <p:cNvSpPr>
            <a:spLocks xmlns:a="http://schemas.openxmlformats.org/drawingml/2006/main" noGrp="1"/>
          </p:cNvSpPr>
          <p:nvPr/>
        </p:nvSpPr>
        <p:spPr>
          <a:xfrm xmlns:a="http://schemas.openxmlformats.org/drawingml/2006/main">
            <a:off x="6785722" y="378904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规则模块、蓝牙协议、断线处理、设计模式说明</a:t>
            </a:r>
          </a:p>
        </p:txBody>
      </p:sp>
      <p:sp>
        <p:nvSpPr>
          <p:cNvPr id="47" name="">
            <a:extLst xmlns:a="http://schemas.openxmlformats.org/drawingml/2006/main">
              <a:ext uri="{FF2B5EF4-FFF2-40B4-BE49-F238E27FC236}">
                <a16:creationId xmlns:a16="http://schemas.microsoft.com/office/drawing/2014/main" id="{7B76D210-1819-4CC1-B72C-5C266D398C5D}"/>
              </a:ext>
            </a:extLst>
          </p:cNvPr>
          <p:cNvSpPr>
            <a:spLocks xmlns:a="http://schemas.openxmlformats.org/drawingml/2006/main" noGrp="1"/>
          </p:cNvSpPr>
          <p:nvPr/>
        </p:nvSpPr>
        <p:spPr>
          <a:xfrm xmlns:a="http://schemas.openxmlformats.org/drawingml/2006/main">
            <a:off x="9217399" y="3760470"/>
            <a:ext cx="247930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F2D0EE92-305D-429B-991D-059586480DFB}"/>
              </a:ext>
            </a:extLst>
          </p:cNvPr>
          <p:cNvSpPr>
            <a:spLocks xmlns:a="http://schemas.openxmlformats.org/drawingml/2006/main" noGrp="1"/>
          </p:cNvSpPr>
          <p:nvPr/>
        </p:nvSpPr>
        <p:spPr>
          <a:xfrm xmlns:a="http://schemas.openxmlformats.org/drawingml/2006/main">
            <a:off x="9265024" y="378904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Codex 完成主要代码实现，莫均杰在 Android Studio 中运行和修正</a:t>
            </a:r>
          </a:p>
        </p:txBody>
      </p:sp>
      <p:sp>
        <p:nvSpPr>
          <p:cNvPr id="49" name="">
            <a:extLst xmlns:a="http://schemas.openxmlformats.org/drawingml/2006/main">
              <a:ext uri="{FF2B5EF4-FFF2-40B4-BE49-F238E27FC236}">
                <a16:creationId xmlns:a16="http://schemas.microsoft.com/office/drawing/2014/main" id="{D284F09A-922A-4549-9D9D-C135F128A82D}"/>
              </a:ext>
            </a:extLst>
          </p:cNvPr>
          <p:cNvSpPr>
            <a:spLocks xmlns:a="http://schemas.openxmlformats.org/drawingml/2006/main" noGrp="1"/>
          </p:cNvSpPr>
          <p:nvPr/>
        </p:nvSpPr>
        <p:spPr>
          <a:xfrm xmlns:a="http://schemas.openxmlformats.org/drawingml/2006/main">
            <a:off x="457200" y="4488180"/>
            <a:ext cx="1322294"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C042F8D2-E63F-4EA0-AD1D-A0C1FB177276}"/>
              </a:ext>
            </a:extLst>
          </p:cNvPr>
          <p:cNvSpPr>
            <a:spLocks xmlns:a="http://schemas.openxmlformats.org/drawingml/2006/main" noGrp="1"/>
          </p:cNvSpPr>
          <p:nvPr/>
        </p:nvSpPr>
        <p:spPr>
          <a:xfrm xmlns:a="http://schemas.openxmlformats.org/drawingml/2006/main">
            <a:off x="504825" y="4516755"/>
            <a:ext cx="1227044"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细化迭代 3</a:t>
            </a:r>
          </a:p>
        </p:txBody>
      </p:sp>
      <p:sp>
        <p:nvSpPr>
          <p:cNvPr id="51" name="">
            <a:extLst xmlns:a="http://schemas.openxmlformats.org/drawingml/2006/main">
              <a:ext uri="{FF2B5EF4-FFF2-40B4-BE49-F238E27FC236}">
                <a16:creationId xmlns:a16="http://schemas.microsoft.com/office/drawing/2014/main" id="{9816C6FD-EAC7-40F7-9B42-397441B60640}"/>
              </a:ext>
            </a:extLst>
          </p:cNvPr>
          <p:cNvSpPr>
            <a:spLocks xmlns:a="http://schemas.openxmlformats.org/drawingml/2006/main" noGrp="1"/>
          </p:cNvSpPr>
          <p:nvPr/>
        </p:nvSpPr>
        <p:spPr>
          <a:xfrm xmlns:a="http://schemas.openxmlformats.org/drawingml/2006/main">
            <a:off x="1779494" y="4488180"/>
            <a:ext cx="247930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88347A85-D2D2-48EF-B354-2B5629E19F5B}"/>
              </a:ext>
            </a:extLst>
          </p:cNvPr>
          <p:cNvSpPr>
            <a:spLocks xmlns:a="http://schemas.openxmlformats.org/drawingml/2006/main" noGrp="1"/>
          </p:cNvSpPr>
          <p:nvPr/>
        </p:nvSpPr>
        <p:spPr>
          <a:xfrm xmlns:a="http://schemas.openxmlformats.org/drawingml/2006/main">
            <a:off x="1827119" y="451675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OpenAI Codex / GPT-5</a:t>
            </a:r>
          </a:p>
        </p:txBody>
      </p:sp>
      <p:sp>
        <p:nvSpPr>
          <p:cNvPr id="53" name="">
            <a:extLst xmlns:a="http://schemas.openxmlformats.org/drawingml/2006/main">
              <a:ext uri="{FF2B5EF4-FFF2-40B4-BE49-F238E27FC236}">
                <a16:creationId xmlns:a16="http://schemas.microsoft.com/office/drawing/2014/main" id="{89DEDC4B-D12D-4469-999E-0C14476891AA}"/>
              </a:ext>
            </a:extLst>
          </p:cNvPr>
          <p:cNvSpPr>
            <a:spLocks xmlns:a="http://schemas.openxmlformats.org/drawingml/2006/main" noGrp="1"/>
          </p:cNvSpPr>
          <p:nvPr/>
        </p:nvSpPr>
        <p:spPr>
          <a:xfrm xmlns:a="http://schemas.openxmlformats.org/drawingml/2006/main">
            <a:off x="4258796" y="4488180"/>
            <a:ext cx="247930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694C04BC-6859-4B03-A3FB-568A86287447}"/>
              </a:ext>
            </a:extLst>
          </p:cNvPr>
          <p:cNvSpPr>
            <a:spLocks xmlns:a="http://schemas.openxmlformats.org/drawingml/2006/main" noGrp="1"/>
          </p:cNvSpPr>
          <p:nvPr/>
        </p:nvSpPr>
        <p:spPr>
          <a:xfrm xmlns:a="http://schemas.openxmlformats.org/drawingml/2006/main">
            <a:off x="4306421" y="451675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完成三档 AI 策略、玩家成长系统、状态图更新和测试场景补全</a:t>
            </a:r>
          </a:p>
        </p:txBody>
      </p:sp>
      <p:sp>
        <p:nvSpPr>
          <p:cNvPr id="55" name="">
            <a:extLst xmlns:a="http://schemas.openxmlformats.org/drawingml/2006/main">
              <a:ext uri="{FF2B5EF4-FFF2-40B4-BE49-F238E27FC236}">
                <a16:creationId xmlns:a16="http://schemas.microsoft.com/office/drawing/2014/main" id="{FB64C109-59FD-46D8-AAB8-AAB2295AE696}"/>
              </a:ext>
            </a:extLst>
          </p:cNvPr>
          <p:cNvSpPr>
            <a:spLocks xmlns:a="http://schemas.openxmlformats.org/drawingml/2006/main" noGrp="1"/>
          </p:cNvSpPr>
          <p:nvPr/>
        </p:nvSpPr>
        <p:spPr>
          <a:xfrm xmlns:a="http://schemas.openxmlformats.org/drawingml/2006/main">
            <a:off x="6738097" y="4488180"/>
            <a:ext cx="247930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B4AD3E06-38E6-4E69-BED3-73BA024BFFB1}"/>
              </a:ext>
            </a:extLst>
          </p:cNvPr>
          <p:cNvSpPr>
            <a:spLocks xmlns:a="http://schemas.openxmlformats.org/drawingml/2006/main" noGrp="1"/>
          </p:cNvSpPr>
          <p:nvPr/>
        </p:nvSpPr>
        <p:spPr>
          <a:xfrm xmlns:a="http://schemas.openxmlformats.org/drawingml/2006/main">
            <a:off x="6785722" y="451675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三档 AI 策略、玩家中心、头像商店、状态建模、测试场景</a:t>
            </a:r>
          </a:p>
        </p:txBody>
      </p:sp>
      <p:sp>
        <p:nvSpPr>
          <p:cNvPr id="57" name="">
            <a:extLst xmlns:a="http://schemas.openxmlformats.org/drawingml/2006/main">
              <a:ext uri="{FF2B5EF4-FFF2-40B4-BE49-F238E27FC236}">
                <a16:creationId xmlns:a16="http://schemas.microsoft.com/office/drawing/2014/main" id="{621D810E-6CA8-4B7E-B17C-7A9B1B1638F5}"/>
              </a:ext>
            </a:extLst>
          </p:cNvPr>
          <p:cNvSpPr>
            <a:spLocks xmlns:a="http://schemas.openxmlformats.org/drawingml/2006/main" noGrp="1"/>
          </p:cNvSpPr>
          <p:nvPr/>
        </p:nvSpPr>
        <p:spPr>
          <a:xfrm xmlns:a="http://schemas.openxmlformats.org/drawingml/2006/main">
            <a:off x="9217399" y="4488180"/>
            <a:ext cx="2479301" cy="72771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8" name="">
            <a:extLst xmlns:a="http://schemas.openxmlformats.org/drawingml/2006/main">
              <a:ext uri="{FF2B5EF4-FFF2-40B4-BE49-F238E27FC236}">
                <a16:creationId xmlns:a16="http://schemas.microsoft.com/office/drawing/2014/main" id="{F355E2F6-B02D-40B1-9CFF-9988D4BBB18C}"/>
              </a:ext>
            </a:extLst>
          </p:cNvPr>
          <p:cNvSpPr>
            <a:spLocks xmlns:a="http://schemas.openxmlformats.org/drawingml/2006/main" noGrp="1"/>
          </p:cNvSpPr>
          <p:nvPr/>
        </p:nvSpPr>
        <p:spPr>
          <a:xfrm xmlns:a="http://schemas.openxmlformats.org/drawingml/2006/main">
            <a:off x="9265024" y="451675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开发者运行 AI 合法性、玩家成长和随机局测试</a:t>
            </a:r>
          </a:p>
        </p:txBody>
      </p:sp>
      <p:sp>
        <p:nvSpPr>
          <p:cNvPr id="59" name="">
            <a:extLst xmlns:a="http://schemas.openxmlformats.org/drawingml/2006/main">
              <a:ext uri="{FF2B5EF4-FFF2-40B4-BE49-F238E27FC236}">
                <a16:creationId xmlns:a16="http://schemas.microsoft.com/office/drawing/2014/main" id="{FA6F7E6D-0584-452D-802C-3EE0493953DA}"/>
              </a:ext>
            </a:extLst>
          </p:cNvPr>
          <p:cNvSpPr>
            <a:spLocks xmlns:a="http://schemas.openxmlformats.org/drawingml/2006/main" noGrp="1"/>
          </p:cNvSpPr>
          <p:nvPr/>
        </p:nvSpPr>
        <p:spPr>
          <a:xfrm xmlns:a="http://schemas.openxmlformats.org/drawingml/2006/main">
            <a:off x="457200" y="5215890"/>
            <a:ext cx="1322294"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0" name="">
            <a:extLst xmlns:a="http://schemas.openxmlformats.org/drawingml/2006/main">
              <a:ext uri="{FF2B5EF4-FFF2-40B4-BE49-F238E27FC236}">
                <a16:creationId xmlns:a16="http://schemas.microsoft.com/office/drawing/2014/main" id="{F8E41256-BE7D-489A-A476-CC0C0BFBD7C5}"/>
              </a:ext>
            </a:extLst>
          </p:cNvPr>
          <p:cNvSpPr>
            <a:spLocks xmlns:a="http://schemas.openxmlformats.org/drawingml/2006/main" noGrp="1"/>
          </p:cNvSpPr>
          <p:nvPr/>
        </p:nvSpPr>
        <p:spPr>
          <a:xfrm xmlns:a="http://schemas.openxmlformats.org/drawingml/2006/main">
            <a:off x="504825" y="5244465"/>
            <a:ext cx="1227044"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交付</a:t>
            </a:r>
          </a:p>
        </p:txBody>
      </p:sp>
      <p:sp>
        <p:nvSpPr>
          <p:cNvPr id="61" name="">
            <a:extLst xmlns:a="http://schemas.openxmlformats.org/drawingml/2006/main">
              <a:ext uri="{FF2B5EF4-FFF2-40B4-BE49-F238E27FC236}">
                <a16:creationId xmlns:a16="http://schemas.microsoft.com/office/drawing/2014/main" id="{F3386937-B903-4C75-9C20-7A03B3C7D2B6}"/>
              </a:ext>
            </a:extLst>
          </p:cNvPr>
          <p:cNvSpPr>
            <a:spLocks xmlns:a="http://schemas.openxmlformats.org/drawingml/2006/main" noGrp="1"/>
          </p:cNvSpPr>
          <p:nvPr/>
        </p:nvSpPr>
        <p:spPr>
          <a:xfrm xmlns:a="http://schemas.openxmlformats.org/drawingml/2006/main">
            <a:off x="1779494" y="5215890"/>
            <a:ext cx="247930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2" name="">
            <a:extLst xmlns:a="http://schemas.openxmlformats.org/drawingml/2006/main">
              <a:ext uri="{FF2B5EF4-FFF2-40B4-BE49-F238E27FC236}">
                <a16:creationId xmlns:a16="http://schemas.microsoft.com/office/drawing/2014/main" id="{8027E4AF-4F72-42C9-A6D1-415C208A742A}"/>
              </a:ext>
            </a:extLst>
          </p:cNvPr>
          <p:cNvSpPr>
            <a:spLocks xmlns:a="http://schemas.openxmlformats.org/drawingml/2006/main" noGrp="1"/>
          </p:cNvSpPr>
          <p:nvPr/>
        </p:nvSpPr>
        <p:spPr>
          <a:xfrm xmlns:a="http://schemas.openxmlformats.org/drawingml/2006/main">
            <a:off x="1827119" y="524446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OpenAI Codex / GPT-5</a:t>
            </a:r>
          </a:p>
        </p:txBody>
      </p:sp>
      <p:sp>
        <p:nvSpPr>
          <p:cNvPr id="63" name="">
            <a:extLst xmlns:a="http://schemas.openxmlformats.org/drawingml/2006/main">
              <a:ext uri="{FF2B5EF4-FFF2-40B4-BE49-F238E27FC236}">
                <a16:creationId xmlns:a16="http://schemas.microsoft.com/office/drawing/2014/main" id="{C6A39489-A8E9-45A7-9D40-91CF85ACB97F}"/>
              </a:ext>
            </a:extLst>
          </p:cNvPr>
          <p:cNvSpPr>
            <a:spLocks xmlns:a="http://schemas.openxmlformats.org/drawingml/2006/main" noGrp="1"/>
          </p:cNvSpPr>
          <p:nvPr/>
        </p:nvSpPr>
        <p:spPr>
          <a:xfrm xmlns:a="http://schemas.openxmlformats.org/drawingml/2006/main">
            <a:off x="4258796" y="5215890"/>
            <a:ext cx="247930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4" name="">
            <a:extLst xmlns:a="http://schemas.openxmlformats.org/drawingml/2006/main">
              <a:ext uri="{FF2B5EF4-FFF2-40B4-BE49-F238E27FC236}">
                <a16:creationId xmlns:a16="http://schemas.microsoft.com/office/drawing/2014/main" id="{8582F989-4B01-439D-8039-59A863410A52}"/>
              </a:ext>
            </a:extLst>
          </p:cNvPr>
          <p:cNvSpPr>
            <a:spLocks xmlns:a="http://schemas.openxmlformats.org/drawingml/2006/main" noGrp="1"/>
          </p:cNvSpPr>
          <p:nvPr/>
        </p:nvSpPr>
        <p:spPr>
          <a:xfrm xmlns:a="http://schemas.openxmlformats.org/drawingml/2006/main">
            <a:off x="4306421" y="524446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完成文档同步、Release 流程说明、测试清单整理和敏感文件风险检查</a:t>
            </a:r>
          </a:p>
        </p:txBody>
      </p:sp>
      <p:sp>
        <p:nvSpPr>
          <p:cNvPr id="65" name="">
            <a:extLst xmlns:a="http://schemas.openxmlformats.org/drawingml/2006/main">
              <a:ext uri="{FF2B5EF4-FFF2-40B4-BE49-F238E27FC236}">
                <a16:creationId xmlns:a16="http://schemas.microsoft.com/office/drawing/2014/main" id="{2E0D8E8D-9DC0-45FB-B89A-36B96246D8A5}"/>
              </a:ext>
            </a:extLst>
          </p:cNvPr>
          <p:cNvSpPr>
            <a:spLocks xmlns:a="http://schemas.openxmlformats.org/drawingml/2006/main" noGrp="1"/>
          </p:cNvSpPr>
          <p:nvPr/>
        </p:nvSpPr>
        <p:spPr>
          <a:xfrm xmlns:a="http://schemas.openxmlformats.org/drawingml/2006/main">
            <a:off x="6738097" y="5215890"/>
            <a:ext cx="247930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6" name="">
            <a:extLst xmlns:a="http://schemas.openxmlformats.org/drawingml/2006/main">
              <a:ext uri="{FF2B5EF4-FFF2-40B4-BE49-F238E27FC236}">
                <a16:creationId xmlns:a16="http://schemas.microsoft.com/office/drawing/2014/main" id="{D3A0D607-16BB-4787-89A6-C8F93CEE8690}"/>
              </a:ext>
            </a:extLst>
          </p:cNvPr>
          <p:cNvSpPr>
            <a:spLocks xmlns:a="http://schemas.openxmlformats.org/drawingml/2006/main" noGrp="1"/>
          </p:cNvSpPr>
          <p:nvPr/>
        </p:nvSpPr>
        <p:spPr>
          <a:xfrm xmlns:a="http://schemas.openxmlformats.org/drawingml/2006/main">
            <a:off x="6785722" y="524446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测试报告、发布说明、最终检查表、实验报告</a:t>
            </a:r>
          </a:p>
        </p:txBody>
      </p:sp>
      <p:sp>
        <p:nvSpPr>
          <p:cNvPr id="67" name="">
            <a:extLst xmlns:a="http://schemas.openxmlformats.org/drawingml/2006/main">
              <a:ext uri="{FF2B5EF4-FFF2-40B4-BE49-F238E27FC236}">
                <a16:creationId xmlns:a16="http://schemas.microsoft.com/office/drawing/2014/main" id="{0ABE2FF1-D77D-4F9F-BD79-15403A63D2E4}"/>
              </a:ext>
            </a:extLst>
          </p:cNvPr>
          <p:cNvSpPr>
            <a:spLocks xmlns:a="http://schemas.openxmlformats.org/drawingml/2006/main" noGrp="1"/>
          </p:cNvSpPr>
          <p:nvPr/>
        </p:nvSpPr>
        <p:spPr>
          <a:xfrm xmlns:a="http://schemas.openxmlformats.org/drawingml/2006/main">
            <a:off x="9217399" y="5215890"/>
            <a:ext cx="2479301" cy="72771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8" name="">
            <a:extLst xmlns:a="http://schemas.openxmlformats.org/drawingml/2006/main">
              <a:ext uri="{FF2B5EF4-FFF2-40B4-BE49-F238E27FC236}">
                <a16:creationId xmlns:a16="http://schemas.microsoft.com/office/drawing/2014/main" id="{267E5230-2949-427A-BD78-7FADEA42A128}"/>
              </a:ext>
            </a:extLst>
          </p:cNvPr>
          <p:cNvSpPr>
            <a:spLocks xmlns:a="http://schemas.openxmlformats.org/drawingml/2006/main" noGrp="1"/>
          </p:cNvSpPr>
          <p:nvPr/>
        </p:nvSpPr>
        <p:spPr>
          <a:xfrm xmlns:a="http://schemas.openxmlformats.org/drawingml/2006/main">
            <a:off x="9265024" y="5244465"/>
            <a:ext cx="238405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638" b="0">
                <a:solidFill>
                  <a:srgbClr val="17211D"/>
                </a:solidFill>
                <a:latin typeface="PingFang SC"/>
                <a:ea typeface="PingFang SC"/>
                <a:cs typeface="PingFang SC"/>
              </a:defRPr>
            </a:pPr>
            <a:r>
              <a:rPr sz="638" b="0">
                <a:solidFill>
                  <a:srgbClr val="17211D"/>
                </a:solidFill>
                <a:latin typeface="PingFang SC"/>
                <a:ea typeface="PingFang SC"/>
                <a:cs typeface="PingFang SC"/>
              </a:rPr>
              <a:t>小组按实际构建和运行结果确认</a:t>
            </a:r>
          </a:p>
        </p:txBody>
      </p:sp>
    </p:spTree>
    <p:extLst>
      <p:ext uri="{BB962C8B-B14F-4D97-AF65-F5344CB8AC3E}">
        <p14:creationId xmlns:p14="http://schemas.microsoft.com/office/powerpoint/2010/main" val="2092543324"/>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D1504D7-360E-414D-AAB0-3F3BD930E5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8AC131-28F7-4D45-A176-B34AC5D68B1D}"/>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3ED288F-5AC6-4501-AC7E-D3F6F272A7C0}"/>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F0927C15-D375-45F3-9D98-DE133AB5AD54}"/>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10. AI 大语言模型与 AI 代码引擎使用说明</a:t>
            </a:r>
          </a:p>
        </p:txBody>
      </p:sp>
      <p:sp>
        <p:nvSpPr>
          <p:cNvPr id="5" name="">
            <a:extLst xmlns:a="http://schemas.openxmlformats.org/drawingml/2006/main">
              <a:ext uri="{FF2B5EF4-FFF2-40B4-BE49-F238E27FC236}">
                <a16:creationId xmlns:a16="http://schemas.microsoft.com/office/drawing/2014/main" id="{6E2414AF-E450-4EEB-AD15-1A5E436B7A00}"/>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112</a:t>
            </a:r>
          </a:p>
        </p:txBody>
      </p:sp>
      <p:sp>
        <p:nvSpPr>
          <p:cNvPr id="6" name="">
            <a:extLst xmlns:a="http://schemas.openxmlformats.org/drawingml/2006/main">
              <a:ext uri="{FF2B5EF4-FFF2-40B4-BE49-F238E27FC236}">
                <a16:creationId xmlns:a16="http://schemas.microsoft.com/office/drawing/2014/main" id="{693B4D10-AA45-4501-A35D-634C41BD7E2E}"/>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A06A8F1C-44F5-4E7D-91BD-65A3385513C8}"/>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10.2 使用效果评价</a:t>
            </a:r>
          </a:p>
        </p:txBody>
      </p:sp>
      <p:sp>
        <p:nvSpPr>
          <p:cNvPr id="8" name="">
            <a:extLst xmlns:a="http://schemas.openxmlformats.org/drawingml/2006/main">
              <a:ext uri="{FF2B5EF4-FFF2-40B4-BE49-F238E27FC236}">
                <a16:creationId xmlns:a16="http://schemas.microsoft.com/office/drawing/2014/main" id="{50C9CB6F-99E0-44FA-8A7F-2715EBB77724}"/>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CC73727-4331-4899-AFA3-C90B805CAF4F}"/>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Codex/GPT-5 在本项目中承担了主要实现工作，包括 Kotlin/Compose 代码生成、蓝牙协议和房间逻辑实现、AI 策略实现、玩家成长系统实现、PlantUML 草图更新、测试场景补全和实验报告整理。尤其在蓝牙联机和 AI 策略部分，Codex/GPT-5 给出了房主权威同步、传输接口隔离、策略模式、客户端断线托管、房主断线退出提示和模拟测试的完整实现方案。</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但 AI 不能替代开发者确认与调整。锄大地规则细节、蓝牙真机稳定性、UI 实际显示效果、Release 包安装和 UML 最终图都需要开发者在 Android Studio、真机/模拟器和 ProcessOn 中确认。最终项目代码、测试结果和文档内容均以小组实际运行和检查结果为准。</a:t>
            </a:r>
          </a:p>
        </p:txBody>
      </p:sp>
    </p:spTree>
    <p:extLst>
      <p:ext uri="{BB962C8B-B14F-4D97-AF65-F5344CB8AC3E}">
        <p14:creationId xmlns:p14="http://schemas.microsoft.com/office/powerpoint/2010/main" val="896151686"/>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9F2D03-714B-4344-909C-E69257DED5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3160A0-80EA-4237-AE59-6FD99FF33F8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550F10-F54A-4E80-B540-81646AD59073}"/>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711901C7-E7B8-4716-A855-6307D4247DC8}"/>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10. AI 大语言模型与 AI 代码引擎使用说明</a:t>
            </a:r>
          </a:p>
        </p:txBody>
      </p:sp>
      <p:sp>
        <p:nvSpPr>
          <p:cNvPr id="5" name="">
            <a:extLst xmlns:a="http://schemas.openxmlformats.org/drawingml/2006/main">
              <a:ext uri="{FF2B5EF4-FFF2-40B4-BE49-F238E27FC236}">
                <a16:creationId xmlns:a16="http://schemas.microsoft.com/office/drawing/2014/main" id="{4FB5F75D-2159-4DBB-8BA9-267EE439E8F9}"/>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113</a:t>
            </a:r>
          </a:p>
        </p:txBody>
      </p:sp>
      <p:sp>
        <p:nvSpPr>
          <p:cNvPr id="6" name="">
            <a:extLst xmlns:a="http://schemas.openxmlformats.org/drawingml/2006/main">
              <a:ext uri="{FF2B5EF4-FFF2-40B4-BE49-F238E27FC236}">
                <a16:creationId xmlns:a16="http://schemas.microsoft.com/office/drawing/2014/main" id="{54B5262E-A3CB-4387-9176-179A5821CD6E}"/>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A86D8AD7-E803-4562-A7D1-7C0FEA66CFA7}"/>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10.3 AI 使用边界</a:t>
            </a:r>
          </a:p>
        </p:txBody>
      </p:sp>
      <p:sp>
        <p:nvSpPr>
          <p:cNvPr id="8" name="">
            <a:extLst xmlns:a="http://schemas.openxmlformats.org/drawingml/2006/main">
              <a:ext uri="{FF2B5EF4-FFF2-40B4-BE49-F238E27FC236}">
                <a16:creationId xmlns:a16="http://schemas.microsoft.com/office/drawing/2014/main" id="{E5EA1034-42E7-4446-A6AE-76AE95C17EB3}"/>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0569DB9-0D34-4786-97BC-86BD4AA2CBEB}"/>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1. Codex/GPT-5 负责生成和修改大部分代码、UML 草图、测试用例和文档内容。</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2. 开发者负责在 Android Studio 中编译、安装、运行和修正项目。</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3. UML 最终图需要在 ProcessOn 或 PlantUML 预览中检查布局、文字和代码一致性。</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4. 测试结论必须来自 Gradle 测试、模拟测试或真机/模拟器验收。</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5. 报告中如实说明 AI 参与程度：大部分实现由 Codex 完成，最终交付由开发者运行确认。</a:t>
            </a:r>
          </a:p>
        </p:txBody>
      </p:sp>
    </p:spTree>
    <p:extLst>
      <p:ext uri="{BB962C8B-B14F-4D97-AF65-F5344CB8AC3E}">
        <p14:creationId xmlns:p14="http://schemas.microsoft.com/office/powerpoint/2010/main" val="1671559252"/>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693EF4-8FEB-4B64-96D2-3233F46E5C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2788F9-1178-4637-A308-85476B746E89}"/>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CF63BF-CB01-4F90-8F73-717A70BB516C}"/>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394A92A4-8CB3-491E-B3AF-170E133B9659}"/>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11. 实验结果展示与录屏说明</a:t>
            </a:r>
          </a:p>
        </p:txBody>
      </p:sp>
      <p:sp>
        <p:nvSpPr>
          <p:cNvPr id="5" name="">
            <a:extLst xmlns:a="http://schemas.openxmlformats.org/drawingml/2006/main">
              <a:ext uri="{FF2B5EF4-FFF2-40B4-BE49-F238E27FC236}">
                <a16:creationId xmlns:a16="http://schemas.microsoft.com/office/drawing/2014/main" id="{0C7C05A4-3833-463F-A7E0-D0782490D391}"/>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114</a:t>
            </a:r>
          </a:p>
        </p:txBody>
      </p:sp>
      <p:sp>
        <p:nvSpPr>
          <p:cNvPr id="6" name="">
            <a:extLst xmlns:a="http://schemas.openxmlformats.org/drawingml/2006/main">
              <a:ext uri="{FF2B5EF4-FFF2-40B4-BE49-F238E27FC236}">
                <a16:creationId xmlns:a16="http://schemas.microsoft.com/office/drawing/2014/main" id="{801B00ED-52F1-4250-9D4D-158971F3D9C2}"/>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58DF8070-3BE9-4643-B4D0-D4D996EB6494}"/>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11.1 功能展示内容</a:t>
            </a:r>
          </a:p>
        </p:txBody>
      </p:sp>
      <p:sp>
        <p:nvSpPr>
          <p:cNvPr id="8" name="">
            <a:extLst xmlns:a="http://schemas.openxmlformats.org/drawingml/2006/main">
              <a:ext uri="{FF2B5EF4-FFF2-40B4-BE49-F238E27FC236}">
                <a16:creationId xmlns:a16="http://schemas.microsoft.com/office/drawing/2014/main" id="{53336912-F113-4C6F-B35A-DCA431193FA0}"/>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A7C4E48-578E-410F-A2C1-89E7BE5F4E84}"/>
              </a:ext>
            </a:extLst>
          </p:cNvPr>
          <p:cNvSpPr>
            <a:spLocks xmlns:a="http://schemas.openxmlformats.org/drawingml/2006/main" noGrp="1"/>
          </p:cNvSpPr>
          <p:nvPr/>
        </p:nvSpPr>
        <p:spPr>
          <a:xfrm xmlns:a="http://schemas.openxmlformats.org/drawingml/2006/main">
            <a:off x="590550" y="1905000"/>
            <a:ext cx="4333875"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最终答辩录屏采用“完整流程 + 分段展示”的方式。完整流程用于展示项目可连贯运行，分段录屏用于突出评分标准。</a:t>
            </a:r>
          </a:p>
          <a:p xmlns:a="http://schemas.openxmlformats.org/drawingml/2006/main">
            <a:r>
              <a:t/>
            </a:r>
          </a:p>
          <a:p xmlns:a="http://schemas.openxmlformats.org/drawingml/2006/main">
            <a:pPr algn="l">
              <a:lnSpc>
                <a:spcPct val="113000"/>
              </a:lnSpc>
              <a:buNone/>
              <a:defRPr sz="1388" b="0">
                <a:solidFill>
                  <a:srgbClr val="17211D"/>
                </a:solidFill>
                <a:latin typeface="PingFang SC"/>
                <a:ea typeface="PingFang SC"/>
                <a:cs typeface="PingFang SC"/>
              </a:defRPr>
            </a:pPr>
            <a:r>
              <a:rPr sz="1388" b="0">
                <a:solidFill>
                  <a:srgbClr val="17211D"/>
                </a:solidFill>
                <a:latin typeface="PingFang SC"/>
                <a:ea typeface="PingFang SC"/>
                <a:cs typeface="PingFang SC"/>
              </a:rPr>
              <a:t>• 项目材料：仓库已包含 UML 图片和 Release 包。App 运行截图、真机蓝牙截图和演示录屏在最终提交前归档，并在 PPT 中引用对应文件或截图。</a:t>
            </a:r>
          </a:p>
        </p:txBody>
      </p:sp>
      <p:sp>
        <p:nvSpPr>
          <p:cNvPr id="10" name="">
            <a:extLst xmlns:a="http://schemas.openxmlformats.org/drawingml/2006/main">
              <a:ext uri="{FF2B5EF4-FFF2-40B4-BE49-F238E27FC236}">
                <a16:creationId xmlns:a16="http://schemas.microsoft.com/office/drawing/2014/main" id="{9DC43B6B-6B27-476D-AB1B-6FC6F5821818}"/>
              </a:ext>
            </a:extLst>
          </p:cNvPr>
          <p:cNvSpPr>
            <a:spLocks xmlns:a="http://schemas.openxmlformats.org/drawingml/2006/main" noGrp="1"/>
          </p:cNvSpPr>
          <p:nvPr/>
        </p:nvSpPr>
        <p:spPr>
          <a:xfrm xmlns:a="http://schemas.openxmlformats.org/drawingml/2006/main">
            <a:off x="5191125" y="1905000"/>
            <a:ext cx="1230562"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138E7C70-1C09-4C40-AF73-209327F984B3}"/>
              </a:ext>
            </a:extLst>
          </p:cNvPr>
          <p:cNvSpPr>
            <a:spLocks xmlns:a="http://schemas.openxmlformats.org/drawingml/2006/main" noGrp="1"/>
          </p:cNvSpPr>
          <p:nvPr/>
        </p:nvSpPr>
        <p:spPr>
          <a:xfrm xmlns:a="http://schemas.openxmlformats.org/drawingml/2006/main">
            <a:off x="5238750" y="1943100"/>
            <a:ext cx="113531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录屏名称</a:t>
            </a:r>
          </a:p>
        </p:txBody>
      </p:sp>
      <p:sp>
        <p:nvSpPr>
          <p:cNvPr id="12" name="">
            <a:extLst xmlns:a="http://schemas.openxmlformats.org/drawingml/2006/main">
              <a:ext uri="{FF2B5EF4-FFF2-40B4-BE49-F238E27FC236}">
                <a16:creationId xmlns:a16="http://schemas.microsoft.com/office/drawing/2014/main" id="{AC0A2ED3-025E-4BF7-8D4A-0C82741DAEBA}"/>
              </a:ext>
            </a:extLst>
          </p:cNvPr>
          <p:cNvSpPr>
            <a:spLocks xmlns:a="http://schemas.openxmlformats.org/drawingml/2006/main" noGrp="1"/>
          </p:cNvSpPr>
          <p:nvPr/>
        </p:nvSpPr>
        <p:spPr>
          <a:xfrm xmlns:a="http://schemas.openxmlformats.org/drawingml/2006/main">
            <a:off x="6421687" y="1905000"/>
            <a:ext cx="128779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145BE486-3394-4C04-8121-55945B2FF26B}"/>
              </a:ext>
            </a:extLst>
          </p:cNvPr>
          <p:cNvSpPr>
            <a:spLocks xmlns:a="http://schemas.openxmlformats.org/drawingml/2006/main" noGrp="1"/>
          </p:cNvSpPr>
          <p:nvPr/>
        </p:nvSpPr>
        <p:spPr>
          <a:xfrm xmlns:a="http://schemas.openxmlformats.org/drawingml/2006/main">
            <a:off x="6469312" y="1943100"/>
            <a:ext cx="119254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推荐文件名</a:t>
            </a:r>
          </a:p>
        </p:txBody>
      </p:sp>
      <p:sp>
        <p:nvSpPr>
          <p:cNvPr id="14" name="">
            <a:extLst xmlns:a="http://schemas.openxmlformats.org/drawingml/2006/main">
              <a:ext uri="{FF2B5EF4-FFF2-40B4-BE49-F238E27FC236}">
                <a16:creationId xmlns:a16="http://schemas.microsoft.com/office/drawing/2014/main" id="{88279B4F-07A4-4BE7-BF75-F4F2C574416C}"/>
              </a:ext>
            </a:extLst>
          </p:cNvPr>
          <p:cNvSpPr>
            <a:spLocks xmlns:a="http://schemas.openxmlformats.org/drawingml/2006/main" noGrp="1"/>
          </p:cNvSpPr>
          <p:nvPr/>
        </p:nvSpPr>
        <p:spPr>
          <a:xfrm xmlns:a="http://schemas.openxmlformats.org/drawingml/2006/main">
            <a:off x="7709484" y="1905000"/>
            <a:ext cx="128779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73EBD8F3-CD6A-40A1-BE2D-820BDC89105C}"/>
              </a:ext>
            </a:extLst>
          </p:cNvPr>
          <p:cNvSpPr>
            <a:spLocks xmlns:a="http://schemas.openxmlformats.org/drawingml/2006/main" noGrp="1"/>
          </p:cNvSpPr>
          <p:nvPr/>
        </p:nvSpPr>
        <p:spPr>
          <a:xfrm xmlns:a="http://schemas.openxmlformats.org/drawingml/2006/main">
            <a:off x="7757109" y="1943100"/>
            <a:ext cx="119254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展示内容</a:t>
            </a:r>
          </a:p>
        </p:txBody>
      </p:sp>
      <p:sp>
        <p:nvSpPr>
          <p:cNvPr id="16" name="">
            <a:extLst xmlns:a="http://schemas.openxmlformats.org/drawingml/2006/main">
              <a:ext uri="{FF2B5EF4-FFF2-40B4-BE49-F238E27FC236}">
                <a16:creationId xmlns:a16="http://schemas.microsoft.com/office/drawing/2014/main" id="{76441212-1EE6-4376-979A-C7865931E5DA}"/>
              </a:ext>
            </a:extLst>
          </p:cNvPr>
          <p:cNvSpPr>
            <a:spLocks xmlns:a="http://schemas.openxmlformats.org/drawingml/2006/main" noGrp="1"/>
          </p:cNvSpPr>
          <p:nvPr/>
        </p:nvSpPr>
        <p:spPr>
          <a:xfrm xmlns:a="http://schemas.openxmlformats.org/drawingml/2006/main">
            <a:off x="8997281" y="1905000"/>
            <a:ext cx="128779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7" name="">
            <a:extLst xmlns:a="http://schemas.openxmlformats.org/drawingml/2006/main">
              <a:ext uri="{FF2B5EF4-FFF2-40B4-BE49-F238E27FC236}">
                <a16:creationId xmlns:a16="http://schemas.microsoft.com/office/drawing/2014/main" id="{213FA4B8-4FEF-4E04-9542-888A151DD347}"/>
              </a:ext>
            </a:extLst>
          </p:cNvPr>
          <p:cNvSpPr>
            <a:spLocks xmlns:a="http://schemas.openxmlformats.org/drawingml/2006/main" noGrp="1"/>
          </p:cNvSpPr>
          <p:nvPr/>
        </p:nvSpPr>
        <p:spPr>
          <a:xfrm xmlns:a="http://schemas.openxmlformats.org/drawingml/2006/main">
            <a:off x="9044906" y="1943100"/>
            <a:ext cx="119254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对应评分点</a:t>
            </a:r>
          </a:p>
        </p:txBody>
      </p:sp>
      <p:sp>
        <p:nvSpPr>
          <p:cNvPr id="18" name="">
            <a:extLst xmlns:a="http://schemas.openxmlformats.org/drawingml/2006/main">
              <a:ext uri="{FF2B5EF4-FFF2-40B4-BE49-F238E27FC236}">
                <a16:creationId xmlns:a16="http://schemas.microsoft.com/office/drawing/2014/main" id="{5B5381A9-F92C-43AC-8BC3-4768D2A45B24}"/>
              </a:ext>
            </a:extLst>
          </p:cNvPr>
          <p:cNvSpPr>
            <a:spLocks xmlns:a="http://schemas.openxmlformats.org/drawingml/2006/main" noGrp="1"/>
          </p:cNvSpPr>
          <p:nvPr/>
        </p:nvSpPr>
        <p:spPr>
          <a:xfrm xmlns:a="http://schemas.openxmlformats.org/drawingml/2006/main">
            <a:off x="10285078" y="1905000"/>
            <a:ext cx="1287797"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4C181F8D-DA04-4571-B0BB-772E3C7AEE6F}"/>
              </a:ext>
            </a:extLst>
          </p:cNvPr>
          <p:cNvSpPr>
            <a:spLocks xmlns:a="http://schemas.openxmlformats.org/drawingml/2006/main" noGrp="1"/>
          </p:cNvSpPr>
          <p:nvPr/>
        </p:nvSpPr>
        <p:spPr>
          <a:xfrm xmlns:a="http://schemas.openxmlformats.org/drawingml/2006/main">
            <a:off x="10332703" y="1943100"/>
            <a:ext cx="119254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88" b="1">
                <a:solidFill>
                  <a:srgbClr val="FFFFFF"/>
                </a:solidFill>
                <a:latin typeface="PingFang SC"/>
                <a:ea typeface="PingFang SC"/>
                <a:cs typeface="PingFang SC"/>
              </a:defRPr>
            </a:pPr>
            <a:r>
              <a:rPr sz="788" b="1">
                <a:solidFill>
                  <a:srgbClr val="FFFFFF"/>
                </a:solidFill>
                <a:latin typeface="PingFang SC"/>
                <a:ea typeface="PingFang SC"/>
                <a:cs typeface="PingFang SC"/>
              </a:rPr>
              <a:t>验证结论</a:t>
            </a:r>
          </a:p>
        </p:txBody>
      </p:sp>
      <p:sp>
        <p:nvSpPr>
          <p:cNvPr id="20" name="">
            <a:extLst xmlns:a="http://schemas.openxmlformats.org/drawingml/2006/main">
              <a:ext uri="{FF2B5EF4-FFF2-40B4-BE49-F238E27FC236}">
                <a16:creationId xmlns:a16="http://schemas.microsoft.com/office/drawing/2014/main" id="{A393991F-245F-42D9-8FD3-D0FC379E471E}"/>
              </a:ext>
            </a:extLst>
          </p:cNvPr>
          <p:cNvSpPr>
            <a:spLocks xmlns:a="http://schemas.openxmlformats.org/drawingml/2006/main" noGrp="1"/>
          </p:cNvSpPr>
          <p:nvPr/>
        </p:nvSpPr>
        <p:spPr>
          <a:xfrm xmlns:a="http://schemas.openxmlformats.org/drawingml/2006/main">
            <a:off x="5191125" y="2305050"/>
            <a:ext cx="1230562"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1" name="">
            <a:extLst xmlns:a="http://schemas.openxmlformats.org/drawingml/2006/main">
              <a:ext uri="{FF2B5EF4-FFF2-40B4-BE49-F238E27FC236}">
                <a16:creationId xmlns:a16="http://schemas.microsoft.com/office/drawing/2014/main" id="{D9EC03EC-AD3F-442F-987B-5A2D7242AFBF}"/>
              </a:ext>
            </a:extLst>
          </p:cNvPr>
          <p:cNvSpPr>
            <a:spLocks xmlns:a="http://schemas.openxmlformats.org/drawingml/2006/main" noGrp="1"/>
          </p:cNvSpPr>
          <p:nvPr/>
        </p:nvSpPr>
        <p:spPr>
          <a:xfrm xmlns:a="http://schemas.openxmlformats.org/drawingml/2006/main">
            <a:off x="5238750" y="2333625"/>
            <a:ext cx="1135312"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完整流程录屏</a:t>
            </a:r>
          </a:p>
        </p:txBody>
      </p:sp>
      <p:sp>
        <p:nvSpPr>
          <p:cNvPr id="22" name="">
            <a:extLst xmlns:a="http://schemas.openxmlformats.org/drawingml/2006/main">
              <a:ext uri="{FF2B5EF4-FFF2-40B4-BE49-F238E27FC236}">
                <a16:creationId xmlns:a16="http://schemas.microsoft.com/office/drawing/2014/main" id="{33BC5B09-4B66-4A69-894B-1F82C4913DA7}"/>
              </a:ext>
            </a:extLst>
          </p:cNvPr>
          <p:cNvSpPr>
            <a:spLocks xmlns:a="http://schemas.openxmlformats.org/drawingml/2006/main" noGrp="1"/>
          </p:cNvSpPr>
          <p:nvPr/>
        </p:nvSpPr>
        <p:spPr>
          <a:xfrm xmlns:a="http://schemas.openxmlformats.org/drawingml/2006/main">
            <a:off x="6421687" y="2305050"/>
            <a:ext cx="128779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3" name="">
            <a:extLst xmlns:a="http://schemas.openxmlformats.org/drawingml/2006/main">
              <a:ext uri="{FF2B5EF4-FFF2-40B4-BE49-F238E27FC236}">
                <a16:creationId xmlns:a16="http://schemas.microsoft.com/office/drawing/2014/main" id="{B7641848-054B-435B-9116-3AB269B71D40}"/>
              </a:ext>
            </a:extLst>
          </p:cNvPr>
          <p:cNvSpPr>
            <a:spLocks xmlns:a="http://schemas.openxmlformats.org/drawingml/2006/main" noGrp="1"/>
          </p:cNvSpPr>
          <p:nvPr/>
        </p:nvSpPr>
        <p:spPr>
          <a:xfrm xmlns:a="http://schemas.openxmlformats.org/drawingml/2006/main">
            <a:off x="6469312" y="2333625"/>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demo_full_flow.mp4</a:t>
            </a:r>
          </a:p>
        </p:txBody>
      </p:sp>
      <p:sp>
        <p:nvSpPr>
          <p:cNvPr id="24" name="">
            <a:extLst xmlns:a="http://schemas.openxmlformats.org/drawingml/2006/main">
              <a:ext uri="{FF2B5EF4-FFF2-40B4-BE49-F238E27FC236}">
                <a16:creationId xmlns:a16="http://schemas.microsoft.com/office/drawing/2014/main" id="{CF725939-B008-415C-BC71-DC756FA6637B}"/>
              </a:ext>
            </a:extLst>
          </p:cNvPr>
          <p:cNvSpPr>
            <a:spLocks xmlns:a="http://schemas.openxmlformats.org/drawingml/2006/main" noGrp="1"/>
          </p:cNvSpPr>
          <p:nvPr/>
        </p:nvSpPr>
        <p:spPr>
          <a:xfrm xmlns:a="http://schemas.openxmlformats.org/drawingml/2006/main">
            <a:off x="7709484" y="2305050"/>
            <a:ext cx="128779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5" name="">
            <a:extLst xmlns:a="http://schemas.openxmlformats.org/drawingml/2006/main">
              <a:ext uri="{FF2B5EF4-FFF2-40B4-BE49-F238E27FC236}">
                <a16:creationId xmlns:a16="http://schemas.microsoft.com/office/drawing/2014/main" id="{58E03DC5-E02F-42ED-82A4-8F183AA64E7B}"/>
              </a:ext>
            </a:extLst>
          </p:cNvPr>
          <p:cNvSpPr>
            <a:spLocks xmlns:a="http://schemas.openxmlformats.org/drawingml/2006/main" noGrp="1"/>
          </p:cNvSpPr>
          <p:nvPr/>
        </p:nvSpPr>
        <p:spPr>
          <a:xfrm xmlns:a="http://schemas.openxmlformats.org/drawingml/2006/main">
            <a:off x="7757109" y="2333625"/>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开屏、进入大厅、规则选择、人机对局、出牌、结算、玩家中心</a:t>
            </a:r>
          </a:p>
        </p:txBody>
      </p:sp>
      <p:sp>
        <p:nvSpPr>
          <p:cNvPr id="26" name="">
            <a:extLst xmlns:a="http://schemas.openxmlformats.org/drawingml/2006/main">
              <a:ext uri="{FF2B5EF4-FFF2-40B4-BE49-F238E27FC236}">
                <a16:creationId xmlns:a16="http://schemas.microsoft.com/office/drawing/2014/main" id="{3B8B678F-F0F8-4ED8-B1DF-742D80E10B72}"/>
              </a:ext>
            </a:extLst>
          </p:cNvPr>
          <p:cNvSpPr>
            <a:spLocks xmlns:a="http://schemas.openxmlformats.org/drawingml/2006/main" noGrp="1"/>
          </p:cNvSpPr>
          <p:nvPr/>
        </p:nvSpPr>
        <p:spPr>
          <a:xfrm xmlns:a="http://schemas.openxmlformats.org/drawingml/2006/main">
            <a:off x="8997281" y="2305050"/>
            <a:ext cx="128779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7" name="">
            <a:extLst xmlns:a="http://schemas.openxmlformats.org/drawingml/2006/main">
              <a:ext uri="{FF2B5EF4-FFF2-40B4-BE49-F238E27FC236}">
                <a16:creationId xmlns:a16="http://schemas.microsoft.com/office/drawing/2014/main" id="{A47E99AD-0087-4FD5-9AF5-5FE50257825B}"/>
              </a:ext>
            </a:extLst>
          </p:cNvPr>
          <p:cNvSpPr>
            <a:spLocks xmlns:a="http://schemas.openxmlformats.org/drawingml/2006/main" noGrp="1"/>
          </p:cNvSpPr>
          <p:nvPr/>
        </p:nvSpPr>
        <p:spPr>
          <a:xfrm xmlns:a="http://schemas.openxmlformats.org/drawingml/2006/main">
            <a:off x="9044906" y="2333625"/>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UI、规则、AI、玩家成长</a:t>
            </a:r>
          </a:p>
        </p:txBody>
      </p:sp>
      <p:sp>
        <p:nvSpPr>
          <p:cNvPr id="28" name="">
            <a:extLst xmlns:a="http://schemas.openxmlformats.org/drawingml/2006/main">
              <a:ext uri="{FF2B5EF4-FFF2-40B4-BE49-F238E27FC236}">
                <a16:creationId xmlns:a16="http://schemas.microsoft.com/office/drawing/2014/main" id="{84338468-0812-4187-8652-4894259E71DD}"/>
              </a:ext>
            </a:extLst>
          </p:cNvPr>
          <p:cNvSpPr>
            <a:spLocks xmlns:a="http://schemas.openxmlformats.org/drawingml/2006/main" noGrp="1"/>
          </p:cNvSpPr>
          <p:nvPr/>
        </p:nvSpPr>
        <p:spPr>
          <a:xfrm xmlns:a="http://schemas.openxmlformats.org/drawingml/2006/main">
            <a:off x="10285078" y="2305050"/>
            <a:ext cx="128779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9" name="">
            <a:extLst xmlns:a="http://schemas.openxmlformats.org/drawingml/2006/main">
              <a:ext uri="{FF2B5EF4-FFF2-40B4-BE49-F238E27FC236}">
                <a16:creationId xmlns:a16="http://schemas.microsoft.com/office/drawing/2014/main" id="{813DA4C6-C058-4C34-8F28-F47B61BD0DF3}"/>
              </a:ext>
            </a:extLst>
          </p:cNvPr>
          <p:cNvSpPr>
            <a:spLocks xmlns:a="http://schemas.openxmlformats.org/drawingml/2006/main" noGrp="1"/>
          </p:cNvSpPr>
          <p:nvPr/>
        </p:nvSpPr>
        <p:spPr>
          <a:xfrm xmlns:a="http://schemas.openxmlformats.org/drawingml/2006/main">
            <a:off x="10332703" y="2333625"/>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证明 App 主流程完整可运行</a:t>
            </a:r>
          </a:p>
        </p:txBody>
      </p:sp>
      <p:sp>
        <p:nvSpPr>
          <p:cNvPr id="30" name="">
            <a:extLst xmlns:a="http://schemas.openxmlformats.org/drawingml/2006/main">
              <a:ext uri="{FF2B5EF4-FFF2-40B4-BE49-F238E27FC236}">
                <a16:creationId xmlns:a16="http://schemas.microsoft.com/office/drawing/2014/main" id="{F65B651F-24E2-4E64-8145-1753D09D7C80}"/>
              </a:ext>
            </a:extLst>
          </p:cNvPr>
          <p:cNvSpPr>
            <a:spLocks xmlns:a="http://schemas.openxmlformats.org/drawingml/2006/main" noGrp="1"/>
          </p:cNvSpPr>
          <p:nvPr/>
        </p:nvSpPr>
        <p:spPr>
          <a:xfrm xmlns:a="http://schemas.openxmlformats.org/drawingml/2006/main">
            <a:off x="5191125" y="2911475"/>
            <a:ext cx="1230562"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1" name="">
            <a:extLst xmlns:a="http://schemas.openxmlformats.org/drawingml/2006/main">
              <a:ext uri="{FF2B5EF4-FFF2-40B4-BE49-F238E27FC236}">
                <a16:creationId xmlns:a16="http://schemas.microsoft.com/office/drawing/2014/main" id="{2BE527D2-25C5-4091-84EB-0BAF0B95078E}"/>
              </a:ext>
            </a:extLst>
          </p:cNvPr>
          <p:cNvSpPr>
            <a:spLocks xmlns:a="http://schemas.openxmlformats.org/drawingml/2006/main" noGrp="1"/>
          </p:cNvSpPr>
          <p:nvPr/>
        </p:nvSpPr>
        <p:spPr>
          <a:xfrm xmlns:a="http://schemas.openxmlformats.org/drawingml/2006/main">
            <a:off x="5238750" y="2940050"/>
            <a:ext cx="1135312"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人机与 AI 录屏</a:t>
            </a:r>
          </a:p>
        </p:txBody>
      </p:sp>
      <p:sp>
        <p:nvSpPr>
          <p:cNvPr id="32" name="">
            <a:extLst xmlns:a="http://schemas.openxmlformats.org/drawingml/2006/main">
              <a:ext uri="{FF2B5EF4-FFF2-40B4-BE49-F238E27FC236}">
                <a16:creationId xmlns:a16="http://schemas.microsoft.com/office/drawing/2014/main" id="{2A16A2CC-CBD8-4AAC-9951-9E7F9D66E3AC}"/>
              </a:ext>
            </a:extLst>
          </p:cNvPr>
          <p:cNvSpPr>
            <a:spLocks xmlns:a="http://schemas.openxmlformats.org/drawingml/2006/main" noGrp="1"/>
          </p:cNvSpPr>
          <p:nvPr/>
        </p:nvSpPr>
        <p:spPr>
          <a:xfrm xmlns:a="http://schemas.openxmlformats.org/drawingml/2006/main">
            <a:off x="6421687" y="2911475"/>
            <a:ext cx="128779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3" name="">
            <a:extLst xmlns:a="http://schemas.openxmlformats.org/drawingml/2006/main">
              <a:ext uri="{FF2B5EF4-FFF2-40B4-BE49-F238E27FC236}">
                <a16:creationId xmlns:a16="http://schemas.microsoft.com/office/drawing/2014/main" id="{F96A7A2B-B703-4F86-B296-F1EA56402C93}"/>
              </a:ext>
            </a:extLst>
          </p:cNvPr>
          <p:cNvSpPr>
            <a:spLocks xmlns:a="http://schemas.openxmlformats.org/drawingml/2006/main" noGrp="1"/>
          </p:cNvSpPr>
          <p:nvPr/>
        </p:nvSpPr>
        <p:spPr>
          <a:xfrm xmlns:a="http://schemas.openxmlformats.org/drawingml/2006/main">
            <a:off x="6469312" y="2940050"/>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demo_ai_match.mp4</a:t>
            </a:r>
          </a:p>
        </p:txBody>
      </p:sp>
      <p:sp>
        <p:nvSpPr>
          <p:cNvPr id="34" name="">
            <a:extLst xmlns:a="http://schemas.openxmlformats.org/drawingml/2006/main">
              <a:ext uri="{FF2B5EF4-FFF2-40B4-BE49-F238E27FC236}">
                <a16:creationId xmlns:a16="http://schemas.microsoft.com/office/drawing/2014/main" id="{493AA749-07EE-4FBC-A200-14C0AB34CA02}"/>
              </a:ext>
            </a:extLst>
          </p:cNvPr>
          <p:cNvSpPr>
            <a:spLocks xmlns:a="http://schemas.openxmlformats.org/drawingml/2006/main" noGrp="1"/>
          </p:cNvSpPr>
          <p:nvPr/>
        </p:nvSpPr>
        <p:spPr>
          <a:xfrm xmlns:a="http://schemas.openxmlformats.org/drawingml/2006/main">
            <a:off x="7709484" y="2911475"/>
            <a:ext cx="128779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5" name="">
            <a:extLst xmlns:a="http://schemas.openxmlformats.org/drawingml/2006/main">
              <a:ext uri="{FF2B5EF4-FFF2-40B4-BE49-F238E27FC236}">
                <a16:creationId xmlns:a16="http://schemas.microsoft.com/office/drawing/2014/main" id="{9E268BC8-7AF5-4AC4-A4D5-ED5FB21F8396}"/>
              </a:ext>
            </a:extLst>
          </p:cNvPr>
          <p:cNvSpPr>
            <a:spLocks xmlns:a="http://schemas.openxmlformats.org/drawingml/2006/main" noGrp="1"/>
          </p:cNvSpPr>
          <p:nvPr/>
        </p:nvSpPr>
        <p:spPr>
          <a:xfrm xmlns:a="http://schemas.openxmlformats.org/drawingml/2006/main">
            <a:off x="7757109" y="2940050"/>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简单/普通/困难难度选择，AI 自动出牌</a:t>
            </a:r>
          </a:p>
        </p:txBody>
      </p:sp>
      <p:sp>
        <p:nvSpPr>
          <p:cNvPr id="36" name="">
            <a:extLst xmlns:a="http://schemas.openxmlformats.org/drawingml/2006/main">
              <a:ext uri="{FF2B5EF4-FFF2-40B4-BE49-F238E27FC236}">
                <a16:creationId xmlns:a16="http://schemas.microsoft.com/office/drawing/2014/main" id="{6ECD5781-AEFF-43B2-AEEC-A1980F940299}"/>
              </a:ext>
            </a:extLst>
          </p:cNvPr>
          <p:cNvSpPr>
            <a:spLocks xmlns:a="http://schemas.openxmlformats.org/drawingml/2006/main" noGrp="1"/>
          </p:cNvSpPr>
          <p:nvPr/>
        </p:nvSpPr>
        <p:spPr>
          <a:xfrm xmlns:a="http://schemas.openxmlformats.org/drawingml/2006/main">
            <a:off x="8997281" y="2911475"/>
            <a:ext cx="128779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7" name="">
            <a:extLst xmlns:a="http://schemas.openxmlformats.org/drawingml/2006/main">
              <a:ext uri="{FF2B5EF4-FFF2-40B4-BE49-F238E27FC236}">
                <a16:creationId xmlns:a16="http://schemas.microsoft.com/office/drawing/2014/main" id="{B18BD57F-7400-4E0D-96CB-10BA0B1E2C90}"/>
              </a:ext>
            </a:extLst>
          </p:cNvPr>
          <p:cNvSpPr>
            <a:spLocks xmlns:a="http://schemas.openxmlformats.org/drawingml/2006/main" noGrp="1"/>
          </p:cNvSpPr>
          <p:nvPr/>
        </p:nvSpPr>
        <p:spPr>
          <a:xfrm xmlns:a="http://schemas.openxmlformats.org/drawingml/2006/main">
            <a:off x="9044906" y="2940050"/>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多 AI 策略、策略模式</a:t>
            </a:r>
          </a:p>
        </p:txBody>
      </p:sp>
      <p:sp>
        <p:nvSpPr>
          <p:cNvPr id="38" name="">
            <a:extLst xmlns:a="http://schemas.openxmlformats.org/drawingml/2006/main">
              <a:ext uri="{FF2B5EF4-FFF2-40B4-BE49-F238E27FC236}">
                <a16:creationId xmlns:a16="http://schemas.microsoft.com/office/drawing/2014/main" id="{C217EA4D-23AB-4BFF-80C6-94D1977DC1FE}"/>
              </a:ext>
            </a:extLst>
          </p:cNvPr>
          <p:cNvSpPr>
            <a:spLocks xmlns:a="http://schemas.openxmlformats.org/drawingml/2006/main" noGrp="1"/>
          </p:cNvSpPr>
          <p:nvPr/>
        </p:nvSpPr>
        <p:spPr>
          <a:xfrm xmlns:a="http://schemas.openxmlformats.org/drawingml/2006/main">
            <a:off x="10285078" y="2911475"/>
            <a:ext cx="128779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9" name="">
            <a:extLst xmlns:a="http://schemas.openxmlformats.org/drawingml/2006/main">
              <a:ext uri="{FF2B5EF4-FFF2-40B4-BE49-F238E27FC236}">
                <a16:creationId xmlns:a16="http://schemas.microsoft.com/office/drawing/2014/main" id="{2208A113-5A93-43B7-A5EF-A8108DEA9756}"/>
              </a:ext>
            </a:extLst>
          </p:cNvPr>
          <p:cNvSpPr>
            <a:spLocks xmlns:a="http://schemas.openxmlformats.org/drawingml/2006/main" noGrp="1"/>
          </p:cNvSpPr>
          <p:nvPr/>
        </p:nvSpPr>
        <p:spPr>
          <a:xfrm xmlns:a="http://schemas.openxmlformats.org/drawingml/2006/main">
            <a:off x="10332703" y="2940050"/>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证明 AI 模块可替换并参与对局</a:t>
            </a:r>
          </a:p>
        </p:txBody>
      </p:sp>
      <p:sp>
        <p:nvSpPr>
          <p:cNvPr id="40" name="">
            <a:extLst xmlns:a="http://schemas.openxmlformats.org/drawingml/2006/main">
              <a:ext uri="{FF2B5EF4-FFF2-40B4-BE49-F238E27FC236}">
                <a16:creationId xmlns:a16="http://schemas.microsoft.com/office/drawing/2014/main" id="{AAD4770F-7482-4307-91BF-A7FEF78D6118}"/>
              </a:ext>
            </a:extLst>
          </p:cNvPr>
          <p:cNvSpPr>
            <a:spLocks xmlns:a="http://schemas.openxmlformats.org/drawingml/2006/main" noGrp="1"/>
          </p:cNvSpPr>
          <p:nvPr/>
        </p:nvSpPr>
        <p:spPr>
          <a:xfrm xmlns:a="http://schemas.openxmlformats.org/drawingml/2006/main">
            <a:off x="5191125" y="3517900"/>
            <a:ext cx="1230562"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1" name="">
            <a:extLst xmlns:a="http://schemas.openxmlformats.org/drawingml/2006/main">
              <a:ext uri="{FF2B5EF4-FFF2-40B4-BE49-F238E27FC236}">
                <a16:creationId xmlns:a16="http://schemas.microsoft.com/office/drawing/2014/main" id="{3231EF11-4379-4E3B-852F-686EC1EB6606}"/>
              </a:ext>
            </a:extLst>
          </p:cNvPr>
          <p:cNvSpPr>
            <a:spLocks xmlns:a="http://schemas.openxmlformats.org/drawingml/2006/main" noGrp="1"/>
          </p:cNvSpPr>
          <p:nvPr/>
        </p:nvSpPr>
        <p:spPr>
          <a:xfrm xmlns:a="http://schemas.openxmlformats.org/drawingml/2006/main">
            <a:off x="5238750" y="3546475"/>
            <a:ext cx="1135312"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蓝牙房间录屏</a:t>
            </a:r>
          </a:p>
        </p:txBody>
      </p:sp>
      <p:sp>
        <p:nvSpPr>
          <p:cNvPr id="42" name="">
            <a:extLst xmlns:a="http://schemas.openxmlformats.org/drawingml/2006/main">
              <a:ext uri="{FF2B5EF4-FFF2-40B4-BE49-F238E27FC236}">
                <a16:creationId xmlns:a16="http://schemas.microsoft.com/office/drawing/2014/main" id="{EEF820EE-3B88-4A68-AF78-70C7176A082F}"/>
              </a:ext>
            </a:extLst>
          </p:cNvPr>
          <p:cNvSpPr>
            <a:spLocks xmlns:a="http://schemas.openxmlformats.org/drawingml/2006/main" noGrp="1"/>
          </p:cNvSpPr>
          <p:nvPr/>
        </p:nvSpPr>
        <p:spPr>
          <a:xfrm xmlns:a="http://schemas.openxmlformats.org/drawingml/2006/main">
            <a:off x="6421687" y="3517900"/>
            <a:ext cx="128779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3" name="">
            <a:extLst xmlns:a="http://schemas.openxmlformats.org/drawingml/2006/main">
              <a:ext uri="{FF2B5EF4-FFF2-40B4-BE49-F238E27FC236}">
                <a16:creationId xmlns:a16="http://schemas.microsoft.com/office/drawing/2014/main" id="{1C4E52C3-C61A-43D9-99FE-26640CF08536}"/>
              </a:ext>
            </a:extLst>
          </p:cNvPr>
          <p:cNvSpPr>
            <a:spLocks xmlns:a="http://schemas.openxmlformats.org/drawingml/2006/main" noGrp="1"/>
          </p:cNvSpPr>
          <p:nvPr/>
        </p:nvSpPr>
        <p:spPr>
          <a:xfrm xmlns:a="http://schemas.openxmlformats.org/drawingml/2006/main">
            <a:off x="6469312" y="3546475"/>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demo_bluetooth_room.mp4</a:t>
            </a:r>
          </a:p>
        </p:txBody>
      </p:sp>
      <p:sp>
        <p:nvSpPr>
          <p:cNvPr id="44" name="">
            <a:extLst xmlns:a="http://schemas.openxmlformats.org/drawingml/2006/main">
              <a:ext uri="{FF2B5EF4-FFF2-40B4-BE49-F238E27FC236}">
                <a16:creationId xmlns:a16="http://schemas.microsoft.com/office/drawing/2014/main" id="{934FBBF9-CDA3-4013-BA84-42F6C4B771AB}"/>
              </a:ext>
            </a:extLst>
          </p:cNvPr>
          <p:cNvSpPr>
            <a:spLocks xmlns:a="http://schemas.openxmlformats.org/drawingml/2006/main" noGrp="1"/>
          </p:cNvSpPr>
          <p:nvPr/>
        </p:nvSpPr>
        <p:spPr>
          <a:xfrm xmlns:a="http://schemas.openxmlformats.org/drawingml/2006/main">
            <a:off x="7709484" y="3517900"/>
            <a:ext cx="128779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5" name="">
            <a:extLst xmlns:a="http://schemas.openxmlformats.org/drawingml/2006/main">
              <a:ext uri="{FF2B5EF4-FFF2-40B4-BE49-F238E27FC236}">
                <a16:creationId xmlns:a16="http://schemas.microsoft.com/office/drawing/2014/main" id="{1677915F-28BC-40CF-94E1-FA15B7A6BC1E}"/>
              </a:ext>
            </a:extLst>
          </p:cNvPr>
          <p:cNvSpPr>
            <a:spLocks xmlns:a="http://schemas.openxmlformats.org/drawingml/2006/main" noGrp="1"/>
          </p:cNvSpPr>
          <p:nvPr/>
        </p:nvSpPr>
        <p:spPr>
          <a:xfrm xmlns:a="http://schemas.openxmlformats.org/drawingml/2006/main">
            <a:off x="7757109" y="3546475"/>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718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创建房间、加入对局、四座位、人机补位、准备开局、客户端断线托管和房主断线提示</a:t>
            </a:r>
          </a:p>
        </p:txBody>
      </p:sp>
      <p:sp>
        <p:nvSpPr>
          <p:cNvPr id="46" name="">
            <a:extLst xmlns:a="http://schemas.openxmlformats.org/drawingml/2006/main">
              <a:ext uri="{FF2B5EF4-FFF2-40B4-BE49-F238E27FC236}">
                <a16:creationId xmlns:a16="http://schemas.microsoft.com/office/drawing/2014/main" id="{D4C9F02F-049E-40D3-9AB4-E7DADE185BF3}"/>
              </a:ext>
            </a:extLst>
          </p:cNvPr>
          <p:cNvSpPr>
            <a:spLocks xmlns:a="http://schemas.openxmlformats.org/drawingml/2006/main" noGrp="1"/>
          </p:cNvSpPr>
          <p:nvPr/>
        </p:nvSpPr>
        <p:spPr>
          <a:xfrm xmlns:a="http://schemas.openxmlformats.org/drawingml/2006/main">
            <a:off x="8997281" y="3517900"/>
            <a:ext cx="128779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7" name="">
            <a:extLst xmlns:a="http://schemas.openxmlformats.org/drawingml/2006/main">
              <a:ext uri="{FF2B5EF4-FFF2-40B4-BE49-F238E27FC236}">
                <a16:creationId xmlns:a16="http://schemas.microsoft.com/office/drawing/2014/main" id="{C1F34AF3-F8CA-4C4B-BAF8-96BBD3B8BDBB}"/>
              </a:ext>
            </a:extLst>
          </p:cNvPr>
          <p:cNvSpPr>
            <a:spLocks xmlns:a="http://schemas.openxmlformats.org/drawingml/2006/main" noGrp="1"/>
          </p:cNvSpPr>
          <p:nvPr/>
        </p:nvSpPr>
        <p:spPr>
          <a:xfrm xmlns:a="http://schemas.openxmlformats.org/drawingml/2006/main">
            <a:off x="9044906" y="3546475"/>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多人蓝牙连接</a:t>
            </a:r>
          </a:p>
        </p:txBody>
      </p:sp>
      <p:sp>
        <p:nvSpPr>
          <p:cNvPr id="48" name="">
            <a:extLst xmlns:a="http://schemas.openxmlformats.org/drawingml/2006/main">
              <a:ext uri="{FF2B5EF4-FFF2-40B4-BE49-F238E27FC236}">
                <a16:creationId xmlns:a16="http://schemas.microsoft.com/office/drawing/2014/main" id="{D8741C7D-9ADB-4999-8A51-9353BEAA1302}"/>
              </a:ext>
            </a:extLst>
          </p:cNvPr>
          <p:cNvSpPr>
            <a:spLocks xmlns:a="http://schemas.openxmlformats.org/drawingml/2006/main" noGrp="1"/>
          </p:cNvSpPr>
          <p:nvPr/>
        </p:nvSpPr>
        <p:spPr>
          <a:xfrm xmlns:a="http://schemas.openxmlformats.org/drawingml/2006/main">
            <a:off x="10285078" y="3517900"/>
            <a:ext cx="128779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9" name="">
            <a:extLst xmlns:a="http://schemas.openxmlformats.org/drawingml/2006/main">
              <a:ext uri="{FF2B5EF4-FFF2-40B4-BE49-F238E27FC236}">
                <a16:creationId xmlns:a16="http://schemas.microsoft.com/office/drawing/2014/main" id="{47CF4714-45BF-49F5-B427-30FE60CAB8EB}"/>
              </a:ext>
            </a:extLst>
          </p:cNvPr>
          <p:cNvSpPr>
            <a:spLocks xmlns:a="http://schemas.openxmlformats.org/drawingml/2006/main" noGrp="1"/>
          </p:cNvSpPr>
          <p:nvPr/>
        </p:nvSpPr>
        <p:spPr>
          <a:xfrm xmlns:a="http://schemas.openxmlformats.org/drawingml/2006/main">
            <a:off x="10332703" y="3546475"/>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证明联机不是一对一匹配，并考虑断线处理</a:t>
            </a:r>
          </a:p>
        </p:txBody>
      </p:sp>
      <p:sp>
        <p:nvSpPr>
          <p:cNvPr id="50" name="">
            <a:extLst xmlns:a="http://schemas.openxmlformats.org/drawingml/2006/main">
              <a:ext uri="{FF2B5EF4-FFF2-40B4-BE49-F238E27FC236}">
                <a16:creationId xmlns:a16="http://schemas.microsoft.com/office/drawing/2014/main" id="{A1B5140E-A2F3-4C22-A969-EB38324C0AB2}"/>
              </a:ext>
            </a:extLst>
          </p:cNvPr>
          <p:cNvSpPr>
            <a:spLocks xmlns:a="http://schemas.openxmlformats.org/drawingml/2006/main" noGrp="1"/>
          </p:cNvSpPr>
          <p:nvPr/>
        </p:nvSpPr>
        <p:spPr>
          <a:xfrm xmlns:a="http://schemas.openxmlformats.org/drawingml/2006/main">
            <a:off x="5191125" y="4124325"/>
            <a:ext cx="1230562"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1" name="">
            <a:extLst xmlns:a="http://schemas.openxmlformats.org/drawingml/2006/main">
              <a:ext uri="{FF2B5EF4-FFF2-40B4-BE49-F238E27FC236}">
                <a16:creationId xmlns:a16="http://schemas.microsoft.com/office/drawing/2014/main" id="{6BCACD5A-3ED7-4885-AD23-1AB039DEAD6A}"/>
              </a:ext>
            </a:extLst>
          </p:cNvPr>
          <p:cNvSpPr>
            <a:spLocks xmlns:a="http://schemas.openxmlformats.org/drawingml/2006/main" noGrp="1"/>
          </p:cNvSpPr>
          <p:nvPr/>
        </p:nvSpPr>
        <p:spPr>
          <a:xfrm xmlns:a="http://schemas.openxmlformats.org/drawingml/2006/main">
            <a:off x="5238750" y="4152900"/>
            <a:ext cx="1135312"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南北规则录屏</a:t>
            </a:r>
          </a:p>
        </p:txBody>
      </p:sp>
      <p:sp>
        <p:nvSpPr>
          <p:cNvPr id="52" name="">
            <a:extLst xmlns:a="http://schemas.openxmlformats.org/drawingml/2006/main">
              <a:ext uri="{FF2B5EF4-FFF2-40B4-BE49-F238E27FC236}">
                <a16:creationId xmlns:a16="http://schemas.microsoft.com/office/drawing/2014/main" id="{2A9363B3-D08B-4C70-931C-E892CA186B3F}"/>
              </a:ext>
            </a:extLst>
          </p:cNvPr>
          <p:cNvSpPr>
            <a:spLocks xmlns:a="http://schemas.openxmlformats.org/drawingml/2006/main" noGrp="1"/>
          </p:cNvSpPr>
          <p:nvPr/>
        </p:nvSpPr>
        <p:spPr>
          <a:xfrm xmlns:a="http://schemas.openxmlformats.org/drawingml/2006/main">
            <a:off x="6421687" y="4124325"/>
            <a:ext cx="128779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3" name="">
            <a:extLst xmlns:a="http://schemas.openxmlformats.org/drawingml/2006/main">
              <a:ext uri="{FF2B5EF4-FFF2-40B4-BE49-F238E27FC236}">
                <a16:creationId xmlns:a16="http://schemas.microsoft.com/office/drawing/2014/main" id="{FE69AD67-5F0B-438C-8759-611ABB8CD4F4}"/>
              </a:ext>
            </a:extLst>
          </p:cNvPr>
          <p:cNvSpPr>
            <a:spLocks xmlns:a="http://schemas.openxmlformats.org/drawingml/2006/main" noGrp="1"/>
          </p:cNvSpPr>
          <p:nvPr/>
        </p:nvSpPr>
        <p:spPr>
          <a:xfrm xmlns:a="http://schemas.openxmlformats.org/drawingml/2006/main">
            <a:off x="6469312" y="4152900"/>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demo_rules.mp4</a:t>
            </a:r>
          </a:p>
        </p:txBody>
      </p:sp>
      <p:sp>
        <p:nvSpPr>
          <p:cNvPr id="54" name="">
            <a:extLst xmlns:a="http://schemas.openxmlformats.org/drawingml/2006/main">
              <a:ext uri="{FF2B5EF4-FFF2-40B4-BE49-F238E27FC236}">
                <a16:creationId xmlns:a16="http://schemas.microsoft.com/office/drawing/2014/main" id="{6A424DCE-C9B8-41DC-A09A-CD9F8F1A18A8}"/>
              </a:ext>
            </a:extLst>
          </p:cNvPr>
          <p:cNvSpPr>
            <a:spLocks xmlns:a="http://schemas.openxmlformats.org/drawingml/2006/main" noGrp="1"/>
          </p:cNvSpPr>
          <p:nvPr/>
        </p:nvSpPr>
        <p:spPr>
          <a:xfrm xmlns:a="http://schemas.openxmlformats.org/drawingml/2006/main">
            <a:off x="7709484" y="4124325"/>
            <a:ext cx="128779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5" name="">
            <a:extLst xmlns:a="http://schemas.openxmlformats.org/drawingml/2006/main">
              <a:ext uri="{FF2B5EF4-FFF2-40B4-BE49-F238E27FC236}">
                <a16:creationId xmlns:a16="http://schemas.microsoft.com/office/drawing/2014/main" id="{0E5F2CA3-7315-4320-9ADB-8FFA446EDB79}"/>
              </a:ext>
            </a:extLst>
          </p:cNvPr>
          <p:cNvSpPr>
            <a:spLocks xmlns:a="http://schemas.openxmlformats.org/drawingml/2006/main" noGrp="1"/>
          </p:cNvSpPr>
          <p:nvPr/>
        </p:nvSpPr>
        <p:spPr>
          <a:xfrm xmlns:a="http://schemas.openxmlformats.org/drawingml/2006/main">
            <a:off x="7757109" y="4152900"/>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切换北方/南方规则并进入对局验证首出差异</a:t>
            </a:r>
          </a:p>
        </p:txBody>
      </p:sp>
      <p:sp>
        <p:nvSpPr>
          <p:cNvPr id="56" name="">
            <a:extLst xmlns:a="http://schemas.openxmlformats.org/drawingml/2006/main">
              <a:ext uri="{FF2B5EF4-FFF2-40B4-BE49-F238E27FC236}">
                <a16:creationId xmlns:a16="http://schemas.microsoft.com/office/drawing/2014/main" id="{7ABC74B8-1D7B-4E19-9D3C-91676A5FBE83}"/>
              </a:ext>
            </a:extLst>
          </p:cNvPr>
          <p:cNvSpPr>
            <a:spLocks xmlns:a="http://schemas.openxmlformats.org/drawingml/2006/main" noGrp="1"/>
          </p:cNvSpPr>
          <p:nvPr/>
        </p:nvSpPr>
        <p:spPr>
          <a:xfrm xmlns:a="http://schemas.openxmlformats.org/drawingml/2006/main">
            <a:off x="8997281" y="4124325"/>
            <a:ext cx="128779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7" name="">
            <a:extLst xmlns:a="http://schemas.openxmlformats.org/drawingml/2006/main">
              <a:ext uri="{FF2B5EF4-FFF2-40B4-BE49-F238E27FC236}">
                <a16:creationId xmlns:a16="http://schemas.microsoft.com/office/drawing/2014/main" id="{6891955A-6E18-4243-8B2D-6ADE35CA10D4}"/>
              </a:ext>
            </a:extLst>
          </p:cNvPr>
          <p:cNvSpPr>
            <a:spLocks xmlns:a="http://schemas.openxmlformats.org/drawingml/2006/main" noGrp="1"/>
          </p:cNvSpPr>
          <p:nvPr/>
        </p:nvSpPr>
        <p:spPr>
          <a:xfrm xmlns:a="http://schemas.openxmlformats.org/drawingml/2006/main">
            <a:off x="9044906" y="4152900"/>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南北规则</a:t>
            </a:r>
          </a:p>
        </p:txBody>
      </p:sp>
      <p:sp>
        <p:nvSpPr>
          <p:cNvPr id="58" name="">
            <a:extLst xmlns:a="http://schemas.openxmlformats.org/drawingml/2006/main">
              <a:ext uri="{FF2B5EF4-FFF2-40B4-BE49-F238E27FC236}">
                <a16:creationId xmlns:a16="http://schemas.microsoft.com/office/drawing/2014/main" id="{09289981-6704-4CDE-822E-634B516239B6}"/>
              </a:ext>
            </a:extLst>
          </p:cNvPr>
          <p:cNvSpPr>
            <a:spLocks xmlns:a="http://schemas.openxmlformats.org/drawingml/2006/main" noGrp="1"/>
          </p:cNvSpPr>
          <p:nvPr/>
        </p:nvSpPr>
        <p:spPr>
          <a:xfrm xmlns:a="http://schemas.openxmlformats.org/drawingml/2006/main">
            <a:off x="10285078" y="4124325"/>
            <a:ext cx="128779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9" name="">
            <a:extLst xmlns:a="http://schemas.openxmlformats.org/drawingml/2006/main">
              <a:ext uri="{FF2B5EF4-FFF2-40B4-BE49-F238E27FC236}">
                <a16:creationId xmlns:a16="http://schemas.microsoft.com/office/drawing/2014/main" id="{BCBC4D3E-7E25-4924-A35B-47F3A2A979F3}"/>
              </a:ext>
            </a:extLst>
          </p:cNvPr>
          <p:cNvSpPr>
            <a:spLocks xmlns:a="http://schemas.openxmlformats.org/drawingml/2006/main" noGrp="1"/>
          </p:cNvSpPr>
          <p:nvPr/>
        </p:nvSpPr>
        <p:spPr>
          <a:xfrm xmlns:a="http://schemas.openxmlformats.org/drawingml/2006/main">
            <a:off x="10332703" y="4152900"/>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证明规则可自由选择并保存</a:t>
            </a:r>
          </a:p>
        </p:txBody>
      </p:sp>
      <p:sp>
        <p:nvSpPr>
          <p:cNvPr id="60" name="">
            <a:extLst xmlns:a="http://schemas.openxmlformats.org/drawingml/2006/main">
              <a:ext uri="{FF2B5EF4-FFF2-40B4-BE49-F238E27FC236}">
                <a16:creationId xmlns:a16="http://schemas.microsoft.com/office/drawing/2014/main" id="{7728FBF9-81A3-4B66-8117-D5E92FBAA4BB}"/>
              </a:ext>
            </a:extLst>
          </p:cNvPr>
          <p:cNvSpPr>
            <a:spLocks xmlns:a="http://schemas.openxmlformats.org/drawingml/2006/main" noGrp="1"/>
          </p:cNvSpPr>
          <p:nvPr/>
        </p:nvSpPr>
        <p:spPr>
          <a:xfrm xmlns:a="http://schemas.openxmlformats.org/drawingml/2006/main">
            <a:off x="5191125" y="4730750"/>
            <a:ext cx="1230562"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1" name="">
            <a:extLst xmlns:a="http://schemas.openxmlformats.org/drawingml/2006/main">
              <a:ext uri="{FF2B5EF4-FFF2-40B4-BE49-F238E27FC236}">
                <a16:creationId xmlns:a16="http://schemas.microsoft.com/office/drawing/2014/main" id="{C0B953A4-169B-48C5-8D4F-C5CA60334CDA}"/>
              </a:ext>
            </a:extLst>
          </p:cNvPr>
          <p:cNvSpPr>
            <a:spLocks xmlns:a="http://schemas.openxmlformats.org/drawingml/2006/main" noGrp="1"/>
          </p:cNvSpPr>
          <p:nvPr/>
        </p:nvSpPr>
        <p:spPr>
          <a:xfrm xmlns:a="http://schemas.openxmlformats.org/drawingml/2006/main">
            <a:off x="5238750" y="4759325"/>
            <a:ext cx="1135312"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玩家中心录屏</a:t>
            </a:r>
          </a:p>
        </p:txBody>
      </p:sp>
      <p:sp>
        <p:nvSpPr>
          <p:cNvPr id="62" name="">
            <a:extLst xmlns:a="http://schemas.openxmlformats.org/drawingml/2006/main">
              <a:ext uri="{FF2B5EF4-FFF2-40B4-BE49-F238E27FC236}">
                <a16:creationId xmlns:a16="http://schemas.microsoft.com/office/drawing/2014/main" id="{DFE3C242-6711-4298-8CF9-B4BBED51A4D1}"/>
              </a:ext>
            </a:extLst>
          </p:cNvPr>
          <p:cNvSpPr>
            <a:spLocks xmlns:a="http://schemas.openxmlformats.org/drawingml/2006/main" noGrp="1"/>
          </p:cNvSpPr>
          <p:nvPr/>
        </p:nvSpPr>
        <p:spPr>
          <a:xfrm xmlns:a="http://schemas.openxmlformats.org/drawingml/2006/main">
            <a:off x="6421687" y="4730750"/>
            <a:ext cx="128779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3" name="">
            <a:extLst xmlns:a="http://schemas.openxmlformats.org/drawingml/2006/main">
              <a:ext uri="{FF2B5EF4-FFF2-40B4-BE49-F238E27FC236}">
                <a16:creationId xmlns:a16="http://schemas.microsoft.com/office/drawing/2014/main" id="{322327E2-47F7-461E-A469-54C9C8778FC4}"/>
              </a:ext>
            </a:extLst>
          </p:cNvPr>
          <p:cNvSpPr>
            <a:spLocks xmlns:a="http://schemas.openxmlformats.org/drawingml/2006/main" noGrp="1"/>
          </p:cNvSpPr>
          <p:nvPr/>
        </p:nvSpPr>
        <p:spPr>
          <a:xfrm xmlns:a="http://schemas.openxmlformats.org/drawingml/2006/main">
            <a:off x="6469312" y="4759325"/>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demo_profile.mp4</a:t>
            </a:r>
          </a:p>
        </p:txBody>
      </p:sp>
      <p:sp>
        <p:nvSpPr>
          <p:cNvPr id="64" name="">
            <a:extLst xmlns:a="http://schemas.openxmlformats.org/drawingml/2006/main">
              <a:ext uri="{FF2B5EF4-FFF2-40B4-BE49-F238E27FC236}">
                <a16:creationId xmlns:a16="http://schemas.microsoft.com/office/drawing/2014/main" id="{AB4A45B4-731F-42F7-8E14-DD86C472A566}"/>
              </a:ext>
            </a:extLst>
          </p:cNvPr>
          <p:cNvSpPr>
            <a:spLocks xmlns:a="http://schemas.openxmlformats.org/drawingml/2006/main" noGrp="1"/>
          </p:cNvSpPr>
          <p:nvPr/>
        </p:nvSpPr>
        <p:spPr>
          <a:xfrm xmlns:a="http://schemas.openxmlformats.org/drawingml/2006/main">
            <a:off x="7709484" y="4730750"/>
            <a:ext cx="128779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5" name="">
            <a:extLst xmlns:a="http://schemas.openxmlformats.org/drawingml/2006/main">
              <a:ext uri="{FF2B5EF4-FFF2-40B4-BE49-F238E27FC236}">
                <a16:creationId xmlns:a16="http://schemas.microsoft.com/office/drawing/2014/main" id="{3FCC6706-C63B-4512-AAF5-DE85C86FF030}"/>
              </a:ext>
            </a:extLst>
          </p:cNvPr>
          <p:cNvSpPr>
            <a:spLocks xmlns:a="http://schemas.openxmlformats.org/drawingml/2006/main" noGrp="1"/>
          </p:cNvSpPr>
          <p:nvPr/>
        </p:nvSpPr>
        <p:spPr>
          <a:xfrm xmlns:a="http://schemas.openxmlformats.org/drawingml/2006/main">
            <a:off x="7757109" y="4759325"/>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金币、等级、战绩、成就、每日奖励、头像和改名确认</a:t>
            </a:r>
          </a:p>
        </p:txBody>
      </p:sp>
      <p:sp>
        <p:nvSpPr>
          <p:cNvPr id="66" name="">
            <a:extLst xmlns:a="http://schemas.openxmlformats.org/drawingml/2006/main">
              <a:ext uri="{FF2B5EF4-FFF2-40B4-BE49-F238E27FC236}">
                <a16:creationId xmlns:a16="http://schemas.microsoft.com/office/drawing/2014/main" id="{777DF872-C070-4B4D-8D61-038A6B2D5B86}"/>
              </a:ext>
            </a:extLst>
          </p:cNvPr>
          <p:cNvSpPr>
            <a:spLocks xmlns:a="http://schemas.openxmlformats.org/drawingml/2006/main" noGrp="1"/>
          </p:cNvSpPr>
          <p:nvPr/>
        </p:nvSpPr>
        <p:spPr>
          <a:xfrm xmlns:a="http://schemas.openxmlformats.org/drawingml/2006/main">
            <a:off x="8997281" y="4730750"/>
            <a:ext cx="128779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7" name="">
            <a:extLst xmlns:a="http://schemas.openxmlformats.org/drawingml/2006/main">
              <a:ext uri="{FF2B5EF4-FFF2-40B4-BE49-F238E27FC236}">
                <a16:creationId xmlns:a16="http://schemas.microsoft.com/office/drawing/2014/main" id="{B056661E-C59A-406B-BD82-DCCCCEAED54C}"/>
              </a:ext>
            </a:extLst>
          </p:cNvPr>
          <p:cNvSpPr>
            <a:spLocks xmlns:a="http://schemas.openxmlformats.org/drawingml/2006/main" noGrp="1"/>
          </p:cNvSpPr>
          <p:nvPr/>
        </p:nvSpPr>
        <p:spPr>
          <a:xfrm xmlns:a="http://schemas.openxmlformats.org/drawingml/2006/main">
            <a:off x="9044906" y="4759325"/>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UI、玩家成长、持久化</a:t>
            </a:r>
          </a:p>
        </p:txBody>
      </p:sp>
      <p:sp>
        <p:nvSpPr>
          <p:cNvPr id="68" name="">
            <a:extLst xmlns:a="http://schemas.openxmlformats.org/drawingml/2006/main">
              <a:ext uri="{FF2B5EF4-FFF2-40B4-BE49-F238E27FC236}">
                <a16:creationId xmlns:a16="http://schemas.microsoft.com/office/drawing/2014/main" id="{C4CAE969-163B-4B1B-950F-C0D6BFF7FF6D}"/>
              </a:ext>
            </a:extLst>
          </p:cNvPr>
          <p:cNvSpPr>
            <a:spLocks xmlns:a="http://schemas.openxmlformats.org/drawingml/2006/main" noGrp="1"/>
          </p:cNvSpPr>
          <p:nvPr/>
        </p:nvSpPr>
        <p:spPr>
          <a:xfrm xmlns:a="http://schemas.openxmlformats.org/drawingml/2006/main">
            <a:off x="10285078" y="4730750"/>
            <a:ext cx="1287797" cy="606425"/>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9" name="">
            <a:extLst xmlns:a="http://schemas.openxmlformats.org/drawingml/2006/main">
              <a:ext uri="{FF2B5EF4-FFF2-40B4-BE49-F238E27FC236}">
                <a16:creationId xmlns:a16="http://schemas.microsoft.com/office/drawing/2014/main" id="{AED489FD-07EE-42DE-91C0-CF5C9B63C421}"/>
              </a:ext>
            </a:extLst>
          </p:cNvPr>
          <p:cNvSpPr>
            <a:spLocks xmlns:a="http://schemas.openxmlformats.org/drawingml/2006/main" noGrp="1"/>
          </p:cNvSpPr>
          <p:nvPr/>
        </p:nvSpPr>
        <p:spPr>
          <a:xfrm xmlns:a="http://schemas.openxmlformats.org/drawingml/2006/main">
            <a:off x="10332703" y="4759325"/>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证明扩展体验和本地数据有效</a:t>
            </a:r>
          </a:p>
        </p:txBody>
      </p:sp>
      <p:sp>
        <p:nvSpPr>
          <p:cNvPr id="70" name="">
            <a:extLst xmlns:a="http://schemas.openxmlformats.org/drawingml/2006/main">
              <a:ext uri="{FF2B5EF4-FFF2-40B4-BE49-F238E27FC236}">
                <a16:creationId xmlns:a16="http://schemas.microsoft.com/office/drawing/2014/main" id="{26AF2293-545E-463C-AE3A-AEE4E1B35D11}"/>
              </a:ext>
            </a:extLst>
          </p:cNvPr>
          <p:cNvSpPr>
            <a:spLocks xmlns:a="http://schemas.openxmlformats.org/drawingml/2006/main" noGrp="1"/>
          </p:cNvSpPr>
          <p:nvPr/>
        </p:nvSpPr>
        <p:spPr>
          <a:xfrm xmlns:a="http://schemas.openxmlformats.org/drawingml/2006/main">
            <a:off x="5191125" y="5337175"/>
            <a:ext cx="1230562"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1" name="">
            <a:extLst xmlns:a="http://schemas.openxmlformats.org/drawingml/2006/main">
              <a:ext uri="{FF2B5EF4-FFF2-40B4-BE49-F238E27FC236}">
                <a16:creationId xmlns:a16="http://schemas.microsoft.com/office/drawing/2014/main" id="{33A9D033-3807-4356-99F8-347CBDC0D2C6}"/>
              </a:ext>
            </a:extLst>
          </p:cNvPr>
          <p:cNvSpPr>
            <a:spLocks xmlns:a="http://schemas.openxmlformats.org/drawingml/2006/main" noGrp="1"/>
          </p:cNvSpPr>
          <p:nvPr/>
        </p:nvSpPr>
        <p:spPr>
          <a:xfrm xmlns:a="http://schemas.openxmlformats.org/drawingml/2006/main">
            <a:off x="5238750" y="5365750"/>
            <a:ext cx="1135312"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测试构建录屏</a:t>
            </a:r>
          </a:p>
        </p:txBody>
      </p:sp>
      <p:sp>
        <p:nvSpPr>
          <p:cNvPr id="72" name="">
            <a:extLst xmlns:a="http://schemas.openxmlformats.org/drawingml/2006/main">
              <a:ext uri="{FF2B5EF4-FFF2-40B4-BE49-F238E27FC236}">
                <a16:creationId xmlns:a16="http://schemas.microsoft.com/office/drawing/2014/main" id="{ADAB64E6-1B33-44B0-9C1E-947CFCB6C9C0}"/>
              </a:ext>
            </a:extLst>
          </p:cNvPr>
          <p:cNvSpPr>
            <a:spLocks xmlns:a="http://schemas.openxmlformats.org/drawingml/2006/main" noGrp="1"/>
          </p:cNvSpPr>
          <p:nvPr/>
        </p:nvSpPr>
        <p:spPr>
          <a:xfrm xmlns:a="http://schemas.openxmlformats.org/drawingml/2006/main">
            <a:off x="6421687" y="5337175"/>
            <a:ext cx="128779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3" name="">
            <a:extLst xmlns:a="http://schemas.openxmlformats.org/drawingml/2006/main">
              <a:ext uri="{FF2B5EF4-FFF2-40B4-BE49-F238E27FC236}">
                <a16:creationId xmlns:a16="http://schemas.microsoft.com/office/drawing/2014/main" id="{6D6EFC31-69DB-4F80-A3E8-9764DBAFC788}"/>
              </a:ext>
            </a:extLst>
          </p:cNvPr>
          <p:cNvSpPr>
            <a:spLocks xmlns:a="http://schemas.openxmlformats.org/drawingml/2006/main" noGrp="1"/>
          </p:cNvSpPr>
          <p:nvPr/>
        </p:nvSpPr>
        <p:spPr>
          <a:xfrm xmlns:a="http://schemas.openxmlformats.org/drawingml/2006/main">
            <a:off x="6469312" y="5365750"/>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demo_test_build.mp4</a:t>
            </a:r>
          </a:p>
        </p:txBody>
      </p:sp>
      <p:sp>
        <p:nvSpPr>
          <p:cNvPr id="74" name="">
            <a:extLst xmlns:a="http://schemas.openxmlformats.org/drawingml/2006/main">
              <a:ext uri="{FF2B5EF4-FFF2-40B4-BE49-F238E27FC236}">
                <a16:creationId xmlns:a16="http://schemas.microsoft.com/office/drawing/2014/main" id="{9A445696-D982-40D3-8F7C-8FF4C2D811E7}"/>
              </a:ext>
            </a:extLst>
          </p:cNvPr>
          <p:cNvSpPr>
            <a:spLocks xmlns:a="http://schemas.openxmlformats.org/drawingml/2006/main" noGrp="1"/>
          </p:cNvSpPr>
          <p:nvPr/>
        </p:nvSpPr>
        <p:spPr>
          <a:xfrm xmlns:a="http://schemas.openxmlformats.org/drawingml/2006/main">
            <a:off x="7709484" y="5337175"/>
            <a:ext cx="128779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5" name="">
            <a:extLst xmlns:a="http://schemas.openxmlformats.org/drawingml/2006/main">
              <a:ext uri="{FF2B5EF4-FFF2-40B4-BE49-F238E27FC236}">
                <a16:creationId xmlns:a16="http://schemas.microsoft.com/office/drawing/2014/main" id="{1EAF9ADC-7734-402A-A946-343187ED8CAC}"/>
              </a:ext>
            </a:extLst>
          </p:cNvPr>
          <p:cNvSpPr>
            <a:spLocks xmlns:a="http://schemas.openxmlformats.org/drawingml/2006/main" noGrp="1"/>
          </p:cNvSpPr>
          <p:nvPr/>
        </p:nvSpPr>
        <p:spPr>
          <a:xfrm xmlns:a="http://schemas.openxmlformats.org/drawingml/2006/main">
            <a:off x="7757109" y="5365750"/>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Gradle test、Debug 构建、Release 构建或签名检查</a:t>
            </a:r>
          </a:p>
        </p:txBody>
      </p:sp>
      <p:sp>
        <p:nvSpPr>
          <p:cNvPr id="76" name="">
            <a:extLst xmlns:a="http://schemas.openxmlformats.org/drawingml/2006/main">
              <a:ext uri="{FF2B5EF4-FFF2-40B4-BE49-F238E27FC236}">
                <a16:creationId xmlns:a16="http://schemas.microsoft.com/office/drawing/2014/main" id="{A892D7C9-118B-4488-A893-FCF56D0B31A9}"/>
              </a:ext>
            </a:extLst>
          </p:cNvPr>
          <p:cNvSpPr>
            <a:spLocks xmlns:a="http://schemas.openxmlformats.org/drawingml/2006/main" noGrp="1"/>
          </p:cNvSpPr>
          <p:nvPr/>
        </p:nvSpPr>
        <p:spPr>
          <a:xfrm xmlns:a="http://schemas.openxmlformats.org/drawingml/2006/main">
            <a:off x="8997281" y="5337175"/>
            <a:ext cx="128779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7" name="">
            <a:extLst xmlns:a="http://schemas.openxmlformats.org/drawingml/2006/main">
              <a:ext uri="{FF2B5EF4-FFF2-40B4-BE49-F238E27FC236}">
                <a16:creationId xmlns:a16="http://schemas.microsoft.com/office/drawing/2014/main" id="{7BEC8C8C-D064-4CF6-A7DC-9B165264EC58}"/>
              </a:ext>
            </a:extLst>
          </p:cNvPr>
          <p:cNvSpPr>
            <a:spLocks xmlns:a="http://schemas.openxmlformats.org/drawingml/2006/main" noGrp="1"/>
          </p:cNvSpPr>
          <p:nvPr/>
        </p:nvSpPr>
        <p:spPr>
          <a:xfrm xmlns:a="http://schemas.openxmlformats.org/drawingml/2006/main">
            <a:off x="9044906" y="5365750"/>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测试与交付</a:t>
            </a:r>
          </a:p>
        </p:txBody>
      </p:sp>
      <p:sp>
        <p:nvSpPr>
          <p:cNvPr id="78" name="">
            <a:extLst xmlns:a="http://schemas.openxmlformats.org/drawingml/2006/main">
              <a:ext uri="{FF2B5EF4-FFF2-40B4-BE49-F238E27FC236}">
                <a16:creationId xmlns:a16="http://schemas.microsoft.com/office/drawing/2014/main" id="{B82F939E-A179-4B2E-AC99-E850730E67B6}"/>
              </a:ext>
            </a:extLst>
          </p:cNvPr>
          <p:cNvSpPr>
            <a:spLocks xmlns:a="http://schemas.openxmlformats.org/drawingml/2006/main" noGrp="1"/>
          </p:cNvSpPr>
          <p:nvPr/>
        </p:nvSpPr>
        <p:spPr>
          <a:xfrm xmlns:a="http://schemas.openxmlformats.org/drawingml/2006/main">
            <a:off x="10285078" y="5337175"/>
            <a:ext cx="1287797" cy="606425"/>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9" name="">
            <a:extLst xmlns:a="http://schemas.openxmlformats.org/drawingml/2006/main">
              <a:ext uri="{FF2B5EF4-FFF2-40B4-BE49-F238E27FC236}">
                <a16:creationId xmlns:a16="http://schemas.microsoft.com/office/drawing/2014/main" id="{EDA95AEC-4AA9-417F-8F9D-A429C43BC08E}"/>
              </a:ext>
            </a:extLst>
          </p:cNvPr>
          <p:cNvSpPr>
            <a:spLocks xmlns:a="http://schemas.openxmlformats.org/drawingml/2006/main" noGrp="1"/>
          </p:cNvSpPr>
          <p:nvPr/>
        </p:nvSpPr>
        <p:spPr>
          <a:xfrm xmlns:a="http://schemas.openxmlformats.org/drawingml/2006/main">
            <a:off x="10332703" y="5365750"/>
            <a:ext cx="1192547" cy="54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713" b="0">
                <a:solidFill>
                  <a:srgbClr val="17211D"/>
                </a:solidFill>
                <a:latin typeface="PingFang SC"/>
                <a:ea typeface="PingFang SC"/>
                <a:cs typeface="PingFang SC"/>
              </a:defRPr>
            </a:pPr>
            <a:r>
              <a:rPr sz="713" b="0">
                <a:solidFill>
                  <a:srgbClr val="17211D"/>
                </a:solidFill>
                <a:latin typeface="PingFang SC"/>
                <a:ea typeface="PingFang SC"/>
                <a:cs typeface="PingFang SC"/>
              </a:rPr>
              <a:t>证明交付质量和发布包有效</a:t>
            </a:r>
          </a:p>
        </p:txBody>
      </p:sp>
    </p:spTree>
    <p:extLst>
      <p:ext uri="{BB962C8B-B14F-4D97-AF65-F5344CB8AC3E}">
        <p14:creationId xmlns:p14="http://schemas.microsoft.com/office/powerpoint/2010/main" val="208385205"/>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3A034F-14F1-49BB-B70B-D6F5FECF2E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293CEC-1590-4B30-AF2B-08514643FD4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4012288-F4C0-420D-A7BE-BDAE4B7A4FC0}"/>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7B3021BE-3329-4DB1-B01C-731973A8094F}"/>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11. 实验结果展示与录屏说明</a:t>
            </a:r>
          </a:p>
        </p:txBody>
      </p:sp>
      <p:sp>
        <p:nvSpPr>
          <p:cNvPr id="5" name="">
            <a:extLst xmlns:a="http://schemas.openxmlformats.org/drawingml/2006/main">
              <a:ext uri="{FF2B5EF4-FFF2-40B4-BE49-F238E27FC236}">
                <a16:creationId xmlns:a16="http://schemas.microsoft.com/office/drawing/2014/main" id="{8D5F3F2C-72C5-4177-A176-DCF686BB7F73}"/>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115</a:t>
            </a:r>
          </a:p>
        </p:txBody>
      </p:sp>
      <p:sp>
        <p:nvSpPr>
          <p:cNvPr id="6" name="">
            <a:extLst xmlns:a="http://schemas.openxmlformats.org/drawingml/2006/main">
              <a:ext uri="{FF2B5EF4-FFF2-40B4-BE49-F238E27FC236}">
                <a16:creationId xmlns:a16="http://schemas.microsoft.com/office/drawing/2014/main" id="{8EC0FE9A-EC91-4DF7-BF62-29173D0AD805}"/>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BLOCK</a:t>
            </a:r>
          </a:p>
        </p:txBody>
      </p:sp>
      <p:sp>
        <p:nvSpPr>
          <p:cNvPr id="7" name="">
            <a:extLst xmlns:a="http://schemas.openxmlformats.org/drawingml/2006/main">
              <a:ext uri="{FF2B5EF4-FFF2-40B4-BE49-F238E27FC236}">
                <a16:creationId xmlns:a16="http://schemas.microsoft.com/office/drawing/2014/main" id="{6728F9EF-4B18-4E5F-BCB1-376FEE882F0D}"/>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11.2 截图材料</a:t>
            </a:r>
          </a:p>
        </p:txBody>
      </p:sp>
      <p:sp>
        <p:nvSpPr>
          <p:cNvPr id="8" name="">
            <a:extLst xmlns:a="http://schemas.openxmlformats.org/drawingml/2006/main">
              <a:ext uri="{FF2B5EF4-FFF2-40B4-BE49-F238E27FC236}">
                <a16:creationId xmlns:a16="http://schemas.microsoft.com/office/drawing/2014/main" id="{80CFA766-551C-4A35-A03C-A597340642A0}"/>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12C5A4B-F8F3-481D-B245-17662E9E56C8}"/>
              </a:ext>
            </a:extLst>
          </p:cNvPr>
          <p:cNvSpPr>
            <a:spLocks xmlns:a="http://schemas.openxmlformats.org/drawingml/2006/main" noGrp="1"/>
          </p:cNvSpPr>
          <p:nvPr/>
        </p:nvSpPr>
        <p:spPr>
          <a:xfrm xmlns:a="http://schemas.openxmlformats.org/drawingml/2006/main">
            <a:off x="45720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25AB104C-A51A-4447-B206-6ED13E6143E3}"/>
              </a:ext>
            </a:extLst>
          </p:cNvPr>
          <p:cNvSpPr>
            <a:spLocks xmlns:a="http://schemas.openxmlformats.org/drawingml/2006/main" noGrp="1"/>
          </p:cNvSpPr>
          <p:nvPr/>
        </p:nvSpPr>
        <p:spPr>
          <a:xfrm xmlns:a="http://schemas.openxmlformats.org/drawingml/2006/main">
            <a:off x="50482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截图内容</a:t>
            </a:r>
          </a:p>
        </p:txBody>
      </p:sp>
      <p:sp>
        <p:nvSpPr>
          <p:cNvPr id="11" name="">
            <a:extLst xmlns:a="http://schemas.openxmlformats.org/drawingml/2006/main">
              <a:ext uri="{FF2B5EF4-FFF2-40B4-BE49-F238E27FC236}">
                <a16:creationId xmlns:a16="http://schemas.microsoft.com/office/drawing/2014/main" id="{7FE305B9-7BDD-4551-B65E-027E9827BF2E}"/>
              </a:ext>
            </a:extLst>
          </p:cNvPr>
          <p:cNvSpPr>
            <a:spLocks xmlns:a="http://schemas.openxmlformats.org/drawingml/2006/main" noGrp="1"/>
          </p:cNvSpPr>
          <p:nvPr/>
        </p:nvSpPr>
        <p:spPr>
          <a:xfrm xmlns:a="http://schemas.openxmlformats.org/drawingml/2006/main">
            <a:off x="6076950" y="1905000"/>
            <a:ext cx="5619750" cy="4000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5AFD5CFC-9437-4F47-9AF6-B5F2F2F2D6CA}"/>
              </a:ext>
            </a:extLst>
          </p:cNvPr>
          <p:cNvSpPr>
            <a:spLocks xmlns:a="http://schemas.openxmlformats.org/drawingml/2006/main" noGrp="1"/>
          </p:cNvSpPr>
          <p:nvPr/>
        </p:nvSpPr>
        <p:spPr>
          <a:xfrm xmlns:a="http://schemas.openxmlformats.org/drawingml/2006/main">
            <a:off x="6124575" y="19431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目的</a:t>
            </a:r>
          </a:p>
        </p:txBody>
      </p:sp>
      <p:sp>
        <p:nvSpPr>
          <p:cNvPr id="13" name="">
            <a:extLst xmlns:a="http://schemas.openxmlformats.org/drawingml/2006/main">
              <a:ext uri="{FF2B5EF4-FFF2-40B4-BE49-F238E27FC236}">
                <a16:creationId xmlns:a16="http://schemas.microsoft.com/office/drawing/2014/main" id="{71753EBD-1148-4904-BDD8-C49EDA8370F3}"/>
              </a:ext>
            </a:extLst>
          </p:cNvPr>
          <p:cNvSpPr>
            <a:spLocks xmlns:a="http://schemas.openxmlformats.org/drawingml/2006/main" noGrp="1"/>
          </p:cNvSpPr>
          <p:nvPr/>
        </p:nvSpPr>
        <p:spPr>
          <a:xfrm xmlns:a="http://schemas.openxmlformats.org/drawingml/2006/main">
            <a:off x="457200" y="2305050"/>
            <a:ext cx="561975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4" name="">
            <a:extLst xmlns:a="http://schemas.openxmlformats.org/drawingml/2006/main">
              <a:ext uri="{FF2B5EF4-FFF2-40B4-BE49-F238E27FC236}">
                <a16:creationId xmlns:a16="http://schemas.microsoft.com/office/drawing/2014/main" id="{35EBB106-68B4-4EE0-93EC-1FF1C76747F7}"/>
              </a:ext>
            </a:extLst>
          </p:cNvPr>
          <p:cNvSpPr>
            <a:spLocks xmlns:a="http://schemas.openxmlformats.org/drawingml/2006/main" noGrp="1"/>
          </p:cNvSpPr>
          <p:nvPr/>
        </p:nvSpPr>
        <p:spPr>
          <a:xfrm xmlns:a="http://schemas.openxmlformats.org/drawingml/2006/main">
            <a:off x="504825" y="2333625"/>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开屏页和大厅</a:t>
            </a:r>
          </a:p>
        </p:txBody>
      </p:sp>
      <p:sp>
        <p:nvSpPr>
          <p:cNvPr id="15" name="">
            <a:extLst xmlns:a="http://schemas.openxmlformats.org/drawingml/2006/main">
              <a:ext uri="{FF2B5EF4-FFF2-40B4-BE49-F238E27FC236}">
                <a16:creationId xmlns:a16="http://schemas.microsoft.com/office/drawing/2014/main" id="{0129ACD7-8EEF-4F52-A912-1FFB530099EB}"/>
              </a:ext>
            </a:extLst>
          </p:cNvPr>
          <p:cNvSpPr>
            <a:spLocks xmlns:a="http://schemas.openxmlformats.org/drawingml/2006/main" noGrp="1"/>
          </p:cNvSpPr>
          <p:nvPr/>
        </p:nvSpPr>
        <p:spPr>
          <a:xfrm xmlns:a="http://schemas.openxmlformats.org/drawingml/2006/main">
            <a:off x="6076950" y="2305050"/>
            <a:ext cx="561975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6815D731-CF16-4BCF-AD0B-A72D7C93D78B}"/>
              </a:ext>
            </a:extLst>
          </p:cNvPr>
          <p:cNvSpPr>
            <a:spLocks xmlns:a="http://schemas.openxmlformats.org/drawingml/2006/main" noGrp="1"/>
          </p:cNvSpPr>
          <p:nvPr/>
        </p:nvSpPr>
        <p:spPr>
          <a:xfrm xmlns:a="http://schemas.openxmlformats.org/drawingml/2006/main">
            <a:off x="6124575" y="2333625"/>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展示发布版 UI 风格</a:t>
            </a:r>
          </a:p>
        </p:txBody>
      </p:sp>
      <p:sp>
        <p:nvSpPr>
          <p:cNvPr id="17" name="">
            <a:extLst xmlns:a="http://schemas.openxmlformats.org/drawingml/2006/main">
              <a:ext uri="{FF2B5EF4-FFF2-40B4-BE49-F238E27FC236}">
                <a16:creationId xmlns:a16="http://schemas.microsoft.com/office/drawing/2014/main" id="{0838A5B2-2FE1-4D6E-9D20-C5261EBA9214}"/>
              </a:ext>
            </a:extLst>
          </p:cNvPr>
          <p:cNvSpPr>
            <a:spLocks xmlns:a="http://schemas.openxmlformats.org/drawingml/2006/main" noGrp="1"/>
          </p:cNvSpPr>
          <p:nvPr/>
        </p:nvSpPr>
        <p:spPr>
          <a:xfrm xmlns:a="http://schemas.openxmlformats.org/drawingml/2006/main">
            <a:off x="457200" y="2709333"/>
            <a:ext cx="561975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9D610C53-A841-4619-9742-6292762D927B}"/>
              </a:ext>
            </a:extLst>
          </p:cNvPr>
          <p:cNvSpPr>
            <a:spLocks xmlns:a="http://schemas.openxmlformats.org/drawingml/2006/main" noGrp="1"/>
          </p:cNvSpPr>
          <p:nvPr/>
        </p:nvSpPr>
        <p:spPr>
          <a:xfrm xmlns:a="http://schemas.openxmlformats.org/drawingml/2006/main">
            <a:off x="504825" y="2737908"/>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规则选择页</a:t>
            </a:r>
          </a:p>
        </p:txBody>
      </p:sp>
      <p:sp>
        <p:nvSpPr>
          <p:cNvPr id="19" name="">
            <a:extLst xmlns:a="http://schemas.openxmlformats.org/drawingml/2006/main">
              <a:ext uri="{FF2B5EF4-FFF2-40B4-BE49-F238E27FC236}">
                <a16:creationId xmlns:a16="http://schemas.microsoft.com/office/drawing/2014/main" id="{442942EE-502B-4035-9919-72F820220A62}"/>
              </a:ext>
            </a:extLst>
          </p:cNvPr>
          <p:cNvSpPr>
            <a:spLocks xmlns:a="http://schemas.openxmlformats.org/drawingml/2006/main" noGrp="1"/>
          </p:cNvSpPr>
          <p:nvPr/>
        </p:nvSpPr>
        <p:spPr>
          <a:xfrm xmlns:a="http://schemas.openxmlformats.org/drawingml/2006/main">
            <a:off x="6076950" y="2709333"/>
            <a:ext cx="561975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0FEB8B9D-B3D2-4537-B2B1-57C35A186C8D}"/>
              </a:ext>
            </a:extLst>
          </p:cNvPr>
          <p:cNvSpPr>
            <a:spLocks xmlns:a="http://schemas.openxmlformats.org/drawingml/2006/main" noGrp="1"/>
          </p:cNvSpPr>
          <p:nvPr/>
        </p:nvSpPr>
        <p:spPr>
          <a:xfrm xmlns:a="http://schemas.openxmlformats.org/drawingml/2006/main">
            <a:off x="6124575" y="2737908"/>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展示南北规则自由选择</a:t>
            </a:r>
          </a:p>
        </p:txBody>
      </p:sp>
      <p:sp>
        <p:nvSpPr>
          <p:cNvPr id="21" name="">
            <a:extLst xmlns:a="http://schemas.openxmlformats.org/drawingml/2006/main">
              <a:ext uri="{FF2B5EF4-FFF2-40B4-BE49-F238E27FC236}">
                <a16:creationId xmlns:a16="http://schemas.microsoft.com/office/drawing/2014/main" id="{D2E24B0F-FD4B-4ADC-A638-8438E912E7BE}"/>
              </a:ext>
            </a:extLst>
          </p:cNvPr>
          <p:cNvSpPr>
            <a:spLocks xmlns:a="http://schemas.openxmlformats.org/drawingml/2006/main" noGrp="1"/>
          </p:cNvSpPr>
          <p:nvPr/>
        </p:nvSpPr>
        <p:spPr>
          <a:xfrm xmlns:a="http://schemas.openxmlformats.org/drawingml/2006/main">
            <a:off x="457200" y="3113617"/>
            <a:ext cx="561975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B80531FB-9FD7-434E-A4F9-215EB68197F9}"/>
              </a:ext>
            </a:extLst>
          </p:cNvPr>
          <p:cNvSpPr>
            <a:spLocks xmlns:a="http://schemas.openxmlformats.org/drawingml/2006/main" noGrp="1"/>
          </p:cNvSpPr>
          <p:nvPr/>
        </p:nvSpPr>
        <p:spPr>
          <a:xfrm xmlns:a="http://schemas.openxmlformats.org/drawingml/2006/main">
            <a:off x="504825" y="3142192"/>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人机难度页</a:t>
            </a:r>
          </a:p>
        </p:txBody>
      </p:sp>
      <p:sp>
        <p:nvSpPr>
          <p:cNvPr id="23" name="">
            <a:extLst xmlns:a="http://schemas.openxmlformats.org/drawingml/2006/main">
              <a:ext uri="{FF2B5EF4-FFF2-40B4-BE49-F238E27FC236}">
                <a16:creationId xmlns:a16="http://schemas.microsoft.com/office/drawing/2014/main" id="{95505406-FFF3-4128-A506-39D40ACD78C7}"/>
              </a:ext>
            </a:extLst>
          </p:cNvPr>
          <p:cNvSpPr>
            <a:spLocks xmlns:a="http://schemas.openxmlformats.org/drawingml/2006/main" noGrp="1"/>
          </p:cNvSpPr>
          <p:nvPr/>
        </p:nvSpPr>
        <p:spPr>
          <a:xfrm xmlns:a="http://schemas.openxmlformats.org/drawingml/2006/main">
            <a:off x="6076950" y="3113617"/>
            <a:ext cx="561975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FEEBA68B-FA16-471F-ABD9-7FA645E125A6}"/>
              </a:ext>
            </a:extLst>
          </p:cNvPr>
          <p:cNvSpPr>
            <a:spLocks xmlns:a="http://schemas.openxmlformats.org/drawingml/2006/main" noGrp="1"/>
          </p:cNvSpPr>
          <p:nvPr/>
        </p:nvSpPr>
        <p:spPr>
          <a:xfrm xmlns:a="http://schemas.openxmlformats.org/drawingml/2006/main">
            <a:off x="6124575" y="3142192"/>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展示三档 AI</a:t>
            </a:r>
          </a:p>
        </p:txBody>
      </p:sp>
      <p:sp>
        <p:nvSpPr>
          <p:cNvPr id="25" name="">
            <a:extLst xmlns:a="http://schemas.openxmlformats.org/drawingml/2006/main">
              <a:ext uri="{FF2B5EF4-FFF2-40B4-BE49-F238E27FC236}">
                <a16:creationId xmlns:a16="http://schemas.microsoft.com/office/drawing/2014/main" id="{1F95B0B3-0A1D-4AAC-BC06-3B833BC9ED8F}"/>
              </a:ext>
            </a:extLst>
          </p:cNvPr>
          <p:cNvSpPr>
            <a:spLocks xmlns:a="http://schemas.openxmlformats.org/drawingml/2006/main" noGrp="1"/>
          </p:cNvSpPr>
          <p:nvPr/>
        </p:nvSpPr>
        <p:spPr>
          <a:xfrm xmlns:a="http://schemas.openxmlformats.org/drawingml/2006/main">
            <a:off x="457200" y="3517900"/>
            <a:ext cx="561975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38EA6B21-3350-4945-B0F3-F9A6248969C5}"/>
              </a:ext>
            </a:extLst>
          </p:cNvPr>
          <p:cNvSpPr>
            <a:spLocks xmlns:a="http://schemas.openxmlformats.org/drawingml/2006/main" noGrp="1"/>
          </p:cNvSpPr>
          <p:nvPr/>
        </p:nvSpPr>
        <p:spPr>
          <a:xfrm xmlns:a="http://schemas.openxmlformats.org/drawingml/2006/main">
            <a:off x="504825" y="3546475"/>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牌桌页</a:t>
            </a:r>
          </a:p>
        </p:txBody>
      </p:sp>
      <p:sp>
        <p:nvSpPr>
          <p:cNvPr id="27" name="">
            <a:extLst xmlns:a="http://schemas.openxmlformats.org/drawingml/2006/main">
              <a:ext uri="{FF2B5EF4-FFF2-40B4-BE49-F238E27FC236}">
                <a16:creationId xmlns:a16="http://schemas.microsoft.com/office/drawing/2014/main" id="{C84B3549-FCB4-4AC8-B460-5A1BE798C3FF}"/>
              </a:ext>
            </a:extLst>
          </p:cNvPr>
          <p:cNvSpPr>
            <a:spLocks xmlns:a="http://schemas.openxmlformats.org/drawingml/2006/main" noGrp="1"/>
          </p:cNvSpPr>
          <p:nvPr/>
        </p:nvSpPr>
        <p:spPr>
          <a:xfrm xmlns:a="http://schemas.openxmlformats.org/drawingml/2006/main">
            <a:off x="6076950" y="3517900"/>
            <a:ext cx="561975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4CDEB4DE-35CD-4DB8-9DD5-788499ECEFD1}"/>
              </a:ext>
            </a:extLst>
          </p:cNvPr>
          <p:cNvSpPr>
            <a:spLocks xmlns:a="http://schemas.openxmlformats.org/drawingml/2006/main" noGrp="1"/>
          </p:cNvSpPr>
          <p:nvPr/>
        </p:nvSpPr>
        <p:spPr>
          <a:xfrm xmlns:a="http://schemas.openxmlformats.org/drawingml/2006/main">
            <a:off x="6124575" y="3546475"/>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展示发牌、手牌、出牌、不出和提示</a:t>
            </a:r>
          </a:p>
        </p:txBody>
      </p:sp>
      <p:sp>
        <p:nvSpPr>
          <p:cNvPr id="29" name="">
            <a:extLst xmlns:a="http://schemas.openxmlformats.org/drawingml/2006/main">
              <a:ext uri="{FF2B5EF4-FFF2-40B4-BE49-F238E27FC236}">
                <a16:creationId xmlns:a16="http://schemas.microsoft.com/office/drawing/2014/main" id="{19432B40-DEB7-4BA4-B440-DDF21F54BDEA}"/>
              </a:ext>
            </a:extLst>
          </p:cNvPr>
          <p:cNvSpPr>
            <a:spLocks xmlns:a="http://schemas.openxmlformats.org/drawingml/2006/main" noGrp="1"/>
          </p:cNvSpPr>
          <p:nvPr/>
        </p:nvSpPr>
        <p:spPr>
          <a:xfrm xmlns:a="http://schemas.openxmlformats.org/drawingml/2006/main">
            <a:off x="457200" y="3922183"/>
            <a:ext cx="561975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CFD751AB-6F61-455D-A3DA-7D2085CA85BD}"/>
              </a:ext>
            </a:extLst>
          </p:cNvPr>
          <p:cNvSpPr>
            <a:spLocks xmlns:a="http://schemas.openxmlformats.org/drawingml/2006/main" noGrp="1"/>
          </p:cNvSpPr>
          <p:nvPr/>
        </p:nvSpPr>
        <p:spPr>
          <a:xfrm xmlns:a="http://schemas.openxmlformats.org/drawingml/2006/main">
            <a:off x="504825" y="3950758"/>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蓝牙房间页</a:t>
            </a:r>
          </a:p>
        </p:txBody>
      </p:sp>
      <p:sp>
        <p:nvSpPr>
          <p:cNvPr id="31" name="">
            <a:extLst xmlns:a="http://schemas.openxmlformats.org/drawingml/2006/main">
              <a:ext uri="{FF2B5EF4-FFF2-40B4-BE49-F238E27FC236}">
                <a16:creationId xmlns:a16="http://schemas.microsoft.com/office/drawing/2014/main" id="{AED20B21-F8F2-49AB-BDB7-BDBF5218B0BE}"/>
              </a:ext>
            </a:extLst>
          </p:cNvPr>
          <p:cNvSpPr>
            <a:spLocks xmlns:a="http://schemas.openxmlformats.org/drawingml/2006/main" noGrp="1"/>
          </p:cNvSpPr>
          <p:nvPr/>
        </p:nvSpPr>
        <p:spPr>
          <a:xfrm xmlns:a="http://schemas.openxmlformats.org/drawingml/2006/main">
            <a:off x="6076950" y="3922183"/>
            <a:ext cx="561975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CBC4C0EC-7ADF-49EF-B2F4-B3E9B5923F7A}"/>
              </a:ext>
            </a:extLst>
          </p:cNvPr>
          <p:cNvSpPr>
            <a:spLocks xmlns:a="http://schemas.openxmlformats.org/drawingml/2006/main" noGrp="1"/>
          </p:cNvSpPr>
          <p:nvPr/>
        </p:nvSpPr>
        <p:spPr>
          <a:xfrm xmlns:a="http://schemas.openxmlformats.org/drawingml/2006/main">
            <a:off x="6124575" y="3950758"/>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展示多人房间和四座位</a:t>
            </a:r>
          </a:p>
        </p:txBody>
      </p:sp>
      <p:sp>
        <p:nvSpPr>
          <p:cNvPr id="33" name="">
            <a:extLst xmlns:a="http://schemas.openxmlformats.org/drawingml/2006/main">
              <a:ext uri="{FF2B5EF4-FFF2-40B4-BE49-F238E27FC236}">
                <a16:creationId xmlns:a16="http://schemas.microsoft.com/office/drawing/2014/main" id="{6C0F7508-CED4-4C2F-BD6A-910A70C11700}"/>
              </a:ext>
            </a:extLst>
          </p:cNvPr>
          <p:cNvSpPr>
            <a:spLocks xmlns:a="http://schemas.openxmlformats.org/drawingml/2006/main" noGrp="1"/>
          </p:cNvSpPr>
          <p:nvPr/>
        </p:nvSpPr>
        <p:spPr>
          <a:xfrm xmlns:a="http://schemas.openxmlformats.org/drawingml/2006/main">
            <a:off x="457200" y="4326467"/>
            <a:ext cx="561975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5D77B1C4-7EFC-432A-92EE-B2E445569307}"/>
              </a:ext>
            </a:extLst>
          </p:cNvPr>
          <p:cNvSpPr>
            <a:spLocks xmlns:a="http://schemas.openxmlformats.org/drawingml/2006/main" noGrp="1"/>
          </p:cNvSpPr>
          <p:nvPr/>
        </p:nvSpPr>
        <p:spPr>
          <a:xfrm xmlns:a="http://schemas.openxmlformats.org/drawingml/2006/main">
            <a:off x="504825" y="4355042"/>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结算页</a:t>
            </a:r>
          </a:p>
        </p:txBody>
      </p:sp>
      <p:sp>
        <p:nvSpPr>
          <p:cNvPr id="35" name="">
            <a:extLst xmlns:a="http://schemas.openxmlformats.org/drawingml/2006/main">
              <a:ext uri="{FF2B5EF4-FFF2-40B4-BE49-F238E27FC236}">
                <a16:creationId xmlns:a16="http://schemas.microsoft.com/office/drawing/2014/main" id="{96BC9175-1949-4CD1-BDFB-83F0E766360F}"/>
              </a:ext>
            </a:extLst>
          </p:cNvPr>
          <p:cNvSpPr>
            <a:spLocks xmlns:a="http://schemas.openxmlformats.org/drawingml/2006/main" noGrp="1"/>
          </p:cNvSpPr>
          <p:nvPr/>
        </p:nvSpPr>
        <p:spPr>
          <a:xfrm xmlns:a="http://schemas.openxmlformats.org/drawingml/2006/main">
            <a:off x="6076950" y="4326467"/>
            <a:ext cx="561975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88EEA69E-636E-42D0-928B-6114191BDC73}"/>
              </a:ext>
            </a:extLst>
          </p:cNvPr>
          <p:cNvSpPr>
            <a:spLocks xmlns:a="http://schemas.openxmlformats.org/drawingml/2006/main" noGrp="1"/>
          </p:cNvSpPr>
          <p:nvPr/>
        </p:nvSpPr>
        <p:spPr>
          <a:xfrm xmlns:a="http://schemas.openxmlformats.org/drawingml/2006/main">
            <a:off x="6124575" y="4355042"/>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展示对局结果和玩家成长</a:t>
            </a:r>
          </a:p>
        </p:txBody>
      </p:sp>
      <p:sp>
        <p:nvSpPr>
          <p:cNvPr id="37" name="">
            <a:extLst xmlns:a="http://schemas.openxmlformats.org/drawingml/2006/main">
              <a:ext uri="{FF2B5EF4-FFF2-40B4-BE49-F238E27FC236}">
                <a16:creationId xmlns:a16="http://schemas.microsoft.com/office/drawing/2014/main" id="{CDB731CF-5FFA-4B01-BD3C-F3934A15B731}"/>
              </a:ext>
            </a:extLst>
          </p:cNvPr>
          <p:cNvSpPr>
            <a:spLocks xmlns:a="http://schemas.openxmlformats.org/drawingml/2006/main" noGrp="1"/>
          </p:cNvSpPr>
          <p:nvPr/>
        </p:nvSpPr>
        <p:spPr>
          <a:xfrm xmlns:a="http://schemas.openxmlformats.org/drawingml/2006/main">
            <a:off x="457200" y="4730750"/>
            <a:ext cx="561975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B80230C1-1168-4AB6-BAE4-E7A44B63AC97}"/>
              </a:ext>
            </a:extLst>
          </p:cNvPr>
          <p:cNvSpPr>
            <a:spLocks xmlns:a="http://schemas.openxmlformats.org/drawingml/2006/main" noGrp="1"/>
          </p:cNvSpPr>
          <p:nvPr/>
        </p:nvSpPr>
        <p:spPr>
          <a:xfrm xmlns:a="http://schemas.openxmlformats.org/drawingml/2006/main">
            <a:off x="504825" y="4759325"/>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玩家中心</a:t>
            </a:r>
          </a:p>
        </p:txBody>
      </p:sp>
      <p:sp>
        <p:nvSpPr>
          <p:cNvPr id="39" name="">
            <a:extLst xmlns:a="http://schemas.openxmlformats.org/drawingml/2006/main">
              <a:ext uri="{FF2B5EF4-FFF2-40B4-BE49-F238E27FC236}">
                <a16:creationId xmlns:a16="http://schemas.microsoft.com/office/drawing/2014/main" id="{47C77516-1EAC-4D97-8679-70CD55D719EC}"/>
              </a:ext>
            </a:extLst>
          </p:cNvPr>
          <p:cNvSpPr>
            <a:spLocks xmlns:a="http://schemas.openxmlformats.org/drawingml/2006/main" noGrp="1"/>
          </p:cNvSpPr>
          <p:nvPr/>
        </p:nvSpPr>
        <p:spPr>
          <a:xfrm xmlns:a="http://schemas.openxmlformats.org/drawingml/2006/main">
            <a:off x="6076950" y="4730750"/>
            <a:ext cx="561975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AF47742E-6451-4D40-8FD3-FC471E6CC28C}"/>
              </a:ext>
            </a:extLst>
          </p:cNvPr>
          <p:cNvSpPr>
            <a:spLocks xmlns:a="http://schemas.openxmlformats.org/drawingml/2006/main" noGrp="1"/>
          </p:cNvSpPr>
          <p:nvPr/>
        </p:nvSpPr>
        <p:spPr>
          <a:xfrm xmlns:a="http://schemas.openxmlformats.org/drawingml/2006/main">
            <a:off x="6124575" y="4759325"/>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展示金币、等级、战绩、成就和头像</a:t>
            </a:r>
          </a:p>
        </p:txBody>
      </p:sp>
      <p:sp>
        <p:nvSpPr>
          <p:cNvPr id="41" name="">
            <a:extLst xmlns:a="http://schemas.openxmlformats.org/drawingml/2006/main">
              <a:ext uri="{FF2B5EF4-FFF2-40B4-BE49-F238E27FC236}">
                <a16:creationId xmlns:a16="http://schemas.microsoft.com/office/drawing/2014/main" id="{4B6DF21D-6478-4BF9-B0CE-42B87D39755C}"/>
              </a:ext>
            </a:extLst>
          </p:cNvPr>
          <p:cNvSpPr>
            <a:spLocks xmlns:a="http://schemas.openxmlformats.org/drawingml/2006/main" noGrp="1"/>
          </p:cNvSpPr>
          <p:nvPr/>
        </p:nvSpPr>
        <p:spPr>
          <a:xfrm xmlns:a="http://schemas.openxmlformats.org/drawingml/2006/main">
            <a:off x="457200" y="5135033"/>
            <a:ext cx="561975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307FB628-3030-46A8-A7EC-6E836726E388}"/>
              </a:ext>
            </a:extLst>
          </p:cNvPr>
          <p:cNvSpPr>
            <a:spLocks xmlns:a="http://schemas.openxmlformats.org/drawingml/2006/main" noGrp="1"/>
          </p:cNvSpPr>
          <p:nvPr/>
        </p:nvSpPr>
        <p:spPr>
          <a:xfrm xmlns:a="http://schemas.openxmlformats.org/drawingml/2006/main">
            <a:off x="504825" y="5163608"/>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Gradle 测试结果</a:t>
            </a:r>
          </a:p>
        </p:txBody>
      </p:sp>
      <p:sp>
        <p:nvSpPr>
          <p:cNvPr id="43" name="">
            <a:extLst xmlns:a="http://schemas.openxmlformats.org/drawingml/2006/main">
              <a:ext uri="{FF2B5EF4-FFF2-40B4-BE49-F238E27FC236}">
                <a16:creationId xmlns:a16="http://schemas.microsoft.com/office/drawing/2014/main" id="{AA4FF7D7-BBB9-40FE-AB7F-7615016B6E52}"/>
              </a:ext>
            </a:extLst>
          </p:cNvPr>
          <p:cNvSpPr>
            <a:spLocks xmlns:a="http://schemas.openxmlformats.org/drawingml/2006/main" noGrp="1"/>
          </p:cNvSpPr>
          <p:nvPr/>
        </p:nvSpPr>
        <p:spPr>
          <a:xfrm xmlns:a="http://schemas.openxmlformats.org/drawingml/2006/main">
            <a:off x="6076950" y="5135033"/>
            <a:ext cx="5619750" cy="404283"/>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8A9F3C33-F19D-47A7-8AE9-86F50EB54811}"/>
              </a:ext>
            </a:extLst>
          </p:cNvPr>
          <p:cNvSpPr>
            <a:spLocks xmlns:a="http://schemas.openxmlformats.org/drawingml/2006/main" noGrp="1"/>
          </p:cNvSpPr>
          <p:nvPr/>
        </p:nvSpPr>
        <p:spPr>
          <a:xfrm xmlns:a="http://schemas.openxmlformats.org/drawingml/2006/main">
            <a:off x="6124575" y="5163608"/>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展示测试通过证据</a:t>
            </a:r>
          </a:p>
        </p:txBody>
      </p:sp>
      <p:sp>
        <p:nvSpPr>
          <p:cNvPr id="45" name="">
            <a:extLst xmlns:a="http://schemas.openxmlformats.org/drawingml/2006/main">
              <a:ext uri="{FF2B5EF4-FFF2-40B4-BE49-F238E27FC236}">
                <a16:creationId xmlns:a16="http://schemas.microsoft.com/office/drawing/2014/main" id="{5F6DDA06-CB19-4168-93A6-169E91DEDBFC}"/>
              </a:ext>
            </a:extLst>
          </p:cNvPr>
          <p:cNvSpPr>
            <a:spLocks xmlns:a="http://schemas.openxmlformats.org/drawingml/2006/main" noGrp="1"/>
          </p:cNvSpPr>
          <p:nvPr/>
        </p:nvSpPr>
        <p:spPr>
          <a:xfrm xmlns:a="http://schemas.openxmlformats.org/drawingml/2006/main">
            <a:off x="457200" y="5539317"/>
            <a:ext cx="561975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EEDCE511-27E3-4639-BEE4-DEECFB50775A}"/>
              </a:ext>
            </a:extLst>
          </p:cNvPr>
          <p:cNvSpPr>
            <a:spLocks xmlns:a="http://schemas.openxmlformats.org/drawingml/2006/main" noGrp="1"/>
          </p:cNvSpPr>
          <p:nvPr/>
        </p:nvSpPr>
        <p:spPr>
          <a:xfrm xmlns:a="http://schemas.openxmlformats.org/drawingml/2006/main">
            <a:off x="504825" y="5567892"/>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Release 包目录</a:t>
            </a:r>
          </a:p>
        </p:txBody>
      </p:sp>
      <p:sp>
        <p:nvSpPr>
          <p:cNvPr id="47" name="">
            <a:extLst xmlns:a="http://schemas.openxmlformats.org/drawingml/2006/main">
              <a:ext uri="{FF2B5EF4-FFF2-40B4-BE49-F238E27FC236}">
                <a16:creationId xmlns:a16="http://schemas.microsoft.com/office/drawing/2014/main" id="{D943FAE6-CD45-4084-BA2E-D5D4F6A212FD}"/>
              </a:ext>
            </a:extLst>
          </p:cNvPr>
          <p:cNvSpPr>
            <a:spLocks xmlns:a="http://schemas.openxmlformats.org/drawingml/2006/main" noGrp="1"/>
          </p:cNvSpPr>
          <p:nvPr/>
        </p:nvSpPr>
        <p:spPr>
          <a:xfrm xmlns:a="http://schemas.openxmlformats.org/drawingml/2006/main">
            <a:off x="6076950" y="5539317"/>
            <a:ext cx="5619750" cy="404283"/>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1669781B-DFD2-46AA-A771-5848E1483121}"/>
              </a:ext>
            </a:extLst>
          </p:cNvPr>
          <p:cNvSpPr>
            <a:spLocks xmlns:a="http://schemas.openxmlformats.org/drawingml/2006/main" noGrp="1"/>
          </p:cNvSpPr>
          <p:nvPr/>
        </p:nvSpPr>
        <p:spPr>
          <a:xfrm xmlns:a="http://schemas.openxmlformats.org/drawingml/2006/main">
            <a:off x="6124575" y="5567892"/>
            <a:ext cx="5524500" cy="347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展示最终交付物</a:t>
            </a:r>
          </a:p>
        </p:txBody>
      </p:sp>
    </p:spTree>
    <p:extLst>
      <p:ext uri="{BB962C8B-B14F-4D97-AF65-F5344CB8AC3E}">
        <p14:creationId xmlns:p14="http://schemas.microsoft.com/office/powerpoint/2010/main" val="1878456831"/>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BA813C-2047-4EEC-9A64-AF10493DDD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BB89A6-D95C-4D4D-B282-9660A304EA9D}"/>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84E58C-455F-4EEA-BA80-07E61213AC39}"/>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B6884BBC-2F26-406B-AC6E-E0F75632F195}"/>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软件综合开发实训实验报告</a:t>
            </a:r>
          </a:p>
        </p:txBody>
      </p:sp>
      <p:sp>
        <p:nvSpPr>
          <p:cNvPr id="5" name="">
            <a:extLst xmlns:a="http://schemas.openxmlformats.org/drawingml/2006/main">
              <a:ext uri="{FF2B5EF4-FFF2-40B4-BE49-F238E27FC236}">
                <a16:creationId xmlns:a16="http://schemas.microsoft.com/office/drawing/2014/main" id="{4E1B38D4-7072-4231-8B40-EBB61C082E58}"/>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116</a:t>
            </a:r>
          </a:p>
        </p:txBody>
      </p:sp>
      <p:sp>
        <p:nvSpPr>
          <p:cNvPr id="6" name="">
            <a:extLst xmlns:a="http://schemas.openxmlformats.org/drawingml/2006/main">
              <a:ext uri="{FF2B5EF4-FFF2-40B4-BE49-F238E27FC236}">
                <a16:creationId xmlns:a16="http://schemas.microsoft.com/office/drawing/2014/main" id="{C46D9B76-9612-4597-BBBE-2E951411B924}"/>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SECTION</a:t>
            </a:r>
          </a:p>
        </p:txBody>
      </p:sp>
      <p:sp>
        <p:nvSpPr>
          <p:cNvPr id="7" name="">
            <a:extLst xmlns:a="http://schemas.openxmlformats.org/drawingml/2006/main">
              <a:ext uri="{FF2B5EF4-FFF2-40B4-BE49-F238E27FC236}">
                <a16:creationId xmlns:a16="http://schemas.microsoft.com/office/drawing/2014/main" id="{17C7D00B-2C66-4781-B28F-A888334AA746}"/>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12. 总结与收获</a:t>
            </a:r>
          </a:p>
        </p:txBody>
      </p:sp>
      <p:sp>
        <p:nvSpPr>
          <p:cNvPr id="8" name="">
            <a:extLst xmlns:a="http://schemas.openxmlformats.org/drawingml/2006/main">
              <a:ext uri="{FF2B5EF4-FFF2-40B4-BE49-F238E27FC236}">
                <a16:creationId xmlns:a16="http://schemas.microsoft.com/office/drawing/2014/main" id="{60FFB266-E14E-4154-9973-BC868A24E6D8}"/>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6DB8F8E-D0DC-4830-BC3D-AEC623F5F6E9}"/>
              </a:ext>
            </a:extLst>
          </p:cNvPr>
          <p:cNvSpPr>
            <a:spLocks xmlns:a="http://schemas.openxmlformats.org/drawingml/2006/main" noGrp="1"/>
          </p:cNvSpPr>
          <p:nvPr/>
        </p:nvSpPr>
        <p:spPr>
          <a:xfrm xmlns:a="http://schemas.openxmlformats.org/drawingml/2006/main">
            <a:off x="685800" y="1905000"/>
            <a:ext cx="10668000" cy="403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通过本次软件综合开发实训，小组完整经历了需求分析、UML 建模、面向对象设计、编码实现、测试验收和发布交付的过程。</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在 UML 和软件工程方面，本小组理解并实践了 UP 迭代开发中“从用例到领域模型，再到设计模型和实现”的过程。通过用例图、类图、顺序图、状态图、活动图、组件图和部署图，项目从需求到代码具备可解释、可追踪的模型支撑。</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在 Android 开发方面，本小组熟悉了 Android Studio、Gradle、Kotlin 和 Jetpack Compose。项目采用单 Activity + Compose 状态驱动页面切换的方式，实现了多个页面、动画、音效和本地数据保存。</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在面向对象设计方面，项目通过 MVC 分层、策略模式、接口隔离、房主权威同步、仓储模式和状态模式降低了复杂度。规则、AI、蓝牙和玩家成长模块都可以被独立测试和维护。</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在蓝牙和 AI 模块方面，项目实践表明多人联机游戏不仅需要连接成功，还需要解决状态同步、重复请求、当前玩家校验和断线恢复等问题。AI 模块也不仅是随机出牌，而是需要通过策略模式形成不同难度和可替换算法。</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在测试和交付方面，项目通过单元测试、模拟蓝牙测试、构建测试、Release 签名包和手动验收表提高可信度。测试工作帮助小组发现并规避了规则、消息、座位、动画和玩家成长中的潜在问题。</a:t>
            </a:r>
          </a:p>
          <a:p xmlns:a="http://schemas.openxmlformats.org/drawingml/2006/main">
            <a:r>
              <a:t/>
            </a:r>
          </a:p>
          <a:p xmlns:a="http://schemas.openxmlformats.org/drawingml/2006/main">
            <a:pPr algn="l">
              <a:lnSpc>
                <a:spcPct val="113000"/>
              </a:lnSpc>
              <a:buNone/>
              <a:defRPr sz="1125" b="0">
                <a:solidFill>
                  <a:srgbClr val="17211D"/>
                </a:solidFill>
                <a:latin typeface="PingFang SC"/>
                <a:ea typeface="PingFang SC"/>
                <a:cs typeface="PingFang SC"/>
              </a:defRPr>
            </a:pPr>
            <a:r>
              <a:rPr sz="1125" b="0">
                <a:solidFill>
                  <a:srgbClr val="17211D"/>
                </a:solidFill>
                <a:latin typeface="PingFang SC"/>
                <a:ea typeface="PingFang SC"/>
                <a:cs typeface="PingFang SC"/>
              </a:rPr>
              <a:t>• 在 AI 工具使用方面，本项目的大部分代码实现、UML 草图/更新、测试场景设计和文档整理均由 Codex/GPT-5 完成，开发者负责把生成内容放入 Android Studio、ProcessOn 和真机/模拟器环境中运行、校对、修改和确认。AI 工具显著提高了实现速度，但最终交付仍以本机可运行项目、测试结果和文档一致性为准。</a:t>
            </a:r>
          </a:p>
        </p:txBody>
      </p:sp>
    </p:spTree>
    <p:extLst>
      <p:ext uri="{BB962C8B-B14F-4D97-AF65-F5344CB8AC3E}">
        <p14:creationId xmlns:p14="http://schemas.microsoft.com/office/powerpoint/2010/main" val="1927777826"/>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606A5B-1EFE-4B21-8B01-9093F5FE5D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5F7706-9DE0-4F33-96E3-A479A275D637}"/>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3F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6975431-2FCC-474D-81B9-E98954605169}"/>
              </a:ext>
            </a:extLst>
          </p:cNvPr>
          <p:cNvSpPr>
            <a:spLocks xmlns:a="http://schemas.openxmlformats.org/drawingml/2006/main" noGrp="1"/>
          </p:cNvSpPr>
          <p:nvPr/>
        </p:nvSpPr>
        <p:spPr>
          <a:xfrm xmlns:a="http://schemas.openxmlformats.org/drawingml/2006/main">
            <a:off x="361950" y="1524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93006"/>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锄大地 Android 棋牌游戏</a:t>
            </a:r>
          </a:p>
        </p:txBody>
      </p:sp>
      <p:sp>
        <p:nvSpPr>
          <p:cNvPr id="4" name="">
            <a:extLst xmlns:a="http://schemas.openxmlformats.org/drawingml/2006/main">
              <a:ext uri="{FF2B5EF4-FFF2-40B4-BE49-F238E27FC236}">
                <a16:creationId xmlns:a16="http://schemas.microsoft.com/office/drawing/2014/main" id="{808DB3A3-FDA3-4956-8D0E-8A8ADC9574EE}"/>
              </a:ext>
            </a:extLst>
          </p:cNvPr>
          <p:cNvSpPr>
            <a:spLocks xmlns:a="http://schemas.openxmlformats.org/drawingml/2006/main" noGrp="1"/>
          </p:cNvSpPr>
          <p:nvPr/>
        </p:nvSpPr>
        <p:spPr>
          <a:xfrm xmlns:a="http://schemas.openxmlformats.org/drawingml/2006/main">
            <a:off x="7239000" y="1524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r">
              <a:lnSpc>
                <a:spcPct val="112000"/>
              </a:lnSpc>
              <a:buNone/>
              <a:defRPr sz="900" b="1">
                <a:solidFill>
                  <a:srgbClr val="E8D08A"/>
                </a:solidFill>
                <a:latin typeface="PingFang SC"/>
                <a:ea typeface="PingFang SC"/>
                <a:cs typeface="PingFang SC"/>
              </a:defRPr>
            </a:pPr>
            <a:r>
              <a:rPr sz="900" b="1">
                <a:solidFill>
                  <a:srgbClr val="E8D08A"/>
                </a:solidFill>
                <a:latin typeface="PingFang SC"/>
                <a:ea typeface="PingFang SC"/>
                <a:cs typeface="PingFang SC"/>
              </a:rPr>
              <a:t>软件综合开发实训实验报告</a:t>
            </a:r>
          </a:p>
        </p:txBody>
      </p:sp>
      <p:sp>
        <p:nvSpPr>
          <p:cNvPr id="5" name="">
            <a:extLst xmlns:a="http://schemas.openxmlformats.org/drawingml/2006/main">
              <a:ext uri="{FF2B5EF4-FFF2-40B4-BE49-F238E27FC236}">
                <a16:creationId xmlns:a16="http://schemas.microsoft.com/office/drawing/2014/main" id="{2878AC74-EF4C-4806-B759-03794559A48E}"/>
              </a:ext>
            </a:extLst>
          </p:cNvPr>
          <p:cNvSpPr>
            <a:spLocks xmlns:a="http://schemas.openxmlformats.org/drawingml/2006/main" noGrp="1"/>
          </p:cNvSpPr>
          <p:nvPr/>
        </p:nvSpPr>
        <p:spPr>
          <a:xfrm xmlns:a="http://schemas.openxmlformats.org/drawingml/2006/main">
            <a:off x="113347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94697"/>
          </a:bodyPr>
          <a:lstStyle xmlns:a="http://schemas.openxmlformats.org/drawingml/2006/main"/>
          <a:p xmlns:a="http://schemas.openxmlformats.org/drawingml/2006/main">
            <a:pPr algn="r">
              <a:lnSpc>
                <a:spcPct val="112000"/>
              </a:lnSpc>
              <a:buNone/>
              <a:defRPr sz="825" b="0">
                <a:solidFill>
                  <a:srgbClr val="5B6D63"/>
                </a:solidFill>
                <a:latin typeface="PingFang SC"/>
                <a:ea typeface="PingFang SC"/>
                <a:cs typeface="PingFang SC"/>
              </a:defRPr>
            </a:pPr>
            <a:r>
              <a:rPr sz="825" b="0">
                <a:solidFill>
                  <a:srgbClr val="5B6D63"/>
                </a:solidFill>
                <a:latin typeface="PingFang SC"/>
                <a:ea typeface="PingFang SC"/>
                <a:cs typeface="PingFang SC"/>
              </a:rPr>
              <a:t>117</a:t>
            </a:r>
          </a:p>
        </p:txBody>
      </p:sp>
      <p:sp>
        <p:nvSpPr>
          <p:cNvPr id="6" name="">
            <a:extLst xmlns:a="http://schemas.openxmlformats.org/drawingml/2006/main">
              <a:ext uri="{FF2B5EF4-FFF2-40B4-BE49-F238E27FC236}">
                <a16:creationId xmlns:a16="http://schemas.microsoft.com/office/drawing/2014/main" id="{1114AFD7-C010-42DF-8D5D-115B0B5BB9A1}"/>
              </a:ext>
            </a:extLst>
          </p:cNvPr>
          <p:cNvSpPr>
            <a:spLocks xmlns:a="http://schemas.openxmlformats.org/drawingml/2006/main" noGrp="1"/>
          </p:cNvSpPr>
          <p:nvPr/>
        </p:nvSpPr>
        <p:spPr>
          <a:xfrm xmlns:a="http://schemas.openxmlformats.org/drawingml/2006/main">
            <a:off x="514350" y="7810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6806"/>
          </a:bodyPr>
          <a:lstStyle xmlns:a="http://schemas.openxmlformats.org/drawingml/2006/main"/>
          <a:p xmlns:a="http://schemas.openxmlformats.org/drawingml/2006/main">
            <a:pPr algn="l">
              <a:lnSpc>
                <a:spcPct val="112000"/>
              </a:lnSpc>
              <a:buNone/>
              <a:defRPr sz="900" b="1">
                <a:solidFill>
                  <a:srgbClr val="D8A43A"/>
                </a:solidFill>
                <a:latin typeface="PingFang SC"/>
                <a:ea typeface="PingFang SC"/>
                <a:cs typeface="PingFang SC"/>
              </a:defRPr>
            </a:pPr>
            <a:r>
              <a:rPr sz="900" b="1">
                <a:solidFill>
                  <a:srgbClr val="D8A43A"/>
                </a:solidFill>
                <a:latin typeface="PingFang SC"/>
                <a:ea typeface="PingFang SC"/>
                <a:cs typeface="PingFang SC"/>
              </a:rPr>
              <a:t>REPORT SECTION</a:t>
            </a:r>
          </a:p>
        </p:txBody>
      </p:sp>
      <p:sp>
        <p:nvSpPr>
          <p:cNvPr id="7" name="">
            <a:extLst xmlns:a="http://schemas.openxmlformats.org/drawingml/2006/main">
              <a:ext uri="{FF2B5EF4-FFF2-40B4-BE49-F238E27FC236}">
                <a16:creationId xmlns:a16="http://schemas.microsoft.com/office/drawing/2014/main" id="{6F20CCA3-85E8-4FCA-99A5-AB850956C579}"/>
              </a:ext>
            </a:extLst>
          </p:cNvPr>
          <p:cNvSpPr>
            <a:spLocks xmlns:a="http://schemas.openxmlformats.org/drawingml/2006/main" noGrp="1"/>
          </p:cNvSpPr>
          <p:nvPr/>
        </p:nvSpPr>
        <p:spPr>
          <a:xfrm xmlns:a="http://schemas.openxmlformats.org/drawingml/2006/main">
            <a:off x="514350" y="10096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2175" b="1">
                <a:solidFill>
                  <a:srgbClr val="17211D"/>
                </a:solidFill>
                <a:latin typeface="PingFang SC"/>
                <a:ea typeface="PingFang SC"/>
                <a:cs typeface="PingFang SC"/>
              </a:defRPr>
            </a:pPr>
            <a:r>
              <a:rPr sz="2175" b="1">
                <a:solidFill>
                  <a:srgbClr val="17211D"/>
                </a:solidFill>
                <a:latin typeface="PingFang SC"/>
                <a:ea typeface="PingFang SC"/>
                <a:cs typeface="PingFang SC"/>
              </a:rPr>
              <a:t>13. 附录：主要材料清单</a:t>
            </a:r>
          </a:p>
        </p:txBody>
      </p:sp>
      <p:sp>
        <p:nvSpPr>
          <p:cNvPr id="8" name="">
            <a:extLst xmlns:a="http://schemas.openxmlformats.org/drawingml/2006/main">
              <a:ext uri="{FF2B5EF4-FFF2-40B4-BE49-F238E27FC236}">
                <a16:creationId xmlns:a16="http://schemas.microsoft.com/office/drawing/2014/main" id="{B3E4F17B-F884-42E2-BD92-380763896A26}"/>
              </a:ext>
            </a:extLst>
          </p:cNvPr>
          <p:cNvSpPr>
            <a:spLocks xmlns:a="http://schemas.openxmlformats.org/drawingml/2006/main" noGrp="1"/>
          </p:cNvSpPr>
          <p:nvPr/>
        </p:nvSpPr>
        <p:spPr>
          <a:xfrm xmlns:a="http://schemas.openxmlformats.org/drawingml/2006/main">
            <a:off x="514350" y="1657350"/>
            <a:ext cx="10668000" cy="9525"/>
          </a:xfrm>
          <a:prstGeom xmlns:a="http://schemas.openxmlformats.org/drawingml/2006/main" prst="rect">
            <a:avLst/>
          </a:prstGeom>
          <a:solidFill xmlns:a="http://schemas.openxmlformats.org/drawingml/2006/main">
            <a:srgbClr val="D9D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5170025-00AE-4F9C-BD76-C324BA8C827C}"/>
              </a:ext>
            </a:extLst>
          </p:cNvPr>
          <p:cNvSpPr>
            <a:spLocks xmlns:a="http://schemas.openxmlformats.org/drawingml/2006/main" noGrp="1"/>
          </p:cNvSpPr>
          <p:nvPr/>
        </p:nvSpPr>
        <p:spPr>
          <a:xfrm xmlns:a="http://schemas.openxmlformats.org/drawingml/2006/main">
            <a:off x="457200" y="1905000"/>
            <a:ext cx="3746500" cy="3365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9A90FD88-195D-4E40-A2DA-70F3C78D45D8}"/>
              </a:ext>
            </a:extLst>
          </p:cNvPr>
          <p:cNvSpPr>
            <a:spLocks xmlns:a="http://schemas.openxmlformats.org/drawingml/2006/main" noGrp="1"/>
          </p:cNvSpPr>
          <p:nvPr/>
        </p:nvSpPr>
        <p:spPr>
          <a:xfrm xmlns:a="http://schemas.openxmlformats.org/drawingml/2006/main">
            <a:off x="504825" y="1943100"/>
            <a:ext cx="3651250" cy="26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类型</a:t>
            </a:r>
          </a:p>
        </p:txBody>
      </p:sp>
      <p:sp>
        <p:nvSpPr>
          <p:cNvPr id="11" name="">
            <a:extLst xmlns:a="http://schemas.openxmlformats.org/drawingml/2006/main">
              <a:ext uri="{FF2B5EF4-FFF2-40B4-BE49-F238E27FC236}">
                <a16:creationId xmlns:a16="http://schemas.microsoft.com/office/drawing/2014/main" id="{B18B3C44-04E7-4246-B9A4-B4F721D6D32D}"/>
              </a:ext>
            </a:extLst>
          </p:cNvPr>
          <p:cNvSpPr>
            <a:spLocks xmlns:a="http://schemas.openxmlformats.org/drawingml/2006/main" noGrp="1"/>
          </p:cNvSpPr>
          <p:nvPr/>
        </p:nvSpPr>
        <p:spPr>
          <a:xfrm xmlns:a="http://schemas.openxmlformats.org/drawingml/2006/main">
            <a:off x="4203700" y="1905000"/>
            <a:ext cx="3746500" cy="3365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E48B830A-D669-4B9C-95FE-E50AC0297CA1}"/>
              </a:ext>
            </a:extLst>
          </p:cNvPr>
          <p:cNvSpPr>
            <a:spLocks xmlns:a="http://schemas.openxmlformats.org/drawingml/2006/main" noGrp="1"/>
          </p:cNvSpPr>
          <p:nvPr/>
        </p:nvSpPr>
        <p:spPr>
          <a:xfrm xmlns:a="http://schemas.openxmlformats.org/drawingml/2006/main">
            <a:off x="4251325" y="1943100"/>
            <a:ext cx="3651250" cy="26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文件或目录</a:t>
            </a:r>
          </a:p>
        </p:txBody>
      </p:sp>
      <p:sp>
        <p:nvSpPr>
          <p:cNvPr id="13" name="">
            <a:extLst xmlns:a="http://schemas.openxmlformats.org/drawingml/2006/main">
              <a:ext uri="{FF2B5EF4-FFF2-40B4-BE49-F238E27FC236}">
                <a16:creationId xmlns:a16="http://schemas.microsoft.com/office/drawing/2014/main" id="{8D42119B-6E83-4EE3-8F2F-76FA2C9B69F0}"/>
              </a:ext>
            </a:extLst>
          </p:cNvPr>
          <p:cNvSpPr>
            <a:spLocks xmlns:a="http://schemas.openxmlformats.org/drawingml/2006/main" noGrp="1"/>
          </p:cNvSpPr>
          <p:nvPr/>
        </p:nvSpPr>
        <p:spPr>
          <a:xfrm xmlns:a="http://schemas.openxmlformats.org/drawingml/2006/main">
            <a:off x="7950200" y="1905000"/>
            <a:ext cx="3746500" cy="336550"/>
          </a:xfrm>
          <a:prstGeom xmlns:a="http://schemas.openxmlformats.org/drawingml/2006/main" prst="rect">
            <a:avLst/>
          </a:prstGeom>
          <a:solidFill xmlns:a="http://schemas.openxmlformats.org/drawingml/2006/main">
            <a:srgbClr val="0F3F32"/>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779AE11A-C3AF-487B-B81C-9E4964A66F72}"/>
              </a:ext>
            </a:extLst>
          </p:cNvPr>
          <p:cNvSpPr>
            <a:spLocks xmlns:a="http://schemas.openxmlformats.org/drawingml/2006/main" noGrp="1"/>
          </p:cNvSpPr>
          <p:nvPr/>
        </p:nvSpPr>
        <p:spPr>
          <a:xfrm xmlns:a="http://schemas.openxmlformats.org/drawingml/2006/main">
            <a:off x="7997825" y="1943100"/>
            <a:ext cx="3651250" cy="26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38" b="1">
                <a:solidFill>
                  <a:srgbClr val="FFFFFF"/>
                </a:solidFill>
                <a:latin typeface="PingFang SC"/>
                <a:ea typeface="PingFang SC"/>
                <a:cs typeface="PingFang SC"/>
              </a:defRPr>
            </a:pPr>
            <a:r>
              <a:rPr sz="938" b="1">
                <a:solidFill>
                  <a:srgbClr val="FFFFFF"/>
                </a:solidFill>
                <a:latin typeface="PingFang SC"/>
                <a:ea typeface="PingFang SC"/>
                <a:cs typeface="PingFang SC"/>
              </a:rPr>
              <a:t>说明</a:t>
            </a:r>
          </a:p>
        </p:txBody>
      </p:sp>
      <p:sp>
        <p:nvSpPr>
          <p:cNvPr id="15" name="">
            <a:extLst xmlns:a="http://schemas.openxmlformats.org/drawingml/2006/main">
              <a:ext uri="{FF2B5EF4-FFF2-40B4-BE49-F238E27FC236}">
                <a16:creationId xmlns:a16="http://schemas.microsoft.com/office/drawing/2014/main" id="{369E861A-1296-4197-83A8-8EF1127A5D6A}"/>
              </a:ext>
            </a:extLst>
          </p:cNvPr>
          <p:cNvSpPr>
            <a:spLocks xmlns:a="http://schemas.openxmlformats.org/drawingml/2006/main" noGrp="1"/>
          </p:cNvSpPr>
          <p:nvPr/>
        </p:nvSpPr>
        <p:spPr>
          <a:xfrm xmlns:a="http://schemas.openxmlformats.org/drawingml/2006/main">
            <a:off x="457200" y="22415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6" name="">
            <a:extLst xmlns:a="http://schemas.openxmlformats.org/drawingml/2006/main">
              <a:ext uri="{FF2B5EF4-FFF2-40B4-BE49-F238E27FC236}">
                <a16:creationId xmlns:a16="http://schemas.microsoft.com/office/drawing/2014/main" id="{B9094809-496F-42C1-9FBC-897BFD35716B}"/>
              </a:ext>
            </a:extLst>
          </p:cNvPr>
          <p:cNvSpPr>
            <a:spLocks xmlns:a="http://schemas.openxmlformats.org/drawingml/2006/main" noGrp="1"/>
          </p:cNvSpPr>
          <p:nvPr/>
        </p:nvSpPr>
        <p:spPr>
          <a:xfrm xmlns:a="http://schemas.openxmlformats.org/drawingml/2006/main">
            <a:off x="504825" y="22701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项目完整说明</a:t>
            </a:r>
          </a:p>
        </p:txBody>
      </p:sp>
      <p:sp>
        <p:nvSpPr>
          <p:cNvPr id="17" name="">
            <a:extLst xmlns:a="http://schemas.openxmlformats.org/drawingml/2006/main">
              <a:ext uri="{FF2B5EF4-FFF2-40B4-BE49-F238E27FC236}">
                <a16:creationId xmlns:a16="http://schemas.microsoft.com/office/drawing/2014/main" id="{80AD9DD2-4F45-4F24-9218-52E8A992A780}"/>
              </a:ext>
            </a:extLst>
          </p:cNvPr>
          <p:cNvSpPr>
            <a:spLocks xmlns:a="http://schemas.openxmlformats.org/drawingml/2006/main" noGrp="1"/>
          </p:cNvSpPr>
          <p:nvPr/>
        </p:nvSpPr>
        <p:spPr>
          <a:xfrm xmlns:a="http://schemas.openxmlformats.org/drawingml/2006/main">
            <a:off x="4203700" y="22415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18" name="">
            <a:extLst xmlns:a="http://schemas.openxmlformats.org/drawingml/2006/main">
              <a:ext uri="{FF2B5EF4-FFF2-40B4-BE49-F238E27FC236}">
                <a16:creationId xmlns:a16="http://schemas.microsoft.com/office/drawing/2014/main" id="{B2966B59-A780-4547-A888-B6CA486E99C6}"/>
              </a:ext>
            </a:extLst>
          </p:cNvPr>
          <p:cNvSpPr>
            <a:spLocks xmlns:a="http://schemas.openxmlformats.org/drawingml/2006/main" noGrp="1"/>
          </p:cNvSpPr>
          <p:nvPr/>
        </p:nvSpPr>
        <p:spPr>
          <a:xfrm xmlns:a="http://schemas.openxmlformats.org/drawingml/2006/main">
            <a:off x="4251325" y="22701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docs/complete_project_documentation.md</a:t>
            </a:r>
          </a:p>
        </p:txBody>
      </p:sp>
      <p:sp>
        <p:nvSpPr>
          <p:cNvPr id="19" name="">
            <a:extLst xmlns:a="http://schemas.openxmlformats.org/drawingml/2006/main">
              <a:ext uri="{FF2B5EF4-FFF2-40B4-BE49-F238E27FC236}">
                <a16:creationId xmlns:a16="http://schemas.microsoft.com/office/drawing/2014/main" id="{6C2CD17A-E9D3-4239-BB45-DAD1BAF89A45}"/>
              </a:ext>
            </a:extLst>
          </p:cNvPr>
          <p:cNvSpPr>
            <a:spLocks xmlns:a="http://schemas.openxmlformats.org/drawingml/2006/main" noGrp="1"/>
          </p:cNvSpPr>
          <p:nvPr/>
        </p:nvSpPr>
        <p:spPr>
          <a:xfrm xmlns:a="http://schemas.openxmlformats.org/drawingml/2006/main">
            <a:off x="7950200" y="22415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0" name="">
            <a:extLst xmlns:a="http://schemas.openxmlformats.org/drawingml/2006/main">
              <a:ext uri="{FF2B5EF4-FFF2-40B4-BE49-F238E27FC236}">
                <a16:creationId xmlns:a16="http://schemas.microsoft.com/office/drawing/2014/main" id="{53582849-41CC-4290-AA07-D437303BFBF2}"/>
              </a:ext>
            </a:extLst>
          </p:cNvPr>
          <p:cNvSpPr>
            <a:spLocks xmlns:a="http://schemas.openxmlformats.org/drawingml/2006/main" noGrp="1"/>
          </p:cNvSpPr>
          <p:nvPr/>
        </p:nvSpPr>
        <p:spPr>
          <a:xfrm xmlns:a="http://schemas.openxmlformats.org/drawingml/2006/main">
            <a:off x="7997825" y="22701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覆盖代码结构、UML、设计模式、测试和发布说明</a:t>
            </a:r>
          </a:p>
        </p:txBody>
      </p:sp>
      <p:sp>
        <p:nvSpPr>
          <p:cNvPr id="21" name="">
            <a:extLst xmlns:a="http://schemas.openxmlformats.org/drawingml/2006/main">
              <a:ext uri="{FF2B5EF4-FFF2-40B4-BE49-F238E27FC236}">
                <a16:creationId xmlns:a16="http://schemas.microsoft.com/office/drawing/2014/main" id="{37087303-6156-4ABE-9333-6E718FF42A33}"/>
              </a:ext>
            </a:extLst>
          </p:cNvPr>
          <p:cNvSpPr>
            <a:spLocks xmlns:a="http://schemas.openxmlformats.org/drawingml/2006/main" noGrp="1"/>
          </p:cNvSpPr>
          <p:nvPr/>
        </p:nvSpPr>
        <p:spPr>
          <a:xfrm xmlns:a="http://schemas.openxmlformats.org/drawingml/2006/main">
            <a:off x="457200" y="25781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2" name="">
            <a:extLst xmlns:a="http://schemas.openxmlformats.org/drawingml/2006/main">
              <a:ext uri="{FF2B5EF4-FFF2-40B4-BE49-F238E27FC236}">
                <a16:creationId xmlns:a16="http://schemas.microsoft.com/office/drawing/2014/main" id="{84ED451B-C1AD-49C2-913B-224E2BD1C02D}"/>
              </a:ext>
            </a:extLst>
          </p:cNvPr>
          <p:cNvSpPr>
            <a:spLocks xmlns:a="http://schemas.openxmlformats.org/drawingml/2006/main" noGrp="1"/>
          </p:cNvSpPr>
          <p:nvPr/>
        </p:nvSpPr>
        <p:spPr>
          <a:xfrm xmlns:a="http://schemas.openxmlformats.org/drawingml/2006/main">
            <a:off x="504825" y="26066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需求分析</a:t>
            </a:r>
          </a:p>
        </p:txBody>
      </p:sp>
      <p:sp>
        <p:nvSpPr>
          <p:cNvPr id="23" name="">
            <a:extLst xmlns:a="http://schemas.openxmlformats.org/drawingml/2006/main">
              <a:ext uri="{FF2B5EF4-FFF2-40B4-BE49-F238E27FC236}">
                <a16:creationId xmlns:a16="http://schemas.microsoft.com/office/drawing/2014/main" id="{5BF76944-6898-4526-A5E5-BD23BFA734A0}"/>
              </a:ext>
            </a:extLst>
          </p:cNvPr>
          <p:cNvSpPr>
            <a:spLocks xmlns:a="http://schemas.openxmlformats.org/drawingml/2006/main" noGrp="1"/>
          </p:cNvSpPr>
          <p:nvPr/>
        </p:nvSpPr>
        <p:spPr>
          <a:xfrm xmlns:a="http://schemas.openxmlformats.org/drawingml/2006/main">
            <a:off x="4203700" y="25781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4" name="">
            <a:extLst xmlns:a="http://schemas.openxmlformats.org/drawingml/2006/main">
              <a:ext uri="{FF2B5EF4-FFF2-40B4-BE49-F238E27FC236}">
                <a16:creationId xmlns:a16="http://schemas.microsoft.com/office/drawing/2014/main" id="{2EE75C67-321E-4306-84E8-655ABBD2EEF3}"/>
              </a:ext>
            </a:extLst>
          </p:cNvPr>
          <p:cNvSpPr>
            <a:spLocks xmlns:a="http://schemas.openxmlformats.org/drawingml/2006/main" noGrp="1"/>
          </p:cNvSpPr>
          <p:nvPr/>
        </p:nvSpPr>
        <p:spPr>
          <a:xfrm xmlns:a="http://schemas.openxmlformats.org/drawingml/2006/main">
            <a:off x="4251325" y="26066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docs/requirements.md</a:t>
            </a:r>
          </a:p>
        </p:txBody>
      </p:sp>
      <p:sp>
        <p:nvSpPr>
          <p:cNvPr id="25" name="">
            <a:extLst xmlns:a="http://schemas.openxmlformats.org/drawingml/2006/main">
              <a:ext uri="{FF2B5EF4-FFF2-40B4-BE49-F238E27FC236}">
                <a16:creationId xmlns:a16="http://schemas.microsoft.com/office/drawing/2014/main" id="{A3282D6C-1A7C-452F-B393-CB998CC236C2}"/>
              </a:ext>
            </a:extLst>
          </p:cNvPr>
          <p:cNvSpPr>
            <a:spLocks xmlns:a="http://schemas.openxmlformats.org/drawingml/2006/main" noGrp="1"/>
          </p:cNvSpPr>
          <p:nvPr/>
        </p:nvSpPr>
        <p:spPr>
          <a:xfrm xmlns:a="http://schemas.openxmlformats.org/drawingml/2006/main">
            <a:off x="7950200" y="25781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26" name="">
            <a:extLst xmlns:a="http://schemas.openxmlformats.org/drawingml/2006/main">
              <a:ext uri="{FF2B5EF4-FFF2-40B4-BE49-F238E27FC236}">
                <a16:creationId xmlns:a16="http://schemas.microsoft.com/office/drawing/2014/main" id="{DE4A37C6-C6E1-4653-8FAB-5278718E45CE}"/>
              </a:ext>
            </a:extLst>
          </p:cNvPr>
          <p:cNvSpPr>
            <a:spLocks xmlns:a="http://schemas.openxmlformats.org/drawingml/2006/main" noGrp="1"/>
          </p:cNvSpPr>
          <p:nvPr/>
        </p:nvSpPr>
        <p:spPr>
          <a:xfrm xmlns:a="http://schemas.openxmlformats.org/drawingml/2006/main">
            <a:off x="7997825" y="26066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项目目标、功能需求、非功能需求和评分点映射</a:t>
            </a:r>
          </a:p>
        </p:txBody>
      </p:sp>
      <p:sp>
        <p:nvSpPr>
          <p:cNvPr id="27" name="">
            <a:extLst xmlns:a="http://schemas.openxmlformats.org/drawingml/2006/main">
              <a:ext uri="{FF2B5EF4-FFF2-40B4-BE49-F238E27FC236}">
                <a16:creationId xmlns:a16="http://schemas.microsoft.com/office/drawing/2014/main" id="{3B1E5DE5-B991-4F25-8C4C-DA3021D6D5E5}"/>
              </a:ext>
            </a:extLst>
          </p:cNvPr>
          <p:cNvSpPr>
            <a:spLocks xmlns:a="http://schemas.openxmlformats.org/drawingml/2006/main" noGrp="1"/>
          </p:cNvSpPr>
          <p:nvPr/>
        </p:nvSpPr>
        <p:spPr>
          <a:xfrm xmlns:a="http://schemas.openxmlformats.org/drawingml/2006/main">
            <a:off x="457200" y="29146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28" name="">
            <a:extLst xmlns:a="http://schemas.openxmlformats.org/drawingml/2006/main">
              <a:ext uri="{FF2B5EF4-FFF2-40B4-BE49-F238E27FC236}">
                <a16:creationId xmlns:a16="http://schemas.microsoft.com/office/drawing/2014/main" id="{16C06D62-FCBA-487A-88BF-2E492C75E251}"/>
              </a:ext>
            </a:extLst>
          </p:cNvPr>
          <p:cNvSpPr>
            <a:spLocks xmlns:a="http://schemas.openxmlformats.org/drawingml/2006/main" noGrp="1"/>
          </p:cNvSpPr>
          <p:nvPr/>
        </p:nvSpPr>
        <p:spPr>
          <a:xfrm xmlns:a="http://schemas.openxmlformats.org/drawingml/2006/main">
            <a:off x="504825" y="29432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设计说明</a:t>
            </a:r>
          </a:p>
        </p:txBody>
      </p:sp>
      <p:sp>
        <p:nvSpPr>
          <p:cNvPr id="29" name="">
            <a:extLst xmlns:a="http://schemas.openxmlformats.org/drawingml/2006/main">
              <a:ext uri="{FF2B5EF4-FFF2-40B4-BE49-F238E27FC236}">
                <a16:creationId xmlns:a16="http://schemas.microsoft.com/office/drawing/2014/main" id="{689F7DED-C4AF-4E4C-88F1-11897AFA87B1}"/>
              </a:ext>
            </a:extLst>
          </p:cNvPr>
          <p:cNvSpPr>
            <a:spLocks xmlns:a="http://schemas.openxmlformats.org/drawingml/2006/main" noGrp="1"/>
          </p:cNvSpPr>
          <p:nvPr/>
        </p:nvSpPr>
        <p:spPr>
          <a:xfrm xmlns:a="http://schemas.openxmlformats.org/drawingml/2006/main">
            <a:off x="4203700" y="29146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0" name="">
            <a:extLst xmlns:a="http://schemas.openxmlformats.org/drawingml/2006/main">
              <a:ext uri="{FF2B5EF4-FFF2-40B4-BE49-F238E27FC236}">
                <a16:creationId xmlns:a16="http://schemas.microsoft.com/office/drawing/2014/main" id="{5C0A9B54-A02D-4A3B-A0E5-E48FA1C52B1D}"/>
              </a:ext>
            </a:extLst>
          </p:cNvPr>
          <p:cNvSpPr>
            <a:spLocks xmlns:a="http://schemas.openxmlformats.org/drawingml/2006/main" noGrp="1"/>
          </p:cNvSpPr>
          <p:nvPr/>
        </p:nvSpPr>
        <p:spPr>
          <a:xfrm xmlns:a="http://schemas.openxmlformats.org/drawingml/2006/main">
            <a:off x="4251325" y="29432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docs/design.md</a:t>
            </a:r>
          </a:p>
        </p:txBody>
      </p:sp>
      <p:sp>
        <p:nvSpPr>
          <p:cNvPr id="31" name="">
            <a:extLst xmlns:a="http://schemas.openxmlformats.org/drawingml/2006/main">
              <a:ext uri="{FF2B5EF4-FFF2-40B4-BE49-F238E27FC236}">
                <a16:creationId xmlns:a16="http://schemas.microsoft.com/office/drawing/2014/main" id="{0D0E18D7-18E7-41F0-93AA-DCCA8337A258}"/>
              </a:ext>
            </a:extLst>
          </p:cNvPr>
          <p:cNvSpPr>
            <a:spLocks xmlns:a="http://schemas.openxmlformats.org/drawingml/2006/main" noGrp="1"/>
          </p:cNvSpPr>
          <p:nvPr/>
        </p:nvSpPr>
        <p:spPr>
          <a:xfrm xmlns:a="http://schemas.openxmlformats.org/drawingml/2006/main">
            <a:off x="7950200" y="29146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32" name="">
            <a:extLst xmlns:a="http://schemas.openxmlformats.org/drawingml/2006/main">
              <a:ext uri="{FF2B5EF4-FFF2-40B4-BE49-F238E27FC236}">
                <a16:creationId xmlns:a16="http://schemas.microsoft.com/office/drawing/2014/main" id="{27095EDC-4471-46F2-A985-43B7FA53FE36}"/>
              </a:ext>
            </a:extLst>
          </p:cNvPr>
          <p:cNvSpPr>
            <a:spLocks xmlns:a="http://schemas.openxmlformats.org/drawingml/2006/main" noGrp="1"/>
          </p:cNvSpPr>
          <p:nvPr/>
        </p:nvSpPr>
        <p:spPr>
          <a:xfrm xmlns:a="http://schemas.openxmlformats.org/drawingml/2006/main">
            <a:off x="7997825" y="29432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MVC 分层、核心职责、设计模式、数据流和错误处理</a:t>
            </a:r>
          </a:p>
        </p:txBody>
      </p:sp>
      <p:sp>
        <p:nvSpPr>
          <p:cNvPr id="33" name="">
            <a:extLst xmlns:a="http://schemas.openxmlformats.org/drawingml/2006/main">
              <a:ext uri="{FF2B5EF4-FFF2-40B4-BE49-F238E27FC236}">
                <a16:creationId xmlns:a16="http://schemas.microsoft.com/office/drawing/2014/main" id="{307305D3-A74A-4E4C-B713-5342E2E0B29B}"/>
              </a:ext>
            </a:extLst>
          </p:cNvPr>
          <p:cNvSpPr>
            <a:spLocks xmlns:a="http://schemas.openxmlformats.org/drawingml/2006/main" noGrp="1"/>
          </p:cNvSpPr>
          <p:nvPr/>
        </p:nvSpPr>
        <p:spPr>
          <a:xfrm xmlns:a="http://schemas.openxmlformats.org/drawingml/2006/main">
            <a:off x="457200" y="32512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4" name="">
            <a:extLst xmlns:a="http://schemas.openxmlformats.org/drawingml/2006/main">
              <a:ext uri="{FF2B5EF4-FFF2-40B4-BE49-F238E27FC236}">
                <a16:creationId xmlns:a16="http://schemas.microsoft.com/office/drawing/2014/main" id="{52006B18-CB27-48DA-AF65-23AF806A4BD4}"/>
              </a:ext>
            </a:extLst>
          </p:cNvPr>
          <p:cNvSpPr>
            <a:spLocks xmlns:a="http://schemas.openxmlformats.org/drawingml/2006/main" noGrp="1"/>
          </p:cNvSpPr>
          <p:nvPr/>
        </p:nvSpPr>
        <p:spPr>
          <a:xfrm xmlns:a="http://schemas.openxmlformats.org/drawingml/2006/main">
            <a:off x="504825" y="32797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测试报告</a:t>
            </a:r>
          </a:p>
        </p:txBody>
      </p:sp>
      <p:sp>
        <p:nvSpPr>
          <p:cNvPr id="35" name="">
            <a:extLst xmlns:a="http://schemas.openxmlformats.org/drawingml/2006/main">
              <a:ext uri="{FF2B5EF4-FFF2-40B4-BE49-F238E27FC236}">
                <a16:creationId xmlns:a16="http://schemas.microsoft.com/office/drawing/2014/main" id="{4676CE77-6541-421A-9134-F15B7D807D45}"/>
              </a:ext>
            </a:extLst>
          </p:cNvPr>
          <p:cNvSpPr>
            <a:spLocks xmlns:a="http://schemas.openxmlformats.org/drawingml/2006/main" noGrp="1"/>
          </p:cNvSpPr>
          <p:nvPr/>
        </p:nvSpPr>
        <p:spPr>
          <a:xfrm xmlns:a="http://schemas.openxmlformats.org/drawingml/2006/main">
            <a:off x="4203700" y="32512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6" name="">
            <a:extLst xmlns:a="http://schemas.openxmlformats.org/drawingml/2006/main">
              <a:ext uri="{FF2B5EF4-FFF2-40B4-BE49-F238E27FC236}">
                <a16:creationId xmlns:a16="http://schemas.microsoft.com/office/drawing/2014/main" id="{42741E69-C0BA-40DE-964D-DD377894B950}"/>
              </a:ext>
            </a:extLst>
          </p:cNvPr>
          <p:cNvSpPr>
            <a:spLocks xmlns:a="http://schemas.openxmlformats.org/drawingml/2006/main" noGrp="1"/>
          </p:cNvSpPr>
          <p:nvPr/>
        </p:nvSpPr>
        <p:spPr>
          <a:xfrm xmlns:a="http://schemas.openxmlformats.org/drawingml/2006/main">
            <a:off x="4251325" y="32797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docs/test_report.md</a:t>
            </a:r>
          </a:p>
        </p:txBody>
      </p:sp>
      <p:sp>
        <p:nvSpPr>
          <p:cNvPr id="37" name="">
            <a:extLst xmlns:a="http://schemas.openxmlformats.org/drawingml/2006/main">
              <a:ext uri="{FF2B5EF4-FFF2-40B4-BE49-F238E27FC236}">
                <a16:creationId xmlns:a16="http://schemas.microsoft.com/office/drawing/2014/main" id="{F0C51E38-2BFD-4F65-AAE4-C0FCA465398A}"/>
              </a:ext>
            </a:extLst>
          </p:cNvPr>
          <p:cNvSpPr>
            <a:spLocks xmlns:a="http://schemas.openxmlformats.org/drawingml/2006/main" noGrp="1"/>
          </p:cNvSpPr>
          <p:nvPr/>
        </p:nvSpPr>
        <p:spPr>
          <a:xfrm xmlns:a="http://schemas.openxmlformats.org/drawingml/2006/main">
            <a:off x="7950200" y="32512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38" name="">
            <a:extLst xmlns:a="http://schemas.openxmlformats.org/drawingml/2006/main">
              <a:ext uri="{FF2B5EF4-FFF2-40B4-BE49-F238E27FC236}">
                <a16:creationId xmlns:a16="http://schemas.microsoft.com/office/drawing/2014/main" id="{5C45D226-1295-462A-B0C3-A58959E44622}"/>
              </a:ext>
            </a:extLst>
          </p:cNvPr>
          <p:cNvSpPr>
            <a:spLocks xmlns:a="http://schemas.openxmlformats.org/drawingml/2006/main" noGrp="1"/>
          </p:cNvSpPr>
          <p:nvPr/>
        </p:nvSpPr>
        <p:spPr>
          <a:xfrm xmlns:a="http://schemas.openxmlformats.org/drawingml/2006/main">
            <a:off x="7997825" y="32797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自动化测试范围、验证命令、手动验收场景和风险</a:t>
            </a:r>
          </a:p>
        </p:txBody>
      </p:sp>
      <p:sp>
        <p:nvSpPr>
          <p:cNvPr id="39" name="">
            <a:extLst xmlns:a="http://schemas.openxmlformats.org/drawingml/2006/main">
              <a:ext uri="{FF2B5EF4-FFF2-40B4-BE49-F238E27FC236}">
                <a16:creationId xmlns:a16="http://schemas.microsoft.com/office/drawing/2014/main" id="{2E013242-03A4-49D5-A6EC-DD2384BCB6D7}"/>
              </a:ext>
            </a:extLst>
          </p:cNvPr>
          <p:cNvSpPr>
            <a:spLocks xmlns:a="http://schemas.openxmlformats.org/drawingml/2006/main" noGrp="1"/>
          </p:cNvSpPr>
          <p:nvPr/>
        </p:nvSpPr>
        <p:spPr>
          <a:xfrm xmlns:a="http://schemas.openxmlformats.org/drawingml/2006/main">
            <a:off x="457200" y="35877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0" name="">
            <a:extLst xmlns:a="http://schemas.openxmlformats.org/drawingml/2006/main">
              <a:ext uri="{FF2B5EF4-FFF2-40B4-BE49-F238E27FC236}">
                <a16:creationId xmlns:a16="http://schemas.microsoft.com/office/drawing/2014/main" id="{AE283165-D912-46E6-9CE2-433BC2C0FEC0}"/>
              </a:ext>
            </a:extLst>
          </p:cNvPr>
          <p:cNvSpPr>
            <a:spLocks xmlns:a="http://schemas.openxmlformats.org/drawingml/2006/main" noGrp="1"/>
          </p:cNvSpPr>
          <p:nvPr/>
        </p:nvSpPr>
        <p:spPr>
          <a:xfrm xmlns:a="http://schemas.openxmlformats.org/drawingml/2006/main">
            <a:off x="504825" y="36163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AI 使用说明</a:t>
            </a:r>
          </a:p>
        </p:txBody>
      </p:sp>
      <p:sp>
        <p:nvSpPr>
          <p:cNvPr id="41" name="">
            <a:extLst xmlns:a="http://schemas.openxmlformats.org/drawingml/2006/main">
              <a:ext uri="{FF2B5EF4-FFF2-40B4-BE49-F238E27FC236}">
                <a16:creationId xmlns:a16="http://schemas.microsoft.com/office/drawing/2014/main" id="{71652189-C8D2-4415-B4B1-7C2610222752}"/>
              </a:ext>
            </a:extLst>
          </p:cNvPr>
          <p:cNvSpPr>
            <a:spLocks xmlns:a="http://schemas.openxmlformats.org/drawingml/2006/main" noGrp="1"/>
          </p:cNvSpPr>
          <p:nvPr/>
        </p:nvSpPr>
        <p:spPr>
          <a:xfrm xmlns:a="http://schemas.openxmlformats.org/drawingml/2006/main">
            <a:off x="4203700" y="35877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2" name="">
            <a:extLst xmlns:a="http://schemas.openxmlformats.org/drawingml/2006/main">
              <a:ext uri="{FF2B5EF4-FFF2-40B4-BE49-F238E27FC236}">
                <a16:creationId xmlns:a16="http://schemas.microsoft.com/office/drawing/2014/main" id="{ED9529F5-EB98-4C9F-B462-54B22F918595}"/>
              </a:ext>
            </a:extLst>
          </p:cNvPr>
          <p:cNvSpPr>
            <a:spLocks xmlns:a="http://schemas.openxmlformats.org/drawingml/2006/main" noGrp="1"/>
          </p:cNvSpPr>
          <p:nvPr/>
        </p:nvSpPr>
        <p:spPr>
          <a:xfrm xmlns:a="http://schemas.openxmlformats.org/drawingml/2006/main">
            <a:off x="4251325" y="36163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docs/ai_usage.md</a:t>
            </a:r>
          </a:p>
        </p:txBody>
      </p:sp>
      <p:sp>
        <p:nvSpPr>
          <p:cNvPr id="43" name="">
            <a:extLst xmlns:a="http://schemas.openxmlformats.org/drawingml/2006/main">
              <a:ext uri="{FF2B5EF4-FFF2-40B4-BE49-F238E27FC236}">
                <a16:creationId xmlns:a16="http://schemas.microsoft.com/office/drawing/2014/main" id="{C1692F85-0C5C-4F26-8B5C-BD203035CED2}"/>
              </a:ext>
            </a:extLst>
          </p:cNvPr>
          <p:cNvSpPr>
            <a:spLocks xmlns:a="http://schemas.openxmlformats.org/drawingml/2006/main" noGrp="1"/>
          </p:cNvSpPr>
          <p:nvPr/>
        </p:nvSpPr>
        <p:spPr>
          <a:xfrm xmlns:a="http://schemas.openxmlformats.org/drawingml/2006/main">
            <a:off x="7950200" y="35877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44" name="">
            <a:extLst xmlns:a="http://schemas.openxmlformats.org/drawingml/2006/main">
              <a:ext uri="{FF2B5EF4-FFF2-40B4-BE49-F238E27FC236}">
                <a16:creationId xmlns:a16="http://schemas.microsoft.com/office/drawing/2014/main" id="{D6A39A27-8AD7-42A7-A28E-1AD149A1EB32}"/>
              </a:ext>
            </a:extLst>
          </p:cNvPr>
          <p:cNvSpPr>
            <a:spLocks xmlns:a="http://schemas.openxmlformats.org/drawingml/2006/main" noGrp="1"/>
          </p:cNvSpPr>
          <p:nvPr/>
        </p:nvSpPr>
        <p:spPr>
          <a:xfrm xmlns:a="http://schemas.openxmlformats.org/drawingml/2006/main">
            <a:off x="7997825" y="36163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AI 工具使用阶段、效果评价和开发者确认与调整内容</a:t>
            </a:r>
          </a:p>
        </p:txBody>
      </p:sp>
      <p:sp>
        <p:nvSpPr>
          <p:cNvPr id="45" name="">
            <a:extLst xmlns:a="http://schemas.openxmlformats.org/drawingml/2006/main">
              <a:ext uri="{FF2B5EF4-FFF2-40B4-BE49-F238E27FC236}">
                <a16:creationId xmlns:a16="http://schemas.microsoft.com/office/drawing/2014/main" id="{B9499965-362A-4194-9B6B-E26BB3628D76}"/>
              </a:ext>
            </a:extLst>
          </p:cNvPr>
          <p:cNvSpPr>
            <a:spLocks xmlns:a="http://schemas.openxmlformats.org/drawingml/2006/main" noGrp="1"/>
          </p:cNvSpPr>
          <p:nvPr/>
        </p:nvSpPr>
        <p:spPr>
          <a:xfrm xmlns:a="http://schemas.openxmlformats.org/drawingml/2006/main">
            <a:off x="457200" y="39243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6" name="">
            <a:extLst xmlns:a="http://schemas.openxmlformats.org/drawingml/2006/main">
              <a:ext uri="{FF2B5EF4-FFF2-40B4-BE49-F238E27FC236}">
                <a16:creationId xmlns:a16="http://schemas.microsoft.com/office/drawing/2014/main" id="{1A51FDE1-1BB1-4CE3-9DB8-2AD0DD414724}"/>
              </a:ext>
            </a:extLst>
          </p:cNvPr>
          <p:cNvSpPr>
            <a:spLocks xmlns:a="http://schemas.openxmlformats.org/drawingml/2006/main" noGrp="1"/>
          </p:cNvSpPr>
          <p:nvPr/>
        </p:nvSpPr>
        <p:spPr>
          <a:xfrm xmlns:a="http://schemas.openxmlformats.org/drawingml/2006/main">
            <a:off x="504825" y="39528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SCRUM 记录</a:t>
            </a:r>
          </a:p>
        </p:txBody>
      </p:sp>
      <p:sp>
        <p:nvSpPr>
          <p:cNvPr id="47" name="">
            <a:extLst xmlns:a="http://schemas.openxmlformats.org/drawingml/2006/main">
              <a:ext uri="{FF2B5EF4-FFF2-40B4-BE49-F238E27FC236}">
                <a16:creationId xmlns:a16="http://schemas.microsoft.com/office/drawing/2014/main" id="{72F855DA-2051-4805-BF1F-B64411F4B7A7}"/>
              </a:ext>
            </a:extLst>
          </p:cNvPr>
          <p:cNvSpPr>
            <a:spLocks xmlns:a="http://schemas.openxmlformats.org/drawingml/2006/main" noGrp="1"/>
          </p:cNvSpPr>
          <p:nvPr/>
        </p:nvSpPr>
        <p:spPr>
          <a:xfrm xmlns:a="http://schemas.openxmlformats.org/drawingml/2006/main">
            <a:off x="4203700" y="39243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48" name="">
            <a:extLst xmlns:a="http://schemas.openxmlformats.org/drawingml/2006/main">
              <a:ext uri="{FF2B5EF4-FFF2-40B4-BE49-F238E27FC236}">
                <a16:creationId xmlns:a16="http://schemas.microsoft.com/office/drawing/2014/main" id="{AB365175-2C04-4F85-89C4-393B2C904DD1}"/>
              </a:ext>
            </a:extLst>
          </p:cNvPr>
          <p:cNvSpPr>
            <a:spLocks xmlns:a="http://schemas.openxmlformats.org/drawingml/2006/main" noGrp="1"/>
          </p:cNvSpPr>
          <p:nvPr/>
        </p:nvSpPr>
        <p:spPr>
          <a:xfrm xmlns:a="http://schemas.openxmlformats.org/drawingml/2006/main">
            <a:off x="4251325" y="39528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docs/scrum.md</a:t>
            </a:r>
          </a:p>
        </p:txBody>
      </p:sp>
      <p:sp>
        <p:nvSpPr>
          <p:cNvPr id="49" name="">
            <a:extLst xmlns:a="http://schemas.openxmlformats.org/drawingml/2006/main">
              <a:ext uri="{FF2B5EF4-FFF2-40B4-BE49-F238E27FC236}">
                <a16:creationId xmlns:a16="http://schemas.microsoft.com/office/drawing/2014/main" id="{9806307A-41AC-4EAF-A90A-0FB703FA314A}"/>
              </a:ext>
            </a:extLst>
          </p:cNvPr>
          <p:cNvSpPr>
            <a:spLocks xmlns:a="http://schemas.openxmlformats.org/drawingml/2006/main" noGrp="1"/>
          </p:cNvSpPr>
          <p:nvPr/>
        </p:nvSpPr>
        <p:spPr>
          <a:xfrm xmlns:a="http://schemas.openxmlformats.org/drawingml/2006/main">
            <a:off x="7950200" y="39243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0" name="">
            <a:extLst xmlns:a="http://schemas.openxmlformats.org/drawingml/2006/main">
              <a:ext uri="{FF2B5EF4-FFF2-40B4-BE49-F238E27FC236}">
                <a16:creationId xmlns:a16="http://schemas.microsoft.com/office/drawing/2014/main" id="{A105E52A-58D3-4849-874C-52608A041D9D}"/>
              </a:ext>
            </a:extLst>
          </p:cNvPr>
          <p:cNvSpPr>
            <a:spLocks xmlns:a="http://schemas.openxmlformats.org/drawingml/2006/main" noGrp="1"/>
          </p:cNvSpPr>
          <p:nvPr/>
        </p:nvSpPr>
        <p:spPr>
          <a:xfrm xmlns:a="http://schemas.openxmlformats.org/drawingml/2006/main">
            <a:off x="7997825" y="39528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迭代目标和风险处理</a:t>
            </a:r>
          </a:p>
        </p:txBody>
      </p:sp>
      <p:sp>
        <p:nvSpPr>
          <p:cNvPr id="51" name="">
            <a:extLst xmlns:a="http://schemas.openxmlformats.org/drawingml/2006/main">
              <a:ext uri="{FF2B5EF4-FFF2-40B4-BE49-F238E27FC236}">
                <a16:creationId xmlns:a16="http://schemas.microsoft.com/office/drawing/2014/main" id="{307C5C15-746F-4562-A3F6-CF101DEED409}"/>
              </a:ext>
            </a:extLst>
          </p:cNvPr>
          <p:cNvSpPr>
            <a:spLocks xmlns:a="http://schemas.openxmlformats.org/drawingml/2006/main" noGrp="1"/>
          </p:cNvSpPr>
          <p:nvPr/>
        </p:nvSpPr>
        <p:spPr>
          <a:xfrm xmlns:a="http://schemas.openxmlformats.org/drawingml/2006/main">
            <a:off x="457200" y="42608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2" name="">
            <a:extLst xmlns:a="http://schemas.openxmlformats.org/drawingml/2006/main">
              <a:ext uri="{FF2B5EF4-FFF2-40B4-BE49-F238E27FC236}">
                <a16:creationId xmlns:a16="http://schemas.microsoft.com/office/drawing/2014/main" id="{E0C90B7B-FDB7-4D25-9C26-301D21AAB63D}"/>
              </a:ext>
            </a:extLst>
          </p:cNvPr>
          <p:cNvSpPr>
            <a:spLocks xmlns:a="http://schemas.openxmlformats.org/drawingml/2006/main" noGrp="1"/>
          </p:cNvSpPr>
          <p:nvPr/>
        </p:nvSpPr>
        <p:spPr>
          <a:xfrm xmlns:a="http://schemas.openxmlformats.org/drawingml/2006/main">
            <a:off x="504825" y="42894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最终检查表</a:t>
            </a:r>
          </a:p>
        </p:txBody>
      </p:sp>
      <p:sp>
        <p:nvSpPr>
          <p:cNvPr id="53" name="">
            <a:extLst xmlns:a="http://schemas.openxmlformats.org/drawingml/2006/main">
              <a:ext uri="{FF2B5EF4-FFF2-40B4-BE49-F238E27FC236}">
                <a16:creationId xmlns:a16="http://schemas.microsoft.com/office/drawing/2014/main" id="{9D2A97C0-7B6F-4FE1-8E67-AF0256BBAED3}"/>
              </a:ext>
            </a:extLst>
          </p:cNvPr>
          <p:cNvSpPr>
            <a:spLocks xmlns:a="http://schemas.openxmlformats.org/drawingml/2006/main" noGrp="1"/>
          </p:cNvSpPr>
          <p:nvPr/>
        </p:nvSpPr>
        <p:spPr>
          <a:xfrm xmlns:a="http://schemas.openxmlformats.org/drawingml/2006/main">
            <a:off x="4203700" y="42608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4" name="">
            <a:extLst xmlns:a="http://schemas.openxmlformats.org/drawingml/2006/main">
              <a:ext uri="{FF2B5EF4-FFF2-40B4-BE49-F238E27FC236}">
                <a16:creationId xmlns:a16="http://schemas.microsoft.com/office/drawing/2014/main" id="{4182416A-F9BB-4898-A56F-9C26681B0388}"/>
              </a:ext>
            </a:extLst>
          </p:cNvPr>
          <p:cNvSpPr>
            <a:spLocks xmlns:a="http://schemas.openxmlformats.org/drawingml/2006/main" noGrp="1"/>
          </p:cNvSpPr>
          <p:nvPr/>
        </p:nvSpPr>
        <p:spPr>
          <a:xfrm xmlns:a="http://schemas.openxmlformats.org/drawingml/2006/main">
            <a:off x="4251325" y="42894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docs/final_checklist.md</a:t>
            </a:r>
          </a:p>
        </p:txBody>
      </p:sp>
      <p:sp>
        <p:nvSpPr>
          <p:cNvPr id="55" name="">
            <a:extLst xmlns:a="http://schemas.openxmlformats.org/drawingml/2006/main">
              <a:ext uri="{FF2B5EF4-FFF2-40B4-BE49-F238E27FC236}">
                <a16:creationId xmlns:a16="http://schemas.microsoft.com/office/drawing/2014/main" id="{A49A876B-D4C6-4287-AAA2-BACC7E00FFB1}"/>
              </a:ext>
            </a:extLst>
          </p:cNvPr>
          <p:cNvSpPr>
            <a:spLocks xmlns:a="http://schemas.openxmlformats.org/drawingml/2006/main" noGrp="1"/>
          </p:cNvSpPr>
          <p:nvPr/>
        </p:nvSpPr>
        <p:spPr>
          <a:xfrm xmlns:a="http://schemas.openxmlformats.org/drawingml/2006/main">
            <a:off x="7950200" y="42608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56" name="">
            <a:extLst xmlns:a="http://schemas.openxmlformats.org/drawingml/2006/main">
              <a:ext uri="{FF2B5EF4-FFF2-40B4-BE49-F238E27FC236}">
                <a16:creationId xmlns:a16="http://schemas.microsoft.com/office/drawing/2014/main" id="{C48E0480-D71A-4C57-AC9A-B12732AFFFCB}"/>
              </a:ext>
            </a:extLst>
          </p:cNvPr>
          <p:cNvSpPr>
            <a:spLocks xmlns:a="http://schemas.openxmlformats.org/drawingml/2006/main" noGrp="1"/>
          </p:cNvSpPr>
          <p:nvPr/>
        </p:nvSpPr>
        <p:spPr>
          <a:xfrm xmlns:a="http://schemas.openxmlformats.org/drawingml/2006/main">
            <a:off x="7997825" y="42894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评分点、交付物和提交前检查项</a:t>
            </a:r>
          </a:p>
        </p:txBody>
      </p:sp>
      <p:sp>
        <p:nvSpPr>
          <p:cNvPr id="57" name="">
            <a:extLst xmlns:a="http://schemas.openxmlformats.org/drawingml/2006/main">
              <a:ext uri="{FF2B5EF4-FFF2-40B4-BE49-F238E27FC236}">
                <a16:creationId xmlns:a16="http://schemas.microsoft.com/office/drawing/2014/main" id="{46219EC7-E413-4CAF-A839-12FEBA44C3EE}"/>
              </a:ext>
            </a:extLst>
          </p:cNvPr>
          <p:cNvSpPr>
            <a:spLocks xmlns:a="http://schemas.openxmlformats.org/drawingml/2006/main" noGrp="1"/>
          </p:cNvSpPr>
          <p:nvPr/>
        </p:nvSpPr>
        <p:spPr>
          <a:xfrm xmlns:a="http://schemas.openxmlformats.org/drawingml/2006/main">
            <a:off x="457200" y="45974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58" name="">
            <a:extLst xmlns:a="http://schemas.openxmlformats.org/drawingml/2006/main">
              <a:ext uri="{FF2B5EF4-FFF2-40B4-BE49-F238E27FC236}">
                <a16:creationId xmlns:a16="http://schemas.microsoft.com/office/drawing/2014/main" id="{9B231710-E3CD-435E-BA6A-7ECA48AA5391}"/>
              </a:ext>
            </a:extLst>
          </p:cNvPr>
          <p:cNvSpPr>
            <a:spLocks xmlns:a="http://schemas.openxmlformats.org/drawingml/2006/main" noGrp="1"/>
          </p:cNvSpPr>
          <p:nvPr/>
        </p:nvSpPr>
        <p:spPr>
          <a:xfrm xmlns:a="http://schemas.openxmlformats.org/drawingml/2006/main">
            <a:off x="504825" y="46259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UML 图</a:t>
            </a:r>
          </a:p>
        </p:txBody>
      </p:sp>
      <p:sp>
        <p:nvSpPr>
          <p:cNvPr id="59" name="">
            <a:extLst xmlns:a="http://schemas.openxmlformats.org/drawingml/2006/main">
              <a:ext uri="{FF2B5EF4-FFF2-40B4-BE49-F238E27FC236}">
                <a16:creationId xmlns:a16="http://schemas.microsoft.com/office/drawing/2014/main" id="{62CE5CFE-734A-448E-AD68-8F94F3236DDF}"/>
              </a:ext>
            </a:extLst>
          </p:cNvPr>
          <p:cNvSpPr>
            <a:spLocks xmlns:a="http://schemas.openxmlformats.org/drawingml/2006/main" noGrp="1"/>
          </p:cNvSpPr>
          <p:nvPr/>
        </p:nvSpPr>
        <p:spPr>
          <a:xfrm xmlns:a="http://schemas.openxmlformats.org/drawingml/2006/main">
            <a:off x="4203700" y="45974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0" name="">
            <a:extLst xmlns:a="http://schemas.openxmlformats.org/drawingml/2006/main">
              <a:ext uri="{FF2B5EF4-FFF2-40B4-BE49-F238E27FC236}">
                <a16:creationId xmlns:a16="http://schemas.microsoft.com/office/drawing/2014/main" id="{6340C2A4-5024-489A-94F0-9AB421BA3AB7}"/>
              </a:ext>
            </a:extLst>
          </p:cNvPr>
          <p:cNvSpPr>
            <a:spLocks xmlns:a="http://schemas.openxmlformats.org/drawingml/2006/main" noGrp="1"/>
          </p:cNvSpPr>
          <p:nvPr/>
        </p:nvSpPr>
        <p:spPr>
          <a:xfrm xmlns:a="http://schemas.openxmlformats.org/drawingml/2006/main">
            <a:off x="4251325" y="46259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docs/uml/</a:t>
            </a:r>
          </a:p>
        </p:txBody>
      </p:sp>
      <p:sp>
        <p:nvSpPr>
          <p:cNvPr id="61" name="">
            <a:extLst xmlns:a="http://schemas.openxmlformats.org/drawingml/2006/main">
              <a:ext uri="{FF2B5EF4-FFF2-40B4-BE49-F238E27FC236}">
                <a16:creationId xmlns:a16="http://schemas.microsoft.com/office/drawing/2014/main" id="{ECB90354-3B2E-4009-B630-6C4EF7B23743}"/>
              </a:ext>
            </a:extLst>
          </p:cNvPr>
          <p:cNvSpPr>
            <a:spLocks xmlns:a="http://schemas.openxmlformats.org/drawingml/2006/main" noGrp="1"/>
          </p:cNvSpPr>
          <p:nvPr/>
        </p:nvSpPr>
        <p:spPr>
          <a:xfrm xmlns:a="http://schemas.openxmlformats.org/drawingml/2006/main">
            <a:off x="7950200" y="45974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62" name="">
            <a:extLst xmlns:a="http://schemas.openxmlformats.org/drawingml/2006/main">
              <a:ext uri="{FF2B5EF4-FFF2-40B4-BE49-F238E27FC236}">
                <a16:creationId xmlns:a16="http://schemas.microsoft.com/office/drawing/2014/main" id="{B010D47D-20A8-4525-9173-7C9B2A7468A7}"/>
              </a:ext>
            </a:extLst>
          </p:cNvPr>
          <p:cNvSpPr>
            <a:spLocks xmlns:a="http://schemas.openxmlformats.org/drawingml/2006/main" noGrp="1"/>
          </p:cNvSpPr>
          <p:nvPr/>
        </p:nvSpPr>
        <p:spPr>
          <a:xfrm xmlns:a="http://schemas.openxmlformats.org/drawingml/2006/main">
            <a:off x="7997825" y="46259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7 类 UML 图的 PlantUML 源文件和 PNG 导出图</a:t>
            </a:r>
          </a:p>
        </p:txBody>
      </p:sp>
      <p:sp>
        <p:nvSpPr>
          <p:cNvPr id="63" name="">
            <a:extLst xmlns:a="http://schemas.openxmlformats.org/drawingml/2006/main">
              <a:ext uri="{FF2B5EF4-FFF2-40B4-BE49-F238E27FC236}">
                <a16:creationId xmlns:a16="http://schemas.microsoft.com/office/drawing/2014/main" id="{5B70920D-F06B-467B-A182-73DEA554DB90}"/>
              </a:ext>
            </a:extLst>
          </p:cNvPr>
          <p:cNvSpPr>
            <a:spLocks xmlns:a="http://schemas.openxmlformats.org/drawingml/2006/main" noGrp="1"/>
          </p:cNvSpPr>
          <p:nvPr/>
        </p:nvSpPr>
        <p:spPr>
          <a:xfrm xmlns:a="http://schemas.openxmlformats.org/drawingml/2006/main">
            <a:off x="457200" y="49339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4" name="">
            <a:extLst xmlns:a="http://schemas.openxmlformats.org/drawingml/2006/main">
              <a:ext uri="{FF2B5EF4-FFF2-40B4-BE49-F238E27FC236}">
                <a16:creationId xmlns:a16="http://schemas.microsoft.com/office/drawing/2014/main" id="{67728278-B774-4B32-A394-DE3D44B7A1AF}"/>
              </a:ext>
            </a:extLst>
          </p:cNvPr>
          <p:cNvSpPr>
            <a:spLocks xmlns:a="http://schemas.openxmlformats.org/drawingml/2006/main" noGrp="1"/>
          </p:cNvSpPr>
          <p:nvPr/>
        </p:nvSpPr>
        <p:spPr>
          <a:xfrm xmlns:a="http://schemas.openxmlformats.org/drawingml/2006/main">
            <a:off x="504825" y="49625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Release 包</a:t>
            </a:r>
          </a:p>
        </p:txBody>
      </p:sp>
      <p:sp>
        <p:nvSpPr>
          <p:cNvPr id="65" name="">
            <a:extLst xmlns:a="http://schemas.openxmlformats.org/drawingml/2006/main">
              <a:ext uri="{FF2B5EF4-FFF2-40B4-BE49-F238E27FC236}">
                <a16:creationId xmlns:a16="http://schemas.microsoft.com/office/drawing/2014/main" id="{7D9AE8CC-E96F-47D1-8788-794731A89D83}"/>
              </a:ext>
            </a:extLst>
          </p:cNvPr>
          <p:cNvSpPr>
            <a:spLocks xmlns:a="http://schemas.openxmlformats.org/drawingml/2006/main" noGrp="1"/>
          </p:cNvSpPr>
          <p:nvPr/>
        </p:nvSpPr>
        <p:spPr>
          <a:xfrm xmlns:a="http://schemas.openxmlformats.org/drawingml/2006/main">
            <a:off x="4203700" y="49339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6" name="">
            <a:extLst xmlns:a="http://schemas.openxmlformats.org/drawingml/2006/main">
              <a:ext uri="{FF2B5EF4-FFF2-40B4-BE49-F238E27FC236}">
                <a16:creationId xmlns:a16="http://schemas.microsoft.com/office/drawing/2014/main" id="{EF635C26-BE6C-41CD-94C1-8F63713A8109}"/>
              </a:ext>
            </a:extLst>
          </p:cNvPr>
          <p:cNvSpPr>
            <a:spLocks xmlns:a="http://schemas.openxmlformats.org/drawingml/2006/main" noGrp="1"/>
          </p:cNvSpPr>
          <p:nvPr/>
        </p:nvSpPr>
        <p:spPr>
          <a:xfrm xmlns:a="http://schemas.openxmlformats.org/drawingml/2006/main">
            <a:off x="4251325" y="49625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release/</a:t>
            </a:r>
          </a:p>
        </p:txBody>
      </p:sp>
      <p:sp>
        <p:nvSpPr>
          <p:cNvPr id="67" name="">
            <a:extLst xmlns:a="http://schemas.openxmlformats.org/drawingml/2006/main">
              <a:ext uri="{FF2B5EF4-FFF2-40B4-BE49-F238E27FC236}">
                <a16:creationId xmlns:a16="http://schemas.microsoft.com/office/drawing/2014/main" id="{74595849-B48A-448E-874F-850463886961}"/>
              </a:ext>
            </a:extLst>
          </p:cNvPr>
          <p:cNvSpPr>
            <a:spLocks xmlns:a="http://schemas.openxmlformats.org/drawingml/2006/main" noGrp="1"/>
          </p:cNvSpPr>
          <p:nvPr/>
        </p:nvSpPr>
        <p:spPr>
          <a:xfrm xmlns:a="http://schemas.openxmlformats.org/drawingml/2006/main">
            <a:off x="7950200" y="49339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68" name="">
            <a:extLst xmlns:a="http://schemas.openxmlformats.org/drawingml/2006/main">
              <a:ext uri="{FF2B5EF4-FFF2-40B4-BE49-F238E27FC236}">
                <a16:creationId xmlns:a16="http://schemas.microsoft.com/office/drawing/2014/main" id="{68A2AA03-2645-4ED1-9145-ABBE71659CCC}"/>
              </a:ext>
            </a:extLst>
          </p:cNvPr>
          <p:cNvSpPr>
            <a:spLocks xmlns:a="http://schemas.openxmlformats.org/drawingml/2006/main" noGrp="1"/>
          </p:cNvSpPr>
          <p:nvPr/>
        </p:nvSpPr>
        <p:spPr>
          <a:xfrm xmlns:a="http://schemas.openxmlformats.org/drawingml/2006/main">
            <a:off x="7997825" y="49625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chudadi-v1.3-release.apk 和 chudadi-v1.3-release.aab</a:t>
            </a:r>
          </a:p>
        </p:txBody>
      </p:sp>
      <p:sp>
        <p:nvSpPr>
          <p:cNvPr id="69" name="">
            <a:extLst xmlns:a="http://schemas.openxmlformats.org/drawingml/2006/main">
              <a:ext uri="{FF2B5EF4-FFF2-40B4-BE49-F238E27FC236}">
                <a16:creationId xmlns:a16="http://schemas.microsoft.com/office/drawing/2014/main" id="{6A2540CA-5573-4E47-BD27-BE17C54219F9}"/>
              </a:ext>
            </a:extLst>
          </p:cNvPr>
          <p:cNvSpPr>
            <a:spLocks xmlns:a="http://schemas.openxmlformats.org/drawingml/2006/main" noGrp="1"/>
          </p:cNvSpPr>
          <p:nvPr/>
        </p:nvSpPr>
        <p:spPr>
          <a:xfrm xmlns:a="http://schemas.openxmlformats.org/drawingml/2006/main">
            <a:off x="457200" y="52705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0" name="">
            <a:extLst xmlns:a="http://schemas.openxmlformats.org/drawingml/2006/main">
              <a:ext uri="{FF2B5EF4-FFF2-40B4-BE49-F238E27FC236}">
                <a16:creationId xmlns:a16="http://schemas.microsoft.com/office/drawing/2014/main" id="{0DF64CF8-EC00-4CEC-BFDB-E6E815ACCF27}"/>
              </a:ext>
            </a:extLst>
          </p:cNvPr>
          <p:cNvSpPr>
            <a:spLocks xmlns:a="http://schemas.openxmlformats.org/drawingml/2006/main" noGrp="1"/>
          </p:cNvSpPr>
          <p:nvPr/>
        </p:nvSpPr>
        <p:spPr>
          <a:xfrm xmlns:a="http://schemas.openxmlformats.org/drawingml/2006/main">
            <a:off x="504825" y="52990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Android 代码</a:t>
            </a:r>
          </a:p>
        </p:txBody>
      </p:sp>
      <p:sp>
        <p:nvSpPr>
          <p:cNvPr id="71" name="">
            <a:extLst xmlns:a="http://schemas.openxmlformats.org/drawingml/2006/main">
              <a:ext uri="{FF2B5EF4-FFF2-40B4-BE49-F238E27FC236}">
                <a16:creationId xmlns:a16="http://schemas.microsoft.com/office/drawing/2014/main" id="{E78AEA81-0274-4E79-922B-70C46BE72578}"/>
              </a:ext>
            </a:extLst>
          </p:cNvPr>
          <p:cNvSpPr>
            <a:spLocks xmlns:a="http://schemas.openxmlformats.org/drawingml/2006/main" noGrp="1"/>
          </p:cNvSpPr>
          <p:nvPr/>
        </p:nvSpPr>
        <p:spPr>
          <a:xfrm xmlns:a="http://schemas.openxmlformats.org/drawingml/2006/main">
            <a:off x="4203700" y="52705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2" name="">
            <a:extLst xmlns:a="http://schemas.openxmlformats.org/drawingml/2006/main">
              <a:ext uri="{FF2B5EF4-FFF2-40B4-BE49-F238E27FC236}">
                <a16:creationId xmlns:a16="http://schemas.microsoft.com/office/drawing/2014/main" id="{03EBD909-3BD7-4A60-A048-6BD35C919777}"/>
              </a:ext>
            </a:extLst>
          </p:cNvPr>
          <p:cNvSpPr>
            <a:spLocks xmlns:a="http://schemas.openxmlformats.org/drawingml/2006/main" noGrp="1"/>
          </p:cNvSpPr>
          <p:nvPr/>
        </p:nvSpPr>
        <p:spPr>
          <a:xfrm xmlns:a="http://schemas.openxmlformats.org/drawingml/2006/main">
            <a:off x="4251325" y="52990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app/src/main/java/com/example/uml_chudadi/</a:t>
            </a:r>
          </a:p>
        </p:txBody>
      </p:sp>
      <p:sp>
        <p:nvSpPr>
          <p:cNvPr id="73" name="">
            <a:extLst xmlns:a="http://schemas.openxmlformats.org/drawingml/2006/main">
              <a:ext uri="{FF2B5EF4-FFF2-40B4-BE49-F238E27FC236}">
                <a16:creationId xmlns:a16="http://schemas.microsoft.com/office/drawing/2014/main" id="{F5644368-8EA2-47B5-807B-E0C50D5BCD6B}"/>
              </a:ext>
            </a:extLst>
          </p:cNvPr>
          <p:cNvSpPr>
            <a:spLocks xmlns:a="http://schemas.openxmlformats.org/drawingml/2006/main" noGrp="1"/>
          </p:cNvSpPr>
          <p:nvPr/>
        </p:nvSpPr>
        <p:spPr>
          <a:xfrm xmlns:a="http://schemas.openxmlformats.org/drawingml/2006/main">
            <a:off x="7950200" y="5270500"/>
            <a:ext cx="3746500" cy="336550"/>
          </a:xfrm>
          <a:prstGeom xmlns:a="http://schemas.openxmlformats.org/drawingml/2006/main" prst="rect">
            <a:avLst/>
          </a:prstGeom>
          <a:solidFill xmlns:a="http://schemas.openxmlformats.org/drawingml/2006/main">
            <a:srgbClr val="F7FAF4"/>
          </a:solidFill>
          <a:ln xmlns:a="http://schemas.openxmlformats.org/drawingml/2006/main" w="9525">
            <a:solidFill>
              <a:srgbClr val="D9DFD2"/>
            </a:solidFill>
          </a:ln>
        </p:spPr>
      </p:sp>
      <p:sp>
        <p:nvSpPr>
          <p:cNvPr id="74" name="">
            <a:extLst xmlns:a="http://schemas.openxmlformats.org/drawingml/2006/main">
              <a:ext uri="{FF2B5EF4-FFF2-40B4-BE49-F238E27FC236}">
                <a16:creationId xmlns:a16="http://schemas.microsoft.com/office/drawing/2014/main" id="{5AD3B0EC-6E3E-4D6C-95CF-49A11AAC9471}"/>
              </a:ext>
            </a:extLst>
          </p:cNvPr>
          <p:cNvSpPr>
            <a:spLocks xmlns:a="http://schemas.openxmlformats.org/drawingml/2006/main" noGrp="1"/>
          </p:cNvSpPr>
          <p:nvPr/>
        </p:nvSpPr>
        <p:spPr>
          <a:xfrm xmlns:a="http://schemas.openxmlformats.org/drawingml/2006/main">
            <a:off x="7997825" y="529907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Kotlin/Compose 主体代码</a:t>
            </a:r>
          </a:p>
        </p:txBody>
      </p:sp>
      <p:sp>
        <p:nvSpPr>
          <p:cNvPr id="75" name="">
            <a:extLst xmlns:a="http://schemas.openxmlformats.org/drawingml/2006/main">
              <a:ext uri="{FF2B5EF4-FFF2-40B4-BE49-F238E27FC236}">
                <a16:creationId xmlns:a16="http://schemas.microsoft.com/office/drawing/2014/main" id="{B5C8816E-3088-4845-BC3E-8EC1C72C98D1}"/>
              </a:ext>
            </a:extLst>
          </p:cNvPr>
          <p:cNvSpPr>
            <a:spLocks xmlns:a="http://schemas.openxmlformats.org/drawingml/2006/main" noGrp="1"/>
          </p:cNvSpPr>
          <p:nvPr/>
        </p:nvSpPr>
        <p:spPr>
          <a:xfrm xmlns:a="http://schemas.openxmlformats.org/drawingml/2006/main">
            <a:off x="457200" y="56070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76" name="">
            <a:extLst xmlns:a="http://schemas.openxmlformats.org/drawingml/2006/main">
              <a:ext uri="{FF2B5EF4-FFF2-40B4-BE49-F238E27FC236}">
                <a16:creationId xmlns:a16="http://schemas.microsoft.com/office/drawing/2014/main" id="{B820A1B6-E107-4BBE-939B-4C54D8FA9E71}"/>
              </a:ext>
            </a:extLst>
          </p:cNvPr>
          <p:cNvSpPr>
            <a:spLocks xmlns:a="http://schemas.openxmlformats.org/drawingml/2006/main" noGrp="1"/>
          </p:cNvSpPr>
          <p:nvPr/>
        </p:nvSpPr>
        <p:spPr>
          <a:xfrm xmlns:a="http://schemas.openxmlformats.org/drawingml/2006/main">
            <a:off x="504825" y="56356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测试代码</a:t>
            </a:r>
          </a:p>
        </p:txBody>
      </p:sp>
      <p:sp>
        <p:nvSpPr>
          <p:cNvPr id="77" name="">
            <a:extLst xmlns:a="http://schemas.openxmlformats.org/drawingml/2006/main">
              <a:ext uri="{FF2B5EF4-FFF2-40B4-BE49-F238E27FC236}">
                <a16:creationId xmlns:a16="http://schemas.microsoft.com/office/drawing/2014/main" id="{4E512E42-6D7E-4D5C-9BF3-0D612992EC0B}"/>
              </a:ext>
            </a:extLst>
          </p:cNvPr>
          <p:cNvSpPr>
            <a:spLocks xmlns:a="http://schemas.openxmlformats.org/drawingml/2006/main" noGrp="1"/>
          </p:cNvSpPr>
          <p:nvPr/>
        </p:nvSpPr>
        <p:spPr>
          <a:xfrm xmlns:a="http://schemas.openxmlformats.org/drawingml/2006/main">
            <a:off x="4203700" y="56070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78" name="">
            <a:extLst xmlns:a="http://schemas.openxmlformats.org/drawingml/2006/main">
              <a:ext uri="{FF2B5EF4-FFF2-40B4-BE49-F238E27FC236}">
                <a16:creationId xmlns:a16="http://schemas.microsoft.com/office/drawing/2014/main" id="{A7954AF2-6F8D-429F-8ADA-E560A14333EC}"/>
              </a:ext>
            </a:extLst>
          </p:cNvPr>
          <p:cNvSpPr>
            <a:spLocks xmlns:a="http://schemas.openxmlformats.org/drawingml/2006/main" noGrp="1"/>
          </p:cNvSpPr>
          <p:nvPr/>
        </p:nvSpPr>
        <p:spPr>
          <a:xfrm xmlns:a="http://schemas.openxmlformats.org/drawingml/2006/main">
            <a:off x="4251325" y="56356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app/src/test/、app/src/androidTest/</a:t>
            </a:r>
          </a:p>
        </p:txBody>
      </p:sp>
      <p:sp>
        <p:nvSpPr>
          <p:cNvPr id="79" name="">
            <a:extLst xmlns:a="http://schemas.openxmlformats.org/drawingml/2006/main">
              <a:ext uri="{FF2B5EF4-FFF2-40B4-BE49-F238E27FC236}">
                <a16:creationId xmlns:a16="http://schemas.microsoft.com/office/drawing/2014/main" id="{D20D12A2-E56F-48EC-A3C1-4FAF510DED24}"/>
              </a:ext>
            </a:extLst>
          </p:cNvPr>
          <p:cNvSpPr>
            <a:spLocks xmlns:a="http://schemas.openxmlformats.org/drawingml/2006/main" noGrp="1"/>
          </p:cNvSpPr>
          <p:nvPr/>
        </p:nvSpPr>
        <p:spPr>
          <a:xfrm xmlns:a="http://schemas.openxmlformats.org/drawingml/2006/main">
            <a:off x="7950200" y="5607050"/>
            <a:ext cx="3746500" cy="336550"/>
          </a:xfrm>
          <a:prstGeom xmlns:a="http://schemas.openxmlformats.org/drawingml/2006/main" prst="rect">
            <a:avLst/>
          </a:prstGeom>
          <a:solidFill xmlns:a="http://schemas.openxmlformats.org/drawingml/2006/main">
            <a:srgbClr val="FFFFFF"/>
          </a:solidFill>
          <a:ln xmlns:a="http://schemas.openxmlformats.org/drawingml/2006/main" w="9525">
            <a:solidFill>
              <a:srgbClr val="D9DFD2"/>
            </a:solidFill>
          </a:ln>
        </p:spPr>
      </p:sp>
      <p:sp>
        <p:nvSpPr>
          <p:cNvPr id="80" name="">
            <a:extLst xmlns:a="http://schemas.openxmlformats.org/drawingml/2006/main">
              <a:ext uri="{FF2B5EF4-FFF2-40B4-BE49-F238E27FC236}">
                <a16:creationId xmlns:a16="http://schemas.microsoft.com/office/drawing/2014/main" id="{C944C499-18EB-4E60-B374-64D586D9A3B9}"/>
              </a:ext>
            </a:extLst>
          </p:cNvPr>
          <p:cNvSpPr>
            <a:spLocks xmlns:a="http://schemas.openxmlformats.org/drawingml/2006/main" noGrp="1"/>
          </p:cNvSpPr>
          <p:nvPr/>
        </p:nvSpPr>
        <p:spPr>
          <a:xfrm xmlns:a="http://schemas.openxmlformats.org/drawingml/2006/main">
            <a:off x="7997825" y="5635625"/>
            <a:ext cx="3651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900" b="0">
                <a:solidFill>
                  <a:srgbClr val="17211D"/>
                </a:solidFill>
                <a:latin typeface="PingFang SC"/>
                <a:ea typeface="PingFang SC"/>
                <a:cs typeface="PingFang SC"/>
              </a:defRPr>
            </a:pPr>
            <a:r>
              <a:rPr sz="900" b="0">
                <a:solidFill>
                  <a:srgbClr val="17211D"/>
                </a:solidFill>
                <a:latin typeface="PingFang SC"/>
                <a:ea typeface="PingFang SC"/>
                <a:cs typeface="PingFang SC"/>
              </a:rPr>
              <a:t>单元测试、模拟测试和设备冒烟测试</a:t>
            </a:r>
          </a:p>
        </p:txBody>
      </p:sp>
    </p:spTree>
    <p:extLst>
      <p:ext uri="{BB962C8B-B14F-4D97-AF65-F5344CB8AC3E}">
        <p14:creationId xmlns:p14="http://schemas.microsoft.com/office/powerpoint/2010/main" val="14729273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2026-06-10T06:12:22.1440000Z</dcterms:created>
  <dcterms:modified xsi:type="dcterms:W3CDTF">2026-06-10T06:12:22.1440000Z</dcterms:modified>
</coreProperties>
</file>